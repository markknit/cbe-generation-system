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hyperlink" Target="https://creativecommons.org/licenses/by-nc/4.0/" TargetMode="External"/><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3864"/>
        </a:solidFill>
      </p:bgPr>
    </p:bg>
    <p:spTree>
      <p:nvGrpSpPr>
        <p:cNvPr id="1" name=""/>
        <p:cNvGrpSpPr/>
        <p:nvPr/>
      </p:nvGrpSpPr>
      <p:grpSpPr>
        <a:xfrm>
          <a:off x="0" y="0"/>
          <a:ext cx="0" cy="0"/>
          <a:chOff x="0" y="0"/>
          <a:chExt cx="0" cy="0"/>
        </a:xfrm>
      </p:grpSpPr>
      <p:sp>
        <p:nvSpPr>
          <p:cNvPr id="2" name="Text 0"/>
          <p:cNvSpPr/>
          <p:nvPr/>
        </p:nvSpPr>
        <p:spPr>
          <a:xfrm>
            <a:off x="731520" y="1463040"/>
            <a:ext cx="10698480" cy="457200"/>
          </a:xfrm>
          <a:prstGeom prst="rect">
            <a:avLst/>
          </a:prstGeom>
          <a:noFill/>
          <a:ln/>
        </p:spPr>
        <p:txBody>
          <a:bodyPr wrap="square" lIns="0" tIns="0" rIns="0" bIns="0" rtlCol="0" anchor="ctr"/>
          <a:lstStyle/>
          <a:p>
            <a:pPr indent="0" marL="0">
              <a:buNone/>
            </a:pPr>
            <a:r>
              <a:rPr lang="en-US" sz="1600" b="1" spc="200" kern="0" dirty="0">
                <a:solidFill>
                  <a:srgbClr val="AFC8E8"/>
                </a:solidFill>
                <a:latin typeface="Arial" pitchFamily="34" charset="0"/>
                <a:ea typeface="Arial" pitchFamily="34" charset="-122"/>
                <a:cs typeface="Arial" pitchFamily="34" charset="-120"/>
              </a:rPr>
              <a:t>GENERAL SCIENCE — GRADE 10  |  NUTRITION IN ANIMALS</a:t>
            </a:r>
            <a:endParaRPr lang="en-US" sz="1600" dirty="0"/>
          </a:p>
        </p:txBody>
      </p:sp>
      <p:sp>
        <p:nvSpPr>
          <p:cNvPr id="3" name="Text 1"/>
          <p:cNvSpPr/>
          <p:nvPr/>
        </p:nvSpPr>
        <p:spPr>
          <a:xfrm>
            <a:off x="731520" y="1965960"/>
            <a:ext cx="10698480" cy="914400"/>
          </a:xfrm>
          <a:prstGeom prst="rect">
            <a:avLst/>
          </a:prstGeom>
          <a:noFill/>
          <a:ln/>
        </p:spPr>
        <p:txBody>
          <a:bodyPr wrap="square" lIns="0" tIns="0" rIns="0" bIns="0" rtlCol="0" anchor="ctr"/>
          <a:lstStyle/>
          <a:p>
            <a:pPr indent="0" marL="0">
              <a:buNone/>
            </a:pPr>
            <a:r>
              <a:rPr lang="en-US" sz="4000" b="1" dirty="0">
                <a:solidFill>
                  <a:srgbClr val="FFFFFF"/>
                </a:solidFill>
                <a:latin typeface="Arial" pitchFamily="34" charset="0"/>
                <a:ea typeface="Arial" pitchFamily="34" charset="-122"/>
                <a:cs typeface="Arial" pitchFamily="34" charset="-120"/>
              </a:rPr>
              <a:t>Quick Check</a:t>
            </a:r>
            <a:endParaRPr lang="en-US" sz="4000" dirty="0"/>
          </a:p>
        </p:txBody>
      </p:sp>
      <p:sp>
        <p:nvSpPr>
          <p:cNvPr id="4" name="Text 2"/>
          <p:cNvSpPr/>
          <p:nvPr/>
        </p:nvSpPr>
        <p:spPr>
          <a:xfrm>
            <a:off x="731520" y="2880360"/>
            <a:ext cx="10698480" cy="1097280"/>
          </a:xfrm>
          <a:prstGeom prst="rect">
            <a:avLst/>
          </a:prstGeom>
          <a:noFill/>
          <a:ln/>
        </p:spPr>
        <p:txBody>
          <a:bodyPr wrap="square" lIns="0" tIns="0" rIns="0" bIns="0" rtlCol="0" anchor="t"/>
          <a:lstStyle/>
          <a:p>
            <a:pPr indent="0" marL="0">
              <a:buNone/>
            </a:pPr>
            <a:r>
              <a:rPr lang="en-US" sz="2000" dirty="0">
                <a:solidFill>
                  <a:srgbClr val="D9EEF1"/>
                </a:solidFill>
                <a:latin typeface="Arial" pitchFamily="34" charset="0"/>
                <a:ea typeface="Arial" pitchFamily="34" charset="-122"/>
                <a:cs typeface="Arial" pitchFamily="34" charset="-120"/>
              </a:rPr>
              <a:t>Lesson 8: DQB Synthesis &amp; Assessment — Driving Question Resolution and Unit Wrap-Up</a:t>
            </a:r>
            <a:endParaRPr lang="en-US" sz="2000" dirty="0"/>
          </a:p>
        </p:txBody>
      </p:sp>
      <p:sp>
        <p:nvSpPr>
          <p:cNvPr id="5" name="Text 3"/>
          <p:cNvSpPr/>
          <p:nvPr/>
        </p:nvSpPr>
        <p:spPr>
          <a:xfrm>
            <a:off x="731520" y="4114800"/>
            <a:ext cx="10698480" cy="457200"/>
          </a:xfrm>
          <a:prstGeom prst="rect">
            <a:avLst/>
          </a:prstGeom>
          <a:noFill/>
          <a:ln/>
        </p:spPr>
        <p:txBody>
          <a:bodyPr wrap="square" lIns="0" tIns="0" rIns="0" bIns="0" rtlCol="0" anchor="ctr"/>
          <a:lstStyle/>
          <a:p>
            <a:pPr indent="0" marL="0">
              <a:buNone/>
            </a:pPr>
            <a:r>
              <a:rPr lang="en-US" sz="1600" i="1" dirty="0">
                <a:solidFill>
                  <a:srgbClr val="AFC8E8"/>
                </a:solidFill>
                <a:latin typeface="Arial" pitchFamily="34" charset="0"/>
                <a:ea typeface="Arial" pitchFamily="34" charset="-122"/>
                <a:cs typeface="Arial" pitchFamily="34" charset="-120"/>
              </a:rPr>
              <a:t>7 multiple-choice questions  •  choose A, B, C or D</a:t>
            </a:r>
            <a:endParaRPr lang="en-US" sz="1600" dirty="0"/>
          </a:p>
        </p:txBody>
      </p:sp>
      <p:sp>
        <p:nvSpPr>
          <p:cNvPr id="6" name="Text 4"/>
          <p:cNvSpPr/>
          <p:nvPr/>
        </p:nvSpPr>
        <p:spPr>
          <a:xfrm>
            <a:off x="731520" y="5257800"/>
            <a:ext cx="10698480" cy="365760"/>
          </a:xfrm>
          <a:prstGeom prst="rect">
            <a:avLst/>
          </a:prstGeom>
          <a:noFill/>
          <a:ln/>
        </p:spPr>
        <p:txBody>
          <a:bodyPr wrap="square" lIns="0" tIns="0" rIns="0" bIns="0" rtlCol="0" anchor="ctr"/>
          <a:lstStyle/>
          <a:p>
            <a:pPr indent="0" marL="0">
              <a:buNone/>
            </a:pPr>
            <a:r>
              <a:rPr lang="en-US" sz="1300" dirty="0">
                <a:solidFill>
                  <a:srgbClr val="AFC8E8"/>
                </a:solidFill>
                <a:latin typeface="Arial" pitchFamily="34" charset="0"/>
                <a:ea typeface="Arial" pitchFamily="34" charset="-122"/>
                <a:cs typeface="Arial" pitchFamily="34" charset="-120"/>
              </a:rPr>
              <a:t>Sub-Strand 1.3: Nutrition in Animals   |   Lesson 8</a:t>
            </a:r>
            <a:endParaRPr lang="en-US" sz="1300" dirty="0"/>
          </a:p>
        </p:txBody>
      </p:sp>
      <p:sp>
        <p:nvSpPr>
          <p:cNvPr id="7" name="Text 5"/>
          <p:cNvSpPr/>
          <p:nvPr/>
        </p:nvSpPr>
        <p:spPr>
          <a:xfrm>
            <a:off x="731520" y="5760720"/>
            <a:ext cx="10698480" cy="822960"/>
          </a:xfrm>
          <a:prstGeom prst="rect">
            <a:avLst/>
          </a:prstGeom>
          <a:noFill/>
          <a:ln/>
        </p:spPr>
        <p:txBody>
          <a:bodyPr wrap="square" lIns="0" tIns="0" rIns="0" bIns="0" rtlCol="0" anchor="t"/>
          <a:lstStyle/>
          <a:p>
            <a:pPr indent="0" marL="0">
              <a:buNone/>
            </a:pPr>
            <a:r>
              <a:rPr lang="en-US" sz="900" dirty="0">
                <a:solidFill>
                  <a:srgbClr val="8FA8C8"/>
                </a:solidFill>
                <a:latin typeface="Arial" pitchFamily="34" charset="0"/>
                <a:ea typeface="Arial" pitchFamily="34" charset="-122"/>
                <a:cs typeface="Arial" pitchFamily="34" charset="-120"/>
              </a:rPr>
              <a:t>© 2026 SeaVuria and ARES. Aligned with KICD objectives. Developed by SeaVuria; technical implementation by ARES (with AI assistance from Claude). Licensed under </a:t>
            </a:r>
            <a:pPr indent="0" marL="0">
              <a:buNone/>
            </a:pPr>
            <a:r>
              <a:rPr lang="en-US" sz="900" u="sng" dirty="0">
                <a:solidFill>
                  <a:srgbClr val="AFC8E8"/>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CC BY-NC 4.0</a:t>
            </a:r>
            <a:pPr indent="0" marL="0">
              <a:buNone/>
            </a:pPr>
            <a:r>
              <a:rPr lang="en-US" sz="900" dirty="0">
                <a:solidFill>
                  <a:srgbClr val="8FA8C8"/>
                </a:solidFill>
                <a:latin typeface="Arial" pitchFamily="34" charset="0"/>
                <a:ea typeface="Arial" pitchFamily="34" charset="-122"/>
                <a:cs typeface="Arial" pitchFamily="34" charset="-120"/>
              </a:rPr>
              <a:t> (https://creativecommons.org/licenses/by-nc/4.0/).</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6A4C93"/>
        </a:solidFill>
      </p:bgPr>
    </p:bg>
    <p:spTree>
      <p:nvGrpSpPr>
        <p:cNvPr id="1" name=""/>
        <p:cNvGrpSpPr/>
        <p:nvPr/>
      </p:nvGrpSpPr>
      <p:grpSpPr>
        <a:xfrm>
          <a:off x="0" y="0"/>
          <a:ext cx="0" cy="0"/>
          <a:chOff x="0" y="0"/>
          <a:chExt cx="0" cy="0"/>
        </a:xfrm>
      </p:grpSpPr>
      <p:sp>
        <p:nvSpPr>
          <p:cNvPr id="2" name="Text 0"/>
          <p:cNvSpPr/>
          <p:nvPr/>
        </p:nvSpPr>
        <p:spPr>
          <a:xfrm>
            <a:off x="548640" y="365760"/>
            <a:ext cx="640080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QUESTION 1 OF 7</a:t>
            </a:r>
            <a:endParaRPr lang="en-US" sz="1300" dirty="0"/>
          </a:p>
        </p:txBody>
      </p:sp>
      <p:sp>
        <p:nvSpPr>
          <p:cNvPr id="3" name="Shape 1"/>
          <p:cNvSpPr/>
          <p:nvPr/>
        </p:nvSpPr>
        <p:spPr>
          <a:xfrm>
            <a:off x="8138160" y="320040"/>
            <a:ext cx="3474720" cy="365760"/>
          </a:xfrm>
          <a:prstGeom prst="roundRect">
            <a:avLst>
              <a:gd name="adj" fmla="val 15000"/>
            </a:avLst>
          </a:prstGeom>
          <a:solidFill>
            <a:srgbClr val="5A3F80"/>
          </a:solidFill>
          <a:ln/>
        </p:spPr>
      </p:sp>
      <p:sp>
        <p:nvSpPr>
          <p:cNvPr id="4" name="Text 2"/>
          <p:cNvSpPr/>
          <p:nvPr/>
        </p:nvSpPr>
        <p:spPr>
          <a:xfrm>
            <a:off x="8138160" y="320040"/>
            <a:ext cx="3474720" cy="365760"/>
          </a:xfrm>
          <a:prstGeom prst="rect">
            <a:avLst/>
          </a:prstGeom>
          <a:noFill/>
          <a:ln/>
        </p:spPr>
        <p:txBody>
          <a:bodyPr wrap="square" lIns="0" tIns="0" rIns="0" bIns="0" rtlCol="0" anchor="ctr"/>
          <a:lstStyle/>
          <a:p>
            <a:pPr algn="ctr" indent="0" marL="0">
              <a:buNone/>
            </a:pPr>
            <a:r>
              <a:rPr lang="en-US" sz="1100" i="1" dirty="0">
                <a:solidFill>
                  <a:srgbClr val="E0D6F0"/>
                </a:solidFill>
                <a:latin typeface="Arial" pitchFamily="34" charset="0"/>
                <a:ea typeface="Arial" pitchFamily="34" charset="-122"/>
                <a:cs typeface="Arial" pitchFamily="34" charset="-120"/>
              </a:rPr>
              <a:t>Use after: Observe phase</a:t>
            </a:r>
            <a:endParaRPr lang="en-US" sz="1100" dirty="0"/>
          </a:p>
        </p:txBody>
      </p:sp>
      <p:sp>
        <p:nvSpPr>
          <p:cNvPr id="5" name="Text 3"/>
          <p:cNvSpPr/>
          <p:nvPr/>
        </p:nvSpPr>
        <p:spPr>
          <a:xfrm>
            <a:off x="548640" y="868680"/>
            <a:ext cx="11064240" cy="1325880"/>
          </a:xfrm>
          <a:prstGeom prst="rect">
            <a:avLst/>
          </a:prstGeom>
          <a:noFill/>
          <a:ln/>
        </p:spPr>
        <p:txBody>
          <a:bodyPr wrap="square" lIns="0" tIns="0" rIns="0" bIns="0" rtlCol="0" anchor="ctr"/>
          <a:lstStyle/>
          <a:p>
            <a:pPr indent="0" marL="0">
              <a:buNone/>
            </a:pPr>
            <a:r>
              <a:rPr lang="en-US" sz="2300" b="1" dirty="0">
                <a:solidFill>
                  <a:srgbClr val="FFFFFF"/>
                </a:solidFill>
                <a:latin typeface="Arial" pitchFamily="34" charset="0"/>
                <a:ea typeface="Arial" pitchFamily="34" charset="-122"/>
                <a:cs typeface="Arial" pitchFamily="34" charset="-120"/>
              </a:rPr>
              <a:t>A learner is doing Benedict's test on a sample. Which set of steps is in the correct order?</a:t>
            </a:r>
            <a:endParaRPr lang="en-US" sz="2300" dirty="0"/>
          </a:p>
        </p:txBody>
      </p:sp>
      <p:sp>
        <p:nvSpPr>
          <p:cNvPr id="6" name="Shape 4"/>
          <p:cNvSpPr/>
          <p:nvPr/>
        </p:nvSpPr>
        <p:spPr>
          <a:xfrm>
            <a:off x="731520" y="2331720"/>
            <a:ext cx="10698480" cy="777240"/>
          </a:xfrm>
          <a:prstGeom prst="roundRect">
            <a:avLst>
              <a:gd name="adj" fmla="val 9412"/>
            </a:avLst>
          </a:prstGeom>
          <a:solidFill>
            <a:srgbClr val="7C5CAA"/>
          </a:solidFill>
          <a:ln/>
        </p:spPr>
      </p:sp>
      <p:sp>
        <p:nvSpPr>
          <p:cNvPr id="7" name="Text 5"/>
          <p:cNvSpPr/>
          <p:nvPr/>
        </p:nvSpPr>
        <p:spPr>
          <a:xfrm>
            <a:off x="914400" y="23317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8" name="Text 6"/>
          <p:cNvSpPr/>
          <p:nvPr/>
        </p:nvSpPr>
        <p:spPr>
          <a:xfrm>
            <a:off x="1554480" y="2331720"/>
            <a:ext cx="9692640" cy="777240"/>
          </a:xfrm>
          <a:prstGeom prst="rect">
            <a:avLst/>
          </a:prstGeom>
          <a:noFill/>
          <a:ln/>
        </p:spPr>
        <p:txBody>
          <a:bodyPr wrap="square" lIns="0" tIns="0" rIns="0" bIns="0" rtlCol="0" anchor="ctr"/>
          <a:lstStyle/>
          <a:p>
            <a:pPr indent="0" marL="0">
              <a:buNone/>
            </a:pPr>
            <a:r>
              <a:rPr lang="en-US" sz="1300" dirty="0">
                <a:solidFill>
                  <a:srgbClr val="FFFFFF"/>
                </a:solidFill>
                <a:latin typeface="Arial" pitchFamily="34" charset="0"/>
                <a:ea typeface="Arial" pitchFamily="34" charset="-122"/>
                <a:cs typeface="Arial" pitchFamily="34" charset="-120"/>
              </a:rPr>
              <a:t>Put about 2 cm³ of test solution in a test tube, add an equal amount of Benedict's solution and mix, place the tube in a hot water bath for a few minutes, then observe and record colour changes</a:t>
            </a:r>
            <a:endParaRPr lang="en-US" sz="1300" dirty="0"/>
          </a:p>
        </p:txBody>
      </p:sp>
      <p:sp>
        <p:nvSpPr>
          <p:cNvPr id="9" name="Shape 7"/>
          <p:cNvSpPr/>
          <p:nvPr/>
        </p:nvSpPr>
        <p:spPr>
          <a:xfrm>
            <a:off x="731520" y="3246120"/>
            <a:ext cx="10698480" cy="777240"/>
          </a:xfrm>
          <a:prstGeom prst="roundRect">
            <a:avLst>
              <a:gd name="adj" fmla="val 9412"/>
            </a:avLst>
          </a:prstGeom>
          <a:solidFill>
            <a:srgbClr val="7C5CAA"/>
          </a:solidFill>
          <a:ln/>
        </p:spPr>
      </p:sp>
      <p:sp>
        <p:nvSpPr>
          <p:cNvPr id="10" name="Text 8"/>
          <p:cNvSpPr/>
          <p:nvPr/>
        </p:nvSpPr>
        <p:spPr>
          <a:xfrm>
            <a:off x="914400" y="32461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1" name="Text 9"/>
          <p:cNvSpPr/>
          <p:nvPr/>
        </p:nvSpPr>
        <p:spPr>
          <a:xfrm>
            <a:off x="1554480" y="3246120"/>
            <a:ext cx="9692640" cy="777240"/>
          </a:xfrm>
          <a:prstGeom prst="rect">
            <a:avLst/>
          </a:prstGeom>
          <a:noFill/>
          <a:ln/>
        </p:spPr>
        <p:txBody>
          <a:bodyPr wrap="square" lIns="0" tIns="0" rIns="0" bIns="0" rtlCol="0" anchor="ctr"/>
          <a:lstStyle/>
          <a:p>
            <a:pPr indent="0" marL="0">
              <a:buNone/>
            </a:pPr>
            <a:r>
              <a:rPr lang="en-US" sz="1300" dirty="0">
                <a:solidFill>
                  <a:srgbClr val="FFFFFF"/>
                </a:solidFill>
                <a:latin typeface="Arial" pitchFamily="34" charset="0"/>
                <a:ea typeface="Arial" pitchFamily="34" charset="-122"/>
                <a:cs typeface="Arial" pitchFamily="34" charset="-120"/>
              </a:rPr>
              <a:t>Add Benedict's solution to a dry test tube, add a few drops of test solution, mix, and record the colour immediately without heating</a:t>
            </a:r>
            <a:endParaRPr lang="en-US" sz="1300" dirty="0"/>
          </a:p>
        </p:txBody>
      </p:sp>
      <p:sp>
        <p:nvSpPr>
          <p:cNvPr id="12" name="Shape 10"/>
          <p:cNvSpPr/>
          <p:nvPr/>
        </p:nvSpPr>
        <p:spPr>
          <a:xfrm>
            <a:off x="731520" y="4160520"/>
            <a:ext cx="10698480" cy="777240"/>
          </a:xfrm>
          <a:prstGeom prst="roundRect">
            <a:avLst>
              <a:gd name="adj" fmla="val 9412"/>
            </a:avLst>
          </a:prstGeom>
          <a:solidFill>
            <a:srgbClr val="7C5CAA"/>
          </a:solidFill>
          <a:ln/>
        </p:spPr>
      </p:sp>
      <p:sp>
        <p:nvSpPr>
          <p:cNvPr id="13" name="Text 11"/>
          <p:cNvSpPr/>
          <p:nvPr/>
        </p:nvSpPr>
        <p:spPr>
          <a:xfrm>
            <a:off x="914400" y="41605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4" name="Text 12"/>
          <p:cNvSpPr/>
          <p:nvPr/>
        </p:nvSpPr>
        <p:spPr>
          <a:xfrm>
            <a:off x="1554480" y="4160520"/>
            <a:ext cx="9692640" cy="777240"/>
          </a:xfrm>
          <a:prstGeom prst="rect">
            <a:avLst/>
          </a:prstGeom>
          <a:noFill/>
          <a:ln/>
        </p:spPr>
        <p:txBody>
          <a:bodyPr wrap="square" lIns="0" tIns="0" rIns="0" bIns="0" rtlCol="0" anchor="ctr"/>
          <a:lstStyle/>
          <a:p>
            <a:pPr indent="0" marL="0">
              <a:buNone/>
            </a:pPr>
            <a:r>
              <a:rPr lang="en-US" sz="1300" dirty="0">
                <a:solidFill>
                  <a:srgbClr val="FFFFFF"/>
                </a:solidFill>
                <a:latin typeface="Arial" pitchFamily="34" charset="0"/>
                <a:ea typeface="Arial" pitchFamily="34" charset="-122"/>
                <a:cs typeface="Arial" pitchFamily="34" charset="-120"/>
              </a:rPr>
              <a:t>Put about 2 cm³ of test solution in a test tube, place it in a hot water bath, then add Benedict's solution and record the colour once the tube is cold</a:t>
            </a:r>
            <a:endParaRPr lang="en-US" sz="1300" dirty="0"/>
          </a:p>
        </p:txBody>
      </p:sp>
      <p:sp>
        <p:nvSpPr>
          <p:cNvPr id="15" name="Shape 13"/>
          <p:cNvSpPr/>
          <p:nvPr/>
        </p:nvSpPr>
        <p:spPr>
          <a:xfrm>
            <a:off x="731520" y="5074920"/>
            <a:ext cx="10698480" cy="777240"/>
          </a:xfrm>
          <a:prstGeom prst="roundRect">
            <a:avLst>
              <a:gd name="adj" fmla="val 9412"/>
            </a:avLst>
          </a:prstGeom>
          <a:solidFill>
            <a:srgbClr val="7C5CAA"/>
          </a:solidFill>
          <a:ln/>
        </p:spPr>
      </p:sp>
      <p:sp>
        <p:nvSpPr>
          <p:cNvPr id="16" name="Text 14"/>
          <p:cNvSpPr/>
          <p:nvPr/>
        </p:nvSpPr>
        <p:spPr>
          <a:xfrm>
            <a:off x="914400" y="50749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7" name="Text 15"/>
          <p:cNvSpPr/>
          <p:nvPr/>
        </p:nvSpPr>
        <p:spPr>
          <a:xfrm>
            <a:off x="1554480" y="5074920"/>
            <a:ext cx="9692640" cy="777240"/>
          </a:xfrm>
          <a:prstGeom prst="rect">
            <a:avLst/>
          </a:prstGeom>
          <a:noFill/>
          <a:ln/>
        </p:spPr>
        <p:txBody>
          <a:bodyPr wrap="square" lIns="0" tIns="0" rIns="0" bIns="0" rtlCol="0" anchor="ctr"/>
          <a:lstStyle/>
          <a:p>
            <a:pPr indent="0" marL="0">
              <a:buNone/>
            </a:pPr>
            <a:r>
              <a:rPr lang="en-US" sz="1300" dirty="0">
                <a:solidFill>
                  <a:srgbClr val="FFFFFF"/>
                </a:solidFill>
                <a:latin typeface="Arial" pitchFamily="34" charset="0"/>
                <a:ea typeface="Arial" pitchFamily="34" charset="-122"/>
                <a:cs typeface="Arial" pitchFamily="34" charset="-120"/>
              </a:rPr>
              <a:t>Heat the Benedict's solution alone, add about 2 cm³ of test solution, then record the colour change without mixing</a:t>
            </a:r>
            <a:endParaRPr lang="en-US" sz="1300" dirty="0"/>
          </a:p>
        </p:txBody>
      </p:sp>
      <p:sp>
        <p:nvSpPr>
          <p:cNvPr id="18"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C9B8E0"/>
                </a:solidFill>
                <a:latin typeface="Arial" pitchFamily="34" charset="0"/>
                <a:ea typeface="Arial" pitchFamily="34" charset="-122"/>
                <a:cs typeface="Arial"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6A4C93"/>
        </a:solidFill>
      </p:bgPr>
    </p:bg>
    <p:spTree>
      <p:nvGrpSpPr>
        <p:cNvPr id="1" name=""/>
        <p:cNvGrpSpPr/>
        <p:nvPr/>
      </p:nvGrpSpPr>
      <p:grpSpPr>
        <a:xfrm>
          <a:off x="0" y="0"/>
          <a:ext cx="0" cy="0"/>
          <a:chOff x="0" y="0"/>
          <a:chExt cx="0" cy="0"/>
        </a:xfrm>
      </p:grpSpPr>
      <p:sp>
        <p:nvSpPr>
          <p:cNvPr id="2" name="Text 0"/>
          <p:cNvSpPr/>
          <p:nvPr/>
        </p:nvSpPr>
        <p:spPr>
          <a:xfrm>
            <a:off x="548640" y="365760"/>
            <a:ext cx="640080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QUESTION 2 OF 7</a:t>
            </a:r>
            <a:endParaRPr lang="en-US" sz="1300" dirty="0"/>
          </a:p>
        </p:txBody>
      </p:sp>
      <p:sp>
        <p:nvSpPr>
          <p:cNvPr id="3" name="Shape 1"/>
          <p:cNvSpPr/>
          <p:nvPr/>
        </p:nvSpPr>
        <p:spPr>
          <a:xfrm>
            <a:off x="8138160" y="320040"/>
            <a:ext cx="3474720" cy="365760"/>
          </a:xfrm>
          <a:prstGeom prst="roundRect">
            <a:avLst>
              <a:gd name="adj" fmla="val 15000"/>
            </a:avLst>
          </a:prstGeom>
          <a:solidFill>
            <a:srgbClr val="5A3F80"/>
          </a:solidFill>
          <a:ln/>
        </p:spPr>
      </p:sp>
      <p:sp>
        <p:nvSpPr>
          <p:cNvPr id="4" name="Text 2"/>
          <p:cNvSpPr/>
          <p:nvPr/>
        </p:nvSpPr>
        <p:spPr>
          <a:xfrm>
            <a:off x="8138160" y="320040"/>
            <a:ext cx="3474720" cy="365760"/>
          </a:xfrm>
          <a:prstGeom prst="rect">
            <a:avLst/>
          </a:prstGeom>
          <a:noFill/>
          <a:ln/>
        </p:spPr>
        <p:txBody>
          <a:bodyPr wrap="square" lIns="0" tIns="0" rIns="0" bIns="0" rtlCol="0" anchor="ctr"/>
          <a:lstStyle/>
          <a:p>
            <a:pPr algn="ctr" indent="0" marL="0">
              <a:buNone/>
            </a:pPr>
            <a:r>
              <a:rPr lang="en-US" sz="1100" i="1" dirty="0">
                <a:solidFill>
                  <a:srgbClr val="E0D6F0"/>
                </a:solidFill>
                <a:latin typeface="Arial" pitchFamily="34" charset="0"/>
                <a:ea typeface="Arial" pitchFamily="34" charset="-122"/>
                <a:cs typeface="Arial" pitchFamily="34" charset="-120"/>
              </a:rPr>
              <a:t>Use after: Observe phase</a:t>
            </a:r>
            <a:endParaRPr lang="en-US" sz="1100" dirty="0"/>
          </a:p>
        </p:txBody>
      </p:sp>
      <p:sp>
        <p:nvSpPr>
          <p:cNvPr id="5" name="Text 3"/>
          <p:cNvSpPr/>
          <p:nvPr/>
        </p:nvSpPr>
        <p:spPr>
          <a:xfrm>
            <a:off x="548640" y="868680"/>
            <a:ext cx="11064240" cy="132588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After heating a glucose solution with Benedict's solution in a hot water bath, a brick-red precipitate forms. What does this result show?</a:t>
            </a:r>
            <a:endParaRPr lang="en-US" sz="2000" dirty="0"/>
          </a:p>
        </p:txBody>
      </p:sp>
      <p:sp>
        <p:nvSpPr>
          <p:cNvPr id="6" name="Shape 4"/>
          <p:cNvSpPr/>
          <p:nvPr/>
        </p:nvSpPr>
        <p:spPr>
          <a:xfrm>
            <a:off x="731520" y="2331720"/>
            <a:ext cx="10698480" cy="777240"/>
          </a:xfrm>
          <a:prstGeom prst="roundRect">
            <a:avLst>
              <a:gd name="adj" fmla="val 9412"/>
            </a:avLst>
          </a:prstGeom>
          <a:solidFill>
            <a:srgbClr val="7C5CAA"/>
          </a:solidFill>
          <a:ln/>
        </p:spPr>
      </p:sp>
      <p:sp>
        <p:nvSpPr>
          <p:cNvPr id="7" name="Text 5"/>
          <p:cNvSpPr/>
          <p:nvPr/>
        </p:nvSpPr>
        <p:spPr>
          <a:xfrm>
            <a:off x="914400" y="23317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8" name="Text 6"/>
          <p:cNvSpPr/>
          <p:nvPr/>
        </p:nvSpPr>
        <p:spPr>
          <a:xfrm>
            <a:off x="1554480" y="23317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The solution contains a reducing sugar such as glucose</a:t>
            </a:r>
            <a:endParaRPr lang="en-US" sz="1500" dirty="0"/>
          </a:p>
        </p:txBody>
      </p:sp>
      <p:sp>
        <p:nvSpPr>
          <p:cNvPr id="9" name="Shape 7"/>
          <p:cNvSpPr/>
          <p:nvPr/>
        </p:nvSpPr>
        <p:spPr>
          <a:xfrm>
            <a:off x="731520" y="3246120"/>
            <a:ext cx="10698480" cy="777240"/>
          </a:xfrm>
          <a:prstGeom prst="roundRect">
            <a:avLst>
              <a:gd name="adj" fmla="val 9412"/>
            </a:avLst>
          </a:prstGeom>
          <a:solidFill>
            <a:srgbClr val="7C5CAA"/>
          </a:solidFill>
          <a:ln/>
        </p:spPr>
      </p:sp>
      <p:sp>
        <p:nvSpPr>
          <p:cNvPr id="10" name="Text 8"/>
          <p:cNvSpPr/>
          <p:nvPr/>
        </p:nvSpPr>
        <p:spPr>
          <a:xfrm>
            <a:off x="914400" y="32461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1" name="Text 9"/>
          <p:cNvSpPr/>
          <p:nvPr/>
        </p:nvSpPr>
        <p:spPr>
          <a:xfrm>
            <a:off x="1554480" y="32461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The solution has no sugar, because the blue colour has been lost</a:t>
            </a:r>
            <a:endParaRPr lang="en-US" sz="1500" dirty="0"/>
          </a:p>
        </p:txBody>
      </p:sp>
      <p:sp>
        <p:nvSpPr>
          <p:cNvPr id="12" name="Shape 10"/>
          <p:cNvSpPr/>
          <p:nvPr/>
        </p:nvSpPr>
        <p:spPr>
          <a:xfrm>
            <a:off x="731520" y="4160520"/>
            <a:ext cx="10698480" cy="777240"/>
          </a:xfrm>
          <a:prstGeom prst="roundRect">
            <a:avLst>
              <a:gd name="adj" fmla="val 9412"/>
            </a:avLst>
          </a:prstGeom>
          <a:solidFill>
            <a:srgbClr val="7C5CAA"/>
          </a:solidFill>
          <a:ln/>
        </p:spPr>
      </p:sp>
      <p:sp>
        <p:nvSpPr>
          <p:cNvPr id="13" name="Text 11"/>
          <p:cNvSpPr/>
          <p:nvPr/>
        </p:nvSpPr>
        <p:spPr>
          <a:xfrm>
            <a:off x="914400" y="41605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4" name="Text 12"/>
          <p:cNvSpPr/>
          <p:nvPr/>
        </p:nvSpPr>
        <p:spPr>
          <a:xfrm>
            <a:off x="1554480" y="41605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The solution contains protein, because Benedict's solution reacts with all nutrients</a:t>
            </a:r>
            <a:endParaRPr lang="en-US" sz="1500" dirty="0"/>
          </a:p>
        </p:txBody>
      </p:sp>
      <p:sp>
        <p:nvSpPr>
          <p:cNvPr id="15" name="Shape 13"/>
          <p:cNvSpPr/>
          <p:nvPr/>
        </p:nvSpPr>
        <p:spPr>
          <a:xfrm>
            <a:off x="731520" y="5074920"/>
            <a:ext cx="10698480" cy="777240"/>
          </a:xfrm>
          <a:prstGeom prst="roundRect">
            <a:avLst>
              <a:gd name="adj" fmla="val 9412"/>
            </a:avLst>
          </a:prstGeom>
          <a:solidFill>
            <a:srgbClr val="7C5CAA"/>
          </a:solidFill>
          <a:ln/>
        </p:spPr>
      </p:sp>
      <p:sp>
        <p:nvSpPr>
          <p:cNvPr id="16" name="Text 14"/>
          <p:cNvSpPr/>
          <p:nvPr/>
        </p:nvSpPr>
        <p:spPr>
          <a:xfrm>
            <a:off x="914400" y="50749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7" name="Text 15"/>
          <p:cNvSpPr/>
          <p:nvPr/>
        </p:nvSpPr>
        <p:spPr>
          <a:xfrm>
            <a:off x="1554480" y="50749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The solution contains starch, because starch turns Benedict's solution red</a:t>
            </a:r>
            <a:endParaRPr lang="en-US" sz="1500" dirty="0"/>
          </a:p>
        </p:txBody>
      </p:sp>
      <p:sp>
        <p:nvSpPr>
          <p:cNvPr id="18"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C9B8E0"/>
                </a:solidFill>
                <a:latin typeface="Arial" pitchFamily="34" charset="0"/>
                <a:ea typeface="Arial" pitchFamily="34" charset="-122"/>
                <a:cs typeface="Arial"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6A4C93"/>
        </a:solidFill>
      </p:bgPr>
    </p:bg>
    <p:spTree>
      <p:nvGrpSpPr>
        <p:cNvPr id="1" name=""/>
        <p:cNvGrpSpPr/>
        <p:nvPr/>
      </p:nvGrpSpPr>
      <p:grpSpPr>
        <a:xfrm>
          <a:off x="0" y="0"/>
          <a:ext cx="0" cy="0"/>
          <a:chOff x="0" y="0"/>
          <a:chExt cx="0" cy="0"/>
        </a:xfrm>
      </p:grpSpPr>
      <p:sp>
        <p:nvSpPr>
          <p:cNvPr id="2" name="Text 0"/>
          <p:cNvSpPr/>
          <p:nvPr/>
        </p:nvSpPr>
        <p:spPr>
          <a:xfrm>
            <a:off x="548640" y="365760"/>
            <a:ext cx="640080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QUESTION 3 OF 7</a:t>
            </a:r>
            <a:endParaRPr lang="en-US" sz="1300" dirty="0"/>
          </a:p>
        </p:txBody>
      </p:sp>
      <p:sp>
        <p:nvSpPr>
          <p:cNvPr id="3" name="Shape 1"/>
          <p:cNvSpPr/>
          <p:nvPr/>
        </p:nvSpPr>
        <p:spPr>
          <a:xfrm>
            <a:off x="8138160" y="320040"/>
            <a:ext cx="3474720" cy="365760"/>
          </a:xfrm>
          <a:prstGeom prst="roundRect">
            <a:avLst>
              <a:gd name="adj" fmla="val 15000"/>
            </a:avLst>
          </a:prstGeom>
          <a:solidFill>
            <a:srgbClr val="5A3F80"/>
          </a:solidFill>
          <a:ln/>
        </p:spPr>
      </p:sp>
      <p:sp>
        <p:nvSpPr>
          <p:cNvPr id="4" name="Text 2"/>
          <p:cNvSpPr/>
          <p:nvPr/>
        </p:nvSpPr>
        <p:spPr>
          <a:xfrm>
            <a:off x="8138160" y="320040"/>
            <a:ext cx="3474720" cy="365760"/>
          </a:xfrm>
          <a:prstGeom prst="rect">
            <a:avLst/>
          </a:prstGeom>
          <a:noFill/>
          <a:ln/>
        </p:spPr>
        <p:txBody>
          <a:bodyPr wrap="square" lIns="0" tIns="0" rIns="0" bIns="0" rtlCol="0" anchor="ctr"/>
          <a:lstStyle/>
          <a:p>
            <a:pPr algn="ctr" indent="0" marL="0">
              <a:buNone/>
            </a:pPr>
            <a:r>
              <a:rPr lang="en-US" sz="1100" i="1" dirty="0">
                <a:solidFill>
                  <a:srgbClr val="E0D6F0"/>
                </a:solidFill>
                <a:latin typeface="Arial" pitchFamily="34" charset="0"/>
                <a:ea typeface="Arial" pitchFamily="34" charset="-122"/>
                <a:cs typeface="Arial" pitchFamily="34" charset="-120"/>
              </a:rPr>
              <a:t>Use after: Observe phase</a:t>
            </a:r>
            <a:endParaRPr lang="en-US" sz="1100" dirty="0"/>
          </a:p>
        </p:txBody>
      </p:sp>
      <p:sp>
        <p:nvSpPr>
          <p:cNvPr id="5" name="Text 3"/>
          <p:cNvSpPr/>
          <p:nvPr/>
        </p:nvSpPr>
        <p:spPr>
          <a:xfrm>
            <a:off x="548640" y="868680"/>
            <a:ext cx="11064240" cy="132588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In the practical, a dilute glucose solution was used to represent 'digested ugali'. Why is glucose a suitable choice to represent digested ugali?</a:t>
            </a:r>
            <a:endParaRPr lang="en-US" sz="2000" dirty="0"/>
          </a:p>
        </p:txBody>
      </p:sp>
      <p:sp>
        <p:nvSpPr>
          <p:cNvPr id="6" name="Shape 4"/>
          <p:cNvSpPr/>
          <p:nvPr/>
        </p:nvSpPr>
        <p:spPr>
          <a:xfrm>
            <a:off x="731520" y="2331720"/>
            <a:ext cx="10698480" cy="777240"/>
          </a:xfrm>
          <a:prstGeom prst="roundRect">
            <a:avLst>
              <a:gd name="adj" fmla="val 9412"/>
            </a:avLst>
          </a:prstGeom>
          <a:solidFill>
            <a:srgbClr val="7C5CAA"/>
          </a:solidFill>
          <a:ln/>
        </p:spPr>
      </p:sp>
      <p:sp>
        <p:nvSpPr>
          <p:cNvPr id="7" name="Text 5"/>
          <p:cNvSpPr/>
          <p:nvPr/>
        </p:nvSpPr>
        <p:spPr>
          <a:xfrm>
            <a:off x="914400" y="23317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8" name="Text 6"/>
          <p:cNvSpPr/>
          <p:nvPr/>
        </p:nvSpPr>
        <p:spPr>
          <a:xfrm>
            <a:off x="1554480" y="23317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Ugali starch is already a reducing sugar, so it gives a positive Benedict's test before any digestion</a:t>
            </a:r>
            <a:endParaRPr lang="en-US" sz="1500" dirty="0"/>
          </a:p>
        </p:txBody>
      </p:sp>
      <p:sp>
        <p:nvSpPr>
          <p:cNvPr id="9" name="Shape 7"/>
          <p:cNvSpPr/>
          <p:nvPr/>
        </p:nvSpPr>
        <p:spPr>
          <a:xfrm>
            <a:off x="731520" y="3246120"/>
            <a:ext cx="10698480" cy="777240"/>
          </a:xfrm>
          <a:prstGeom prst="roundRect">
            <a:avLst>
              <a:gd name="adj" fmla="val 9412"/>
            </a:avLst>
          </a:prstGeom>
          <a:solidFill>
            <a:srgbClr val="7C5CAA"/>
          </a:solidFill>
          <a:ln/>
        </p:spPr>
      </p:sp>
      <p:sp>
        <p:nvSpPr>
          <p:cNvPr id="10" name="Text 8"/>
          <p:cNvSpPr/>
          <p:nvPr/>
        </p:nvSpPr>
        <p:spPr>
          <a:xfrm>
            <a:off x="914400" y="32461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1" name="Text 9"/>
          <p:cNvSpPr/>
          <p:nvPr/>
        </p:nvSpPr>
        <p:spPr>
          <a:xfrm>
            <a:off x="1554480" y="32461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Ugali contains mainly protein, and glucose is the end-product of protein digestion</a:t>
            </a:r>
            <a:endParaRPr lang="en-US" sz="1500" dirty="0"/>
          </a:p>
        </p:txBody>
      </p:sp>
      <p:sp>
        <p:nvSpPr>
          <p:cNvPr id="12" name="Shape 10"/>
          <p:cNvSpPr/>
          <p:nvPr/>
        </p:nvSpPr>
        <p:spPr>
          <a:xfrm>
            <a:off x="731520" y="4160520"/>
            <a:ext cx="10698480" cy="777240"/>
          </a:xfrm>
          <a:prstGeom prst="roundRect">
            <a:avLst>
              <a:gd name="adj" fmla="val 9412"/>
            </a:avLst>
          </a:prstGeom>
          <a:solidFill>
            <a:srgbClr val="7C5CAA"/>
          </a:solidFill>
          <a:ln/>
        </p:spPr>
      </p:sp>
      <p:sp>
        <p:nvSpPr>
          <p:cNvPr id="13" name="Text 11"/>
          <p:cNvSpPr/>
          <p:nvPr/>
        </p:nvSpPr>
        <p:spPr>
          <a:xfrm>
            <a:off x="914400" y="41605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4" name="Text 12"/>
          <p:cNvSpPr/>
          <p:nvPr/>
        </p:nvSpPr>
        <p:spPr>
          <a:xfrm>
            <a:off x="1554480" y="41605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Hydrochloric acid in the stomach turns starch into glucose within seconds</a:t>
            </a:r>
            <a:endParaRPr lang="en-US" sz="1500" dirty="0"/>
          </a:p>
        </p:txBody>
      </p:sp>
      <p:sp>
        <p:nvSpPr>
          <p:cNvPr id="15" name="Shape 13"/>
          <p:cNvSpPr/>
          <p:nvPr/>
        </p:nvSpPr>
        <p:spPr>
          <a:xfrm>
            <a:off x="731520" y="5074920"/>
            <a:ext cx="10698480" cy="777240"/>
          </a:xfrm>
          <a:prstGeom prst="roundRect">
            <a:avLst>
              <a:gd name="adj" fmla="val 9412"/>
            </a:avLst>
          </a:prstGeom>
          <a:solidFill>
            <a:srgbClr val="7C5CAA"/>
          </a:solidFill>
          <a:ln/>
        </p:spPr>
      </p:sp>
      <p:sp>
        <p:nvSpPr>
          <p:cNvPr id="16" name="Text 14"/>
          <p:cNvSpPr/>
          <p:nvPr/>
        </p:nvSpPr>
        <p:spPr>
          <a:xfrm>
            <a:off x="914400" y="50749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7" name="Text 15"/>
          <p:cNvSpPr/>
          <p:nvPr/>
        </p:nvSpPr>
        <p:spPr>
          <a:xfrm>
            <a:off x="1554480" y="50749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Amylase enzymes break the large starch molecules in ugali down into simple sugars such as glucose</a:t>
            </a:r>
            <a:endParaRPr lang="en-US" sz="1500" dirty="0"/>
          </a:p>
        </p:txBody>
      </p:sp>
      <p:sp>
        <p:nvSpPr>
          <p:cNvPr id="18"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C9B8E0"/>
                </a:solidFill>
                <a:latin typeface="Arial" pitchFamily="34" charset="0"/>
                <a:ea typeface="Arial" pitchFamily="34" charset="-122"/>
                <a:cs typeface="Arial"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6A4C93"/>
        </a:solidFill>
      </p:bgPr>
    </p:bg>
    <p:spTree>
      <p:nvGrpSpPr>
        <p:cNvPr id="1" name=""/>
        <p:cNvGrpSpPr/>
        <p:nvPr/>
      </p:nvGrpSpPr>
      <p:grpSpPr>
        <a:xfrm>
          <a:off x="0" y="0"/>
          <a:ext cx="0" cy="0"/>
          <a:chOff x="0" y="0"/>
          <a:chExt cx="0" cy="0"/>
        </a:xfrm>
      </p:grpSpPr>
      <p:sp>
        <p:nvSpPr>
          <p:cNvPr id="2" name="Text 0"/>
          <p:cNvSpPr/>
          <p:nvPr/>
        </p:nvSpPr>
        <p:spPr>
          <a:xfrm>
            <a:off x="548640" y="365760"/>
            <a:ext cx="640080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QUESTION 4 OF 7</a:t>
            </a:r>
            <a:endParaRPr lang="en-US" sz="1300" dirty="0"/>
          </a:p>
        </p:txBody>
      </p:sp>
      <p:sp>
        <p:nvSpPr>
          <p:cNvPr id="3" name="Shape 1"/>
          <p:cNvSpPr/>
          <p:nvPr/>
        </p:nvSpPr>
        <p:spPr>
          <a:xfrm>
            <a:off x="8138160" y="320040"/>
            <a:ext cx="3474720" cy="365760"/>
          </a:xfrm>
          <a:prstGeom prst="roundRect">
            <a:avLst>
              <a:gd name="adj" fmla="val 15000"/>
            </a:avLst>
          </a:prstGeom>
          <a:solidFill>
            <a:srgbClr val="5A3F80"/>
          </a:solidFill>
          <a:ln/>
        </p:spPr>
      </p:sp>
      <p:sp>
        <p:nvSpPr>
          <p:cNvPr id="4" name="Text 2"/>
          <p:cNvSpPr/>
          <p:nvPr/>
        </p:nvSpPr>
        <p:spPr>
          <a:xfrm>
            <a:off x="8138160" y="320040"/>
            <a:ext cx="3474720" cy="365760"/>
          </a:xfrm>
          <a:prstGeom prst="rect">
            <a:avLst/>
          </a:prstGeom>
          <a:noFill/>
          <a:ln/>
        </p:spPr>
        <p:txBody>
          <a:bodyPr wrap="square" lIns="0" tIns="0" rIns="0" bIns="0" rtlCol="0" anchor="ctr"/>
          <a:lstStyle/>
          <a:p>
            <a:pPr algn="ctr" indent="0" marL="0">
              <a:buNone/>
            </a:pPr>
            <a:r>
              <a:rPr lang="en-US" sz="1100" i="1" dirty="0">
                <a:solidFill>
                  <a:srgbClr val="E0D6F0"/>
                </a:solidFill>
                <a:latin typeface="Arial" pitchFamily="34" charset="0"/>
                <a:ea typeface="Arial" pitchFamily="34" charset="-122"/>
                <a:cs typeface="Arial" pitchFamily="34" charset="-120"/>
              </a:rPr>
              <a:t>Use after: Explain phase</a:t>
            </a:r>
            <a:endParaRPr lang="en-US" sz="1100" dirty="0"/>
          </a:p>
        </p:txBody>
      </p:sp>
      <p:sp>
        <p:nvSpPr>
          <p:cNvPr id="5" name="Text 3"/>
          <p:cNvSpPr/>
          <p:nvPr/>
        </p:nvSpPr>
        <p:spPr>
          <a:xfrm>
            <a:off x="548640" y="868680"/>
            <a:ext cx="11064240" cy="132588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Nyama choma is rich in protein. Which statement correctly matches the enzyme pepsin to its region of action and substrate?</a:t>
            </a:r>
            <a:endParaRPr lang="en-US" sz="2000" dirty="0"/>
          </a:p>
        </p:txBody>
      </p:sp>
      <p:sp>
        <p:nvSpPr>
          <p:cNvPr id="6" name="Shape 4"/>
          <p:cNvSpPr/>
          <p:nvPr/>
        </p:nvSpPr>
        <p:spPr>
          <a:xfrm>
            <a:off x="731520" y="2331720"/>
            <a:ext cx="10698480" cy="777240"/>
          </a:xfrm>
          <a:prstGeom prst="roundRect">
            <a:avLst>
              <a:gd name="adj" fmla="val 9412"/>
            </a:avLst>
          </a:prstGeom>
          <a:solidFill>
            <a:srgbClr val="7C5CAA"/>
          </a:solidFill>
          <a:ln/>
        </p:spPr>
      </p:sp>
      <p:sp>
        <p:nvSpPr>
          <p:cNvPr id="7" name="Text 5"/>
          <p:cNvSpPr/>
          <p:nvPr/>
        </p:nvSpPr>
        <p:spPr>
          <a:xfrm>
            <a:off x="914400" y="23317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8" name="Text 6"/>
          <p:cNvSpPr/>
          <p:nvPr/>
        </p:nvSpPr>
        <p:spPr>
          <a:xfrm>
            <a:off x="1554480" y="23317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Pepsin acts in the mouth and breaks down starch into maltose</a:t>
            </a:r>
            <a:endParaRPr lang="en-US" sz="1500" dirty="0"/>
          </a:p>
        </p:txBody>
      </p:sp>
      <p:sp>
        <p:nvSpPr>
          <p:cNvPr id="9" name="Shape 7"/>
          <p:cNvSpPr/>
          <p:nvPr/>
        </p:nvSpPr>
        <p:spPr>
          <a:xfrm>
            <a:off x="731520" y="3246120"/>
            <a:ext cx="10698480" cy="777240"/>
          </a:xfrm>
          <a:prstGeom prst="roundRect">
            <a:avLst>
              <a:gd name="adj" fmla="val 9412"/>
            </a:avLst>
          </a:prstGeom>
          <a:solidFill>
            <a:srgbClr val="7C5CAA"/>
          </a:solidFill>
          <a:ln/>
        </p:spPr>
      </p:sp>
      <p:sp>
        <p:nvSpPr>
          <p:cNvPr id="10" name="Text 8"/>
          <p:cNvSpPr/>
          <p:nvPr/>
        </p:nvSpPr>
        <p:spPr>
          <a:xfrm>
            <a:off x="914400" y="32461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1" name="Text 9"/>
          <p:cNvSpPr/>
          <p:nvPr/>
        </p:nvSpPr>
        <p:spPr>
          <a:xfrm>
            <a:off x="1554480" y="32461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Pepsin acts in the small intestine and breaks down fats into fatty acids and glycerol</a:t>
            </a:r>
            <a:endParaRPr lang="en-US" sz="1500" dirty="0"/>
          </a:p>
        </p:txBody>
      </p:sp>
      <p:sp>
        <p:nvSpPr>
          <p:cNvPr id="12" name="Shape 10"/>
          <p:cNvSpPr/>
          <p:nvPr/>
        </p:nvSpPr>
        <p:spPr>
          <a:xfrm>
            <a:off x="731520" y="4160520"/>
            <a:ext cx="10698480" cy="777240"/>
          </a:xfrm>
          <a:prstGeom prst="roundRect">
            <a:avLst>
              <a:gd name="adj" fmla="val 9412"/>
            </a:avLst>
          </a:prstGeom>
          <a:solidFill>
            <a:srgbClr val="7C5CAA"/>
          </a:solidFill>
          <a:ln/>
        </p:spPr>
      </p:sp>
      <p:sp>
        <p:nvSpPr>
          <p:cNvPr id="13" name="Text 11"/>
          <p:cNvSpPr/>
          <p:nvPr/>
        </p:nvSpPr>
        <p:spPr>
          <a:xfrm>
            <a:off x="914400" y="41605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4" name="Text 12"/>
          <p:cNvSpPr/>
          <p:nvPr/>
        </p:nvSpPr>
        <p:spPr>
          <a:xfrm>
            <a:off x="1554480" y="41605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Pepsin acts in the stomach and breaks down starch into glucose</a:t>
            </a:r>
            <a:endParaRPr lang="en-US" sz="1500" dirty="0"/>
          </a:p>
        </p:txBody>
      </p:sp>
      <p:sp>
        <p:nvSpPr>
          <p:cNvPr id="15" name="Shape 13"/>
          <p:cNvSpPr/>
          <p:nvPr/>
        </p:nvSpPr>
        <p:spPr>
          <a:xfrm>
            <a:off x="731520" y="5074920"/>
            <a:ext cx="10698480" cy="777240"/>
          </a:xfrm>
          <a:prstGeom prst="roundRect">
            <a:avLst>
              <a:gd name="adj" fmla="val 9412"/>
            </a:avLst>
          </a:prstGeom>
          <a:solidFill>
            <a:srgbClr val="7C5CAA"/>
          </a:solidFill>
          <a:ln/>
        </p:spPr>
      </p:sp>
      <p:sp>
        <p:nvSpPr>
          <p:cNvPr id="16" name="Text 14"/>
          <p:cNvSpPr/>
          <p:nvPr/>
        </p:nvSpPr>
        <p:spPr>
          <a:xfrm>
            <a:off x="914400" y="50749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7" name="Text 15"/>
          <p:cNvSpPr/>
          <p:nvPr/>
        </p:nvSpPr>
        <p:spPr>
          <a:xfrm>
            <a:off x="1554480" y="50749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Pepsin acts in the stomach and breaks down proteins into smaller peptides</a:t>
            </a:r>
            <a:endParaRPr lang="en-US" sz="1500" dirty="0"/>
          </a:p>
        </p:txBody>
      </p:sp>
      <p:sp>
        <p:nvSpPr>
          <p:cNvPr id="18"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C9B8E0"/>
                </a:solidFill>
                <a:latin typeface="Arial" pitchFamily="34" charset="0"/>
                <a:ea typeface="Arial" pitchFamily="34" charset="-122"/>
                <a:cs typeface="Arial"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6A4C93"/>
        </a:solidFill>
      </p:bgPr>
    </p:bg>
    <p:spTree>
      <p:nvGrpSpPr>
        <p:cNvPr id="1" name=""/>
        <p:cNvGrpSpPr/>
        <p:nvPr/>
      </p:nvGrpSpPr>
      <p:grpSpPr>
        <a:xfrm>
          <a:off x="0" y="0"/>
          <a:ext cx="0" cy="0"/>
          <a:chOff x="0" y="0"/>
          <a:chExt cx="0" cy="0"/>
        </a:xfrm>
      </p:grpSpPr>
      <p:sp>
        <p:nvSpPr>
          <p:cNvPr id="2" name="Text 0"/>
          <p:cNvSpPr/>
          <p:nvPr/>
        </p:nvSpPr>
        <p:spPr>
          <a:xfrm>
            <a:off x="548640" y="365760"/>
            <a:ext cx="640080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QUESTION 5 OF 7</a:t>
            </a:r>
            <a:endParaRPr lang="en-US" sz="1300" dirty="0"/>
          </a:p>
        </p:txBody>
      </p:sp>
      <p:sp>
        <p:nvSpPr>
          <p:cNvPr id="3" name="Shape 1"/>
          <p:cNvSpPr/>
          <p:nvPr/>
        </p:nvSpPr>
        <p:spPr>
          <a:xfrm>
            <a:off x="8138160" y="320040"/>
            <a:ext cx="3474720" cy="365760"/>
          </a:xfrm>
          <a:prstGeom prst="roundRect">
            <a:avLst>
              <a:gd name="adj" fmla="val 15000"/>
            </a:avLst>
          </a:prstGeom>
          <a:solidFill>
            <a:srgbClr val="5A3F80"/>
          </a:solidFill>
          <a:ln/>
        </p:spPr>
      </p:sp>
      <p:sp>
        <p:nvSpPr>
          <p:cNvPr id="4" name="Text 2"/>
          <p:cNvSpPr/>
          <p:nvPr/>
        </p:nvSpPr>
        <p:spPr>
          <a:xfrm>
            <a:off x="8138160" y="320040"/>
            <a:ext cx="3474720" cy="365760"/>
          </a:xfrm>
          <a:prstGeom prst="rect">
            <a:avLst/>
          </a:prstGeom>
          <a:noFill/>
          <a:ln/>
        </p:spPr>
        <p:txBody>
          <a:bodyPr wrap="square" lIns="0" tIns="0" rIns="0" bIns="0" rtlCol="0" anchor="ctr"/>
          <a:lstStyle/>
          <a:p>
            <a:pPr algn="ctr" indent="0" marL="0">
              <a:buNone/>
            </a:pPr>
            <a:r>
              <a:rPr lang="en-US" sz="1100" i="1" dirty="0">
                <a:solidFill>
                  <a:srgbClr val="E0D6F0"/>
                </a:solidFill>
                <a:latin typeface="Arial" pitchFamily="34" charset="0"/>
                <a:ea typeface="Arial" pitchFamily="34" charset="-122"/>
                <a:cs typeface="Arial" pitchFamily="34" charset="-120"/>
              </a:rPr>
              <a:t>Use after: Explain phase</a:t>
            </a:r>
            <a:endParaRPr lang="en-US" sz="1100" dirty="0"/>
          </a:p>
        </p:txBody>
      </p:sp>
      <p:sp>
        <p:nvSpPr>
          <p:cNvPr id="5" name="Text 3"/>
          <p:cNvSpPr/>
          <p:nvPr/>
        </p:nvSpPr>
        <p:spPr>
          <a:xfrm>
            <a:off x="548640" y="868680"/>
            <a:ext cx="11064240" cy="132588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In the Explain phase, pairs wrote about what happens when an adaptation of the digestive system fails. Infection with the bacterium H. pylori can damage the mucus lining of the stomach. Why can this lead to an ulcer?</a:t>
            </a:r>
            <a:endParaRPr lang="en-US" sz="1800" dirty="0"/>
          </a:p>
        </p:txBody>
      </p:sp>
      <p:sp>
        <p:nvSpPr>
          <p:cNvPr id="6" name="Shape 4"/>
          <p:cNvSpPr/>
          <p:nvPr/>
        </p:nvSpPr>
        <p:spPr>
          <a:xfrm>
            <a:off x="731520" y="2331720"/>
            <a:ext cx="10698480" cy="777240"/>
          </a:xfrm>
          <a:prstGeom prst="roundRect">
            <a:avLst>
              <a:gd name="adj" fmla="val 9412"/>
            </a:avLst>
          </a:prstGeom>
          <a:solidFill>
            <a:srgbClr val="7C5CAA"/>
          </a:solidFill>
          <a:ln/>
        </p:spPr>
      </p:sp>
      <p:sp>
        <p:nvSpPr>
          <p:cNvPr id="7" name="Text 5"/>
          <p:cNvSpPr/>
          <p:nvPr/>
        </p:nvSpPr>
        <p:spPr>
          <a:xfrm>
            <a:off x="914400" y="23317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8" name="Text 6"/>
          <p:cNvSpPr/>
          <p:nvPr/>
        </p:nvSpPr>
        <p:spPr>
          <a:xfrm>
            <a:off x="1554480" y="23317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The stomach starts to digest starch, which burns a hole in the wall</a:t>
            </a:r>
            <a:endParaRPr lang="en-US" sz="1500" dirty="0"/>
          </a:p>
        </p:txBody>
      </p:sp>
      <p:sp>
        <p:nvSpPr>
          <p:cNvPr id="9" name="Shape 7"/>
          <p:cNvSpPr/>
          <p:nvPr/>
        </p:nvSpPr>
        <p:spPr>
          <a:xfrm>
            <a:off x="731520" y="3246120"/>
            <a:ext cx="10698480" cy="777240"/>
          </a:xfrm>
          <a:prstGeom prst="roundRect">
            <a:avLst>
              <a:gd name="adj" fmla="val 9412"/>
            </a:avLst>
          </a:prstGeom>
          <a:solidFill>
            <a:srgbClr val="7C5CAA"/>
          </a:solidFill>
          <a:ln/>
        </p:spPr>
      </p:sp>
      <p:sp>
        <p:nvSpPr>
          <p:cNvPr id="10" name="Text 8"/>
          <p:cNvSpPr/>
          <p:nvPr/>
        </p:nvSpPr>
        <p:spPr>
          <a:xfrm>
            <a:off x="914400" y="32461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1" name="Text 9"/>
          <p:cNvSpPr/>
          <p:nvPr/>
        </p:nvSpPr>
        <p:spPr>
          <a:xfrm>
            <a:off x="1554480" y="32461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The villi in the stomach are destroyed, so nutrients cannot be absorbed</a:t>
            </a:r>
            <a:endParaRPr lang="en-US" sz="1500" dirty="0"/>
          </a:p>
        </p:txBody>
      </p:sp>
      <p:sp>
        <p:nvSpPr>
          <p:cNvPr id="12" name="Shape 10"/>
          <p:cNvSpPr/>
          <p:nvPr/>
        </p:nvSpPr>
        <p:spPr>
          <a:xfrm>
            <a:off x="731520" y="4160520"/>
            <a:ext cx="10698480" cy="777240"/>
          </a:xfrm>
          <a:prstGeom prst="roundRect">
            <a:avLst>
              <a:gd name="adj" fmla="val 9412"/>
            </a:avLst>
          </a:prstGeom>
          <a:solidFill>
            <a:srgbClr val="7C5CAA"/>
          </a:solidFill>
          <a:ln/>
        </p:spPr>
      </p:sp>
      <p:sp>
        <p:nvSpPr>
          <p:cNvPr id="13" name="Text 11"/>
          <p:cNvSpPr/>
          <p:nvPr/>
        </p:nvSpPr>
        <p:spPr>
          <a:xfrm>
            <a:off x="914400" y="41605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4" name="Text 12"/>
          <p:cNvSpPr/>
          <p:nvPr/>
        </p:nvSpPr>
        <p:spPr>
          <a:xfrm>
            <a:off x="1554480" y="41605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The stomach can no longer make any acid, so food stays undigested and forms a sore</a:t>
            </a:r>
            <a:endParaRPr lang="en-US" sz="1500" dirty="0"/>
          </a:p>
        </p:txBody>
      </p:sp>
      <p:sp>
        <p:nvSpPr>
          <p:cNvPr id="15" name="Shape 13"/>
          <p:cNvSpPr/>
          <p:nvPr/>
        </p:nvSpPr>
        <p:spPr>
          <a:xfrm>
            <a:off x="731520" y="5074920"/>
            <a:ext cx="10698480" cy="777240"/>
          </a:xfrm>
          <a:prstGeom prst="roundRect">
            <a:avLst>
              <a:gd name="adj" fmla="val 9412"/>
            </a:avLst>
          </a:prstGeom>
          <a:solidFill>
            <a:srgbClr val="7C5CAA"/>
          </a:solidFill>
          <a:ln/>
        </p:spPr>
      </p:sp>
      <p:sp>
        <p:nvSpPr>
          <p:cNvPr id="16" name="Text 14"/>
          <p:cNvSpPr/>
          <p:nvPr/>
        </p:nvSpPr>
        <p:spPr>
          <a:xfrm>
            <a:off x="914400" y="50749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7" name="Text 15"/>
          <p:cNvSpPr/>
          <p:nvPr/>
        </p:nvSpPr>
        <p:spPr>
          <a:xfrm>
            <a:off x="1554480" y="50749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The wall of the stomach loses its protection and is damaged by the acid and pepsin in the stomach juice</a:t>
            </a:r>
            <a:endParaRPr lang="en-US" sz="1500" dirty="0"/>
          </a:p>
        </p:txBody>
      </p:sp>
      <p:sp>
        <p:nvSpPr>
          <p:cNvPr id="18"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C9B8E0"/>
                </a:solidFill>
                <a:latin typeface="Arial" pitchFamily="34" charset="0"/>
                <a:ea typeface="Arial" pitchFamily="34" charset="-122"/>
                <a:cs typeface="Arial"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6A4C93"/>
        </a:solidFill>
      </p:bgPr>
    </p:bg>
    <p:spTree>
      <p:nvGrpSpPr>
        <p:cNvPr id="1" name=""/>
        <p:cNvGrpSpPr/>
        <p:nvPr/>
      </p:nvGrpSpPr>
      <p:grpSpPr>
        <a:xfrm>
          <a:off x="0" y="0"/>
          <a:ext cx="0" cy="0"/>
          <a:chOff x="0" y="0"/>
          <a:chExt cx="0" cy="0"/>
        </a:xfrm>
      </p:grpSpPr>
      <p:sp>
        <p:nvSpPr>
          <p:cNvPr id="2" name="Text 0"/>
          <p:cNvSpPr/>
          <p:nvPr/>
        </p:nvSpPr>
        <p:spPr>
          <a:xfrm>
            <a:off x="548640" y="365760"/>
            <a:ext cx="640080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QUESTION 6 OF 7</a:t>
            </a:r>
            <a:endParaRPr lang="en-US" sz="1300" dirty="0"/>
          </a:p>
        </p:txBody>
      </p:sp>
      <p:sp>
        <p:nvSpPr>
          <p:cNvPr id="3" name="Shape 1"/>
          <p:cNvSpPr/>
          <p:nvPr/>
        </p:nvSpPr>
        <p:spPr>
          <a:xfrm>
            <a:off x="8138160" y="320040"/>
            <a:ext cx="3474720" cy="365760"/>
          </a:xfrm>
          <a:prstGeom prst="roundRect">
            <a:avLst>
              <a:gd name="adj" fmla="val 15000"/>
            </a:avLst>
          </a:prstGeom>
          <a:solidFill>
            <a:srgbClr val="5A3F80"/>
          </a:solidFill>
          <a:ln/>
        </p:spPr>
      </p:sp>
      <p:sp>
        <p:nvSpPr>
          <p:cNvPr id="4" name="Text 2"/>
          <p:cNvSpPr/>
          <p:nvPr/>
        </p:nvSpPr>
        <p:spPr>
          <a:xfrm>
            <a:off x="8138160" y="320040"/>
            <a:ext cx="3474720" cy="365760"/>
          </a:xfrm>
          <a:prstGeom prst="rect">
            <a:avLst/>
          </a:prstGeom>
          <a:noFill/>
          <a:ln/>
        </p:spPr>
        <p:txBody>
          <a:bodyPr wrap="square" lIns="0" tIns="0" rIns="0" bIns="0" rtlCol="0" anchor="ctr"/>
          <a:lstStyle/>
          <a:p>
            <a:pPr algn="ctr" indent="0" marL="0">
              <a:buNone/>
            </a:pPr>
            <a:r>
              <a:rPr lang="en-US" sz="1100" i="1" dirty="0">
                <a:solidFill>
                  <a:srgbClr val="E0D6F0"/>
                </a:solidFill>
                <a:latin typeface="Arial" pitchFamily="34" charset="0"/>
                <a:ea typeface="Arial" pitchFamily="34" charset="-122"/>
                <a:cs typeface="Arial" pitchFamily="34" charset="-120"/>
              </a:rPr>
              <a:t>Use after: Model Building phase</a:t>
            </a:r>
            <a:endParaRPr lang="en-US" sz="1100" dirty="0"/>
          </a:p>
        </p:txBody>
      </p:sp>
      <p:sp>
        <p:nvSpPr>
          <p:cNvPr id="5" name="Text 3"/>
          <p:cNvSpPr/>
          <p:nvPr/>
        </p:nvSpPr>
        <p:spPr>
          <a:xfrm>
            <a:off x="548640" y="868680"/>
            <a:ext cx="11064240" cy="132588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Sukuma wiki, ugali and nyama choma are broken down into small soluble molecules. How do the villi and microvilli of the ileum help the body absorb these nutrients efficiently?</a:t>
            </a:r>
            <a:endParaRPr lang="en-US" sz="2000" dirty="0"/>
          </a:p>
        </p:txBody>
      </p:sp>
      <p:sp>
        <p:nvSpPr>
          <p:cNvPr id="6" name="Shape 4"/>
          <p:cNvSpPr/>
          <p:nvPr/>
        </p:nvSpPr>
        <p:spPr>
          <a:xfrm>
            <a:off x="731520" y="2331720"/>
            <a:ext cx="10698480" cy="777240"/>
          </a:xfrm>
          <a:prstGeom prst="roundRect">
            <a:avLst>
              <a:gd name="adj" fmla="val 9412"/>
            </a:avLst>
          </a:prstGeom>
          <a:solidFill>
            <a:srgbClr val="7C5CAA"/>
          </a:solidFill>
          <a:ln/>
        </p:spPr>
      </p:sp>
      <p:sp>
        <p:nvSpPr>
          <p:cNvPr id="7" name="Text 5"/>
          <p:cNvSpPr/>
          <p:nvPr/>
        </p:nvSpPr>
        <p:spPr>
          <a:xfrm>
            <a:off x="914400" y="23317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8" name="Text 6"/>
          <p:cNvSpPr/>
          <p:nvPr/>
        </p:nvSpPr>
        <p:spPr>
          <a:xfrm>
            <a:off x="1554480" y="2331720"/>
            <a:ext cx="9692640" cy="777240"/>
          </a:xfrm>
          <a:prstGeom prst="rect">
            <a:avLst/>
          </a:prstGeom>
          <a:noFill/>
          <a:ln/>
        </p:spPr>
        <p:txBody>
          <a:bodyPr wrap="square" lIns="0" tIns="0" rIns="0" bIns="0" rtlCol="0" anchor="ctr"/>
          <a:lstStyle/>
          <a:p>
            <a:pPr indent="0" marL="0">
              <a:buNone/>
            </a:pPr>
            <a:r>
              <a:rPr lang="en-US" sz="1300" dirty="0">
                <a:solidFill>
                  <a:srgbClr val="FFFFFF"/>
                </a:solidFill>
                <a:latin typeface="Arial" pitchFamily="34" charset="0"/>
                <a:ea typeface="Arial" pitchFamily="34" charset="-122"/>
                <a:cs typeface="Arial" pitchFamily="34" charset="-120"/>
              </a:rPr>
              <a:t>They make the intestine wall thick so that nutrients cannot escape back into the food</a:t>
            </a:r>
            <a:endParaRPr lang="en-US" sz="1300" dirty="0"/>
          </a:p>
        </p:txBody>
      </p:sp>
      <p:sp>
        <p:nvSpPr>
          <p:cNvPr id="9" name="Shape 7"/>
          <p:cNvSpPr/>
          <p:nvPr/>
        </p:nvSpPr>
        <p:spPr>
          <a:xfrm>
            <a:off x="731520" y="3246120"/>
            <a:ext cx="10698480" cy="777240"/>
          </a:xfrm>
          <a:prstGeom prst="roundRect">
            <a:avLst>
              <a:gd name="adj" fmla="val 9412"/>
            </a:avLst>
          </a:prstGeom>
          <a:solidFill>
            <a:srgbClr val="7C5CAA"/>
          </a:solidFill>
          <a:ln/>
        </p:spPr>
      </p:sp>
      <p:sp>
        <p:nvSpPr>
          <p:cNvPr id="10" name="Text 8"/>
          <p:cNvSpPr/>
          <p:nvPr/>
        </p:nvSpPr>
        <p:spPr>
          <a:xfrm>
            <a:off x="914400" y="32461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1" name="Text 9"/>
          <p:cNvSpPr/>
          <p:nvPr/>
        </p:nvSpPr>
        <p:spPr>
          <a:xfrm>
            <a:off x="1554480" y="3246120"/>
            <a:ext cx="9692640" cy="777240"/>
          </a:xfrm>
          <a:prstGeom prst="rect">
            <a:avLst/>
          </a:prstGeom>
          <a:noFill/>
          <a:ln/>
        </p:spPr>
        <p:txBody>
          <a:bodyPr wrap="square" lIns="0" tIns="0" rIns="0" bIns="0" rtlCol="0" anchor="ctr"/>
          <a:lstStyle/>
          <a:p>
            <a:pPr indent="0" marL="0">
              <a:buNone/>
            </a:pPr>
            <a:r>
              <a:rPr lang="en-US" sz="1300" dirty="0">
                <a:solidFill>
                  <a:srgbClr val="FFFFFF"/>
                </a:solidFill>
                <a:latin typeface="Arial" pitchFamily="34" charset="0"/>
                <a:ea typeface="Arial" pitchFamily="34" charset="-122"/>
                <a:cs typeface="Arial" pitchFamily="34" charset="-120"/>
              </a:rPr>
              <a:t>They grind the food into smaller pieces so it can pass through the intestine wall</a:t>
            </a:r>
            <a:endParaRPr lang="en-US" sz="1300" dirty="0"/>
          </a:p>
        </p:txBody>
      </p:sp>
      <p:sp>
        <p:nvSpPr>
          <p:cNvPr id="12" name="Shape 10"/>
          <p:cNvSpPr/>
          <p:nvPr/>
        </p:nvSpPr>
        <p:spPr>
          <a:xfrm>
            <a:off x="731520" y="4160520"/>
            <a:ext cx="10698480" cy="777240"/>
          </a:xfrm>
          <a:prstGeom prst="roundRect">
            <a:avLst>
              <a:gd name="adj" fmla="val 9412"/>
            </a:avLst>
          </a:prstGeom>
          <a:solidFill>
            <a:srgbClr val="7C5CAA"/>
          </a:solidFill>
          <a:ln/>
        </p:spPr>
      </p:sp>
      <p:sp>
        <p:nvSpPr>
          <p:cNvPr id="13" name="Text 11"/>
          <p:cNvSpPr/>
          <p:nvPr/>
        </p:nvSpPr>
        <p:spPr>
          <a:xfrm>
            <a:off x="914400" y="41605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4" name="Text 12"/>
          <p:cNvSpPr/>
          <p:nvPr/>
        </p:nvSpPr>
        <p:spPr>
          <a:xfrm>
            <a:off x="1554480" y="4160520"/>
            <a:ext cx="9692640" cy="777240"/>
          </a:xfrm>
          <a:prstGeom prst="rect">
            <a:avLst/>
          </a:prstGeom>
          <a:noFill/>
          <a:ln/>
        </p:spPr>
        <p:txBody>
          <a:bodyPr wrap="square" lIns="0" tIns="0" rIns="0" bIns="0" rtlCol="0" anchor="ctr"/>
          <a:lstStyle/>
          <a:p>
            <a:pPr indent="0" marL="0">
              <a:buNone/>
            </a:pPr>
            <a:r>
              <a:rPr lang="en-US" sz="1300" dirty="0">
                <a:solidFill>
                  <a:srgbClr val="FFFFFF"/>
                </a:solidFill>
                <a:latin typeface="Arial" pitchFamily="34" charset="0"/>
                <a:ea typeface="Arial" pitchFamily="34" charset="-122"/>
                <a:cs typeface="Arial" pitchFamily="34" charset="-120"/>
              </a:rPr>
              <a:t>They increase the surface area of the intestine wall, so more nutrients can be absorbed into the rich network of capillaries</a:t>
            </a:r>
            <a:endParaRPr lang="en-US" sz="1300" dirty="0"/>
          </a:p>
        </p:txBody>
      </p:sp>
      <p:sp>
        <p:nvSpPr>
          <p:cNvPr id="15" name="Shape 13"/>
          <p:cNvSpPr/>
          <p:nvPr/>
        </p:nvSpPr>
        <p:spPr>
          <a:xfrm>
            <a:off x="731520" y="5074920"/>
            <a:ext cx="10698480" cy="777240"/>
          </a:xfrm>
          <a:prstGeom prst="roundRect">
            <a:avLst>
              <a:gd name="adj" fmla="val 9412"/>
            </a:avLst>
          </a:prstGeom>
          <a:solidFill>
            <a:srgbClr val="7C5CAA"/>
          </a:solidFill>
          <a:ln/>
        </p:spPr>
      </p:sp>
      <p:sp>
        <p:nvSpPr>
          <p:cNvPr id="16" name="Text 14"/>
          <p:cNvSpPr/>
          <p:nvPr/>
        </p:nvSpPr>
        <p:spPr>
          <a:xfrm>
            <a:off x="914400" y="50749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7" name="Text 15"/>
          <p:cNvSpPr/>
          <p:nvPr/>
        </p:nvSpPr>
        <p:spPr>
          <a:xfrm>
            <a:off x="1554480" y="5074920"/>
            <a:ext cx="9692640" cy="777240"/>
          </a:xfrm>
          <a:prstGeom prst="rect">
            <a:avLst/>
          </a:prstGeom>
          <a:noFill/>
          <a:ln/>
        </p:spPr>
        <p:txBody>
          <a:bodyPr wrap="square" lIns="0" tIns="0" rIns="0" bIns="0" rtlCol="0" anchor="ctr"/>
          <a:lstStyle/>
          <a:p>
            <a:pPr indent="0" marL="0">
              <a:buNone/>
            </a:pPr>
            <a:r>
              <a:rPr lang="en-US" sz="1300" dirty="0">
                <a:solidFill>
                  <a:srgbClr val="FFFFFF"/>
                </a:solidFill>
                <a:latin typeface="Arial" pitchFamily="34" charset="0"/>
                <a:ea typeface="Arial" pitchFamily="34" charset="-122"/>
                <a:cs typeface="Arial" pitchFamily="34" charset="-120"/>
              </a:rPr>
              <a:t>They release hydrochloric acid to dissolve the nutrients so they can enter the blood</a:t>
            </a:r>
            <a:endParaRPr lang="en-US" sz="1300" dirty="0"/>
          </a:p>
        </p:txBody>
      </p:sp>
      <p:sp>
        <p:nvSpPr>
          <p:cNvPr id="18"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C9B8E0"/>
                </a:solidFill>
                <a:latin typeface="Arial" pitchFamily="34" charset="0"/>
                <a:ea typeface="Arial" pitchFamily="34" charset="-122"/>
                <a:cs typeface="Arial"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6A4C93"/>
        </a:solidFill>
      </p:bgPr>
    </p:bg>
    <p:spTree>
      <p:nvGrpSpPr>
        <p:cNvPr id="1" name=""/>
        <p:cNvGrpSpPr/>
        <p:nvPr/>
      </p:nvGrpSpPr>
      <p:grpSpPr>
        <a:xfrm>
          <a:off x="0" y="0"/>
          <a:ext cx="0" cy="0"/>
          <a:chOff x="0" y="0"/>
          <a:chExt cx="0" cy="0"/>
        </a:xfrm>
      </p:grpSpPr>
      <p:sp>
        <p:nvSpPr>
          <p:cNvPr id="2" name="Text 0"/>
          <p:cNvSpPr/>
          <p:nvPr/>
        </p:nvSpPr>
        <p:spPr>
          <a:xfrm>
            <a:off x="548640" y="365760"/>
            <a:ext cx="640080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QUESTION 7 OF 7</a:t>
            </a:r>
            <a:endParaRPr lang="en-US" sz="1300" dirty="0"/>
          </a:p>
        </p:txBody>
      </p:sp>
      <p:sp>
        <p:nvSpPr>
          <p:cNvPr id="3" name="Shape 1"/>
          <p:cNvSpPr/>
          <p:nvPr/>
        </p:nvSpPr>
        <p:spPr>
          <a:xfrm>
            <a:off x="8138160" y="320040"/>
            <a:ext cx="3474720" cy="365760"/>
          </a:xfrm>
          <a:prstGeom prst="roundRect">
            <a:avLst>
              <a:gd name="adj" fmla="val 15000"/>
            </a:avLst>
          </a:prstGeom>
          <a:solidFill>
            <a:srgbClr val="5A3F80"/>
          </a:solidFill>
          <a:ln/>
        </p:spPr>
      </p:sp>
      <p:sp>
        <p:nvSpPr>
          <p:cNvPr id="4" name="Text 2"/>
          <p:cNvSpPr/>
          <p:nvPr/>
        </p:nvSpPr>
        <p:spPr>
          <a:xfrm>
            <a:off x="8138160" y="320040"/>
            <a:ext cx="3474720" cy="365760"/>
          </a:xfrm>
          <a:prstGeom prst="rect">
            <a:avLst/>
          </a:prstGeom>
          <a:noFill/>
          <a:ln/>
        </p:spPr>
        <p:txBody>
          <a:bodyPr wrap="square" lIns="0" tIns="0" rIns="0" bIns="0" rtlCol="0" anchor="ctr"/>
          <a:lstStyle/>
          <a:p>
            <a:pPr algn="ctr" indent="0" marL="0">
              <a:buNone/>
            </a:pPr>
            <a:r>
              <a:rPr lang="en-US" sz="1100" i="1" dirty="0">
                <a:solidFill>
                  <a:srgbClr val="E0D6F0"/>
                </a:solidFill>
                <a:latin typeface="Arial" pitchFamily="34" charset="0"/>
                <a:ea typeface="Arial" pitchFamily="34" charset="-122"/>
                <a:cs typeface="Arial" pitchFamily="34" charset="-120"/>
              </a:rPr>
              <a:t>Use after: End of lesson</a:t>
            </a:r>
            <a:endParaRPr lang="en-US" sz="1100" dirty="0"/>
          </a:p>
        </p:txBody>
      </p:sp>
      <p:sp>
        <p:nvSpPr>
          <p:cNvPr id="5" name="Text 3"/>
          <p:cNvSpPr/>
          <p:nvPr/>
        </p:nvSpPr>
        <p:spPr>
          <a:xfrm>
            <a:off x="548640" y="868680"/>
            <a:ext cx="11064240" cy="132588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A learner's Lesson 1 sentence said, 'Enzymes break down food.' Which upgraded sentence is the most scientifically complete?</a:t>
            </a:r>
            <a:endParaRPr lang="en-US" sz="2000" dirty="0"/>
          </a:p>
        </p:txBody>
      </p:sp>
      <p:sp>
        <p:nvSpPr>
          <p:cNvPr id="6" name="Shape 4"/>
          <p:cNvSpPr/>
          <p:nvPr/>
        </p:nvSpPr>
        <p:spPr>
          <a:xfrm>
            <a:off x="731520" y="2331720"/>
            <a:ext cx="10698480" cy="777240"/>
          </a:xfrm>
          <a:prstGeom prst="roundRect">
            <a:avLst>
              <a:gd name="adj" fmla="val 9412"/>
            </a:avLst>
          </a:prstGeom>
          <a:solidFill>
            <a:srgbClr val="7C5CAA"/>
          </a:solidFill>
          <a:ln/>
        </p:spPr>
      </p:sp>
      <p:sp>
        <p:nvSpPr>
          <p:cNvPr id="7" name="Text 5"/>
          <p:cNvSpPr/>
          <p:nvPr/>
        </p:nvSpPr>
        <p:spPr>
          <a:xfrm>
            <a:off x="914400" y="23317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8" name="Text 6"/>
          <p:cNvSpPr/>
          <p:nvPr/>
        </p:nvSpPr>
        <p:spPr>
          <a:xfrm>
            <a:off x="1554480" y="23317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Enzymes in the mouth and stomach help to break down food into smaller parts.</a:t>
            </a:r>
            <a:endParaRPr lang="en-US" sz="1500" dirty="0"/>
          </a:p>
        </p:txBody>
      </p:sp>
      <p:sp>
        <p:nvSpPr>
          <p:cNvPr id="9" name="Shape 7"/>
          <p:cNvSpPr/>
          <p:nvPr/>
        </p:nvSpPr>
        <p:spPr>
          <a:xfrm>
            <a:off x="731520" y="3246120"/>
            <a:ext cx="10698480" cy="777240"/>
          </a:xfrm>
          <a:prstGeom prst="roundRect">
            <a:avLst>
              <a:gd name="adj" fmla="val 9412"/>
            </a:avLst>
          </a:prstGeom>
          <a:solidFill>
            <a:srgbClr val="7C5CAA"/>
          </a:solidFill>
          <a:ln/>
        </p:spPr>
      </p:sp>
      <p:sp>
        <p:nvSpPr>
          <p:cNvPr id="10" name="Text 8"/>
          <p:cNvSpPr/>
          <p:nvPr/>
        </p:nvSpPr>
        <p:spPr>
          <a:xfrm>
            <a:off x="914400" y="32461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1" name="Text 9"/>
          <p:cNvSpPr/>
          <p:nvPr/>
        </p:nvSpPr>
        <p:spPr>
          <a:xfrm>
            <a:off x="1554480" y="32461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Pepsin in the mouth breaks down the proteins in ugali.</a:t>
            </a:r>
            <a:endParaRPr lang="en-US" sz="1500" dirty="0"/>
          </a:p>
        </p:txBody>
      </p:sp>
      <p:sp>
        <p:nvSpPr>
          <p:cNvPr id="12" name="Shape 10"/>
          <p:cNvSpPr/>
          <p:nvPr/>
        </p:nvSpPr>
        <p:spPr>
          <a:xfrm>
            <a:off x="731520" y="4160520"/>
            <a:ext cx="10698480" cy="777240"/>
          </a:xfrm>
          <a:prstGeom prst="roundRect">
            <a:avLst>
              <a:gd name="adj" fmla="val 9412"/>
            </a:avLst>
          </a:prstGeom>
          <a:solidFill>
            <a:srgbClr val="7C5CAA"/>
          </a:solidFill>
          <a:ln/>
        </p:spPr>
      </p:sp>
      <p:sp>
        <p:nvSpPr>
          <p:cNvPr id="13" name="Text 11"/>
          <p:cNvSpPr/>
          <p:nvPr/>
        </p:nvSpPr>
        <p:spPr>
          <a:xfrm>
            <a:off x="914400" y="41605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4" name="Text 12"/>
          <p:cNvSpPr/>
          <p:nvPr/>
        </p:nvSpPr>
        <p:spPr>
          <a:xfrm>
            <a:off x="1554480" y="41605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The mouth breaks down ugali when we chew it with our teeth.</a:t>
            </a:r>
            <a:endParaRPr lang="en-US" sz="1500" dirty="0"/>
          </a:p>
        </p:txBody>
      </p:sp>
      <p:sp>
        <p:nvSpPr>
          <p:cNvPr id="15" name="Shape 13"/>
          <p:cNvSpPr/>
          <p:nvPr/>
        </p:nvSpPr>
        <p:spPr>
          <a:xfrm>
            <a:off x="731520" y="5074920"/>
            <a:ext cx="10698480" cy="777240"/>
          </a:xfrm>
          <a:prstGeom prst="roundRect">
            <a:avLst>
              <a:gd name="adj" fmla="val 9412"/>
            </a:avLst>
          </a:prstGeom>
          <a:solidFill>
            <a:srgbClr val="7C5CAA"/>
          </a:solidFill>
          <a:ln/>
        </p:spPr>
      </p:sp>
      <p:sp>
        <p:nvSpPr>
          <p:cNvPr id="16" name="Text 14"/>
          <p:cNvSpPr/>
          <p:nvPr/>
        </p:nvSpPr>
        <p:spPr>
          <a:xfrm>
            <a:off x="914400" y="50749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7" name="Text 15"/>
          <p:cNvSpPr/>
          <p:nvPr/>
        </p:nvSpPr>
        <p:spPr>
          <a:xfrm>
            <a:off x="1554480" y="50749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Salivary amylase in the mouth begins to break down the starch in ugali into maltose.</a:t>
            </a:r>
            <a:endParaRPr lang="en-US" sz="1500" dirty="0"/>
          </a:p>
        </p:txBody>
      </p:sp>
      <p:sp>
        <p:nvSpPr>
          <p:cNvPr id="18"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C9B8E0"/>
                </a:solidFill>
                <a:latin typeface="Arial" pitchFamily="34" charset="0"/>
                <a:ea typeface="Arial" pitchFamily="34" charset="-122"/>
                <a:cs typeface="Arial"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F3864"/>
        </a:solidFill>
      </p:bgPr>
    </p:bg>
    <p:spTree>
      <p:nvGrpSpPr>
        <p:cNvPr id="1" name=""/>
        <p:cNvGrpSpPr/>
        <p:nvPr/>
      </p:nvGrpSpPr>
      <p:grpSpPr>
        <a:xfrm>
          <a:off x="0" y="0"/>
          <a:ext cx="0" cy="0"/>
          <a:chOff x="0" y="0"/>
          <a:chExt cx="0" cy="0"/>
        </a:xfrm>
      </p:grpSpPr>
      <p:sp>
        <p:nvSpPr>
          <p:cNvPr id="2" name="Text 0"/>
          <p:cNvSpPr/>
          <p:nvPr/>
        </p:nvSpPr>
        <p:spPr>
          <a:xfrm>
            <a:off x="731520" y="2194560"/>
            <a:ext cx="10698480" cy="822960"/>
          </a:xfrm>
          <a:prstGeom prst="rect">
            <a:avLst/>
          </a:prstGeom>
          <a:noFill/>
          <a:ln/>
        </p:spPr>
        <p:txBody>
          <a:bodyPr wrap="square" lIns="0" tIns="0" rIns="0" bIns="0" rtlCol="0" anchor="ctr"/>
          <a:lstStyle/>
          <a:p>
            <a:pPr indent="0" marL="0">
              <a:buNone/>
            </a:pPr>
            <a:r>
              <a:rPr lang="en-US" sz="3400" b="1" dirty="0">
                <a:solidFill>
                  <a:srgbClr val="FFFFFF"/>
                </a:solidFill>
                <a:latin typeface="Arial" pitchFamily="34" charset="0"/>
                <a:ea typeface="Arial" pitchFamily="34" charset="-122"/>
                <a:cs typeface="Arial" pitchFamily="34" charset="-120"/>
              </a:rPr>
              <a:t>All done</a:t>
            </a:r>
            <a:endParaRPr lang="en-US" sz="3400" dirty="0"/>
          </a:p>
        </p:txBody>
      </p:sp>
      <p:sp>
        <p:nvSpPr>
          <p:cNvPr id="3" name="Text 1"/>
          <p:cNvSpPr/>
          <p:nvPr/>
        </p:nvSpPr>
        <p:spPr>
          <a:xfrm>
            <a:off x="731520" y="3108960"/>
            <a:ext cx="10698480" cy="731520"/>
          </a:xfrm>
          <a:prstGeom prst="rect">
            <a:avLst/>
          </a:prstGeom>
          <a:noFill/>
          <a:ln/>
        </p:spPr>
        <p:txBody>
          <a:bodyPr wrap="square" lIns="0" tIns="0" rIns="0" bIns="0" rtlCol="0" anchor="ctr"/>
          <a:lstStyle/>
          <a:p>
            <a:pPr indent="0" marL="0">
              <a:buNone/>
            </a:pPr>
            <a:r>
              <a:rPr lang="en-US" sz="1800" dirty="0">
                <a:solidFill>
                  <a:srgbClr val="D9EEF1"/>
                </a:solidFill>
                <a:latin typeface="Arial" pitchFamily="34" charset="0"/>
                <a:ea typeface="Arial" pitchFamily="34" charset="-122"/>
                <a:cs typeface="Arial" pitchFamily="34" charset="-120"/>
              </a:rPr>
              <a:t>Ask your teacher how to submit your answers today (for example, on a paper answer slip).</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General Science Grade 10 - Nutrition in Animals - Lesson 8 Quick Check</dc:title>
  <dc:subject>PptxGenJS Presentation</dc:subject>
  <dc:creator>PptxGenJS</dc:creator>
  <cp:lastModifiedBy>PptxGenJS</cp:lastModifiedBy>
  <cp:revision>1</cp:revision>
  <dcterms:created xsi:type="dcterms:W3CDTF">2026-09-30T07:55:20Z</dcterms:created>
  <dcterms:modified xsi:type="dcterms:W3CDTF">2026-09-30T07:55:20Z</dcterms:modified>
</cp:coreProperties>
</file>