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hyperlink" Target="https://creativecommons.org/licenses/by-nc/4.0/" TargetMode="Externa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F386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1463040"/>
            <a:ext cx="10698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spc="200" kern="0" dirty="0">
                <a:solidFill>
                  <a:srgbClr val="AFC8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MATHEMATICS — GRADE 10  |  TRIGONOMETRY I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731520" y="1965960"/>
            <a:ext cx="10698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Quick Check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731520" y="2880360"/>
            <a:ext cx="106984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D9EE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Lesson 4: Tangent and the Sine–Cosine–Tangent Relationship: Solving the Mango-Tree Problem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731520" y="4114800"/>
            <a:ext cx="10698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AFC8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 multiple-choice questions  •  choose A, B, C or D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731520" y="5257800"/>
            <a:ext cx="10698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FC8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Sub-Strand 3.1: Trigonometry I   |   Lesson 4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731520" y="5760720"/>
            <a:ext cx="10698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8FA8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© 2026 SeaVuria and ARES. Aligned with KICD objectives. Developed by SeaVuria; technical implementation by ARES (with AI assistance from Claude). Licensed under </a:t>
            </a:r>
            <a:pPr indent="0" marL="0">
              <a:buNone/>
            </a:pPr>
            <a:r>
              <a:rPr lang="en-US" sz="900" u="sng" dirty="0">
                <a:solidFill>
                  <a:srgbClr val="AFC8E8"/>
                </a:solidFill>
                <a:latin typeface="Arial" pitchFamily="34" charset="0"/>
                <a:ea typeface="Arial" pitchFamily="34" charset="-122"/>
                <a:cs typeface="Arial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CC BY-NC 4.0</a:t>
            </a:r>
            <a:pPr indent="0" marL="0">
              <a:buNone/>
            </a:pPr>
            <a:r>
              <a:rPr lang="en-US" sz="900" dirty="0">
                <a:solidFill>
                  <a:srgbClr val="8FA8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(https://creativecommons.org/licenses/by-nc/4.0/).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6A4C9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E0D6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QUESTION 1 OF 7</a:t>
            </a:r>
            <a:endParaRPr lang="en-US" sz="1300" dirty="0"/>
          </a:p>
        </p:txBody>
      </p:sp>
      <p:sp>
        <p:nvSpPr>
          <p:cNvPr id="3" name="Shape 1"/>
          <p:cNvSpPr/>
          <p:nvPr/>
        </p:nvSpPr>
        <p:spPr>
          <a:xfrm>
            <a:off x="8138160" y="320040"/>
            <a:ext cx="3474720" cy="365760"/>
          </a:xfrm>
          <a:prstGeom prst="roundRect">
            <a:avLst>
              <a:gd name="adj" fmla="val 15000"/>
            </a:avLst>
          </a:prstGeom>
          <a:solidFill>
            <a:srgbClr val="5A3F80"/>
          </a:solidFill>
          <a:ln/>
        </p:spPr>
      </p:sp>
      <p:sp>
        <p:nvSpPr>
          <p:cNvPr id="4" name="Text 2"/>
          <p:cNvSpPr/>
          <p:nvPr/>
        </p:nvSpPr>
        <p:spPr>
          <a:xfrm>
            <a:off x="8138160" y="32004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E0D6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 after: Predict phase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48640" y="868680"/>
            <a:ext cx="1106424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student in Kisumu measures the sun's angle with the ground as 53°. The shadow of a vertical mango tree on level ground is 9.0 m long. Which equation connects the angle, the shadow and the tree's height h directly?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731520" y="2331720"/>
            <a:ext cx="10698480" cy="777240"/>
          </a:xfrm>
          <a:prstGeom prst="roundRect">
            <a:avLst>
              <a:gd name="adj" fmla="val 9412"/>
            </a:avLst>
          </a:prstGeom>
          <a:solidFill>
            <a:srgbClr val="7C5CAA"/>
          </a:solidFill>
          <a:ln/>
        </p:spPr>
      </p:sp>
      <p:sp>
        <p:nvSpPr>
          <p:cNvPr id="7" name="Text 5"/>
          <p:cNvSpPr/>
          <p:nvPr/>
        </p:nvSpPr>
        <p:spPr>
          <a:xfrm>
            <a:off x="914400" y="2331720"/>
            <a:ext cx="548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554480" y="2331720"/>
            <a:ext cx="9692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tan 53° = 9.0 / h</a:t>
            </a:r>
            <a:endParaRPr lang="en-US" sz="1700" dirty="0"/>
          </a:p>
        </p:txBody>
      </p:sp>
      <p:sp>
        <p:nvSpPr>
          <p:cNvPr id="9" name="Shape 7"/>
          <p:cNvSpPr/>
          <p:nvPr/>
        </p:nvSpPr>
        <p:spPr>
          <a:xfrm>
            <a:off x="731520" y="3246120"/>
            <a:ext cx="10698480" cy="777240"/>
          </a:xfrm>
          <a:prstGeom prst="roundRect">
            <a:avLst>
              <a:gd name="adj" fmla="val 9412"/>
            </a:avLst>
          </a:prstGeom>
          <a:solidFill>
            <a:srgbClr val="7C5CAA"/>
          </a:solidFill>
          <a:ln/>
        </p:spPr>
      </p:sp>
      <p:sp>
        <p:nvSpPr>
          <p:cNvPr id="10" name="Text 8"/>
          <p:cNvSpPr/>
          <p:nvPr/>
        </p:nvSpPr>
        <p:spPr>
          <a:xfrm>
            <a:off x="914400" y="3246120"/>
            <a:ext cx="548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1554480" y="3246120"/>
            <a:ext cx="9692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tan 53° = h / 9.0</a:t>
            </a:r>
            <a:endParaRPr lang="en-US" sz="1700" dirty="0"/>
          </a:p>
        </p:txBody>
      </p:sp>
      <p:sp>
        <p:nvSpPr>
          <p:cNvPr id="12" name="Shape 10"/>
          <p:cNvSpPr/>
          <p:nvPr/>
        </p:nvSpPr>
        <p:spPr>
          <a:xfrm>
            <a:off x="731520" y="4160520"/>
            <a:ext cx="10698480" cy="777240"/>
          </a:xfrm>
          <a:prstGeom prst="roundRect">
            <a:avLst>
              <a:gd name="adj" fmla="val 9412"/>
            </a:avLst>
          </a:prstGeom>
          <a:solidFill>
            <a:srgbClr val="7C5CAA"/>
          </a:solidFill>
          <a:ln/>
        </p:spPr>
      </p:sp>
      <p:sp>
        <p:nvSpPr>
          <p:cNvPr id="13" name="Text 11"/>
          <p:cNvSpPr/>
          <p:nvPr/>
        </p:nvSpPr>
        <p:spPr>
          <a:xfrm>
            <a:off x="914400" y="4160520"/>
            <a:ext cx="548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1554480" y="4160520"/>
            <a:ext cx="9692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 53° = h / 9.0</a:t>
            </a:r>
            <a:endParaRPr lang="en-US" sz="1700" dirty="0"/>
          </a:p>
        </p:txBody>
      </p:sp>
      <p:sp>
        <p:nvSpPr>
          <p:cNvPr id="15" name="Shape 13"/>
          <p:cNvSpPr/>
          <p:nvPr/>
        </p:nvSpPr>
        <p:spPr>
          <a:xfrm>
            <a:off x="731520" y="5074920"/>
            <a:ext cx="10698480" cy="777240"/>
          </a:xfrm>
          <a:prstGeom prst="roundRect">
            <a:avLst>
              <a:gd name="adj" fmla="val 9412"/>
            </a:avLst>
          </a:prstGeom>
          <a:solidFill>
            <a:srgbClr val="7C5CAA"/>
          </a:solidFill>
          <a:ln/>
        </p:spPr>
      </p:sp>
      <p:sp>
        <p:nvSpPr>
          <p:cNvPr id="16" name="Text 14"/>
          <p:cNvSpPr/>
          <p:nvPr/>
        </p:nvSpPr>
        <p:spPr>
          <a:xfrm>
            <a:off x="914400" y="5074920"/>
            <a:ext cx="548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1554480" y="5074920"/>
            <a:ext cx="9692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sin 53° = h / 9.0</a:t>
            </a:r>
            <a:endParaRPr lang="en-US" sz="1700" dirty="0"/>
          </a:p>
        </p:txBody>
      </p:sp>
      <p:sp>
        <p:nvSpPr>
          <p:cNvPr id="18" name="Text 16"/>
          <p:cNvSpPr/>
          <p:nvPr/>
        </p:nvSpPr>
        <p:spPr>
          <a:xfrm>
            <a:off x="11521440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C9B8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6A4C9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E0D6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QUESTION 2 OF 7</a:t>
            </a:r>
            <a:endParaRPr lang="en-US" sz="1300" dirty="0"/>
          </a:p>
        </p:txBody>
      </p:sp>
      <p:sp>
        <p:nvSpPr>
          <p:cNvPr id="3" name="Shape 1"/>
          <p:cNvSpPr/>
          <p:nvPr/>
        </p:nvSpPr>
        <p:spPr>
          <a:xfrm>
            <a:off x="8138160" y="320040"/>
            <a:ext cx="3474720" cy="365760"/>
          </a:xfrm>
          <a:prstGeom prst="roundRect">
            <a:avLst>
              <a:gd name="adj" fmla="val 15000"/>
            </a:avLst>
          </a:prstGeom>
          <a:solidFill>
            <a:srgbClr val="5A3F80"/>
          </a:solidFill>
          <a:ln/>
        </p:spPr>
      </p:sp>
      <p:sp>
        <p:nvSpPr>
          <p:cNvPr id="4" name="Text 2"/>
          <p:cNvSpPr/>
          <p:nvPr/>
        </p:nvSpPr>
        <p:spPr>
          <a:xfrm>
            <a:off x="8138160" y="32004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E0D6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 after: Observe phase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48640" y="868680"/>
            <a:ext cx="1106424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 a right-angled triangle, sin θ = O/H and cos θ = A/H. What is sin θ ÷ cos θ, that is (O/H) ÷ (A/H), after simplifying?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731520" y="2331720"/>
            <a:ext cx="10698480" cy="777240"/>
          </a:xfrm>
          <a:prstGeom prst="roundRect">
            <a:avLst>
              <a:gd name="adj" fmla="val 9412"/>
            </a:avLst>
          </a:prstGeom>
          <a:solidFill>
            <a:srgbClr val="7C5CAA"/>
          </a:solidFill>
          <a:ln/>
        </p:spPr>
      </p:sp>
      <p:sp>
        <p:nvSpPr>
          <p:cNvPr id="7" name="Text 5"/>
          <p:cNvSpPr/>
          <p:nvPr/>
        </p:nvSpPr>
        <p:spPr>
          <a:xfrm>
            <a:off x="914400" y="2331720"/>
            <a:ext cx="548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554480" y="2331720"/>
            <a:ext cx="9692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(O × A) / H²</a:t>
            </a:r>
            <a:endParaRPr lang="en-US" sz="1700" dirty="0"/>
          </a:p>
        </p:txBody>
      </p:sp>
      <p:sp>
        <p:nvSpPr>
          <p:cNvPr id="9" name="Shape 7"/>
          <p:cNvSpPr/>
          <p:nvPr/>
        </p:nvSpPr>
        <p:spPr>
          <a:xfrm>
            <a:off x="731520" y="3246120"/>
            <a:ext cx="10698480" cy="777240"/>
          </a:xfrm>
          <a:prstGeom prst="roundRect">
            <a:avLst>
              <a:gd name="adj" fmla="val 9412"/>
            </a:avLst>
          </a:prstGeom>
          <a:solidFill>
            <a:srgbClr val="7C5CAA"/>
          </a:solidFill>
          <a:ln/>
        </p:spPr>
      </p:sp>
      <p:sp>
        <p:nvSpPr>
          <p:cNvPr id="10" name="Text 8"/>
          <p:cNvSpPr/>
          <p:nvPr/>
        </p:nvSpPr>
        <p:spPr>
          <a:xfrm>
            <a:off x="914400" y="3246120"/>
            <a:ext cx="548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1554480" y="3246120"/>
            <a:ext cx="9692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/ H</a:t>
            </a:r>
            <a:endParaRPr lang="en-US" sz="1700" dirty="0"/>
          </a:p>
        </p:txBody>
      </p:sp>
      <p:sp>
        <p:nvSpPr>
          <p:cNvPr id="12" name="Shape 10"/>
          <p:cNvSpPr/>
          <p:nvPr/>
        </p:nvSpPr>
        <p:spPr>
          <a:xfrm>
            <a:off x="731520" y="4160520"/>
            <a:ext cx="10698480" cy="777240"/>
          </a:xfrm>
          <a:prstGeom prst="roundRect">
            <a:avLst>
              <a:gd name="adj" fmla="val 9412"/>
            </a:avLst>
          </a:prstGeom>
          <a:solidFill>
            <a:srgbClr val="7C5CAA"/>
          </a:solidFill>
          <a:ln/>
        </p:spPr>
      </p:sp>
      <p:sp>
        <p:nvSpPr>
          <p:cNvPr id="13" name="Text 11"/>
          <p:cNvSpPr/>
          <p:nvPr/>
        </p:nvSpPr>
        <p:spPr>
          <a:xfrm>
            <a:off x="914400" y="4160520"/>
            <a:ext cx="548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1554480" y="4160520"/>
            <a:ext cx="9692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/ A</a:t>
            </a:r>
            <a:endParaRPr lang="en-US" sz="1700" dirty="0"/>
          </a:p>
        </p:txBody>
      </p:sp>
      <p:sp>
        <p:nvSpPr>
          <p:cNvPr id="15" name="Shape 13"/>
          <p:cNvSpPr/>
          <p:nvPr/>
        </p:nvSpPr>
        <p:spPr>
          <a:xfrm>
            <a:off x="731520" y="5074920"/>
            <a:ext cx="10698480" cy="777240"/>
          </a:xfrm>
          <a:prstGeom prst="roundRect">
            <a:avLst>
              <a:gd name="adj" fmla="val 9412"/>
            </a:avLst>
          </a:prstGeom>
          <a:solidFill>
            <a:srgbClr val="7C5CAA"/>
          </a:solidFill>
          <a:ln/>
        </p:spPr>
      </p:sp>
      <p:sp>
        <p:nvSpPr>
          <p:cNvPr id="16" name="Text 14"/>
          <p:cNvSpPr/>
          <p:nvPr/>
        </p:nvSpPr>
        <p:spPr>
          <a:xfrm>
            <a:off x="914400" y="5074920"/>
            <a:ext cx="548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1554480" y="5074920"/>
            <a:ext cx="9692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/ O</a:t>
            </a:r>
            <a:endParaRPr lang="en-US" sz="1700" dirty="0"/>
          </a:p>
        </p:txBody>
      </p:sp>
      <p:sp>
        <p:nvSpPr>
          <p:cNvPr id="18" name="Text 16"/>
          <p:cNvSpPr/>
          <p:nvPr/>
        </p:nvSpPr>
        <p:spPr>
          <a:xfrm>
            <a:off x="11521440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C9B8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6A4C9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E0D6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QUESTION 3 OF 7</a:t>
            </a:r>
            <a:endParaRPr lang="en-US" sz="1300" dirty="0"/>
          </a:p>
        </p:txBody>
      </p:sp>
      <p:sp>
        <p:nvSpPr>
          <p:cNvPr id="3" name="Shape 1"/>
          <p:cNvSpPr/>
          <p:nvPr/>
        </p:nvSpPr>
        <p:spPr>
          <a:xfrm>
            <a:off x="8138160" y="320040"/>
            <a:ext cx="3474720" cy="365760"/>
          </a:xfrm>
          <a:prstGeom prst="roundRect">
            <a:avLst>
              <a:gd name="adj" fmla="val 15000"/>
            </a:avLst>
          </a:prstGeom>
          <a:solidFill>
            <a:srgbClr val="5A3F80"/>
          </a:solidFill>
          <a:ln/>
        </p:spPr>
      </p:sp>
      <p:sp>
        <p:nvSpPr>
          <p:cNvPr id="4" name="Text 2"/>
          <p:cNvSpPr/>
          <p:nvPr/>
        </p:nvSpPr>
        <p:spPr>
          <a:xfrm>
            <a:off x="8138160" y="32004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E0D6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 after: Observe phase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48640" y="868680"/>
            <a:ext cx="1106424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From mathematical tables, sin 40° = 0.6428 and cos 40° = 0.7660. What is sin 40° ÷ cos 40°, to 3 decimal places, and which table value does it match?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731520" y="2331720"/>
            <a:ext cx="10698480" cy="777240"/>
          </a:xfrm>
          <a:prstGeom prst="roundRect">
            <a:avLst>
              <a:gd name="adj" fmla="val 9412"/>
            </a:avLst>
          </a:prstGeom>
          <a:solidFill>
            <a:srgbClr val="7C5CAA"/>
          </a:solidFill>
          <a:ln/>
        </p:spPr>
      </p:sp>
      <p:sp>
        <p:nvSpPr>
          <p:cNvPr id="7" name="Text 5"/>
          <p:cNvSpPr/>
          <p:nvPr/>
        </p:nvSpPr>
        <p:spPr>
          <a:xfrm>
            <a:off x="914400" y="2331720"/>
            <a:ext cx="548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554480" y="2331720"/>
            <a:ext cx="9692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1.41, which matches tan 40°</a:t>
            </a:r>
            <a:endParaRPr lang="en-US" sz="1700" dirty="0"/>
          </a:p>
        </p:txBody>
      </p:sp>
      <p:sp>
        <p:nvSpPr>
          <p:cNvPr id="9" name="Shape 7"/>
          <p:cNvSpPr/>
          <p:nvPr/>
        </p:nvSpPr>
        <p:spPr>
          <a:xfrm>
            <a:off x="731520" y="3246120"/>
            <a:ext cx="10698480" cy="777240"/>
          </a:xfrm>
          <a:prstGeom prst="roundRect">
            <a:avLst>
              <a:gd name="adj" fmla="val 9412"/>
            </a:avLst>
          </a:prstGeom>
          <a:solidFill>
            <a:srgbClr val="7C5CAA"/>
          </a:solidFill>
          <a:ln/>
        </p:spPr>
      </p:sp>
      <p:sp>
        <p:nvSpPr>
          <p:cNvPr id="10" name="Text 8"/>
          <p:cNvSpPr/>
          <p:nvPr/>
        </p:nvSpPr>
        <p:spPr>
          <a:xfrm>
            <a:off x="914400" y="3246120"/>
            <a:ext cx="548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1554480" y="3246120"/>
            <a:ext cx="9692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0.839, which matches tan 40°</a:t>
            </a:r>
            <a:endParaRPr lang="en-US" sz="1700" dirty="0"/>
          </a:p>
        </p:txBody>
      </p:sp>
      <p:sp>
        <p:nvSpPr>
          <p:cNvPr id="12" name="Shape 10"/>
          <p:cNvSpPr/>
          <p:nvPr/>
        </p:nvSpPr>
        <p:spPr>
          <a:xfrm>
            <a:off x="731520" y="4160520"/>
            <a:ext cx="10698480" cy="777240"/>
          </a:xfrm>
          <a:prstGeom prst="roundRect">
            <a:avLst>
              <a:gd name="adj" fmla="val 9412"/>
            </a:avLst>
          </a:prstGeom>
          <a:solidFill>
            <a:srgbClr val="7C5CAA"/>
          </a:solidFill>
          <a:ln/>
        </p:spPr>
      </p:sp>
      <p:sp>
        <p:nvSpPr>
          <p:cNvPr id="13" name="Text 11"/>
          <p:cNvSpPr/>
          <p:nvPr/>
        </p:nvSpPr>
        <p:spPr>
          <a:xfrm>
            <a:off x="914400" y="4160520"/>
            <a:ext cx="548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1554480" y="4160520"/>
            <a:ext cx="9692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1.19, which matches tan 50°</a:t>
            </a:r>
            <a:endParaRPr lang="en-US" sz="1700" dirty="0"/>
          </a:p>
        </p:txBody>
      </p:sp>
      <p:sp>
        <p:nvSpPr>
          <p:cNvPr id="15" name="Shape 13"/>
          <p:cNvSpPr/>
          <p:nvPr/>
        </p:nvSpPr>
        <p:spPr>
          <a:xfrm>
            <a:off x="731520" y="5074920"/>
            <a:ext cx="10698480" cy="777240"/>
          </a:xfrm>
          <a:prstGeom prst="roundRect">
            <a:avLst>
              <a:gd name="adj" fmla="val 9412"/>
            </a:avLst>
          </a:prstGeom>
          <a:solidFill>
            <a:srgbClr val="7C5CAA"/>
          </a:solidFill>
          <a:ln/>
        </p:spPr>
      </p:sp>
      <p:sp>
        <p:nvSpPr>
          <p:cNvPr id="16" name="Text 14"/>
          <p:cNvSpPr/>
          <p:nvPr/>
        </p:nvSpPr>
        <p:spPr>
          <a:xfrm>
            <a:off x="914400" y="5074920"/>
            <a:ext cx="548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1554480" y="5074920"/>
            <a:ext cx="9692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0.49, which matches tan 40°</a:t>
            </a:r>
            <a:endParaRPr lang="en-US" sz="1700" dirty="0"/>
          </a:p>
        </p:txBody>
      </p:sp>
      <p:sp>
        <p:nvSpPr>
          <p:cNvPr id="18" name="Text 16"/>
          <p:cNvSpPr/>
          <p:nvPr/>
        </p:nvSpPr>
        <p:spPr>
          <a:xfrm>
            <a:off x="11521440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C9B8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6A4C9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E0D6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QUESTION 4 OF 7</a:t>
            </a:r>
            <a:endParaRPr lang="en-US" sz="1300" dirty="0"/>
          </a:p>
        </p:txBody>
      </p:sp>
      <p:sp>
        <p:nvSpPr>
          <p:cNvPr id="3" name="Shape 1"/>
          <p:cNvSpPr/>
          <p:nvPr/>
        </p:nvSpPr>
        <p:spPr>
          <a:xfrm>
            <a:off x="8138160" y="320040"/>
            <a:ext cx="3474720" cy="365760"/>
          </a:xfrm>
          <a:prstGeom prst="roundRect">
            <a:avLst>
              <a:gd name="adj" fmla="val 15000"/>
            </a:avLst>
          </a:prstGeom>
          <a:solidFill>
            <a:srgbClr val="5A3F80"/>
          </a:solidFill>
          <a:ln/>
        </p:spPr>
      </p:sp>
      <p:sp>
        <p:nvSpPr>
          <p:cNvPr id="4" name="Text 2"/>
          <p:cNvSpPr/>
          <p:nvPr/>
        </p:nvSpPr>
        <p:spPr>
          <a:xfrm>
            <a:off x="8138160" y="32004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E0D6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 after: Explain phase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48640" y="868680"/>
            <a:ext cx="1106424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 have proved that tan θ = sin θ / cos θ, so tan can be found from sin and cos. Why is the tangent ratio still useful?</a:t>
            </a:r>
            <a:endParaRPr lang="en-US" sz="2300" dirty="0"/>
          </a:p>
        </p:txBody>
      </p:sp>
      <p:sp>
        <p:nvSpPr>
          <p:cNvPr id="6" name="Shape 4"/>
          <p:cNvSpPr/>
          <p:nvPr/>
        </p:nvSpPr>
        <p:spPr>
          <a:xfrm>
            <a:off x="731520" y="2331720"/>
            <a:ext cx="10698480" cy="777240"/>
          </a:xfrm>
          <a:prstGeom prst="roundRect">
            <a:avLst>
              <a:gd name="adj" fmla="val 9412"/>
            </a:avLst>
          </a:prstGeom>
          <a:solidFill>
            <a:srgbClr val="7C5CAA"/>
          </a:solidFill>
          <a:ln/>
        </p:spPr>
      </p:sp>
      <p:sp>
        <p:nvSpPr>
          <p:cNvPr id="7" name="Text 5"/>
          <p:cNvSpPr/>
          <p:nvPr/>
        </p:nvSpPr>
        <p:spPr>
          <a:xfrm>
            <a:off x="914400" y="2331720"/>
            <a:ext cx="548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554480" y="2331720"/>
            <a:ext cx="9692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It is only useful when we know the hypotenuse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731520" y="3246120"/>
            <a:ext cx="10698480" cy="777240"/>
          </a:xfrm>
          <a:prstGeom prst="roundRect">
            <a:avLst>
              <a:gd name="adj" fmla="val 9412"/>
            </a:avLst>
          </a:prstGeom>
          <a:solidFill>
            <a:srgbClr val="7C5CAA"/>
          </a:solidFill>
          <a:ln/>
        </p:spPr>
      </p:sp>
      <p:sp>
        <p:nvSpPr>
          <p:cNvPr id="10" name="Text 8"/>
          <p:cNvSpPr/>
          <p:nvPr/>
        </p:nvSpPr>
        <p:spPr>
          <a:xfrm>
            <a:off x="914400" y="3246120"/>
            <a:ext cx="548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1554480" y="3246120"/>
            <a:ext cx="9692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It gives a direct route when we know an angle and one of the opposite or adjacent sides but not the hypotenuse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731520" y="4160520"/>
            <a:ext cx="10698480" cy="777240"/>
          </a:xfrm>
          <a:prstGeom prst="roundRect">
            <a:avLst>
              <a:gd name="adj" fmla="val 9412"/>
            </a:avLst>
          </a:prstGeom>
          <a:solidFill>
            <a:srgbClr val="7C5CAA"/>
          </a:solidFill>
          <a:ln/>
        </p:spPr>
      </p:sp>
      <p:sp>
        <p:nvSpPr>
          <p:cNvPr id="13" name="Text 11"/>
          <p:cNvSpPr/>
          <p:nvPr/>
        </p:nvSpPr>
        <p:spPr>
          <a:xfrm>
            <a:off x="914400" y="4160520"/>
            <a:ext cx="548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1554480" y="4160520"/>
            <a:ext cx="9692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It is only useful for angles of 53°</a:t>
            </a:r>
            <a:endParaRPr lang="en-US" sz="1500" dirty="0"/>
          </a:p>
        </p:txBody>
      </p:sp>
      <p:sp>
        <p:nvSpPr>
          <p:cNvPr id="15" name="Shape 13"/>
          <p:cNvSpPr/>
          <p:nvPr/>
        </p:nvSpPr>
        <p:spPr>
          <a:xfrm>
            <a:off x="731520" y="5074920"/>
            <a:ext cx="10698480" cy="777240"/>
          </a:xfrm>
          <a:prstGeom prst="roundRect">
            <a:avLst>
              <a:gd name="adj" fmla="val 9412"/>
            </a:avLst>
          </a:prstGeom>
          <a:solidFill>
            <a:srgbClr val="7C5CAA"/>
          </a:solidFill>
          <a:ln/>
        </p:spPr>
      </p:sp>
      <p:sp>
        <p:nvSpPr>
          <p:cNvPr id="16" name="Text 14"/>
          <p:cNvSpPr/>
          <p:nvPr/>
        </p:nvSpPr>
        <p:spPr>
          <a:xfrm>
            <a:off x="914400" y="5074920"/>
            <a:ext cx="548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1554480" y="5074920"/>
            <a:ext cx="9692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It is not useful, because sin and cos can always replace it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11521440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C9B8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6A4C9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E0D6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QUESTION 5 OF 7</a:t>
            </a:r>
            <a:endParaRPr lang="en-US" sz="1300" dirty="0"/>
          </a:p>
        </p:txBody>
      </p:sp>
      <p:sp>
        <p:nvSpPr>
          <p:cNvPr id="3" name="Shape 1"/>
          <p:cNvSpPr/>
          <p:nvPr/>
        </p:nvSpPr>
        <p:spPr>
          <a:xfrm>
            <a:off x="8138160" y="320040"/>
            <a:ext cx="3474720" cy="365760"/>
          </a:xfrm>
          <a:prstGeom prst="roundRect">
            <a:avLst>
              <a:gd name="adj" fmla="val 15000"/>
            </a:avLst>
          </a:prstGeom>
          <a:solidFill>
            <a:srgbClr val="5A3F80"/>
          </a:solidFill>
          <a:ln/>
        </p:spPr>
      </p:sp>
      <p:sp>
        <p:nvSpPr>
          <p:cNvPr id="4" name="Text 2"/>
          <p:cNvSpPr/>
          <p:nvPr/>
        </p:nvSpPr>
        <p:spPr>
          <a:xfrm>
            <a:off x="8138160" y="32004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E0D6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 after: Explain phase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48640" y="868680"/>
            <a:ext cx="1106424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sun's rays make a 53° angle with level ground. A vertical tree of height h casts a 9.0 m shadow on the ground, forming a right-angled triangle. The 53° angle is at the tip of the shadow. Which side of the triangle is the 9.0 m shadow, relative to the 53° angle?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31520" y="2331720"/>
            <a:ext cx="10698480" cy="777240"/>
          </a:xfrm>
          <a:prstGeom prst="roundRect">
            <a:avLst>
              <a:gd name="adj" fmla="val 9412"/>
            </a:avLst>
          </a:prstGeom>
          <a:solidFill>
            <a:srgbClr val="7C5CAA"/>
          </a:solidFill>
          <a:ln/>
        </p:spPr>
      </p:sp>
      <p:sp>
        <p:nvSpPr>
          <p:cNvPr id="7" name="Text 5"/>
          <p:cNvSpPr/>
          <p:nvPr/>
        </p:nvSpPr>
        <p:spPr>
          <a:xfrm>
            <a:off x="914400" y="2331720"/>
            <a:ext cx="548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554480" y="2331720"/>
            <a:ext cx="9692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adjacent side, because it lies next to the 53° angle and is not the hypotenuse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731520" y="3246120"/>
            <a:ext cx="10698480" cy="777240"/>
          </a:xfrm>
          <a:prstGeom prst="roundRect">
            <a:avLst>
              <a:gd name="adj" fmla="val 9412"/>
            </a:avLst>
          </a:prstGeom>
          <a:solidFill>
            <a:srgbClr val="7C5CAA"/>
          </a:solidFill>
          <a:ln/>
        </p:spPr>
      </p:sp>
      <p:sp>
        <p:nvSpPr>
          <p:cNvPr id="10" name="Text 8"/>
          <p:cNvSpPr/>
          <p:nvPr/>
        </p:nvSpPr>
        <p:spPr>
          <a:xfrm>
            <a:off x="914400" y="3246120"/>
            <a:ext cx="548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1554480" y="3246120"/>
            <a:ext cx="9692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It cannot be named until the tree height is known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731520" y="4160520"/>
            <a:ext cx="10698480" cy="777240"/>
          </a:xfrm>
          <a:prstGeom prst="roundRect">
            <a:avLst>
              <a:gd name="adj" fmla="val 9412"/>
            </a:avLst>
          </a:prstGeom>
          <a:solidFill>
            <a:srgbClr val="7C5CAA"/>
          </a:solidFill>
          <a:ln/>
        </p:spPr>
      </p:sp>
      <p:sp>
        <p:nvSpPr>
          <p:cNvPr id="13" name="Text 11"/>
          <p:cNvSpPr/>
          <p:nvPr/>
        </p:nvSpPr>
        <p:spPr>
          <a:xfrm>
            <a:off x="914400" y="4160520"/>
            <a:ext cx="548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1554480" y="4160520"/>
            <a:ext cx="9692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hypotenuse, because it is the length we measured</a:t>
            </a:r>
            <a:endParaRPr lang="en-US" sz="1500" dirty="0"/>
          </a:p>
        </p:txBody>
      </p:sp>
      <p:sp>
        <p:nvSpPr>
          <p:cNvPr id="15" name="Shape 13"/>
          <p:cNvSpPr/>
          <p:nvPr/>
        </p:nvSpPr>
        <p:spPr>
          <a:xfrm>
            <a:off x="731520" y="5074920"/>
            <a:ext cx="10698480" cy="777240"/>
          </a:xfrm>
          <a:prstGeom prst="roundRect">
            <a:avLst>
              <a:gd name="adj" fmla="val 9412"/>
            </a:avLst>
          </a:prstGeom>
          <a:solidFill>
            <a:srgbClr val="7C5CAA"/>
          </a:solidFill>
          <a:ln/>
        </p:spPr>
      </p:sp>
      <p:sp>
        <p:nvSpPr>
          <p:cNvPr id="16" name="Text 14"/>
          <p:cNvSpPr/>
          <p:nvPr/>
        </p:nvSpPr>
        <p:spPr>
          <a:xfrm>
            <a:off x="914400" y="5074920"/>
            <a:ext cx="548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1554480" y="5074920"/>
            <a:ext cx="9692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opposite side, because it lies on the ground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11521440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C9B8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6A4C9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E0D6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QUESTION 6 OF 7</a:t>
            </a:r>
            <a:endParaRPr lang="en-US" sz="1300" dirty="0"/>
          </a:p>
        </p:txBody>
      </p:sp>
      <p:sp>
        <p:nvSpPr>
          <p:cNvPr id="3" name="Shape 1"/>
          <p:cNvSpPr/>
          <p:nvPr/>
        </p:nvSpPr>
        <p:spPr>
          <a:xfrm>
            <a:off x="8138160" y="320040"/>
            <a:ext cx="3474720" cy="365760"/>
          </a:xfrm>
          <a:prstGeom prst="roundRect">
            <a:avLst>
              <a:gd name="adj" fmla="val 15000"/>
            </a:avLst>
          </a:prstGeom>
          <a:solidFill>
            <a:srgbClr val="5A3F80"/>
          </a:solidFill>
          <a:ln/>
        </p:spPr>
      </p:sp>
      <p:sp>
        <p:nvSpPr>
          <p:cNvPr id="4" name="Text 2"/>
          <p:cNvSpPr/>
          <p:nvPr/>
        </p:nvSpPr>
        <p:spPr>
          <a:xfrm>
            <a:off x="8138160" y="32004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E0D6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 after: Explain phase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48640" y="868680"/>
            <a:ext cx="1106424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mango tree casts a 9.0 m shadow when the sun's angle with the ground is 53°. Using tan 53° ≈ 1.3270 from tables, what is the height of the tree, to 2 decimal places?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731520" y="2331720"/>
            <a:ext cx="10698480" cy="777240"/>
          </a:xfrm>
          <a:prstGeom prst="roundRect">
            <a:avLst>
              <a:gd name="adj" fmla="val 9412"/>
            </a:avLst>
          </a:prstGeom>
          <a:solidFill>
            <a:srgbClr val="7C5CAA"/>
          </a:solidFill>
          <a:ln/>
        </p:spPr>
      </p:sp>
      <p:sp>
        <p:nvSpPr>
          <p:cNvPr id="7" name="Text 5"/>
          <p:cNvSpPr/>
          <p:nvPr/>
        </p:nvSpPr>
        <p:spPr>
          <a:xfrm>
            <a:off x="914400" y="2331720"/>
            <a:ext cx="548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554480" y="2331720"/>
            <a:ext cx="9692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0.15 m</a:t>
            </a:r>
            <a:endParaRPr lang="en-US" sz="1700" dirty="0"/>
          </a:p>
        </p:txBody>
      </p:sp>
      <p:sp>
        <p:nvSpPr>
          <p:cNvPr id="9" name="Shape 7"/>
          <p:cNvSpPr/>
          <p:nvPr/>
        </p:nvSpPr>
        <p:spPr>
          <a:xfrm>
            <a:off x="731520" y="3246120"/>
            <a:ext cx="10698480" cy="777240"/>
          </a:xfrm>
          <a:prstGeom prst="roundRect">
            <a:avLst>
              <a:gd name="adj" fmla="val 9412"/>
            </a:avLst>
          </a:prstGeom>
          <a:solidFill>
            <a:srgbClr val="7C5CAA"/>
          </a:solidFill>
          <a:ln/>
        </p:spPr>
      </p:sp>
      <p:sp>
        <p:nvSpPr>
          <p:cNvPr id="10" name="Text 8"/>
          <p:cNvSpPr/>
          <p:nvPr/>
        </p:nvSpPr>
        <p:spPr>
          <a:xfrm>
            <a:off x="914400" y="3246120"/>
            <a:ext cx="548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1554480" y="3246120"/>
            <a:ext cx="9692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10.33 m</a:t>
            </a:r>
            <a:endParaRPr lang="en-US" sz="1700" dirty="0"/>
          </a:p>
        </p:txBody>
      </p:sp>
      <p:sp>
        <p:nvSpPr>
          <p:cNvPr id="12" name="Shape 10"/>
          <p:cNvSpPr/>
          <p:nvPr/>
        </p:nvSpPr>
        <p:spPr>
          <a:xfrm>
            <a:off x="731520" y="4160520"/>
            <a:ext cx="10698480" cy="777240"/>
          </a:xfrm>
          <a:prstGeom prst="roundRect">
            <a:avLst>
              <a:gd name="adj" fmla="val 9412"/>
            </a:avLst>
          </a:prstGeom>
          <a:solidFill>
            <a:srgbClr val="7C5CAA"/>
          </a:solidFill>
          <a:ln/>
        </p:spPr>
      </p:sp>
      <p:sp>
        <p:nvSpPr>
          <p:cNvPr id="13" name="Text 11"/>
          <p:cNvSpPr/>
          <p:nvPr/>
        </p:nvSpPr>
        <p:spPr>
          <a:xfrm>
            <a:off x="914400" y="4160520"/>
            <a:ext cx="548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1554480" y="4160520"/>
            <a:ext cx="9692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6.78 m</a:t>
            </a:r>
            <a:endParaRPr lang="en-US" sz="1700" dirty="0"/>
          </a:p>
        </p:txBody>
      </p:sp>
      <p:sp>
        <p:nvSpPr>
          <p:cNvPr id="15" name="Shape 13"/>
          <p:cNvSpPr/>
          <p:nvPr/>
        </p:nvSpPr>
        <p:spPr>
          <a:xfrm>
            <a:off x="731520" y="5074920"/>
            <a:ext cx="10698480" cy="777240"/>
          </a:xfrm>
          <a:prstGeom prst="roundRect">
            <a:avLst>
              <a:gd name="adj" fmla="val 9412"/>
            </a:avLst>
          </a:prstGeom>
          <a:solidFill>
            <a:srgbClr val="7C5CAA"/>
          </a:solidFill>
          <a:ln/>
        </p:spPr>
      </p:sp>
      <p:sp>
        <p:nvSpPr>
          <p:cNvPr id="16" name="Text 14"/>
          <p:cNvSpPr/>
          <p:nvPr/>
        </p:nvSpPr>
        <p:spPr>
          <a:xfrm>
            <a:off x="914400" y="5074920"/>
            <a:ext cx="548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1554480" y="5074920"/>
            <a:ext cx="9692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11.94 m</a:t>
            </a:r>
            <a:endParaRPr lang="en-US" sz="1700" dirty="0"/>
          </a:p>
        </p:txBody>
      </p:sp>
      <p:sp>
        <p:nvSpPr>
          <p:cNvPr id="18" name="Text 16"/>
          <p:cNvSpPr/>
          <p:nvPr/>
        </p:nvSpPr>
        <p:spPr>
          <a:xfrm>
            <a:off x="11521440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C9B8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6A4C9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E0D6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QUESTION 7 OF 7</a:t>
            </a:r>
            <a:endParaRPr lang="en-US" sz="1300" dirty="0"/>
          </a:p>
        </p:txBody>
      </p:sp>
      <p:sp>
        <p:nvSpPr>
          <p:cNvPr id="3" name="Shape 1"/>
          <p:cNvSpPr/>
          <p:nvPr/>
        </p:nvSpPr>
        <p:spPr>
          <a:xfrm>
            <a:off x="8138160" y="320040"/>
            <a:ext cx="3474720" cy="365760"/>
          </a:xfrm>
          <a:prstGeom prst="roundRect">
            <a:avLst>
              <a:gd name="adj" fmla="val 15000"/>
            </a:avLst>
          </a:prstGeom>
          <a:solidFill>
            <a:srgbClr val="5A3F80"/>
          </a:solidFill>
          <a:ln/>
        </p:spPr>
      </p:sp>
      <p:sp>
        <p:nvSpPr>
          <p:cNvPr id="4" name="Text 2"/>
          <p:cNvSpPr/>
          <p:nvPr/>
        </p:nvSpPr>
        <p:spPr>
          <a:xfrm>
            <a:off x="8138160" y="32004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E0D6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 after: Model Building phase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48640" y="868680"/>
            <a:ext cx="1106424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same 53° sun angle at the same time of day gives the same tangent ratio for a small pole and for a tall tree. Why does tan θ = Opposite/Adjacent work for triangles of any size?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731520" y="2331720"/>
            <a:ext cx="10698480" cy="777240"/>
          </a:xfrm>
          <a:prstGeom prst="roundRect">
            <a:avLst>
              <a:gd name="adj" fmla="val 9412"/>
            </a:avLst>
          </a:prstGeom>
          <a:solidFill>
            <a:srgbClr val="7C5CAA"/>
          </a:solidFill>
          <a:ln/>
        </p:spPr>
      </p:sp>
      <p:sp>
        <p:nvSpPr>
          <p:cNvPr id="7" name="Text 5"/>
          <p:cNvSpPr/>
          <p:nvPr/>
        </p:nvSpPr>
        <p:spPr>
          <a:xfrm>
            <a:off x="914400" y="2331720"/>
            <a:ext cx="548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554480" y="2331720"/>
            <a:ext cx="9692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Because the ratio Opposite/Adjacent stays constant for a given angle, whatever the size of the triangle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731520" y="3246120"/>
            <a:ext cx="10698480" cy="777240"/>
          </a:xfrm>
          <a:prstGeom prst="roundRect">
            <a:avLst>
              <a:gd name="adj" fmla="val 9412"/>
            </a:avLst>
          </a:prstGeom>
          <a:solidFill>
            <a:srgbClr val="7C5CAA"/>
          </a:solidFill>
          <a:ln/>
        </p:spPr>
      </p:sp>
      <p:sp>
        <p:nvSpPr>
          <p:cNvPr id="10" name="Text 8"/>
          <p:cNvSpPr/>
          <p:nvPr/>
        </p:nvSpPr>
        <p:spPr>
          <a:xfrm>
            <a:off x="914400" y="3246120"/>
            <a:ext cx="548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1554480" y="3246120"/>
            <a:ext cx="9692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Because the ratio gets bigger as the shadow gets longer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731520" y="4160520"/>
            <a:ext cx="10698480" cy="777240"/>
          </a:xfrm>
          <a:prstGeom prst="roundRect">
            <a:avLst>
              <a:gd name="adj" fmla="val 9412"/>
            </a:avLst>
          </a:prstGeom>
          <a:solidFill>
            <a:srgbClr val="7C5CAA"/>
          </a:solidFill>
          <a:ln/>
        </p:spPr>
      </p:sp>
      <p:sp>
        <p:nvSpPr>
          <p:cNvPr id="13" name="Text 11"/>
          <p:cNvSpPr/>
          <p:nvPr/>
        </p:nvSpPr>
        <p:spPr>
          <a:xfrm>
            <a:off x="914400" y="4160520"/>
            <a:ext cx="548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1554480" y="4160520"/>
            <a:ext cx="9692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Because the opposite side is always equal to the adjacent side</a:t>
            </a:r>
            <a:endParaRPr lang="en-US" sz="1500" dirty="0"/>
          </a:p>
        </p:txBody>
      </p:sp>
      <p:sp>
        <p:nvSpPr>
          <p:cNvPr id="15" name="Shape 13"/>
          <p:cNvSpPr/>
          <p:nvPr/>
        </p:nvSpPr>
        <p:spPr>
          <a:xfrm>
            <a:off x="731520" y="5074920"/>
            <a:ext cx="10698480" cy="777240"/>
          </a:xfrm>
          <a:prstGeom prst="roundRect">
            <a:avLst>
              <a:gd name="adj" fmla="val 9412"/>
            </a:avLst>
          </a:prstGeom>
          <a:solidFill>
            <a:srgbClr val="7C5CAA"/>
          </a:solidFill>
          <a:ln/>
        </p:spPr>
      </p:sp>
      <p:sp>
        <p:nvSpPr>
          <p:cNvPr id="16" name="Text 14"/>
          <p:cNvSpPr/>
          <p:nvPr/>
        </p:nvSpPr>
        <p:spPr>
          <a:xfrm>
            <a:off x="914400" y="5074920"/>
            <a:ext cx="548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1554480" y="5074920"/>
            <a:ext cx="9692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Because tan θ depends on the length of the hypotenuse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11521440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C9B8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F386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2194560"/>
            <a:ext cx="10698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All done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731520" y="3108960"/>
            <a:ext cx="10698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D9EE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Ask your teacher how to submit your answers today (for example, on a paper answer slip).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Mathematics Grade 10 - Trigonometry I - Lesson 4 Quick Check</dc:title>
  <dc:subject>PptxGenJS Presentation</dc:subject>
  <dc:creator>PptxGenJS</dc:creator>
  <cp:lastModifiedBy>PptxGenJS</cp:lastModifiedBy>
  <cp:revision>1</cp:revision>
  <dcterms:created xsi:type="dcterms:W3CDTF">2026-10-02T04:54:43Z</dcterms:created>
  <dcterms:modified xsi:type="dcterms:W3CDTF">2026-10-02T04:54:43Z</dcterms:modified>
</cp:coreProperties>
</file>