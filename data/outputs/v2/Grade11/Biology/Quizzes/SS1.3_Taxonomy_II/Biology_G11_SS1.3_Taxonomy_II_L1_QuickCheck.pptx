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creativecommons.org/licenses/by-nc/4.0/" TargetMode="Externa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864"/>
        </a:solidFill>
      </p:bgPr>
    </p:bg>
    <p:spTree>
      <p:nvGrpSpPr>
        <p:cNvPr id="1" name=""/>
        <p:cNvGrpSpPr/>
        <p:nvPr/>
      </p:nvGrpSpPr>
      <p:grpSpPr>
        <a:xfrm>
          <a:off x="0" y="0"/>
          <a:ext cx="0" cy="0"/>
          <a:chOff x="0" y="0"/>
          <a:chExt cx="0" cy="0"/>
        </a:xfrm>
      </p:grpSpPr>
      <p:sp>
        <p:nvSpPr>
          <p:cNvPr id="2" name="Text 0"/>
          <p:cNvSpPr/>
          <p:nvPr/>
        </p:nvSpPr>
        <p:spPr>
          <a:xfrm>
            <a:off x="731520" y="1463040"/>
            <a:ext cx="10698480" cy="457200"/>
          </a:xfrm>
          <a:prstGeom prst="rect">
            <a:avLst/>
          </a:prstGeom>
          <a:noFill/>
          <a:ln/>
        </p:spPr>
        <p:txBody>
          <a:bodyPr wrap="square" lIns="0" tIns="0" rIns="0" bIns="0" rtlCol="0" anchor="ctr"/>
          <a:lstStyle/>
          <a:p>
            <a:pPr indent="0" marL="0">
              <a:buNone/>
            </a:pPr>
            <a:r>
              <a:rPr lang="en-US" sz="1600" b="1" spc="200" kern="0" dirty="0">
                <a:solidFill>
                  <a:srgbClr val="AFC8E8"/>
                </a:solidFill>
                <a:latin typeface="Arial" pitchFamily="34" charset="0"/>
                <a:ea typeface="Arial" pitchFamily="34" charset="-122"/>
                <a:cs typeface="Arial" pitchFamily="34" charset="-120"/>
              </a:rPr>
              <a:t>BIOLOGY — GRADE 11  |  TAXONOMY II</a:t>
            </a:r>
            <a:endParaRPr lang="en-US" sz="1600" dirty="0"/>
          </a:p>
        </p:txBody>
      </p:sp>
      <p:sp>
        <p:nvSpPr>
          <p:cNvPr id="3" name="Text 1"/>
          <p:cNvSpPr/>
          <p:nvPr/>
        </p:nvSpPr>
        <p:spPr>
          <a:xfrm>
            <a:off x="731520" y="1965960"/>
            <a:ext cx="10698480" cy="914400"/>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Quick Check</a:t>
            </a:r>
            <a:endParaRPr lang="en-US" sz="4000" dirty="0"/>
          </a:p>
        </p:txBody>
      </p:sp>
      <p:sp>
        <p:nvSpPr>
          <p:cNvPr id="4" name="Text 2"/>
          <p:cNvSpPr/>
          <p:nvPr/>
        </p:nvSpPr>
        <p:spPr>
          <a:xfrm>
            <a:off x="731520" y="2880360"/>
            <a:ext cx="10698480" cy="1097280"/>
          </a:xfrm>
          <a:prstGeom prst="rect">
            <a:avLst/>
          </a:prstGeom>
          <a:noFill/>
          <a:ln/>
        </p:spPr>
        <p:txBody>
          <a:bodyPr wrap="square" lIns="0" tIns="0" rIns="0" bIns="0" rtlCol="0" anchor="t"/>
          <a:lstStyle/>
          <a:p>
            <a:pPr indent="0" marL="0">
              <a:buNone/>
            </a:pPr>
            <a:r>
              <a:rPr lang="en-US" sz="2000" dirty="0">
                <a:solidFill>
                  <a:srgbClr val="D9EEF1"/>
                </a:solidFill>
                <a:latin typeface="Arial" pitchFamily="34" charset="0"/>
                <a:ea typeface="Arial" pitchFamily="34" charset="-122"/>
                <a:cs typeface="Arial" pitchFamily="34" charset="-120"/>
              </a:rPr>
              <a:t>Lesson 1: Why classify organisms?</a:t>
            </a:r>
            <a:endParaRPr lang="en-US" sz="2000" dirty="0"/>
          </a:p>
        </p:txBody>
      </p:sp>
      <p:sp>
        <p:nvSpPr>
          <p:cNvPr id="5" name="Text 3"/>
          <p:cNvSpPr/>
          <p:nvPr/>
        </p:nvSpPr>
        <p:spPr>
          <a:xfrm>
            <a:off x="731520" y="4114800"/>
            <a:ext cx="10698480" cy="457200"/>
          </a:xfrm>
          <a:prstGeom prst="rect">
            <a:avLst/>
          </a:prstGeom>
          <a:noFill/>
          <a:ln/>
        </p:spPr>
        <p:txBody>
          <a:bodyPr wrap="square" lIns="0" tIns="0" rIns="0" bIns="0" rtlCol="0" anchor="ctr"/>
          <a:lstStyle/>
          <a:p>
            <a:pPr indent="0" marL="0">
              <a:buNone/>
            </a:pPr>
            <a:r>
              <a:rPr lang="en-US" sz="1600" i="1" dirty="0">
                <a:solidFill>
                  <a:srgbClr val="AFC8E8"/>
                </a:solidFill>
                <a:latin typeface="Arial" pitchFamily="34" charset="0"/>
                <a:ea typeface="Arial" pitchFamily="34" charset="-122"/>
                <a:cs typeface="Arial" pitchFamily="34" charset="-120"/>
              </a:rPr>
              <a:t>7 multiple-choice questions  •  choose A, B, C or D</a:t>
            </a:r>
            <a:endParaRPr lang="en-US" sz="1600" dirty="0"/>
          </a:p>
        </p:txBody>
      </p:sp>
      <p:sp>
        <p:nvSpPr>
          <p:cNvPr id="6" name="Text 4"/>
          <p:cNvSpPr/>
          <p:nvPr/>
        </p:nvSpPr>
        <p:spPr>
          <a:xfrm>
            <a:off x="731520" y="5257800"/>
            <a:ext cx="10698480" cy="365760"/>
          </a:xfrm>
          <a:prstGeom prst="rect">
            <a:avLst/>
          </a:prstGeom>
          <a:noFill/>
          <a:ln/>
        </p:spPr>
        <p:txBody>
          <a:bodyPr wrap="square" lIns="0" tIns="0" rIns="0" bIns="0" rtlCol="0" anchor="ctr"/>
          <a:lstStyle/>
          <a:p>
            <a:pPr indent="0" marL="0">
              <a:buNone/>
            </a:pPr>
            <a:r>
              <a:rPr lang="en-US" sz="1300" dirty="0">
                <a:solidFill>
                  <a:srgbClr val="AFC8E8"/>
                </a:solidFill>
                <a:latin typeface="Arial" pitchFamily="34" charset="0"/>
                <a:ea typeface="Arial" pitchFamily="34" charset="-122"/>
                <a:cs typeface="Arial" pitchFamily="34" charset="-120"/>
              </a:rPr>
              <a:t>Sub-Strand 1.3: Taxonomy II   |   Lesson 1</a:t>
            </a:r>
            <a:endParaRPr lang="en-US" sz="1300" dirty="0"/>
          </a:p>
        </p:txBody>
      </p:sp>
      <p:sp>
        <p:nvSpPr>
          <p:cNvPr id="7" name="Text 5"/>
          <p:cNvSpPr/>
          <p:nvPr/>
        </p:nvSpPr>
        <p:spPr>
          <a:xfrm>
            <a:off x="731520" y="5760720"/>
            <a:ext cx="10698480" cy="822960"/>
          </a:xfrm>
          <a:prstGeom prst="rect">
            <a:avLst/>
          </a:prstGeom>
          <a:noFill/>
          <a:ln/>
        </p:spPr>
        <p:txBody>
          <a:bodyPr wrap="square" lIns="0" tIns="0" rIns="0" bIns="0" rtlCol="0" anchor="t"/>
          <a:lstStyle/>
          <a:p>
            <a:pPr indent="0" marL="0">
              <a:buNone/>
            </a:pPr>
            <a:r>
              <a:rPr lang="en-US" sz="900" dirty="0">
                <a:solidFill>
                  <a:srgbClr val="8FA8C8"/>
                </a:solidFill>
                <a:latin typeface="Arial" pitchFamily="34" charset="0"/>
                <a:ea typeface="Arial" pitchFamily="34" charset="-122"/>
                <a:cs typeface="Arial" pitchFamily="34" charset="-120"/>
              </a:rPr>
              <a:t>© 2026 SeaVuria and ARES. Aligned with KICD objectives. Developed by SeaVuria; technical implementation by ARES (with AI assistance from Claude). Licensed under </a:t>
            </a:r>
            <a:pPr indent="0" marL="0">
              <a:buNone/>
            </a:pPr>
            <a:r>
              <a:rPr lang="en-US" sz="900" u="sng" dirty="0">
                <a:solidFill>
                  <a:srgbClr val="AFC8E8"/>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CC BY-NC 4.0</a:t>
            </a:r>
            <a:pPr indent="0" marL="0">
              <a:buNone/>
            </a:pPr>
            <a:r>
              <a:rPr lang="en-US" sz="900" dirty="0">
                <a:solidFill>
                  <a:srgbClr val="8FA8C8"/>
                </a:solidFill>
                <a:latin typeface="Arial" pitchFamily="34" charset="0"/>
                <a:ea typeface="Arial" pitchFamily="34" charset="-122"/>
                <a:cs typeface="Arial" pitchFamily="34" charset="-120"/>
              </a:rPr>
              <a:t> (https://creativecommons.org/licenses/by-nc/4.0/).</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1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Predict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Four learners will each group the same 13 organisms (maize, bean plant, grass, fern, moss, mushroom, mosquito, butterfly, earthworm, snail, chicken, lizard and goat). Amina uses size, Brian uses colour, Cheche uses where the organism lives, and Dennis uses whether people eat it. What is the most reasonable prediction about their groupings?</a:t>
            </a:r>
            <a:endParaRPr lang="en-US" sz="16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The groupings will match as long as the learners work in the same classroom</a:t>
            </a:r>
            <a:endParaRPr lang="en-US" sz="15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The groupings will probably differ because each learner is using a different rule</a:t>
            </a:r>
            <a:endParaRPr lang="en-US" sz="15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All four groupings will be exactly the same because the organisms are the same</a:t>
            </a:r>
            <a:endParaRPr lang="en-US" sz="15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Only Amina's grouping can work because size is always easy to measure</a:t>
            </a:r>
            <a:endParaRPr lang="en-US" sz="15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2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Observe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During the observation of the 13 organisms, learners must record features they can see for themselves. Which of these is an observable feature of the butterfly?</a:t>
            </a:r>
            <a:endParaRPr lang="en-US" sz="20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It is less important than the goat</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It has wings</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It is harmful to people</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It is useful as food</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3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Observe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While grouping the organisms, a learner says: 'The mushroom is a plant because it grows in soil.' At this point in the lesson, what is the best response from the teacher?</a:t>
            </a:r>
            <a:endParaRPr lang="en-US" sz="20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Point out that 'grows in soil' is a habitat-based rule, and ask what observable features of the mushroom could be compared with the other organisms</a:t>
            </a:r>
            <a:endParaRPr lang="en-US" sz="13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Say that the mushroom is an animal because it cannot move</a:t>
            </a:r>
            <a:endParaRPr lang="en-US" sz="13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Agree, because anything that grows in soil is a plant</a:t>
            </a:r>
            <a:endParaRPr lang="en-US" sz="13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Tell the learner to stop asking about the mushroom</a:t>
            </a:r>
            <a:endParaRPr lang="en-US" sz="13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4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Explain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One group places the goat and the chicken together under the title 'farm animals'. Another group places them in different groups because the goat has hair and the chicken has feathers. Both groups were looking at the same two organisms. Why did their groupings differ?</a:t>
            </a:r>
            <a:endParaRPr lang="en-US" sz="16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The two groups used different rules to make their groups</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One group made a mistake in observing and the other group observed correctly</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Groupings differ only when learners come from different counties</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The goat and the chicken are not both living things</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5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Explain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After the gallery walk, a learner from Kericho says: 'I can use your group's manila paper to place the mushroom exactly where you did.' Your group grouped by 'what looks useful to us'. Why might the learner from Kericho not get the same result?</a:t>
            </a:r>
            <a:endParaRPr lang="en-US" sz="18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Because groupings only work in the school where they were made</a:t>
            </a:r>
            <a:endParaRPr lang="en-US" sz="13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Because people in Kericho cannot see the same organisms</a:t>
            </a:r>
            <a:endParaRPr lang="en-US" sz="13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Because the mushroom cannot be grouped at all</a:t>
            </a:r>
            <a:endParaRPr lang="en-US" sz="13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Because a rule such as 'useful to us' can mean different things to different people, so the groupings will not match</a:t>
            </a:r>
            <a:endParaRPr lang="en-US" sz="13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6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DQB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The class is adding questions to the Driving Question Board under 'How can we identify and classify living organisms accurately?' Which question fits best on this board?</a:t>
            </a:r>
            <a:endParaRPr lang="en-US" sz="20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Which organism in the display is the cheapest to buy?</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How do scientists decide which features to use when they classify organisms?</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Which organism in the display is the biggest?</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Which group made the neatest manila paper?</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7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End of lesson</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For the exit ticket, a learner must give one observable characteristic that could be used to group the maize, the bean plant and the grass together. Which answer is the best?</a:t>
            </a:r>
            <a:endParaRPr lang="en-US" sz="20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They are all eaten by people</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They all grow in Kisumu</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They all have leaves and roots</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They are all exactly the same size</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F3864"/>
        </a:solidFill>
      </p:bgPr>
    </p:bg>
    <p:spTree>
      <p:nvGrpSpPr>
        <p:cNvPr id="1" name=""/>
        <p:cNvGrpSpPr/>
        <p:nvPr/>
      </p:nvGrpSpPr>
      <p:grpSpPr>
        <a:xfrm>
          <a:off x="0" y="0"/>
          <a:ext cx="0" cy="0"/>
          <a:chOff x="0" y="0"/>
          <a:chExt cx="0" cy="0"/>
        </a:xfrm>
      </p:grpSpPr>
      <p:sp>
        <p:nvSpPr>
          <p:cNvPr id="2" name="Text 0"/>
          <p:cNvSpPr/>
          <p:nvPr/>
        </p:nvSpPr>
        <p:spPr>
          <a:xfrm>
            <a:off x="731520" y="2194560"/>
            <a:ext cx="10698480" cy="822960"/>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All done</a:t>
            </a:r>
            <a:endParaRPr lang="en-US" sz="3400" dirty="0"/>
          </a:p>
        </p:txBody>
      </p:sp>
      <p:sp>
        <p:nvSpPr>
          <p:cNvPr id="3" name="Text 1"/>
          <p:cNvSpPr/>
          <p:nvPr/>
        </p:nvSpPr>
        <p:spPr>
          <a:xfrm>
            <a:off x="731520" y="3108960"/>
            <a:ext cx="10698480" cy="731520"/>
          </a:xfrm>
          <a:prstGeom prst="rect">
            <a:avLst/>
          </a:prstGeom>
          <a:noFill/>
          <a:ln/>
        </p:spPr>
        <p:txBody>
          <a:bodyPr wrap="square" lIns="0" tIns="0" rIns="0" bIns="0" rtlCol="0" anchor="ctr"/>
          <a:lstStyle/>
          <a:p>
            <a:pPr indent="0" marL="0">
              <a:buNone/>
            </a:pPr>
            <a:r>
              <a:rPr lang="en-US" sz="1800" dirty="0">
                <a:solidFill>
                  <a:srgbClr val="D9EEF1"/>
                </a:solidFill>
                <a:latin typeface="Arial" pitchFamily="34" charset="0"/>
                <a:ea typeface="Arial" pitchFamily="34" charset="-122"/>
                <a:cs typeface="Arial" pitchFamily="34" charset="-120"/>
              </a:rPr>
              <a:t>Ask your teacher how to submit your answers today (for example, on a paper answer slip).</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Biology Grade 11 - Taxonomy II - Lesson 1 Quick Check</dc:title>
  <dc:subject>PptxGenJS Presentation</dc:subject>
  <dc:creator>PptxGenJS</dc:creator>
  <cp:lastModifiedBy>PptxGenJS</cp:lastModifiedBy>
  <cp:revision>1</cp:revision>
  <dcterms:created xsi:type="dcterms:W3CDTF">2026-10-05T03:57:28Z</dcterms:created>
  <dcterms:modified xsi:type="dcterms:W3CDTF">2026-10-05T03:57:28Z</dcterms:modified>
</cp:coreProperties>
</file>