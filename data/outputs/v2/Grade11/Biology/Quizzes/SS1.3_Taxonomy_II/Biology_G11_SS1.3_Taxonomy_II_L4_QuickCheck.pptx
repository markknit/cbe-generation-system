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reativecommons.org/licenses/by-nc/4.0/"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1463040"/>
            <a:ext cx="10698480" cy="457200"/>
          </a:xfrm>
          <a:prstGeom prst="rect">
            <a:avLst/>
          </a:prstGeom>
          <a:noFill/>
          <a:ln/>
        </p:spPr>
        <p:txBody>
          <a:bodyPr wrap="square" lIns="0" tIns="0" rIns="0" bIns="0" rtlCol="0" anchor="ctr"/>
          <a:lstStyle/>
          <a:p>
            <a:pPr indent="0" marL="0">
              <a:buNone/>
            </a:pPr>
            <a:r>
              <a:rPr lang="en-US" sz="1600" b="1" spc="200" kern="0" dirty="0">
                <a:solidFill>
                  <a:srgbClr val="AFC8E8"/>
                </a:solidFill>
                <a:latin typeface="Arial" pitchFamily="34" charset="0"/>
                <a:ea typeface="Arial" pitchFamily="34" charset="-122"/>
                <a:cs typeface="Arial" pitchFamily="34" charset="-120"/>
              </a:rPr>
              <a:t>BIOLOGY — GRADE 11  |  TAXONOMY II</a:t>
            </a:r>
            <a:endParaRPr lang="en-US" sz="1600" dirty="0"/>
          </a:p>
        </p:txBody>
      </p:sp>
      <p:sp>
        <p:nvSpPr>
          <p:cNvPr id="3" name="Text 1"/>
          <p:cNvSpPr/>
          <p:nvPr/>
        </p:nvSpPr>
        <p:spPr>
          <a:xfrm>
            <a:off x="731520" y="1965960"/>
            <a:ext cx="10698480" cy="91440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Quick Check</a:t>
            </a:r>
            <a:endParaRPr lang="en-US" sz="4000" dirty="0"/>
          </a:p>
        </p:txBody>
      </p:sp>
      <p:sp>
        <p:nvSpPr>
          <p:cNvPr id="4" name="Text 2"/>
          <p:cNvSpPr/>
          <p:nvPr/>
        </p:nvSpPr>
        <p:spPr>
          <a:xfrm>
            <a:off x="731520" y="2880360"/>
            <a:ext cx="10698480" cy="1097280"/>
          </a:xfrm>
          <a:prstGeom prst="rect">
            <a:avLst/>
          </a:prstGeom>
          <a:noFill/>
          <a:ln/>
        </p:spPr>
        <p:txBody>
          <a:bodyPr wrap="square" lIns="0" tIns="0" rIns="0" bIns="0" rtlCol="0" anchor="t"/>
          <a:lstStyle/>
          <a:p>
            <a:pPr indent="0" marL="0">
              <a:buNone/>
            </a:pPr>
            <a:r>
              <a:rPr lang="en-US" sz="2000" dirty="0">
                <a:solidFill>
                  <a:srgbClr val="D9EEF1"/>
                </a:solidFill>
                <a:latin typeface="Arial" pitchFamily="34" charset="0"/>
                <a:ea typeface="Arial" pitchFamily="34" charset="-122"/>
                <a:cs typeface="Arial" pitchFamily="34" charset="-120"/>
              </a:rPr>
              <a:t>Lesson 4: Using Dichotomous Keys</a:t>
            </a:r>
            <a:endParaRPr lang="en-US" sz="2000" dirty="0"/>
          </a:p>
        </p:txBody>
      </p:sp>
      <p:sp>
        <p:nvSpPr>
          <p:cNvPr id="5" name="Text 3"/>
          <p:cNvSpPr/>
          <p:nvPr/>
        </p:nvSpPr>
        <p:spPr>
          <a:xfrm>
            <a:off x="731520" y="4114800"/>
            <a:ext cx="10698480" cy="457200"/>
          </a:xfrm>
          <a:prstGeom prst="rect">
            <a:avLst/>
          </a:prstGeom>
          <a:noFill/>
          <a:ln/>
        </p:spPr>
        <p:txBody>
          <a:bodyPr wrap="square" lIns="0" tIns="0" rIns="0" bIns="0" rtlCol="0" anchor="ctr"/>
          <a:lstStyle/>
          <a:p>
            <a:pPr indent="0" marL="0">
              <a:buNone/>
            </a:pPr>
            <a:r>
              <a:rPr lang="en-US" sz="1600" i="1" dirty="0">
                <a:solidFill>
                  <a:srgbClr val="AFC8E8"/>
                </a:solidFill>
                <a:latin typeface="Arial" pitchFamily="34" charset="0"/>
                <a:ea typeface="Arial" pitchFamily="34" charset="-122"/>
                <a:cs typeface="Arial" pitchFamily="34" charset="-120"/>
              </a:rPr>
              <a:t>7 multiple-choice questions  •  choose A, B, C or D</a:t>
            </a:r>
            <a:endParaRPr lang="en-US" sz="1600" dirty="0"/>
          </a:p>
        </p:txBody>
      </p:sp>
      <p:sp>
        <p:nvSpPr>
          <p:cNvPr id="6" name="Text 4"/>
          <p:cNvSpPr/>
          <p:nvPr/>
        </p:nvSpPr>
        <p:spPr>
          <a:xfrm>
            <a:off x="731520" y="5257800"/>
            <a:ext cx="10698480" cy="365760"/>
          </a:xfrm>
          <a:prstGeom prst="rect">
            <a:avLst/>
          </a:prstGeom>
          <a:noFill/>
          <a:ln/>
        </p:spPr>
        <p:txBody>
          <a:bodyPr wrap="square" lIns="0" tIns="0" rIns="0" bIns="0" rtlCol="0" anchor="ctr"/>
          <a:lstStyle/>
          <a:p>
            <a:pPr indent="0" marL="0">
              <a:buNone/>
            </a:pPr>
            <a:r>
              <a:rPr lang="en-US" sz="1300" dirty="0">
                <a:solidFill>
                  <a:srgbClr val="AFC8E8"/>
                </a:solidFill>
                <a:latin typeface="Arial" pitchFamily="34" charset="0"/>
                <a:ea typeface="Arial" pitchFamily="34" charset="-122"/>
                <a:cs typeface="Arial" pitchFamily="34" charset="-120"/>
              </a:rPr>
              <a:t>Sub-Strand 1.3: Taxonomy II   |   Lesson 4</a:t>
            </a:r>
            <a:endParaRPr lang="en-US" sz="1300" dirty="0"/>
          </a:p>
        </p:txBody>
      </p:sp>
      <p:sp>
        <p:nvSpPr>
          <p:cNvPr id="7" name="Text 5"/>
          <p:cNvSpPr/>
          <p:nvPr/>
        </p:nvSpPr>
        <p:spPr>
          <a:xfrm>
            <a:off x="731520" y="5760720"/>
            <a:ext cx="10698480" cy="822960"/>
          </a:xfrm>
          <a:prstGeom prst="rect">
            <a:avLst/>
          </a:prstGeom>
          <a:noFill/>
          <a:ln/>
        </p:spPr>
        <p:txBody>
          <a:bodyPr wrap="square" lIns="0" tIns="0" rIns="0" bIns="0" rtlCol="0" anchor="t"/>
          <a:lstStyle/>
          <a:p>
            <a:pPr indent="0" marL="0">
              <a:buNone/>
            </a:pPr>
            <a:r>
              <a:rPr lang="en-US" sz="900" dirty="0">
                <a:solidFill>
                  <a:srgbClr val="8FA8C8"/>
                </a:solidFill>
                <a:latin typeface="Arial" pitchFamily="34" charset="0"/>
                <a:ea typeface="Arial" pitchFamily="34" charset="-122"/>
                <a:cs typeface="Arial" pitchFamily="34" charset="-120"/>
              </a:rPr>
              <a:t>© 2026 SeaVuria and ARES. Aligned with KICD objectives. Developed by SeaVuria; technical implementation by ARES (with AI assistance from Claude). Licensed under </a:t>
            </a:r>
            <a:pPr indent="0" marL="0">
              <a:buNone/>
            </a:pPr>
            <a:r>
              <a:rPr lang="en-US" sz="900" u="sng" dirty="0">
                <a:solidFill>
                  <a:srgbClr val="AFC8E8"/>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CC BY-NC 4.0</a:t>
            </a:r>
            <a:pPr indent="0" marL="0">
              <a:buNone/>
            </a:pPr>
            <a:r>
              <a:rPr lang="en-US" sz="900" dirty="0">
                <a:solidFill>
                  <a:srgbClr val="8FA8C8"/>
                </a:solidFill>
                <a:latin typeface="Arial" pitchFamily="34" charset="0"/>
                <a:ea typeface="Arial" pitchFamily="34" charset="-122"/>
                <a:cs typeface="Arial" pitchFamily="34" charset="-120"/>
              </a:rPr>
              <a:t> (https://creativecommons.org/licenses/by-nc/4.0/).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1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Predict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farmer in Kericho cannot ask you for help, but she must name a plant using only your written instructions. Which first step would most likely give her the same answer you get?</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Is the plant big or small?</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Is the plant useful as food?</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Is the plant a pretty colour?</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Does the leaf have parallel veins or net-like veins?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2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The first couplet of a key says: 1a: Plant has no true roots, stems or leaves. 1b: Plant has true roots, stems and leaves. Which plant belongs at 1a?</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Bean plant</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Fern</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Maize plant</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Moss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3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Observe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learner lays a ruler beside a sukuma wiki leaf. The base of the leaf is at the 2 cm mark and the tip is at the 14 cm mark. What is the length of the leaf?</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14 cm</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2 cm</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12 cm</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16 cm</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4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Different groups used the same key on the same plants and got the same names. Their own earlier groupings by size, colour and usefulness did not agree. Why did the key give the same answer to everyone?</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uses pairs of contrasting, observable features, so each person makes the same clear choice at each step.</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lets each person choose any number of statements that they like.</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uses the colour of the plant, which is the same for all people.</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 groups plants by how useful they are, which everyone agrees on.</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5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300" b="1" dirty="0">
                <a:solidFill>
                  <a:srgbClr val="FFFFFF"/>
                </a:solidFill>
                <a:latin typeface="Arial" pitchFamily="34" charset="0"/>
                <a:ea typeface="Arial" pitchFamily="34" charset="-122"/>
                <a:cs typeface="Arial" pitchFamily="34" charset="-120"/>
              </a:rPr>
              <a:t>Which of these is the best couplet to include in a dichotomous key for plants?</a:t>
            </a:r>
            <a:endParaRPr lang="en-US" sz="23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1a: Leaf has parallel veins. 1b: Leaf has net-like veins.</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1a: Plant is useful. 1b: Plant is not useful.</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1a: Plant is beautiful. 1b: Plant is not beautiful.</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1a: Leaf is green. 1b: Leaf is dark green.</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6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Explain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 group is building a key for a maize plant, a grass plant, a bean plant and a sukuma wiki plant. They find that the leaves of maize and grass have parallel veins. To which group do maize and grass belong?</a:t>
            </a:r>
            <a:endParaRPr lang="en-US" sz="18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Dicots, because they are in Spermatophyta</a:t>
            </a:r>
            <a:endParaRPr lang="en-US" sz="17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Pteridophyta, because they have long leaves</a:t>
            </a:r>
            <a:endParaRPr lang="en-US" sz="17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Monocots, because parallel veins are a monocot feature</a:t>
            </a:r>
            <a:endParaRPr lang="en-US" sz="17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700" dirty="0">
                <a:solidFill>
                  <a:srgbClr val="FFFFFF"/>
                </a:solidFill>
                <a:latin typeface="Arial" pitchFamily="34" charset="0"/>
                <a:ea typeface="Arial" pitchFamily="34" charset="-122"/>
                <a:cs typeface="Arial" pitchFamily="34" charset="-120"/>
              </a:rPr>
              <a:t>Bryophyta, because they are small green plants</a:t>
            </a:r>
            <a:endParaRPr lang="en-US" sz="17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6A4C93"/>
        </a:solidFill>
      </p:bgPr>
    </p:bg>
    <p:spTree>
      <p:nvGrpSpPr>
        <p:cNvPr id="1" name=""/>
        <p:cNvGrpSpPr/>
        <p:nvPr/>
      </p:nvGrpSpPr>
      <p:grpSpPr>
        <a:xfrm>
          <a:off x="0" y="0"/>
          <a:ext cx="0" cy="0"/>
          <a:chOff x="0" y="0"/>
          <a:chExt cx="0" cy="0"/>
        </a:xfrm>
      </p:grpSpPr>
      <p:sp>
        <p:nvSpPr>
          <p:cNvPr id="2" name="Text 0"/>
          <p:cNvSpPr/>
          <p:nvPr/>
        </p:nvSpPr>
        <p:spPr>
          <a:xfrm>
            <a:off x="548640" y="365760"/>
            <a:ext cx="6400800" cy="365760"/>
          </a:xfrm>
          <a:prstGeom prst="rect">
            <a:avLst/>
          </a:prstGeom>
          <a:noFill/>
          <a:ln/>
        </p:spPr>
        <p:txBody>
          <a:bodyPr wrap="square" lIns="0" tIns="0" rIns="0" bIns="0" rtlCol="0" anchor="ctr"/>
          <a:lstStyle/>
          <a:p>
            <a:pPr indent="0" marL="0">
              <a:buNone/>
            </a:pPr>
            <a:r>
              <a:rPr lang="en-US" sz="1300" b="1" spc="200" kern="0" dirty="0">
                <a:solidFill>
                  <a:srgbClr val="E0D6F0"/>
                </a:solidFill>
                <a:latin typeface="Arial" pitchFamily="34" charset="0"/>
                <a:ea typeface="Arial" pitchFamily="34" charset="-122"/>
                <a:cs typeface="Arial" pitchFamily="34" charset="-120"/>
              </a:rPr>
              <a:t>QUESTION 7 OF 7</a:t>
            </a:r>
            <a:endParaRPr lang="en-US" sz="1300" dirty="0"/>
          </a:p>
        </p:txBody>
      </p:sp>
      <p:sp>
        <p:nvSpPr>
          <p:cNvPr id="3" name="Shape 1"/>
          <p:cNvSpPr/>
          <p:nvPr/>
        </p:nvSpPr>
        <p:spPr>
          <a:xfrm>
            <a:off x="8138160" y="320040"/>
            <a:ext cx="3474720" cy="365760"/>
          </a:xfrm>
          <a:prstGeom prst="roundRect">
            <a:avLst>
              <a:gd name="adj" fmla="val 15000"/>
            </a:avLst>
          </a:prstGeom>
          <a:solidFill>
            <a:srgbClr val="5A3F80"/>
          </a:solidFill>
          <a:ln/>
        </p:spPr>
      </p:sp>
      <p:sp>
        <p:nvSpPr>
          <p:cNvPr id="4" name="Text 2"/>
          <p:cNvSpPr/>
          <p:nvPr/>
        </p:nvSpPr>
        <p:spPr>
          <a:xfrm>
            <a:off x="8138160" y="320040"/>
            <a:ext cx="3474720" cy="365760"/>
          </a:xfrm>
          <a:prstGeom prst="rect">
            <a:avLst/>
          </a:prstGeom>
          <a:noFill/>
          <a:ln/>
        </p:spPr>
        <p:txBody>
          <a:bodyPr wrap="square" lIns="0" tIns="0" rIns="0" bIns="0" rtlCol="0" anchor="ctr"/>
          <a:lstStyle/>
          <a:p>
            <a:pPr algn="ctr" indent="0" marL="0">
              <a:buNone/>
            </a:pPr>
            <a:r>
              <a:rPr lang="en-US" sz="1100" i="1" dirty="0">
                <a:solidFill>
                  <a:srgbClr val="E0D6F0"/>
                </a:solidFill>
                <a:latin typeface="Arial" pitchFamily="34" charset="0"/>
                <a:ea typeface="Arial" pitchFamily="34" charset="-122"/>
                <a:cs typeface="Arial" pitchFamily="34" charset="-120"/>
              </a:rPr>
              <a:t>Use after: Model Building phase</a:t>
            </a:r>
            <a:endParaRPr lang="en-US" sz="1100" dirty="0"/>
          </a:p>
        </p:txBody>
      </p:sp>
      <p:sp>
        <p:nvSpPr>
          <p:cNvPr id="5" name="Text 3"/>
          <p:cNvSpPr/>
          <p:nvPr/>
        </p:nvSpPr>
        <p:spPr>
          <a:xfrm>
            <a:off x="548640" y="868680"/>
            <a:ext cx="11064240" cy="132588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 group revises its classification model after using the key. Their old model has a group called 'plants that are good to eat'. What is the best revision?</a:t>
            </a:r>
            <a:endParaRPr lang="en-US" sz="2000" dirty="0"/>
          </a:p>
        </p:txBody>
      </p:sp>
      <p:sp>
        <p:nvSpPr>
          <p:cNvPr id="6" name="Shape 4"/>
          <p:cNvSpPr/>
          <p:nvPr/>
        </p:nvSpPr>
        <p:spPr>
          <a:xfrm>
            <a:off x="731520" y="2331720"/>
            <a:ext cx="10698480" cy="777240"/>
          </a:xfrm>
          <a:prstGeom prst="roundRect">
            <a:avLst>
              <a:gd name="adj" fmla="val 9412"/>
            </a:avLst>
          </a:prstGeom>
          <a:solidFill>
            <a:srgbClr val="7C5CAA"/>
          </a:solidFill>
          <a:ln/>
        </p:spPr>
      </p:sp>
      <p:sp>
        <p:nvSpPr>
          <p:cNvPr id="7" name="Text 5"/>
          <p:cNvSpPr/>
          <p:nvPr/>
        </p:nvSpPr>
        <p:spPr>
          <a:xfrm>
            <a:off x="914400" y="23317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A</a:t>
            </a:r>
            <a:endParaRPr lang="en-US" sz="1800" dirty="0"/>
          </a:p>
        </p:txBody>
      </p:sp>
      <p:sp>
        <p:nvSpPr>
          <p:cNvPr id="8" name="Text 6"/>
          <p:cNvSpPr/>
          <p:nvPr/>
        </p:nvSpPr>
        <p:spPr>
          <a:xfrm>
            <a:off x="1554480" y="23317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Make the 'good to eat' group larger by adding more plants.</a:t>
            </a:r>
            <a:endParaRPr lang="en-US" sz="1500" dirty="0"/>
          </a:p>
        </p:txBody>
      </p:sp>
      <p:sp>
        <p:nvSpPr>
          <p:cNvPr id="9" name="Shape 7"/>
          <p:cNvSpPr/>
          <p:nvPr/>
        </p:nvSpPr>
        <p:spPr>
          <a:xfrm>
            <a:off x="731520" y="3246120"/>
            <a:ext cx="10698480" cy="777240"/>
          </a:xfrm>
          <a:prstGeom prst="roundRect">
            <a:avLst>
              <a:gd name="adj" fmla="val 9412"/>
            </a:avLst>
          </a:prstGeom>
          <a:solidFill>
            <a:srgbClr val="7C5CAA"/>
          </a:solidFill>
          <a:ln/>
        </p:spPr>
      </p:sp>
      <p:sp>
        <p:nvSpPr>
          <p:cNvPr id="10" name="Text 8"/>
          <p:cNvSpPr/>
          <p:nvPr/>
        </p:nvSpPr>
        <p:spPr>
          <a:xfrm>
            <a:off x="914400" y="32461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B</a:t>
            </a:r>
            <a:endParaRPr lang="en-US" sz="1800" dirty="0"/>
          </a:p>
        </p:txBody>
      </p:sp>
      <p:sp>
        <p:nvSpPr>
          <p:cNvPr id="11" name="Text 9"/>
          <p:cNvSpPr/>
          <p:nvPr/>
        </p:nvSpPr>
        <p:spPr>
          <a:xfrm>
            <a:off x="1554480" y="32461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Cross out the group and replace it with observable features such as parallel or net-like veins.</a:t>
            </a:r>
            <a:endParaRPr lang="en-US" sz="1500" dirty="0"/>
          </a:p>
        </p:txBody>
      </p:sp>
      <p:sp>
        <p:nvSpPr>
          <p:cNvPr id="12" name="Shape 10"/>
          <p:cNvSpPr/>
          <p:nvPr/>
        </p:nvSpPr>
        <p:spPr>
          <a:xfrm>
            <a:off x="731520" y="4160520"/>
            <a:ext cx="10698480" cy="777240"/>
          </a:xfrm>
          <a:prstGeom prst="roundRect">
            <a:avLst>
              <a:gd name="adj" fmla="val 9412"/>
            </a:avLst>
          </a:prstGeom>
          <a:solidFill>
            <a:srgbClr val="7C5CAA"/>
          </a:solidFill>
          <a:ln/>
        </p:spPr>
      </p:sp>
      <p:sp>
        <p:nvSpPr>
          <p:cNvPr id="13" name="Text 11"/>
          <p:cNvSpPr/>
          <p:nvPr/>
        </p:nvSpPr>
        <p:spPr>
          <a:xfrm>
            <a:off x="914400" y="41605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a:t>
            </a:r>
            <a:endParaRPr lang="en-US" sz="1800" dirty="0"/>
          </a:p>
        </p:txBody>
      </p:sp>
      <p:sp>
        <p:nvSpPr>
          <p:cNvPr id="14" name="Text 12"/>
          <p:cNvSpPr/>
          <p:nvPr/>
        </p:nvSpPr>
        <p:spPr>
          <a:xfrm>
            <a:off x="1554480" y="41605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Colour the group in red so that it stands out.</a:t>
            </a:r>
            <a:endParaRPr lang="en-US" sz="1500" dirty="0"/>
          </a:p>
        </p:txBody>
      </p:sp>
      <p:sp>
        <p:nvSpPr>
          <p:cNvPr id="15" name="Shape 13"/>
          <p:cNvSpPr/>
          <p:nvPr/>
        </p:nvSpPr>
        <p:spPr>
          <a:xfrm>
            <a:off x="731520" y="5074920"/>
            <a:ext cx="10698480" cy="777240"/>
          </a:xfrm>
          <a:prstGeom prst="roundRect">
            <a:avLst>
              <a:gd name="adj" fmla="val 9412"/>
            </a:avLst>
          </a:prstGeom>
          <a:solidFill>
            <a:srgbClr val="7C5CAA"/>
          </a:solidFill>
          <a:ln/>
        </p:spPr>
      </p:sp>
      <p:sp>
        <p:nvSpPr>
          <p:cNvPr id="16" name="Text 14"/>
          <p:cNvSpPr/>
          <p:nvPr/>
        </p:nvSpPr>
        <p:spPr>
          <a:xfrm>
            <a:off x="914400" y="5074920"/>
            <a:ext cx="548640" cy="77724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D</a:t>
            </a:r>
            <a:endParaRPr lang="en-US" sz="1800" dirty="0"/>
          </a:p>
        </p:txBody>
      </p:sp>
      <p:sp>
        <p:nvSpPr>
          <p:cNvPr id="17" name="Text 15"/>
          <p:cNvSpPr/>
          <p:nvPr/>
        </p:nvSpPr>
        <p:spPr>
          <a:xfrm>
            <a:off x="1554480" y="5074920"/>
            <a:ext cx="9692640" cy="777240"/>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Keep the group, because food use is the most important feature of a plant.</a:t>
            </a:r>
            <a:endParaRPr lang="en-US" sz="1500" dirty="0"/>
          </a:p>
        </p:txBody>
      </p:sp>
      <p:sp>
        <p:nvSpPr>
          <p:cNvPr id="18" name="Text 16"/>
          <p:cNvSpPr/>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C9B8E0"/>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864"/>
        </a:solidFill>
      </p:bgPr>
    </p:bg>
    <p:spTree>
      <p:nvGrpSpPr>
        <p:cNvPr id="1" name=""/>
        <p:cNvGrpSpPr/>
        <p:nvPr/>
      </p:nvGrpSpPr>
      <p:grpSpPr>
        <a:xfrm>
          <a:off x="0" y="0"/>
          <a:ext cx="0" cy="0"/>
          <a:chOff x="0" y="0"/>
          <a:chExt cx="0" cy="0"/>
        </a:xfrm>
      </p:grpSpPr>
      <p:sp>
        <p:nvSpPr>
          <p:cNvPr id="2" name="Text 0"/>
          <p:cNvSpPr/>
          <p:nvPr/>
        </p:nvSpPr>
        <p:spPr>
          <a:xfrm>
            <a:off x="731520" y="2194560"/>
            <a:ext cx="10698480" cy="82296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All done</a:t>
            </a:r>
            <a:endParaRPr lang="en-US" sz="3400" dirty="0"/>
          </a:p>
        </p:txBody>
      </p:sp>
      <p:sp>
        <p:nvSpPr>
          <p:cNvPr id="3" name="Text 1"/>
          <p:cNvSpPr/>
          <p:nvPr/>
        </p:nvSpPr>
        <p:spPr>
          <a:xfrm>
            <a:off x="731520" y="3108960"/>
            <a:ext cx="10698480" cy="731520"/>
          </a:xfrm>
          <a:prstGeom prst="rect">
            <a:avLst/>
          </a:prstGeom>
          <a:noFill/>
          <a:ln/>
        </p:spPr>
        <p:txBody>
          <a:bodyPr wrap="square" lIns="0" tIns="0" rIns="0" bIns="0" rtlCol="0" anchor="ctr"/>
          <a:lstStyle/>
          <a:p>
            <a:pPr indent="0" marL="0">
              <a:buNone/>
            </a:pPr>
            <a:r>
              <a:rPr lang="en-US" sz="1800" dirty="0">
                <a:solidFill>
                  <a:srgbClr val="D9EEF1"/>
                </a:solidFill>
                <a:latin typeface="Arial" pitchFamily="34" charset="0"/>
                <a:ea typeface="Arial" pitchFamily="34" charset="-122"/>
                <a:cs typeface="Arial" pitchFamily="34" charset="-120"/>
              </a:rPr>
              <a:t>Ask your teacher how to submit your answers today (for example, on a paper answer slip).</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Biology Grade 11 - Taxonomy II - Lesson 4 Quick Check</dc:title>
  <dc:subject>PptxGenJS Presentation</dc:subject>
  <dc:creator>PptxGenJS</dc:creator>
  <cp:lastModifiedBy>PptxGenJS</cp:lastModifiedBy>
  <cp:revision>1</cp:revision>
  <dcterms:created xsi:type="dcterms:W3CDTF">2026-10-02T04:54:42Z</dcterms:created>
  <dcterms:modified xsi:type="dcterms:W3CDTF">2026-10-02T04:54:42Z</dcterms:modified>
</cp:coreProperties>
</file>