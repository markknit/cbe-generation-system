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hyperlink" Target="https://creativecommons.org/licenses/by-nc/4.0/" TargetMode="External"/><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F3864"/>
        </a:solidFill>
      </p:bgPr>
    </p:bg>
    <p:spTree>
      <p:nvGrpSpPr>
        <p:cNvPr id="1" name=""/>
        <p:cNvGrpSpPr/>
        <p:nvPr/>
      </p:nvGrpSpPr>
      <p:grpSpPr>
        <a:xfrm>
          <a:off x="0" y="0"/>
          <a:ext cx="0" cy="0"/>
          <a:chOff x="0" y="0"/>
          <a:chExt cx="0" cy="0"/>
        </a:xfrm>
      </p:grpSpPr>
      <p:sp>
        <p:nvSpPr>
          <p:cNvPr id="2" name="Text 0"/>
          <p:cNvSpPr/>
          <p:nvPr/>
        </p:nvSpPr>
        <p:spPr>
          <a:xfrm>
            <a:off x="731520" y="1463040"/>
            <a:ext cx="10698480" cy="457200"/>
          </a:xfrm>
          <a:prstGeom prst="rect">
            <a:avLst/>
          </a:prstGeom>
          <a:noFill/>
          <a:ln/>
        </p:spPr>
        <p:txBody>
          <a:bodyPr wrap="square" lIns="0" tIns="0" rIns="0" bIns="0" rtlCol="0" anchor="ctr"/>
          <a:lstStyle/>
          <a:p>
            <a:pPr indent="0" marL="0">
              <a:buNone/>
            </a:pPr>
            <a:r>
              <a:rPr lang="en-US" sz="1600" b="1" spc="200" kern="0" dirty="0">
                <a:solidFill>
                  <a:srgbClr val="AFC8E8"/>
                </a:solidFill>
                <a:latin typeface="Arial" pitchFamily="34" charset="0"/>
                <a:ea typeface="Arial" pitchFamily="34" charset="-122"/>
                <a:cs typeface="Arial" pitchFamily="34" charset="-120"/>
              </a:rPr>
              <a:t>BIOLOGY — GRADE 11  |  ECOLOGY</a:t>
            </a:r>
            <a:endParaRPr lang="en-US" sz="1600" dirty="0"/>
          </a:p>
        </p:txBody>
      </p:sp>
      <p:sp>
        <p:nvSpPr>
          <p:cNvPr id="3" name="Text 1"/>
          <p:cNvSpPr/>
          <p:nvPr/>
        </p:nvSpPr>
        <p:spPr>
          <a:xfrm>
            <a:off x="731520" y="1965960"/>
            <a:ext cx="10698480" cy="914400"/>
          </a:xfrm>
          <a:prstGeom prst="rect">
            <a:avLst/>
          </a:prstGeom>
          <a:noFill/>
          <a:ln/>
        </p:spPr>
        <p:txBody>
          <a:bodyPr wrap="square" lIns="0" tIns="0" rIns="0" bIns="0" rtlCol="0" anchor="ctr"/>
          <a:lstStyle/>
          <a:p>
            <a:pPr indent="0" marL="0">
              <a:buNone/>
            </a:pPr>
            <a:r>
              <a:rPr lang="en-US" sz="4000" b="1" dirty="0">
                <a:solidFill>
                  <a:srgbClr val="FFFFFF"/>
                </a:solidFill>
                <a:latin typeface="Arial" pitchFamily="34" charset="0"/>
                <a:ea typeface="Arial" pitchFamily="34" charset="-122"/>
                <a:cs typeface="Arial" pitchFamily="34" charset="-120"/>
              </a:rPr>
              <a:t>Quick Check</a:t>
            </a:r>
            <a:endParaRPr lang="en-US" sz="4000" dirty="0"/>
          </a:p>
        </p:txBody>
      </p:sp>
      <p:sp>
        <p:nvSpPr>
          <p:cNvPr id="4" name="Text 2"/>
          <p:cNvSpPr/>
          <p:nvPr/>
        </p:nvSpPr>
        <p:spPr>
          <a:xfrm>
            <a:off x="731520" y="2880360"/>
            <a:ext cx="10698480" cy="1097280"/>
          </a:xfrm>
          <a:prstGeom prst="rect">
            <a:avLst/>
          </a:prstGeom>
          <a:noFill/>
          <a:ln/>
        </p:spPr>
        <p:txBody>
          <a:bodyPr wrap="square" lIns="0" tIns="0" rIns="0" bIns="0" rtlCol="0" anchor="t"/>
          <a:lstStyle/>
          <a:p>
            <a:pPr indent="0" marL="0">
              <a:buNone/>
            </a:pPr>
            <a:r>
              <a:rPr lang="en-US" sz="2000" dirty="0">
                <a:solidFill>
                  <a:srgbClr val="D9EEF1"/>
                </a:solidFill>
                <a:latin typeface="Arial" pitchFamily="34" charset="0"/>
                <a:ea typeface="Arial" pitchFamily="34" charset="-122"/>
                <a:cs typeface="Arial" pitchFamily="34" charset="-120"/>
              </a:rPr>
              <a:t>Lesson 9: Pollution, Garbage Rivers and Restoring Our River: The Final Explanation</a:t>
            </a:r>
            <a:endParaRPr lang="en-US" sz="2000" dirty="0"/>
          </a:p>
        </p:txBody>
      </p:sp>
      <p:sp>
        <p:nvSpPr>
          <p:cNvPr id="5" name="Text 3"/>
          <p:cNvSpPr/>
          <p:nvPr/>
        </p:nvSpPr>
        <p:spPr>
          <a:xfrm>
            <a:off x="731520" y="4114800"/>
            <a:ext cx="10698480" cy="457200"/>
          </a:xfrm>
          <a:prstGeom prst="rect">
            <a:avLst/>
          </a:prstGeom>
          <a:noFill/>
          <a:ln/>
        </p:spPr>
        <p:txBody>
          <a:bodyPr wrap="square" lIns="0" tIns="0" rIns="0" bIns="0" rtlCol="0" anchor="ctr"/>
          <a:lstStyle/>
          <a:p>
            <a:pPr indent="0" marL="0">
              <a:buNone/>
            </a:pPr>
            <a:r>
              <a:rPr lang="en-US" sz="1600" i="1" dirty="0">
                <a:solidFill>
                  <a:srgbClr val="AFC8E8"/>
                </a:solidFill>
                <a:latin typeface="Arial" pitchFamily="34" charset="0"/>
                <a:ea typeface="Arial" pitchFamily="34" charset="-122"/>
                <a:cs typeface="Arial" pitchFamily="34" charset="-120"/>
              </a:rPr>
              <a:t>10 multiple-choice questions  •  choose A, B, C or D</a:t>
            </a:r>
            <a:endParaRPr lang="en-US" sz="1600" dirty="0"/>
          </a:p>
        </p:txBody>
      </p:sp>
      <p:sp>
        <p:nvSpPr>
          <p:cNvPr id="6" name="Text 4"/>
          <p:cNvSpPr/>
          <p:nvPr/>
        </p:nvSpPr>
        <p:spPr>
          <a:xfrm>
            <a:off x="731520" y="5257800"/>
            <a:ext cx="10698480" cy="365760"/>
          </a:xfrm>
          <a:prstGeom prst="rect">
            <a:avLst/>
          </a:prstGeom>
          <a:noFill/>
          <a:ln/>
        </p:spPr>
        <p:txBody>
          <a:bodyPr wrap="square" lIns="0" tIns="0" rIns="0" bIns="0" rtlCol="0" anchor="ctr"/>
          <a:lstStyle/>
          <a:p>
            <a:pPr indent="0" marL="0">
              <a:buNone/>
            </a:pPr>
            <a:r>
              <a:rPr lang="en-US" sz="1300" dirty="0">
                <a:solidFill>
                  <a:srgbClr val="AFC8E8"/>
                </a:solidFill>
                <a:latin typeface="Arial" pitchFamily="34" charset="0"/>
                <a:ea typeface="Arial" pitchFamily="34" charset="-122"/>
                <a:cs typeface="Arial" pitchFamily="34" charset="-120"/>
              </a:rPr>
              <a:t>Sub-Strand 1.2: Ecology   |   Lesson 9</a:t>
            </a:r>
            <a:endParaRPr lang="en-US" sz="1300" dirty="0"/>
          </a:p>
        </p:txBody>
      </p:sp>
      <p:sp>
        <p:nvSpPr>
          <p:cNvPr id="7" name="Text 5"/>
          <p:cNvSpPr/>
          <p:nvPr/>
        </p:nvSpPr>
        <p:spPr>
          <a:xfrm>
            <a:off x="731520" y="5760720"/>
            <a:ext cx="10698480" cy="822960"/>
          </a:xfrm>
          <a:prstGeom prst="rect">
            <a:avLst/>
          </a:prstGeom>
          <a:noFill/>
          <a:ln/>
        </p:spPr>
        <p:txBody>
          <a:bodyPr wrap="square" lIns="0" tIns="0" rIns="0" bIns="0" rtlCol="0" anchor="t"/>
          <a:lstStyle/>
          <a:p>
            <a:pPr indent="0" marL="0">
              <a:buNone/>
            </a:pPr>
            <a:r>
              <a:rPr lang="en-US" sz="900" dirty="0">
                <a:solidFill>
                  <a:srgbClr val="8FA8C8"/>
                </a:solidFill>
                <a:latin typeface="Arial" pitchFamily="34" charset="0"/>
                <a:ea typeface="Arial" pitchFamily="34" charset="-122"/>
                <a:cs typeface="Arial" pitchFamily="34" charset="-120"/>
              </a:rPr>
              <a:t>© 2026 SeaVuria and ARES. Aligned with KICD objectives. Developed by SeaVuria; technical implementation by ARES (with AI assistance from Claude). Licensed under </a:t>
            </a:r>
            <a:pPr indent="0" marL="0">
              <a:buNone/>
            </a:pPr>
            <a:r>
              <a:rPr lang="en-US" sz="900" u="sng" dirty="0">
                <a:solidFill>
                  <a:srgbClr val="AFC8E8"/>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CC BY-NC 4.0</a:t>
            </a:r>
            <a:pPr indent="0" marL="0">
              <a:buNone/>
            </a:pPr>
            <a:r>
              <a:rPr lang="en-US" sz="900" dirty="0">
                <a:solidFill>
                  <a:srgbClr val="8FA8C8"/>
                </a:solidFill>
                <a:latin typeface="Arial" pitchFamily="34" charset="0"/>
                <a:ea typeface="Arial" pitchFamily="34" charset="-122"/>
                <a:cs typeface="Arial" pitchFamily="34" charset="-120"/>
              </a:rPr>
              <a:t> (https://creativecommons.org/licenses/by-nc/4.0/).</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1 OF 10</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Predict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Before a walk to the shopping centre, learners predict where the water from drains goes when it rains. Which statement best describes the likely pathway of pollutants such as oil, soapy water and litter from a shopping centre?</a:t>
            </a:r>
            <a:endParaRPr lang="en-US" sz="18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They are washed by rain into drains and carried to a nearby river</a:t>
            </a:r>
            <a:endParaRPr lang="en-US" sz="17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They evaporate completely and leave no pollution behind</a:t>
            </a:r>
            <a:endParaRPr lang="en-US" sz="17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They are absorbed by the drains and disappear</a:t>
            </a:r>
            <a:endParaRPr lang="en-US" sz="17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They stay on the ground at the shopping centre forever</a:t>
            </a:r>
            <a:endParaRPr lang="en-US" sz="17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2 OF 10</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Observe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During a pollution walk at a Kenyan shopping centre, learners see these items: plastic bottles, smoke from burning rubbish, hooting matatus, and soapy water from a car wash flowing into a drain. Which item is correctly matched to its type of pollution?</a:t>
            </a:r>
            <a:endParaRPr lang="en-US" sz="18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Soapy water in a drain: solid waste pollution</a:t>
            </a:r>
            <a:endParaRPr lang="en-US" sz="17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Plastic bottles: air pollution</a:t>
            </a:r>
            <a:endParaRPr lang="en-US" sz="17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Smoke from burning rubbish: water pollution</a:t>
            </a:r>
            <a:endParaRPr lang="en-US" sz="17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Hooting matatus: noise pollution</a:t>
            </a:r>
            <a:endParaRPr lang="en-US" sz="17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3 OF 10</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Observe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A learner says, 'Only factories pollute rivers, so ordinary people in town do not cause river pollution.' Which observation from a shopping centre walk best shows that this idea is wrong?</a:t>
            </a:r>
            <a:endParaRPr lang="en-US" sz="20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Factories release smoke into the air</a:t>
            </a:r>
            <a:endParaRPr lang="en-US" sz="17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Fish need oxygen to breathe</a:t>
            </a:r>
            <a:endParaRPr lang="en-US" sz="17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Some rivers are very long</a:t>
            </a:r>
            <a:endParaRPr lang="en-US" sz="17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Soapy water from car washes and litter flow into drains that lead to the river</a:t>
            </a:r>
            <a:endParaRPr lang="en-US" sz="17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4 OF 10</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Explain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In the Nairobi River, effluent and fertiliser runoff add nitrates and phosphates to the water. What is the first effect of these added nutrients?</a:t>
            </a:r>
            <a:endParaRPr lang="en-US" sz="20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Fish grow faster because the water is clean</a:t>
            </a:r>
            <a:endParaRPr lang="en-US" sz="17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Algae and aquatic weeds grow much faster</a:t>
            </a:r>
            <a:endParaRPr lang="en-US" sz="17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Bacteria stop decomposing dead matter</a:t>
            </a:r>
            <a:endParaRPr lang="en-US" sz="17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The water gets more dissolved oxygen immediately</a:t>
            </a:r>
            <a:endParaRPr lang="en-US" sz="17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5 OF 10</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Explain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300" b="1" dirty="0">
                <a:solidFill>
                  <a:srgbClr val="FFFFFF"/>
                </a:solidFill>
                <a:latin typeface="Arial" pitchFamily="34" charset="0"/>
                <a:ea typeface="Arial" pitchFamily="34" charset="-122"/>
                <a:cs typeface="Arial" pitchFamily="34" charset="-120"/>
              </a:rPr>
              <a:t>After an algal bloom, the algae die and sink. Why does the amount of dissolved oxygen in the river fall?</a:t>
            </a:r>
            <a:endParaRPr lang="en-US" sz="23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Fish breathe out oxygen into the water</a:t>
            </a:r>
            <a:endParaRPr lang="en-US" sz="17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Bacteria decomposing the dead algae use up the oxygen</a:t>
            </a:r>
            <a:endParaRPr lang="en-US" sz="17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Nitrates change oxygen into carbon dioxide gas</a:t>
            </a:r>
            <a:endParaRPr lang="en-US" sz="17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Dead algae release large amounts of oxygen into the water</a:t>
            </a:r>
            <a:endParaRPr lang="en-US" sz="17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6 OF 10</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Explain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300" b="1" dirty="0">
                <a:solidFill>
                  <a:srgbClr val="FFFFFF"/>
                </a:solidFill>
                <a:latin typeface="Arial" pitchFamily="34" charset="0"/>
                <a:ea typeface="Arial" pitchFamily="34" charset="-122"/>
                <a:cs typeface="Arial" pitchFamily="34" charset="-120"/>
              </a:rPr>
              <a:t>The river water sometimes has an unpleasant smell. Which explanation is best supported by the Final Explanation?</a:t>
            </a:r>
            <a:endParaRPr lang="en-US" sz="23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Nitrates and phosphates are gases with a bad smell</a:t>
            </a:r>
            <a:endParaRPr lang="en-US" sz="17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Decomposition without enough oxygen produces foul-smelling gases</a:t>
            </a:r>
            <a:endParaRPr lang="en-US" sz="17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Cold water always smells bad</a:t>
            </a:r>
            <a:endParaRPr lang="en-US" sz="17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Fish release a strong smell when they are happy</a:t>
            </a:r>
            <a:endParaRPr lang="en-US" sz="17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7 OF 10</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Explain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Burning rubbish and fossil fuels in towns is linked to global warming. Which statement explains the link, and how it can affect fish in a river?</a:t>
            </a:r>
            <a:endParaRPr lang="en-US" sz="20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Burning has no effect on the climate or on rivers</a:t>
            </a:r>
            <a:endParaRPr lang="en-US" sz="15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Burning makes more oxygen dissolve in river water, so fish suffocate</a:t>
            </a:r>
            <a:endParaRPr lang="en-US" sz="15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Burning removes carbon dioxide from the air, which cools rivers and kills fish</a:t>
            </a:r>
            <a:endParaRPr lang="en-US" sz="15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Burning releases greenhouse gases that warm the Earth, and warmer water holds less dissolved oxygen</a:t>
            </a:r>
            <a:endParaRPr lang="en-US" sz="15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8 OF 10</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Model Building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A community wants to restore a polluted river where fish have disappeared. Which action matches the cause of the algal bloom best?</a:t>
            </a:r>
            <a:endParaRPr lang="en-US" sz="20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Add more fish to the river without changing anything else</a:t>
            </a:r>
            <a:endParaRPr lang="en-US" sz="15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Plant trees on a hill far from the river</a:t>
            </a:r>
            <a:endParaRPr lang="en-US" sz="15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Hoot loudly near the river to chase away the algae</a:t>
            </a:r>
            <a:endParaRPr lang="en-US" sz="15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Reduce fertiliser and detergent use and treat effluent before it reaches the river</a:t>
            </a:r>
            <a:endParaRPr lang="en-US" sz="15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9 OF 10</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End of lesson</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In Lesson 1, a learner's model said that fish were disappearing because they were old or had no food. After the final model, which change in thinking shows the best use of evidence?</a:t>
            </a:r>
            <a:endParaRPr lang="en-US" sz="20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Fish are lost because algae and weeds give them too much food</a:t>
            </a:r>
            <a:endParaRPr lang="en-US" sz="15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Fish are lost because the smell attracts predators</a:t>
            </a:r>
            <a:endParaRPr lang="en-US" sz="15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Fish are lost only because the river is too long</a:t>
            </a:r>
            <a:endParaRPr lang="en-US" sz="15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Fish are lost mainly because nutrient pollution leads to algal bloom, decomposition and low dissolved oxygen</a:t>
            </a:r>
            <a:endParaRPr lang="en-US" sz="15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10 OF 10</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End of lesson</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300" b="1" dirty="0">
                <a:solidFill>
                  <a:srgbClr val="FFFFFF"/>
                </a:solidFill>
                <a:latin typeface="Arial" pitchFamily="34" charset="0"/>
                <a:ea typeface="Arial" pitchFamily="34" charset="-122"/>
                <a:cs typeface="Arial" pitchFamily="34" charset="-120"/>
              </a:rPr>
              <a:t>Exit ticket: Why do fish decline when algae increase in a river?</a:t>
            </a:r>
            <a:endParaRPr lang="en-US" sz="23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Dead algae are decomposed by bacteria that use up the dissolved oxygen, so fish suffocate or leave</a:t>
            </a:r>
            <a:endParaRPr lang="en-US" sz="15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Algae eat the fish directly</a:t>
            </a:r>
            <a:endParaRPr lang="en-US" sz="15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Algae add extra oxygen that is harmful to fish</a:t>
            </a:r>
            <a:endParaRPr lang="en-US" sz="15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Algae make the water too cold for fish</a:t>
            </a:r>
            <a:endParaRPr lang="en-US" sz="15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11</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F3864"/>
        </a:solidFill>
      </p:bgPr>
    </p:bg>
    <p:spTree>
      <p:nvGrpSpPr>
        <p:cNvPr id="1" name=""/>
        <p:cNvGrpSpPr/>
        <p:nvPr/>
      </p:nvGrpSpPr>
      <p:grpSpPr>
        <a:xfrm>
          <a:off x="0" y="0"/>
          <a:ext cx="0" cy="0"/>
          <a:chOff x="0" y="0"/>
          <a:chExt cx="0" cy="0"/>
        </a:xfrm>
      </p:grpSpPr>
      <p:sp>
        <p:nvSpPr>
          <p:cNvPr id="2" name="Text 0"/>
          <p:cNvSpPr/>
          <p:nvPr/>
        </p:nvSpPr>
        <p:spPr>
          <a:xfrm>
            <a:off x="731520" y="2194560"/>
            <a:ext cx="10698480" cy="822960"/>
          </a:xfrm>
          <a:prstGeom prst="rect">
            <a:avLst/>
          </a:prstGeom>
          <a:noFill/>
          <a:ln/>
        </p:spPr>
        <p:txBody>
          <a:bodyPr wrap="square" lIns="0" tIns="0" rIns="0" bIns="0" rtlCol="0" anchor="ctr"/>
          <a:lstStyle/>
          <a:p>
            <a:pPr indent="0" marL="0">
              <a:buNone/>
            </a:pPr>
            <a:r>
              <a:rPr lang="en-US" sz="3400" b="1" dirty="0">
                <a:solidFill>
                  <a:srgbClr val="FFFFFF"/>
                </a:solidFill>
                <a:latin typeface="Arial" pitchFamily="34" charset="0"/>
                <a:ea typeface="Arial" pitchFamily="34" charset="-122"/>
                <a:cs typeface="Arial" pitchFamily="34" charset="-120"/>
              </a:rPr>
              <a:t>All done</a:t>
            </a:r>
            <a:endParaRPr lang="en-US" sz="3400" dirty="0"/>
          </a:p>
        </p:txBody>
      </p:sp>
      <p:sp>
        <p:nvSpPr>
          <p:cNvPr id="3" name="Text 1"/>
          <p:cNvSpPr/>
          <p:nvPr/>
        </p:nvSpPr>
        <p:spPr>
          <a:xfrm>
            <a:off x="731520" y="3108960"/>
            <a:ext cx="10698480" cy="731520"/>
          </a:xfrm>
          <a:prstGeom prst="rect">
            <a:avLst/>
          </a:prstGeom>
          <a:noFill/>
          <a:ln/>
        </p:spPr>
        <p:txBody>
          <a:bodyPr wrap="square" lIns="0" tIns="0" rIns="0" bIns="0" rtlCol="0" anchor="ctr"/>
          <a:lstStyle/>
          <a:p>
            <a:pPr indent="0" marL="0">
              <a:buNone/>
            </a:pPr>
            <a:r>
              <a:rPr lang="en-US" sz="1800" dirty="0">
                <a:solidFill>
                  <a:srgbClr val="D9EEF1"/>
                </a:solidFill>
                <a:latin typeface="Arial" pitchFamily="34" charset="0"/>
                <a:ea typeface="Arial" pitchFamily="34" charset="-122"/>
                <a:cs typeface="Arial" pitchFamily="34" charset="-120"/>
              </a:rPr>
              <a:t>Ask your teacher how to submit your answers today (for example, on a paper answer slip).</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Biology Grade 11 - Ecology - Lesson 9 Quick Check</dc:title>
  <dc:subject>PptxGenJS Presentation</dc:subject>
  <dc:creator>PptxGenJS</dc:creator>
  <cp:lastModifiedBy>PptxGenJS</cp:lastModifiedBy>
  <cp:revision>1</cp:revision>
  <dcterms:created xsi:type="dcterms:W3CDTF">2026-10-01T20:16:55Z</dcterms:created>
  <dcterms:modified xsi:type="dcterms:W3CDTF">2026-10-01T20:16:55Z</dcterms:modified>
</cp:coreProperties>
</file>