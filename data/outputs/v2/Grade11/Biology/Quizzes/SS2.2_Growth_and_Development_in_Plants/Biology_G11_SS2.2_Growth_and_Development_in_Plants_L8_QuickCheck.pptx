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creativecommons.org/licenses/by-nc/4.0/" TargetMode="Externa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1463040"/>
            <a:ext cx="10698480" cy="457200"/>
          </a:xfrm>
          <a:prstGeom prst="rect">
            <a:avLst/>
          </a:prstGeom>
          <a:noFill/>
          <a:ln/>
        </p:spPr>
        <p:txBody>
          <a:bodyPr wrap="square" lIns="0" tIns="0" rIns="0" bIns="0" rtlCol="0" anchor="ctr"/>
          <a:lstStyle/>
          <a:p>
            <a:pPr indent="0" marL="0">
              <a:buNone/>
            </a:pPr>
            <a:r>
              <a:rPr lang="en-US" sz="1600" b="1" spc="200" kern="0" dirty="0">
                <a:solidFill>
                  <a:srgbClr val="AFC8E8"/>
                </a:solidFill>
                <a:latin typeface="Arial" pitchFamily="34" charset="0"/>
                <a:ea typeface="Arial" pitchFamily="34" charset="-122"/>
                <a:cs typeface="Arial" pitchFamily="34" charset="-120"/>
              </a:rPr>
              <a:t>BIOLOGY — GRADE 11  |  GROWTH AND DEVELOPMENT IN PLANTS</a:t>
            </a:r>
            <a:endParaRPr lang="en-US" sz="1600" dirty="0"/>
          </a:p>
        </p:txBody>
      </p:sp>
      <p:sp>
        <p:nvSpPr>
          <p:cNvPr id="3" name="Text 1"/>
          <p:cNvSpPr/>
          <p:nvPr/>
        </p:nvSpPr>
        <p:spPr>
          <a:xfrm>
            <a:off x="731520" y="1965960"/>
            <a:ext cx="10698480" cy="9144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Quick Check</a:t>
            </a:r>
            <a:endParaRPr lang="en-US" sz="4000" dirty="0"/>
          </a:p>
        </p:txBody>
      </p:sp>
      <p:sp>
        <p:nvSpPr>
          <p:cNvPr id="4" name="Text 2"/>
          <p:cNvSpPr/>
          <p:nvPr/>
        </p:nvSpPr>
        <p:spPr>
          <a:xfrm>
            <a:off x="731520" y="2880360"/>
            <a:ext cx="10698480" cy="1097280"/>
          </a:xfrm>
          <a:prstGeom prst="rect">
            <a:avLst/>
          </a:prstGeom>
          <a:noFill/>
          <a:ln/>
        </p:spPr>
        <p:txBody>
          <a:bodyPr wrap="square" lIns="0" tIns="0" rIns="0" bIns="0" rtlCol="0" anchor="t"/>
          <a:lstStyle/>
          <a:p>
            <a:pPr indent="0" marL="0">
              <a:buNone/>
            </a:pPr>
            <a:r>
              <a:rPr lang="en-US" sz="2000" dirty="0">
                <a:solidFill>
                  <a:srgbClr val="D9EEF1"/>
                </a:solidFill>
                <a:latin typeface="Arial" pitchFamily="34" charset="0"/>
                <a:ea typeface="Arial" pitchFamily="34" charset="-122"/>
                <a:cs typeface="Arial" pitchFamily="34" charset="-120"/>
              </a:rPr>
              <a:t>Lesson 8: Applying Hormones: Rooting Cuttings for the School Tree Nursery</a:t>
            </a:r>
            <a:endParaRPr lang="en-US" sz="2000" dirty="0"/>
          </a:p>
        </p:txBody>
      </p:sp>
      <p:sp>
        <p:nvSpPr>
          <p:cNvPr id="5" name="Text 3"/>
          <p:cNvSpPr/>
          <p:nvPr/>
        </p:nvSpPr>
        <p:spPr>
          <a:xfrm>
            <a:off x="731520" y="4114800"/>
            <a:ext cx="10698480" cy="457200"/>
          </a:xfrm>
          <a:prstGeom prst="rect">
            <a:avLst/>
          </a:prstGeom>
          <a:noFill/>
          <a:ln/>
        </p:spPr>
        <p:txBody>
          <a:bodyPr wrap="square" lIns="0" tIns="0" rIns="0" bIns="0" rtlCol="0" anchor="ctr"/>
          <a:lstStyle/>
          <a:p>
            <a:pPr indent="0" marL="0">
              <a:buNone/>
            </a:pPr>
            <a:r>
              <a:rPr lang="en-US" sz="1600" i="1" dirty="0">
                <a:solidFill>
                  <a:srgbClr val="AFC8E8"/>
                </a:solidFill>
                <a:latin typeface="Arial" pitchFamily="34" charset="0"/>
                <a:ea typeface="Arial" pitchFamily="34" charset="-122"/>
                <a:cs typeface="Arial" pitchFamily="34" charset="-120"/>
              </a:rPr>
              <a:t>7 multiple-choice questions  •  choose A, B, C or D</a:t>
            </a:r>
            <a:endParaRPr lang="en-US" sz="1600" dirty="0"/>
          </a:p>
        </p:txBody>
      </p:sp>
      <p:sp>
        <p:nvSpPr>
          <p:cNvPr id="6" name="Text 4"/>
          <p:cNvSpPr/>
          <p:nvPr/>
        </p:nvSpPr>
        <p:spPr>
          <a:xfrm>
            <a:off x="731520" y="5257800"/>
            <a:ext cx="10698480" cy="365760"/>
          </a:xfrm>
          <a:prstGeom prst="rect">
            <a:avLst/>
          </a:prstGeom>
          <a:noFill/>
          <a:ln/>
        </p:spPr>
        <p:txBody>
          <a:bodyPr wrap="square" lIns="0" tIns="0" rIns="0" bIns="0" rtlCol="0" anchor="ctr"/>
          <a:lstStyle/>
          <a:p>
            <a:pPr indent="0" marL="0">
              <a:buNone/>
            </a:pPr>
            <a:r>
              <a:rPr lang="en-US" sz="1300" dirty="0">
                <a:solidFill>
                  <a:srgbClr val="AFC8E8"/>
                </a:solidFill>
                <a:latin typeface="Arial" pitchFamily="34" charset="0"/>
                <a:ea typeface="Arial" pitchFamily="34" charset="-122"/>
                <a:cs typeface="Arial" pitchFamily="34" charset="-120"/>
              </a:rPr>
              <a:t>Sub-Strand 2.2: Growth and Development in Plants   |   Lesson 8</a:t>
            </a:r>
            <a:endParaRPr lang="en-US" sz="1300" dirty="0"/>
          </a:p>
        </p:txBody>
      </p:sp>
      <p:sp>
        <p:nvSpPr>
          <p:cNvPr id="7" name="Text 5"/>
          <p:cNvSpPr/>
          <p:nvPr/>
        </p:nvSpPr>
        <p:spPr>
          <a:xfrm>
            <a:off x="731520" y="5760720"/>
            <a:ext cx="10698480" cy="822960"/>
          </a:xfrm>
          <a:prstGeom prst="rect">
            <a:avLst/>
          </a:prstGeom>
          <a:noFill/>
          <a:ln/>
        </p:spPr>
        <p:txBody>
          <a:bodyPr wrap="square" lIns="0" tIns="0" rIns="0" bIns="0" rtlCol="0" anchor="t"/>
          <a:lstStyle/>
          <a:p>
            <a:pPr indent="0" marL="0">
              <a:buNone/>
            </a:pPr>
            <a:r>
              <a:rPr lang="en-US" sz="900" dirty="0">
                <a:solidFill>
                  <a:srgbClr val="8FA8C8"/>
                </a:solidFill>
                <a:latin typeface="Arial" pitchFamily="34" charset="0"/>
                <a:ea typeface="Arial" pitchFamily="34" charset="-122"/>
                <a:cs typeface="Arial" pitchFamily="34" charset="-120"/>
              </a:rPr>
              <a:t>© 2026 SeaVuria and ARES. Aligned with KICD objectives. Developed by SeaVuria; technical implementation by ARES (with AI assistance from Claude). Licensed under </a:t>
            </a:r>
            <a:pPr indent="0" marL="0">
              <a:buNone/>
            </a:pPr>
            <a:r>
              <a:rPr lang="en-US" sz="900" u="sng" dirty="0">
                <a:solidFill>
                  <a:srgbClr val="AFC8E8"/>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CC BY-NC 4.0</a:t>
            </a:r>
            <a:pPr indent="0" marL="0">
              <a:buNone/>
            </a:pPr>
            <a:r>
              <a:rPr lang="en-US" sz="900" dirty="0">
                <a:solidFill>
                  <a:srgbClr val="8FA8C8"/>
                </a:solidFill>
                <a:latin typeface="Arial" pitchFamily="34" charset="0"/>
                <a:ea typeface="Arial" pitchFamily="34" charset="-122"/>
                <a:cs typeface="Arial" pitchFamily="34" charset="-120"/>
              </a:rPr>
              <a:t> (https://creativecommons.org/licenses/by-nc/4.0/).</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1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Predict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In Lesson 7 you learned that auxin is involved in rooting. A hibiscus stem cutting has been cut from the parent plant and has no roots. Where does auxin collect in the cutting so that roots can form?</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In the soil around the cutting</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At the tips of the leaves</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In seeds inside the cutting</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At the cut base of the stem</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2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Madam Achieng's class compares bulb onion extract, Aloe vera gel and cinnamon powder for rooting hibiscus cuttings. They also include a container of plain water with no added substance. Why is plain water included?</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It gives the cuttings the hormone they need to root</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It makes the test fair by changing the water in all the other containers</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It is the control, so we can compare treated cuttings with cuttings that had no added substance</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It washes the cuttings so they stay clean</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3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In a cuttings fair test, the type of treatment (water, onion, Aloe vera or cinnamon) is changed on purpose, and the number of cuttings that root is measured. Which of these must be a controlled variable (kept the same for all cuttings)?</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 percentage rooting after 21 days</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 type of treatment used</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 number of cuttings that root</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 length of each cutting (about 15 cm)</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4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In the class nursery test, 30 hibiscus cuttings were treated with bulb onion extract. After 21 days, 21 of them had rooted. What is the percentage rooting?</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30%</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21%</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70%</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51%</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5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In a nursery test with 30 cuttings per treatment, 9 cuttings in plain water (no added substance) still grew roots. What does this tell us?</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cuttings can make some auxin themselves, so some root even without a treatment</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test was unfair and the results cannot be used</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Cuttings root only when they have seeds</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plain water contained a rooting hormone</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6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Results after 21 days (30 cuttings each): plain water 9 rooted, bulb onion 21, Aloe vera 24, cinnamon 18. A learner says Aloe vera is better than onion. Which statement is the best limit of this evidence?</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Rooting can never be linked to auxin because auxin was not measured</a:t>
            </a:r>
            <a:endParaRPr lang="en-US" sz="13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Plain water rooted some cuttings, so the whole test is invalid</a:t>
            </a:r>
            <a:endParaRPr lang="en-US" sz="13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The difference between 24 and 21 is small, and there was only one trial on one species, so we cannot be fully sure</a:t>
            </a:r>
            <a:endParaRPr lang="en-US" sz="13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Percentages cannot be used to compare treatments</a:t>
            </a:r>
            <a:endParaRPr lang="en-US" sz="13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7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Model Building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Learners add this to the model explaining why Mr. Wafula's maize and beans grew differently, even though they had the same rain and planting date. Which revision is best supported by the cuttings data (plain water 30%, cinnamon 60%, onion 70%, Aloe vera 80% rooting)?</a:t>
            </a:r>
            <a:endParaRPr lang="en-US" sz="16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Differences in growth are caused only by rain and planting date</a:t>
            </a:r>
            <a:endParaRPr lang="en-US" sz="13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Only seed structure affects how plants grow</a:t>
            </a:r>
            <a:endParaRPr lang="en-US" sz="13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Hormones replace the need for water and soil in growth</a:t>
            </a:r>
            <a:endParaRPr lang="en-US" sz="13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Differences in growth can be caused by internal factors such as hormones, as well as seed structure, seed condition and environment</a:t>
            </a:r>
            <a:endParaRPr lang="en-US" sz="13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2194560"/>
            <a:ext cx="10698480" cy="822960"/>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All done</a:t>
            </a:r>
            <a:endParaRPr lang="en-US" sz="3400" dirty="0"/>
          </a:p>
        </p:txBody>
      </p:sp>
      <p:sp>
        <p:nvSpPr>
          <p:cNvPr id="3" name="Text 1"/>
          <p:cNvSpPr/>
          <p:nvPr/>
        </p:nvSpPr>
        <p:spPr>
          <a:xfrm>
            <a:off x="731520" y="3108960"/>
            <a:ext cx="10698480" cy="731520"/>
          </a:xfrm>
          <a:prstGeom prst="rect">
            <a:avLst/>
          </a:prstGeom>
          <a:noFill/>
          <a:ln/>
        </p:spPr>
        <p:txBody>
          <a:bodyPr wrap="square" lIns="0" tIns="0" rIns="0" bIns="0" rtlCol="0" anchor="ctr"/>
          <a:lstStyle/>
          <a:p>
            <a:pPr indent="0" marL="0">
              <a:buNone/>
            </a:pPr>
            <a:r>
              <a:rPr lang="en-US" sz="1800" dirty="0">
                <a:solidFill>
                  <a:srgbClr val="D9EEF1"/>
                </a:solidFill>
                <a:latin typeface="Arial" pitchFamily="34" charset="0"/>
                <a:ea typeface="Arial" pitchFamily="34" charset="-122"/>
                <a:cs typeface="Arial" pitchFamily="34" charset="-120"/>
              </a:rPr>
              <a:t>Ask your teacher how to submit your answers today (for example, on a paper answer slip).</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Biology Grade 11 - Growth and Development in Plants - Lesson 8 Quick Check</dc:title>
  <dc:subject>PptxGenJS Presentation</dc:subject>
  <dc:creator>PptxGenJS</dc:creator>
  <cp:lastModifiedBy>PptxGenJS</cp:lastModifiedBy>
  <cp:revision>1</cp:revision>
  <dcterms:created xsi:type="dcterms:W3CDTF">2026-10-05T03:57:29Z</dcterms:created>
  <dcterms:modified xsi:type="dcterms:W3CDTF">2026-10-05T03:57:29Z</dcterms:modified>
</cp:coreProperties>
</file>