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hyperlink" Target="https://creativecommons.org/licenses/by-nc/4.0/" TargetMode="Externa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1463040"/>
            <a:ext cx="10698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spc="200" kern="0" dirty="0">
                <a:solidFill>
                  <a:srgbClr val="AFC8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BIOLOGY — GRADE 11  |  GROWTH AND DEVELOPMENT IN PLANTS</a:t>
            </a:r>
            <a:endParaRPr lang="en-US" sz="1600" dirty="0"/>
          </a:p>
        </p:txBody>
      </p:sp>
      <p:sp>
        <p:nvSpPr>
          <p:cNvPr id="3" name="Text 1"/>
          <p:cNvSpPr/>
          <p:nvPr/>
        </p:nvSpPr>
        <p:spPr>
          <a:xfrm>
            <a:off x="731520" y="1965960"/>
            <a:ext cx="10698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Quick Check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731520" y="2880360"/>
            <a:ext cx="106984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D9EEF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Lesson 2: Meaning of Growth and Development; Structure of Monocot and Dicot Seeds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731520" y="4114800"/>
            <a:ext cx="10698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AFC8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 multiple-choice questions  •  choose A, B, C or D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731520" y="5257800"/>
            <a:ext cx="10698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AFC8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Sub-Strand 2.2: Growth and Development in Plants   |   Lesson 2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731520" y="5760720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8FA8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© 2026 SeaVuria and ARES. Aligned with KICD objectives. Developed by SeaVuria; technical implementation by ARES (with AI assistance from Claude). Licensed under </a:t>
            </a:r>
            <a:pPr indent="0" marL="0">
              <a:buNone/>
            </a:pPr>
            <a:r>
              <a:rPr lang="en-US" sz="900" u="sng" dirty="0">
                <a:solidFill>
                  <a:srgbClr val="AFC8E8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CC BY-NC 4.0</a:t>
            </a:r>
            <a:pPr indent="0" marL="0">
              <a:buNone/>
            </a:pPr>
            <a:r>
              <a:rPr lang="en-US" sz="900" dirty="0">
                <a:solidFill>
                  <a:srgbClr val="8FA8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(https://creativecommons.org/licenses/by-nc/4.0/).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6A4C9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 1 OF 7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8138160" y="320040"/>
            <a:ext cx="3474720" cy="365760"/>
          </a:xfrm>
          <a:prstGeom prst="roundRect">
            <a:avLst>
              <a:gd name="adj" fmla="val 15000"/>
            </a:avLst>
          </a:prstGeom>
          <a:solidFill>
            <a:srgbClr val="5A3F80"/>
          </a:solidFill>
          <a:ln/>
        </p:spPr>
      </p:sp>
      <p:sp>
        <p:nvSpPr>
          <p:cNvPr id="4" name="Text 2"/>
          <p:cNvSpPr/>
          <p:nvPr/>
        </p:nvSpPr>
        <p:spPr>
          <a:xfrm>
            <a:off x="8138160" y="32004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after: Predict phase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868680"/>
            <a:ext cx="110642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Grade 11 class is discussing how growth differs from development in a maize plant. Which statement correctly distinguishes the two?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731520" y="23317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23317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554480" y="23317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Growth and development mean the same thing, because both describe a plant getting taller.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731520" y="32461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0" name="Text 8"/>
          <p:cNvSpPr/>
          <p:nvPr/>
        </p:nvSpPr>
        <p:spPr>
          <a:xfrm>
            <a:off x="914400" y="32461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554480" y="32461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Growth is a permanent increase in size, dry mass or cell number, while development is a change in form and complexity, such as cell differentiation.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731520" y="41605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3" name="Text 11"/>
          <p:cNvSpPr/>
          <p:nvPr/>
        </p:nvSpPr>
        <p:spPr>
          <a:xfrm>
            <a:off x="914400" y="41605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554480" y="41605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Growth is the formation of new organs such as leaves and flowers, while development is only an increase in height.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731520" y="50749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6" name="Text 14"/>
          <p:cNvSpPr/>
          <p:nvPr/>
        </p:nvSpPr>
        <p:spPr>
          <a:xfrm>
            <a:off x="914400" y="50749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554480" y="50749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Growth is any increase in size, even a temporary one, while development is a decrease in size.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152144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9B8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6A4C9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 2 OF 7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8138160" y="320040"/>
            <a:ext cx="3474720" cy="365760"/>
          </a:xfrm>
          <a:prstGeom prst="roundRect">
            <a:avLst>
              <a:gd name="adj" fmla="val 15000"/>
            </a:avLst>
          </a:prstGeom>
          <a:solidFill>
            <a:srgbClr val="5A3F80"/>
          </a:solidFill>
          <a:ln/>
        </p:spPr>
      </p:sp>
      <p:sp>
        <p:nvSpPr>
          <p:cNvPr id="4" name="Text 2"/>
          <p:cNvSpPr/>
          <p:nvPr/>
        </p:nvSpPr>
        <p:spPr>
          <a:xfrm>
            <a:off x="8138160" y="32004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after: Predict phase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868680"/>
            <a:ext cx="110642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farmer watches her maize plants over several weeks. Which observation is an example of development rather than only growth?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731520" y="23317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23317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554480" y="23317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maize plant forms a tassel and cobs.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731520" y="32461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0" name="Text 8"/>
          <p:cNvSpPr/>
          <p:nvPr/>
        </p:nvSpPr>
        <p:spPr>
          <a:xfrm>
            <a:off x="914400" y="32461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554480" y="32461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maize root extends deeper into the soil.</a:t>
            </a:r>
            <a:endParaRPr lang="en-US" sz="1700" dirty="0"/>
          </a:p>
        </p:txBody>
      </p:sp>
      <p:sp>
        <p:nvSpPr>
          <p:cNvPr id="12" name="Shape 10"/>
          <p:cNvSpPr/>
          <p:nvPr/>
        </p:nvSpPr>
        <p:spPr>
          <a:xfrm>
            <a:off x="731520" y="41605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3" name="Text 11"/>
          <p:cNvSpPr/>
          <p:nvPr/>
        </p:nvSpPr>
        <p:spPr>
          <a:xfrm>
            <a:off x="914400" y="41605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554480" y="41605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maize stem becomes taller.</a:t>
            </a:r>
            <a:endParaRPr lang="en-US" sz="1700" dirty="0"/>
          </a:p>
        </p:txBody>
      </p:sp>
      <p:sp>
        <p:nvSpPr>
          <p:cNvPr id="15" name="Shape 13"/>
          <p:cNvSpPr/>
          <p:nvPr/>
        </p:nvSpPr>
        <p:spPr>
          <a:xfrm>
            <a:off x="731520" y="50749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6" name="Text 14"/>
          <p:cNvSpPr/>
          <p:nvPr/>
        </p:nvSpPr>
        <p:spPr>
          <a:xfrm>
            <a:off x="914400" y="50749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554480" y="50749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maize stem becomes thicker.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1152144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9B8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6A4C9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 3 OF 7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8138160" y="320040"/>
            <a:ext cx="3474720" cy="365760"/>
          </a:xfrm>
          <a:prstGeom prst="roundRect">
            <a:avLst>
              <a:gd name="adj" fmla="val 15000"/>
            </a:avLst>
          </a:prstGeom>
          <a:solidFill>
            <a:srgbClr val="5A3F80"/>
          </a:solidFill>
          <a:ln/>
        </p:spPr>
      </p:sp>
      <p:sp>
        <p:nvSpPr>
          <p:cNvPr id="4" name="Text 2"/>
          <p:cNvSpPr/>
          <p:nvPr/>
        </p:nvSpPr>
        <p:spPr>
          <a:xfrm>
            <a:off x="8138160" y="32004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after: Observe phase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868680"/>
            <a:ext cx="110642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group splits open a soaked bean seed and finds a small embryo between the two cotyledons. Which part of the embryo will grow into the root of the new plant?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731520" y="23317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23317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554480" y="23317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plumule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731520" y="32461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0" name="Text 8"/>
          <p:cNvSpPr/>
          <p:nvPr/>
        </p:nvSpPr>
        <p:spPr>
          <a:xfrm>
            <a:off x="914400" y="32461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554480" y="32461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radicle</a:t>
            </a:r>
            <a:endParaRPr lang="en-US" sz="1700" dirty="0"/>
          </a:p>
        </p:txBody>
      </p:sp>
      <p:sp>
        <p:nvSpPr>
          <p:cNvPr id="12" name="Shape 10"/>
          <p:cNvSpPr/>
          <p:nvPr/>
        </p:nvSpPr>
        <p:spPr>
          <a:xfrm>
            <a:off x="731520" y="41605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3" name="Text 11"/>
          <p:cNvSpPr/>
          <p:nvPr/>
        </p:nvSpPr>
        <p:spPr>
          <a:xfrm>
            <a:off x="914400" y="41605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554480" y="41605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cotyledon</a:t>
            </a:r>
            <a:endParaRPr lang="en-US" sz="1700" dirty="0"/>
          </a:p>
        </p:txBody>
      </p:sp>
      <p:sp>
        <p:nvSpPr>
          <p:cNvPr id="15" name="Shape 13"/>
          <p:cNvSpPr/>
          <p:nvPr/>
        </p:nvSpPr>
        <p:spPr>
          <a:xfrm>
            <a:off x="731520" y="50749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6" name="Text 14"/>
          <p:cNvSpPr/>
          <p:nvPr/>
        </p:nvSpPr>
        <p:spPr>
          <a:xfrm>
            <a:off x="914400" y="50749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554480" y="50749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testa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1152144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9B8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6A4C9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 4 OF 7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8138160" y="320040"/>
            <a:ext cx="3474720" cy="365760"/>
          </a:xfrm>
          <a:prstGeom prst="roundRect">
            <a:avLst>
              <a:gd name="adj" fmla="val 15000"/>
            </a:avLst>
          </a:prstGeom>
          <a:solidFill>
            <a:srgbClr val="5A3F80"/>
          </a:solidFill>
          <a:ln/>
        </p:spPr>
      </p:sp>
      <p:sp>
        <p:nvSpPr>
          <p:cNvPr id="4" name="Text 2"/>
          <p:cNvSpPr/>
          <p:nvPr/>
        </p:nvSpPr>
        <p:spPr>
          <a:xfrm>
            <a:off x="8138160" y="32004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after: Observe phase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868680"/>
            <a:ext cx="110642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learner cuts a soaked maize grain lengthwise and puts a drop of iodine solution on the cut surface. The large whitish area (endosperm) turns blue-black. What does this show?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731520" y="23317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23317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554480" y="23317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endosperm is dead tissue.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731520" y="32461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0" name="Text 8"/>
          <p:cNvSpPr/>
          <p:nvPr/>
        </p:nvSpPr>
        <p:spPr>
          <a:xfrm>
            <a:off x="914400" y="32461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554480" y="32461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endosperm contains starch, so it is the food store of the maize grain.</a:t>
            </a:r>
            <a:endParaRPr lang="en-US" sz="1700" dirty="0"/>
          </a:p>
        </p:txBody>
      </p:sp>
      <p:sp>
        <p:nvSpPr>
          <p:cNvPr id="12" name="Shape 10"/>
          <p:cNvSpPr/>
          <p:nvPr/>
        </p:nvSpPr>
        <p:spPr>
          <a:xfrm>
            <a:off x="731520" y="41605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3" name="Text 11"/>
          <p:cNvSpPr/>
          <p:nvPr/>
        </p:nvSpPr>
        <p:spPr>
          <a:xfrm>
            <a:off x="914400" y="41605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554480" y="41605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endosperm contains the embryo of the maize grain.</a:t>
            </a:r>
            <a:endParaRPr lang="en-US" sz="1700" dirty="0"/>
          </a:p>
        </p:txBody>
      </p:sp>
      <p:sp>
        <p:nvSpPr>
          <p:cNvPr id="15" name="Shape 13"/>
          <p:cNvSpPr/>
          <p:nvPr/>
        </p:nvSpPr>
        <p:spPr>
          <a:xfrm>
            <a:off x="731520" y="50749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6" name="Text 14"/>
          <p:cNvSpPr/>
          <p:nvPr/>
        </p:nvSpPr>
        <p:spPr>
          <a:xfrm>
            <a:off x="914400" y="50749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554480" y="50749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endosperm has absorbed water, so it will become the root.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1152144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9B8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6A4C9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 5 OF 7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8138160" y="320040"/>
            <a:ext cx="3474720" cy="365760"/>
          </a:xfrm>
          <a:prstGeom prst="roundRect">
            <a:avLst>
              <a:gd name="adj" fmla="val 15000"/>
            </a:avLst>
          </a:prstGeom>
          <a:solidFill>
            <a:srgbClr val="5A3F80"/>
          </a:solidFill>
          <a:ln/>
        </p:spPr>
      </p:sp>
      <p:sp>
        <p:nvSpPr>
          <p:cNvPr id="4" name="Text 2"/>
          <p:cNvSpPr/>
          <p:nvPr/>
        </p:nvSpPr>
        <p:spPr>
          <a:xfrm>
            <a:off x="8138160" y="32004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after: Explain phase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868680"/>
            <a:ext cx="110642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a maize grain, the coleoptile is a sheath around the plumule. What is its job during germination?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731520" y="23317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23317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554480" y="23317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It protects the plumule as it pushes up through the soil.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731520" y="32461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0" name="Text 8"/>
          <p:cNvSpPr/>
          <p:nvPr/>
        </p:nvSpPr>
        <p:spPr>
          <a:xfrm>
            <a:off x="914400" y="32461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554480" y="32461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It absorbs digested food from the endosperm.</a:t>
            </a:r>
            <a:endParaRPr lang="en-US" sz="1700" dirty="0"/>
          </a:p>
        </p:txBody>
      </p:sp>
      <p:sp>
        <p:nvSpPr>
          <p:cNvPr id="12" name="Shape 10"/>
          <p:cNvSpPr/>
          <p:nvPr/>
        </p:nvSpPr>
        <p:spPr>
          <a:xfrm>
            <a:off x="731520" y="41605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3" name="Text 11"/>
          <p:cNvSpPr/>
          <p:nvPr/>
        </p:nvSpPr>
        <p:spPr>
          <a:xfrm>
            <a:off x="914400" y="41605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554480" y="41605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It protects the radicle as the root emerges.</a:t>
            </a:r>
            <a:endParaRPr lang="en-US" sz="1700" dirty="0"/>
          </a:p>
        </p:txBody>
      </p:sp>
      <p:sp>
        <p:nvSpPr>
          <p:cNvPr id="15" name="Shape 13"/>
          <p:cNvSpPr/>
          <p:nvPr/>
        </p:nvSpPr>
        <p:spPr>
          <a:xfrm>
            <a:off x="731520" y="50749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6" name="Text 14"/>
          <p:cNvSpPr/>
          <p:nvPr/>
        </p:nvSpPr>
        <p:spPr>
          <a:xfrm>
            <a:off x="914400" y="50749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554480" y="50749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It allows water to enter through a small pore.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1152144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9B8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6A4C9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 6 OF 7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8138160" y="320040"/>
            <a:ext cx="3474720" cy="365760"/>
          </a:xfrm>
          <a:prstGeom prst="roundRect">
            <a:avLst>
              <a:gd name="adj" fmla="val 15000"/>
            </a:avLst>
          </a:prstGeom>
          <a:solidFill>
            <a:srgbClr val="5A3F80"/>
          </a:solidFill>
          <a:ln/>
        </p:spPr>
      </p:sp>
      <p:sp>
        <p:nvSpPr>
          <p:cNvPr id="4" name="Text 2"/>
          <p:cNvSpPr/>
          <p:nvPr/>
        </p:nvSpPr>
        <p:spPr>
          <a:xfrm>
            <a:off x="8138160" y="32004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after: Explain phase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868680"/>
            <a:ext cx="110642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Which row correctly compares a maize grain (monocot) with a bean seed (dicot)?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731520" y="23317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23317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554480" y="23317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Maize: one cotyledon, no food store. Bean: two cotyledons, food stored in the endosperm.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731520" y="32461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0" name="Text 8"/>
          <p:cNvSpPr/>
          <p:nvPr/>
        </p:nvSpPr>
        <p:spPr>
          <a:xfrm>
            <a:off x="914400" y="32461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554480" y="32461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Maize: one cotyledon (scutellum), food stored in the endosperm. Bean: two cotyledons, food stored in the cotyledons.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731520" y="41605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3" name="Text 11"/>
          <p:cNvSpPr/>
          <p:nvPr/>
        </p:nvSpPr>
        <p:spPr>
          <a:xfrm>
            <a:off x="914400" y="41605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554480" y="41605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Maize and bean: two cotyledons, food stored in the endosperm.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731520" y="50749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6" name="Text 14"/>
          <p:cNvSpPr/>
          <p:nvPr/>
        </p:nvSpPr>
        <p:spPr>
          <a:xfrm>
            <a:off x="914400" y="50749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554480" y="50749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Maize: two cotyledons, food stored in the cotyledons. Bean: one cotyledon, food stored in the endosperm.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152144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9B8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6A4C9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 7 OF 7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8138160" y="320040"/>
            <a:ext cx="3474720" cy="365760"/>
          </a:xfrm>
          <a:prstGeom prst="roundRect">
            <a:avLst>
              <a:gd name="adj" fmla="val 15000"/>
            </a:avLst>
          </a:prstGeom>
          <a:solidFill>
            <a:srgbClr val="5A3F80"/>
          </a:solidFill>
          <a:ln/>
        </p:spPr>
      </p:sp>
      <p:sp>
        <p:nvSpPr>
          <p:cNvPr id="4" name="Text 2"/>
          <p:cNvSpPr/>
          <p:nvPr/>
        </p:nvSpPr>
        <p:spPr>
          <a:xfrm>
            <a:off x="8138160" y="32004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after: Model Building phase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868680"/>
            <a:ext cx="110642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learner draws a model of how a maize grain starts to grow after planting. Which arrow path correctly shows how stored food reaches the embryo?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731520" y="23317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23317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554480" y="23317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Endosperm, then the scutellum, then the embryo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731520" y="32461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0" name="Text 8"/>
          <p:cNvSpPr/>
          <p:nvPr/>
        </p:nvSpPr>
        <p:spPr>
          <a:xfrm>
            <a:off x="914400" y="32461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554480" y="32461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Testa, then the embryo</a:t>
            </a:r>
            <a:endParaRPr lang="en-US" sz="1700" dirty="0"/>
          </a:p>
        </p:txBody>
      </p:sp>
      <p:sp>
        <p:nvSpPr>
          <p:cNvPr id="12" name="Shape 10"/>
          <p:cNvSpPr/>
          <p:nvPr/>
        </p:nvSpPr>
        <p:spPr>
          <a:xfrm>
            <a:off x="731520" y="41605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3" name="Text 11"/>
          <p:cNvSpPr/>
          <p:nvPr/>
        </p:nvSpPr>
        <p:spPr>
          <a:xfrm>
            <a:off x="914400" y="41605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554480" y="41605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Cotyledons, then the embryo</a:t>
            </a:r>
            <a:endParaRPr lang="en-US" sz="1700" dirty="0"/>
          </a:p>
        </p:txBody>
      </p:sp>
      <p:sp>
        <p:nvSpPr>
          <p:cNvPr id="15" name="Shape 13"/>
          <p:cNvSpPr/>
          <p:nvPr/>
        </p:nvSpPr>
        <p:spPr>
          <a:xfrm>
            <a:off x="731520" y="50749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6" name="Text 14"/>
          <p:cNvSpPr/>
          <p:nvPr/>
        </p:nvSpPr>
        <p:spPr>
          <a:xfrm>
            <a:off x="914400" y="50749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554480" y="50749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Coleoptile, then the radicle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1152144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9B8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2194560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All done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731520" y="310896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D9EEF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Ask your teacher how to submit your answers today (for example, on a paper answer slip).</a:t>
            </a:r>
            <a:endParaRPr lang="en-US" sz="1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Biology Grade 11 - Growth and Development in Plants - Lesson 2 Quick Check</dc:title>
  <dc:subject>PptxGenJS Presentation</dc:subject>
  <dc:creator>PptxGenJS</dc:creator>
  <cp:lastModifiedBy>PptxGenJS</cp:lastModifiedBy>
  <cp:revision>1</cp:revision>
  <dcterms:created xsi:type="dcterms:W3CDTF">2026-10-01T20:16:55Z</dcterms:created>
  <dcterms:modified xsi:type="dcterms:W3CDTF">2026-10-01T20:16:55Z</dcterms:modified>
</cp:coreProperties>
</file>