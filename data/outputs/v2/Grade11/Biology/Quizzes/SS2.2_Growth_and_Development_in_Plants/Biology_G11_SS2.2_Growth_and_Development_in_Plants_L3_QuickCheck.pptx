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Lst>
  <p:notesMasterIdLst>
    <p:notesMasterId r:id="rId1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notesMaster" Target="notesMasters/notesMaster1.xml"/><Relationship Id="rId12" Type="http://schemas.openxmlformats.org/officeDocument/2006/relationships/presProps" Target="presProps.xml"/><Relationship Id="rId13" Type="http://schemas.openxmlformats.org/officeDocument/2006/relationships/viewProps" Target="viewProps.xml"/><Relationship Id="rId14" Type="http://schemas.openxmlformats.org/officeDocument/2006/relationships/theme" Target="theme/theme1.xml"/><Relationship Id="rId1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hyperlink" Target="https://creativecommons.org/licenses/by-nc/4.0/" TargetMode="External"/><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1463040"/>
            <a:ext cx="10698480" cy="457200"/>
          </a:xfrm>
          <a:prstGeom prst="rect">
            <a:avLst/>
          </a:prstGeom>
          <a:noFill/>
          <a:ln/>
        </p:spPr>
        <p:txBody>
          <a:bodyPr wrap="square" lIns="0" tIns="0" rIns="0" bIns="0" rtlCol="0" anchor="ctr"/>
          <a:lstStyle/>
          <a:p>
            <a:pPr indent="0" marL="0">
              <a:buNone/>
            </a:pPr>
            <a:r>
              <a:rPr lang="en-US" sz="1600" b="1" spc="200" kern="0" dirty="0">
                <a:solidFill>
                  <a:srgbClr val="AFC8E8"/>
                </a:solidFill>
                <a:latin typeface="Arial" pitchFamily="34" charset="0"/>
                <a:ea typeface="Arial" pitchFamily="34" charset="-122"/>
                <a:cs typeface="Arial" pitchFamily="34" charset="-120"/>
              </a:rPr>
              <a:t>BIOLOGY — GRADE 11  |  GROWTH AND DEVELOPMENT IN PLANTS</a:t>
            </a:r>
            <a:endParaRPr lang="en-US" sz="1600" dirty="0"/>
          </a:p>
        </p:txBody>
      </p:sp>
      <p:sp>
        <p:nvSpPr>
          <p:cNvPr id="3" name="Text 1"/>
          <p:cNvSpPr/>
          <p:nvPr/>
        </p:nvSpPr>
        <p:spPr>
          <a:xfrm>
            <a:off x="731520" y="1965960"/>
            <a:ext cx="10698480" cy="914400"/>
          </a:xfrm>
          <a:prstGeom prst="rect">
            <a:avLst/>
          </a:prstGeom>
          <a:noFill/>
          <a:ln/>
        </p:spPr>
        <p:txBody>
          <a:bodyPr wrap="square" lIns="0" tIns="0" rIns="0" bIns="0" rtlCol="0" anchor="ctr"/>
          <a:lstStyle/>
          <a:p>
            <a:pPr indent="0" marL="0">
              <a:buNone/>
            </a:pPr>
            <a:r>
              <a:rPr lang="en-US" sz="4000" b="1" dirty="0">
                <a:solidFill>
                  <a:srgbClr val="FFFFFF"/>
                </a:solidFill>
                <a:latin typeface="Arial" pitchFamily="34" charset="0"/>
                <a:ea typeface="Arial" pitchFamily="34" charset="-122"/>
                <a:cs typeface="Arial" pitchFamily="34" charset="-120"/>
              </a:rPr>
              <a:t>Quick Check</a:t>
            </a:r>
            <a:endParaRPr lang="en-US" sz="4000" dirty="0"/>
          </a:p>
        </p:txBody>
      </p:sp>
      <p:sp>
        <p:nvSpPr>
          <p:cNvPr id="4" name="Text 2"/>
          <p:cNvSpPr/>
          <p:nvPr/>
        </p:nvSpPr>
        <p:spPr>
          <a:xfrm>
            <a:off x="731520" y="2880360"/>
            <a:ext cx="10698480" cy="1097280"/>
          </a:xfrm>
          <a:prstGeom prst="rect">
            <a:avLst/>
          </a:prstGeom>
          <a:noFill/>
          <a:ln/>
        </p:spPr>
        <p:txBody>
          <a:bodyPr wrap="square" lIns="0" tIns="0" rIns="0" bIns="0" rtlCol="0" anchor="t"/>
          <a:lstStyle/>
          <a:p>
            <a:pPr indent="0" marL="0">
              <a:buNone/>
            </a:pPr>
            <a:r>
              <a:rPr lang="en-US" sz="2000" dirty="0">
                <a:solidFill>
                  <a:srgbClr val="D9EEF1"/>
                </a:solidFill>
                <a:latin typeface="Arial" pitchFamily="34" charset="0"/>
                <a:ea typeface="Arial" pitchFamily="34" charset="-122"/>
                <a:cs typeface="Arial" pitchFamily="34" charset="-120"/>
              </a:rPr>
              <a:t>Lesson 3: Seed Dormancy: Why Do Some Healthy-Looking Seeds Refuse to Germinate?</a:t>
            </a:r>
            <a:endParaRPr lang="en-US" sz="2000" dirty="0"/>
          </a:p>
        </p:txBody>
      </p:sp>
      <p:sp>
        <p:nvSpPr>
          <p:cNvPr id="5" name="Text 3"/>
          <p:cNvSpPr/>
          <p:nvPr/>
        </p:nvSpPr>
        <p:spPr>
          <a:xfrm>
            <a:off x="731520" y="4114800"/>
            <a:ext cx="10698480" cy="457200"/>
          </a:xfrm>
          <a:prstGeom prst="rect">
            <a:avLst/>
          </a:prstGeom>
          <a:noFill/>
          <a:ln/>
        </p:spPr>
        <p:txBody>
          <a:bodyPr wrap="square" lIns="0" tIns="0" rIns="0" bIns="0" rtlCol="0" anchor="ctr"/>
          <a:lstStyle/>
          <a:p>
            <a:pPr indent="0" marL="0">
              <a:buNone/>
            </a:pPr>
            <a:r>
              <a:rPr lang="en-US" sz="1600" i="1" dirty="0">
                <a:solidFill>
                  <a:srgbClr val="AFC8E8"/>
                </a:solidFill>
                <a:latin typeface="Arial" pitchFamily="34" charset="0"/>
                <a:ea typeface="Arial" pitchFamily="34" charset="-122"/>
                <a:cs typeface="Arial" pitchFamily="34" charset="-120"/>
              </a:rPr>
              <a:t>7 multiple-choice questions  •  choose A, B, C or D</a:t>
            </a:r>
            <a:endParaRPr lang="en-US" sz="1600" dirty="0"/>
          </a:p>
        </p:txBody>
      </p:sp>
      <p:sp>
        <p:nvSpPr>
          <p:cNvPr id="6" name="Text 4"/>
          <p:cNvSpPr/>
          <p:nvPr/>
        </p:nvSpPr>
        <p:spPr>
          <a:xfrm>
            <a:off x="731520" y="5257800"/>
            <a:ext cx="10698480" cy="365760"/>
          </a:xfrm>
          <a:prstGeom prst="rect">
            <a:avLst/>
          </a:prstGeom>
          <a:noFill/>
          <a:ln/>
        </p:spPr>
        <p:txBody>
          <a:bodyPr wrap="square" lIns="0" tIns="0" rIns="0" bIns="0" rtlCol="0" anchor="ctr"/>
          <a:lstStyle/>
          <a:p>
            <a:pPr indent="0" marL="0">
              <a:buNone/>
            </a:pPr>
            <a:r>
              <a:rPr lang="en-US" sz="1300" dirty="0">
                <a:solidFill>
                  <a:srgbClr val="AFC8E8"/>
                </a:solidFill>
                <a:latin typeface="Arial" pitchFamily="34" charset="0"/>
                <a:ea typeface="Arial" pitchFamily="34" charset="-122"/>
                <a:cs typeface="Arial" pitchFamily="34" charset="-120"/>
              </a:rPr>
              <a:t>Sub-Strand 2.2: Growth and Development in Plants   |   Lesson 3</a:t>
            </a:r>
            <a:endParaRPr lang="en-US" sz="1300" dirty="0"/>
          </a:p>
        </p:txBody>
      </p:sp>
      <p:sp>
        <p:nvSpPr>
          <p:cNvPr id="7" name="Text 5"/>
          <p:cNvSpPr/>
          <p:nvPr/>
        </p:nvSpPr>
        <p:spPr>
          <a:xfrm>
            <a:off x="731520" y="5760720"/>
            <a:ext cx="10698480" cy="822960"/>
          </a:xfrm>
          <a:prstGeom prst="rect">
            <a:avLst/>
          </a:prstGeom>
          <a:noFill/>
          <a:ln/>
        </p:spPr>
        <p:txBody>
          <a:bodyPr wrap="square" lIns="0" tIns="0" rIns="0" bIns="0" rtlCol="0" anchor="t"/>
          <a:lstStyle/>
          <a:p>
            <a:pPr indent="0" marL="0">
              <a:buNone/>
            </a:pPr>
            <a:r>
              <a:rPr lang="en-US" sz="900" dirty="0">
                <a:solidFill>
                  <a:srgbClr val="8FA8C8"/>
                </a:solidFill>
                <a:latin typeface="Arial" pitchFamily="34" charset="0"/>
                <a:ea typeface="Arial" pitchFamily="34" charset="-122"/>
                <a:cs typeface="Arial" pitchFamily="34" charset="-120"/>
              </a:rPr>
              <a:t>© 2026 SeaVuria and ARES. Aligned with KICD objectives. Developed by SeaVuria; technical implementation by ARES (with AI assistance from Claude). Licensed under </a:t>
            </a:r>
            <a:pPr indent="0" marL="0">
              <a:buNone/>
            </a:pPr>
            <a:r>
              <a:rPr lang="en-US" sz="900" u="sng" dirty="0">
                <a:solidFill>
                  <a:srgbClr val="AFC8E8"/>
                </a:solidFill>
                <a:latin typeface="Arial" pitchFamily="34" charset="0"/>
                <a:ea typeface="Arial" pitchFamily="34" charset="-122"/>
                <a:cs typeface="Arial" pitchFamily="34" charset="-120"/>
                <a:hlinkClick r:id="rId1" invalidUrl="" action="" tgtFrame="" tooltip="" history="1" highlightClick="0" endSnd="0">
                  <a:extLst>
                    <a:ext uri="{A12FA001-AC4F-418D-AE19-62706E023703}">
                      <ahyp:hlinkClr xmlns:ahyp="http://schemas.microsoft.com/office/drawing/2018/hyperlinkcolor" val="tx"/>
                    </a:ext>
                  </a:extLst>
                </a:hlinkClick>
              </a:rPr>
              <a:t>CC BY-NC 4.0</a:t>
            </a:r>
            <a:pPr indent="0" marL="0">
              <a:buNone/>
            </a:pPr>
            <a:r>
              <a:rPr lang="en-US" sz="900" dirty="0">
                <a:solidFill>
                  <a:srgbClr val="8FA8C8"/>
                </a:solidFill>
                <a:latin typeface="Arial" pitchFamily="34" charset="0"/>
                <a:ea typeface="Arial" pitchFamily="34" charset="-122"/>
                <a:cs typeface="Arial" pitchFamily="34" charset="-120"/>
              </a:rPr>
              <a:t> (https://creativecommons.org/licenses/by-nc/4.0/).</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1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Predict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Trans Nzoia, a farmer plants maize and beans on the same day after rain. Some healthy-looking seeds never germinate. Which statement best describes seed dormancy?</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state in which the seed has died and cannot grow again</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state in which the seed has no embryo inside it</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resting state in which a living seed does not germinate even when conditions look right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A state in which every seed germinates immediately when watered</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2</a:t>
            </a:r>
            <a:endParaRPr lang="en-US" sz="10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2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Learners soaked hard-coated Senna seeds in water for several hours. The seeds did not swell. Which is the most likely reason?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embryo was too large to take up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hard seed coat did not let water enter the seed</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The seeds had absorbed too much water already</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Soaking always kills seeds that have hard coats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3</a:t>
            </a:r>
            <a:endParaRPr lang="en-US" sz="1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3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In a dormancy-breaking investigation, one container holds untreated seeds kept moist in the same place as the treated seeds. Why is this container needed?</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give the treated seeds extra water</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make sure all the seeds germinate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show the seeds in the other containers are not dormant</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To compare with the treated seeds, so we can tell whether the treatment made a difference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4</a:t>
            </a:r>
            <a:endParaRPr lang="en-US" sz="10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4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Observe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 group wants to break dormancy in Acacia seeds by scarification. Which action is scarification?</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Washing the seeds in several changes of water</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Leaving the seeds in dry soil for a month</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Rubbing the seed coat lightly on sandpaper or a rough stone</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Keeping the seeds in a cool place for some days</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5</a:t>
            </a:r>
            <a:endParaRPr lang="en-US" sz="10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5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 farmer finds that some healthy seeds contain chemical inhibitors that stop germination. Which treatment would best help remove the inhibitors?</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Washing the seeds in several changes of water (leaching)</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Drying the seeds in the sun for a week</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Putting the seeds in boiling water</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Rubbing the seed coat on sandpaper only</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6</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6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Explain phase</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000" b="1" dirty="0">
                <a:solidFill>
                  <a:srgbClr val="FFFFFF"/>
                </a:solidFill>
                <a:latin typeface="Arial" pitchFamily="34" charset="0"/>
                <a:ea typeface="Arial" pitchFamily="34" charset="-122"/>
                <a:cs typeface="Arial" pitchFamily="34" charset="-120"/>
              </a:rPr>
              <a:t>After the seed coat of a dormant bean seed is rubbed and the seed is placed in wet cotton wool, the seed swells. What is this uptake of water called, and why is it important for germination?</a:t>
            </a:r>
            <a:endParaRPr lang="en-US" sz="20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Imbibition; it activates enzymes in the embryo</a:t>
            </a:r>
            <a:endParaRPr lang="en-US" sz="17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Scarification; it makes the seed coat thicker</a:t>
            </a:r>
            <a:endParaRPr lang="en-US" sz="17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Leaching; it washes inhibitors out of the embryo</a:t>
            </a:r>
            <a:endParaRPr lang="en-US" sz="17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700" dirty="0">
                <a:solidFill>
                  <a:srgbClr val="FFFFFF"/>
                </a:solidFill>
                <a:latin typeface="Arial" pitchFamily="34" charset="0"/>
                <a:ea typeface="Arial" pitchFamily="34" charset="-122"/>
                <a:cs typeface="Arial" pitchFamily="34" charset="-120"/>
              </a:rPr>
              <a:t>Stratification; it keeps the embryo cold and inactive</a:t>
            </a:r>
            <a:endParaRPr lang="en-US" sz="17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7</a:t>
            </a:r>
            <a:endParaRPr lang="en-US" sz="1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6A4C93"/>
        </a:solidFill>
      </p:bgPr>
    </p:bg>
    <p:spTree>
      <p:nvGrpSpPr>
        <p:cNvPr id="1" name=""/>
        <p:cNvGrpSpPr/>
        <p:nvPr/>
      </p:nvGrpSpPr>
      <p:grpSpPr>
        <a:xfrm>
          <a:off x="0" y="0"/>
          <a:ext cx="0" cy="0"/>
          <a:chOff x="0" y="0"/>
          <a:chExt cx="0" cy="0"/>
        </a:xfrm>
      </p:grpSpPr>
      <p:sp>
        <p:nvSpPr>
          <p:cNvPr id="2" name="Text 0"/>
          <p:cNvSpPr/>
          <p:nvPr/>
        </p:nvSpPr>
        <p:spPr>
          <a:xfrm>
            <a:off x="548640" y="365760"/>
            <a:ext cx="6400800" cy="365760"/>
          </a:xfrm>
          <a:prstGeom prst="rect">
            <a:avLst/>
          </a:prstGeom>
          <a:noFill/>
          <a:ln/>
        </p:spPr>
        <p:txBody>
          <a:bodyPr wrap="square" lIns="0" tIns="0" rIns="0" bIns="0" rtlCol="0" anchor="ctr"/>
          <a:lstStyle/>
          <a:p>
            <a:pPr indent="0" marL="0">
              <a:buNone/>
            </a:pPr>
            <a:r>
              <a:rPr lang="en-US" sz="1300" b="1" spc="200" kern="0" dirty="0">
                <a:solidFill>
                  <a:srgbClr val="E0D6F0"/>
                </a:solidFill>
                <a:latin typeface="Arial" pitchFamily="34" charset="0"/>
                <a:ea typeface="Arial" pitchFamily="34" charset="-122"/>
                <a:cs typeface="Arial" pitchFamily="34" charset="-120"/>
              </a:rPr>
              <a:t>QUESTION 7 OF 7</a:t>
            </a:r>
            <a:endParaRPr lang="en-US" sz="1300" dirty="0"/>
          </a:p>
        </p:txBody>
      </p:sp>
      <p:sp>
        <p:nvSpPr>
          <p:cNvPr id="3" name="Shape 1"/>
          <p:cNvSpPr/>
          <p:nvPr/>
        </p:nvSpPr>
        <p:spPr>
          <a:xfrm>
            <a:off x="8138160" y="320040"/>
            <a:ext cx="3474720" cy="365760"/>
          </a:xfrm>
          <a:prstGeom prst="roundRect">
            <a:avLst>
              <a:gd name="adj" fmla="val 15000"/>
            </a:avLst>
          </a:prstGeom>
          <a:solidFill>
            <a:srgbClr val="5A3F80"/>
          </a:solidFill>
          <a:ln/>
        </p:spPr>
      </p:sp>
      <p:sp>
        <p:nvSpPr>
          <p:cNvPr id="4" name="Text 2"/>
          <p:cNvSpPr/>
          <p:nvPr/>
        </p:nvSpPr>
        <p:spPr>
          <a:xfrm>
            <a:off x="8138160" y="320040"/>
            <a:ext cx="3474720" cy="365760"/>
          </a:xfrm>
          <a:prstGeom prst="rect">
            <a:avLst/>
          </a:prstGeom>
          <a:noFill/>
          <a:ln/>
        </p:spPr>
        <p:txBody>
          <a:bodyPr wrap="square" lIns="0" tIns="0" rIns="0" bIns="0" rtlCol="0" anchor="ctr"/>
          <a:lstStyle/>
          <a:p>
            <a:pPr algn="ctr" indent="0" marL="0">
              <a:buNone/>
            </a:pPr>
            <a:r>
              <a:rPr lang="en-US" sz="1100" i="1" dirty="0">
                <a:solidFill>
                  <a:srgbClr val="E0D6F0"/>
                </a:solidFill>
                <a:latin typeface="Arial" pitchFamily="34" charset="0"/>
                <a:ea typeface="Arial" pitchFamily="34" charset="-122"/>
                <a:cs typeface="Arial" pitchFamily="34" charset="-120"/>
              </a:rPr>
              <a:t>Use after: End of lesson</a:t>
            </a:r>
            <a:endParaRPr lang="en-US" sz="1100" dirty="0"/>
          </a:p>
        </p:txBody>
      </p:sp>
      <p:sp>
        <p:nvSpPr>
          <p:cNvPr id="5" name="Text 3"/>
          <p:cNvSpPr/>
          <p:nvPr/>
        </p:nvSpPr>
        <p:spPr>
          <a:xfrm>
            <a:off x="548640" y="868680"/>
            <a:ext cx="11064240" cy="1325880"/>
          </a:xfrm>
          <a:prstGeom prst="rect">
            <a:avLst/>
          </a:prstGeom>
          <a:noFill/>
          <a:ln/>
        </p:spPr>
        <p:txBody>
          <a:bodyPr wrap="square" lIns="0" tIns="0" rIns="0" bIns="0" rtlCol="0" anchor="ctr"/>
          <a:lstStyle/>
          <a:p>
            <a:pPr indent="0" marL="0">
              <a:buNone/>
            </a:pPr>
            <a:r>
              <a:rPr lang="en-US" sz="2300" b="1" dirty="0">
                <a:solidFill>
                  <a:srgbClr val="FFFFFF"/>
                </a:solidFill>
                <a:latin typeface="Arial" pitchFamily="34" charset="0"/>
                <a:ea typeface="Arial" pitchFamily="34" charset="-122"/>
                <a:cs typeface="Arial" pitchFamily="34" charset="-120"/>
              </a:rPr>
              <a:t>Acacia seeds in the Tsavo drylands can stay dormant for a long time. How does dormancy help these plants survive?</a:t>
            </a:r>
            <a:endParaRPr lang="en-US" sz="2300" dirty="0"/>
          </a:p>
        </p:txBody>
      </p:sp>
      <p:sp>
        <p:nvSpPr>
          <p:cNvPr id="6" name="Shape 4"/>
          <p:cNvSpPr/>
          <p:nvPr/>
        </p:nvSpPr>
        <p:spPr>
          <a:xfrm>
            <a:off x="731520" y="2331720"/>
            <a:ext cx="10698480" cy="777240"/>
          </a:xfrm>
          <a:prstGeom prst="roundRect">
            <a:avLst>
              <a:gd name="adj" fmla="val 9412"/>
            </a:avLst>
          </a:prstGeom>
          <a:solidFill>
            <a:srgbClr val="7C5CAA"/>
          </a:solidFill>
          <a:ln/>
        </p:spPr>
      </p:sp>
      <p:sp>
        <p:nvSpPr>
          <p:cNvPr id="7" name="Text 5"/>
          <p:cNvSpPr/>
          <p:nvPr/>
        </p:nvSpPr>
        <p:spPr>
          <a:xfrm>
            <a:off x="914400" y="23317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A</a:t>
            </a:r>
            <a:endParaRPr lang="en-US" sz="1800" dirty="0"/>
          </a:p>
        </p:txBody>
      </p:sp>
      <p:sp>
        <p:nvSpPr>
          <p:cNvPr id="8" name="Text 6"/>
          <p:cNvSpPr/>
          <p:nvPr/>
        </p:nvSpPr>
        <p:spPr>
          <a:xfrm>
            <a:off x="1554480" y="23317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makes the seeds germinate faster than other plants' seeds</a:t>
            </a:r>
            <a:endParaRPr lang="en-US" sz="1500" dirty="0"/>
          </a:p>
        </p:txBody>
      </p:sp>
      <p:sp>
        <p:nvSpPr>
          <p:cNvPr id="9" name="Shape 7"/>
          <p:cNvSpPr/>
          <p:nvPr/>
        </p:nvSpPr>
        <p:spPr>
          <a:xfrm>
            <a:off x="731520" y="3246120"/>
            <a:ext cx="10698480" cy="777240"/>
          </a:xfrm>
          <a:prstGeom prst="roundRect">
            <a:avLst>
              <a:gd name="adj" fmla="val 9412"/>
            </a:avLst>
          </a:prstGeom>
          <a:solidFill>
            <a:srgbClr val="7C5CAA"/>
          </a:solidFill>
          <a:ln/>
        </p:spPr>
      </p:sp>
      <p:sp>
        <p:nvSpPr>
          <p:cNvPr id="10" name="Text 8"/>
          <p:cNvSpPr/>
          <p:nvPr/>
        </p:nvSpPr>
        <p:spPr>
          <a:xfrm>
            <a:off x="914400" y="32461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B</a:t>
            </a:r>
            <a:endParaRPr lang="en-US" sz="1800" dirty="0"/>
          </a:p>
        </p:txBody>
      </p:sp>
      <p:sp>
        <p:nvSpPr>
          <p:cNvPr id="11" name="Text 9"/>
          <p:cNvSpPr/>
          <p:nvPr/>
        </p:nvSpPr>
        <p:spPr>
          <a:xfrm>
            <a:off x="1554480" y="32461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removes the need for water when the seeds finally germinate</a:t>
            </a:r>
            <a:endParaRPr lang="en-US" sz="1500" dirty="0"/>
          </a:p>
        </p:txBody>
      </p:sp>
      <p:sp>
        <p:nvSpPr>
          <p:cNvPr id="12" name="Shape 10"/>
          <p:cNvSpPr/>
          <p:nvPr/>
        </p:nvSpPr>
        <p:spPr>
          <a:xfrm>
            <a:off x="731520" y="4160520"/>
            <a:ext cx="10698480" cy="777240"/>
          </a:xfrm>
          <a:prstGeom prst="roundRect">
            <a:avLst>
              <a:gd name="adj" fmla="val 9412"/>
            </a:avLst>
          </a:prstGeom>
          <a:solidFill>
            <a:srgbClr val="7C5CAA"/>
          </a:solidFill>
          <a:ln/>
        </p:spPr>
      </p:sp>
      <p:sp>
        <p:nvSpPr>
          <p:cNvPr id="13" name="Text 11"/>
          <p:cNvSpPr/>
          <p:nvPr/>
        </p:nvSpPr>
        <p:spPr>
          <a:xfrm>
            <a:off x="914400" y="41605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C</a:t>
            </a:r>
            <a:endParaRPr lang="en-US" sz="1800" dirty="0"/>
          </a:p>
        </p:txBody>
      </p:sp>
      <p:sp>
        <p:nvSpPr>
          <p:cNvPr id="14" name="Text 12"/>
          <p:cNvSpPr/>
          <p:nvPr/>
        </p:nvSpPr>
        <p:spPr>
          <a:xfrm>
            <a:off x="1554480" y="41605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makes every seed in the soil germinate on the first rain</a:t>
            </a:r>
            <a:endParaRPr lang="en-US" sz="1500" dirty="0"/>
          </a:p>
        </p:txBody>
      </p:sp>
      <p:sp>
        <p:nvSpPr>
          <p:cNvPr id="15" name="Shape 13"/>
          <p:cNvSpPr/>
          <p:nvPr/>
        </p:nvSpPr>
        <p:spPr>
          <a:xfrm>
            <a:off x="731520" y="5074920"/>
            <a:ext cx="10698480" cy="777240"/>
          </a:xfrm>
          <a:prstGeom prst="roundRect">
            <a:avLst>
              <a:gd name="adj" fmla="val 9412"/>
            </a:avLst>
          </a:prstGeom>
          <a:solidFill>
            <a:srgbClr val="7C5CAA"/>
          </a:solidFill>
          <a:ln/>
        </p:spPr>
      </p:sp>
      <p:sp>
        <p:nvSpPr>
          <p:cNvPr id="16" name="Text 14"/>
          <p:cNvSpPr/>
          <p:nvPr/>
        </p:nvSpPr>
        <p:spPr>
          <a:xfrm>
            <a:off x="914400" y="5074920"/>
            <a:ext cx="548640" cy="777240"/>
          </a:xfrm>
          <a:prstGeom prst="rect">
            <a:avLst/>
          </a:prstGeom>
          <a:noFill/>
          <a:ln/>
        </p:spPr>
        <p:txBody>
          <a:bodyPr wrap="square" lIns="0" tIns="0" rIns="0" bIns="0" rtlCol="0" anchor="ctr"/>
          <a:lstStyle/>
          <a:p>
            <a:pPr indent="0" marL="0">
              <a:buNone/>
            </a:pPr>
            <a:r>
              <a:rPr lang="en-US" sz="1800" b="1" dirty="0">
                <a:solidFill>
                  <a:srgbClr val="FFFFFF"/>
                </a:solidFill>
                <a:latin typeface="Arial" pitchFamily="34" charset="0"/>
                <a:ea typeface="Arial" pitchFamily="34" charset="-122"/>
                <a:cs typeface="Arial" pitchFamily="34" charset="-120"/>
              </a:rPr>
              <a:t>D</a:t>
            </a:r>
            <a:endParaRPr lang="en-US" sz="1800" dirty="0"/>
          </a:p>
        </p:txBody>
      </p:sp>
      <p:sp>
        <p:nvSpPr>
          <p:cNvPr id="17" name="Text 15"/>
          <p:cNvSpPr/>
          <p:nvPr/>
        </p:nvSpPr>
        <p:spPr>
          <a:xfrm>
            <a:off x="1554480" y="5074920"/>
            <a:ext cx="9692640" cy="777240"/>
          </a:xfrm>
          <a:prstGeom prst="rect">
            <a:avLst/>
          </a:prstGeom>
          <a:noFill/>
          <a:ln/>
        </p:spPr>
        <p:txBody>
          <a:bodyPr wrap="square" lIns="0" tIns="0" rIns="0" bIns="0" rtlCol="0" anchor="ctr"/>
          <a:lstStyle/>
          <a:p>
            <a:pPr indent="0" marL="0">
              <a:buNone/>
            </a:pPr>
            <a:r>
              <a:rPr lang="en-US" sz="1500" dirty="0">
                <a:solidFill>
                  <a:srgbClr val="FFFFFF"/>
                </a:solidFill>
                <a:latin typeface="Arial" pitchFamily="34" charset="0"/>
                <a:ea typeface="Arial" pitchFamily="34" charset="-122"/>
                <a:cs typeface="Arial" pitchFamily="34" charset="-120"/>
              </a:rPr>
              <a:t>It stops seeds from germinating in a short dry spell, and it spreads germination over time</a:t>
            </a:r>
            <a:endParaRPr lang="en-US" sz="1500" dirty="0"/>
          </a:p>
        </p:txBody>
      </p:sp>
      <p:sp>
        <p:nvSpPr>
          <p:cNvPr id="18" name="Text 16"/>
          <p:cNvSpPr/>
          <p:nvPr/>
        </p:nvSpPr>
        <p:spPr>
          <a:xfrm>
            <a:off x="11521440" y="6446520"/>
            <a:ext cx="457200" cy="274320"/>
          </a:xfrm>
          <a:prstGeom prst="rect">
            <a:avLst/>
          </a:prstGeom>
          <a:noFill/>
          <a:ln/>
        </p:spPr>
        <p:txBody>
          <a:bodyPr wrap="square" lIns="0" tIns="0" rIns="0" bIns="0" rtlCol="0" anchor="ctr"/>
          <a:lstStyle/>
          <a:p>
            <a:pPr algn="r" indent="0" marL="0">
              <a:buNone/>
            </a:pPr>
            <a:r>
              <a:rPr lang="en-US" sz="1000" dirty="0">
                <a:solidFill>
                  <a:srgbClr val="C9B8E0"/>
                </a:solidFill>
                <a:latin typeface="Arial" pitchFamily="34" charset="0"/>
                <a:ea typeface="Arial" pitchFamily="34" charset="-122"/>
                <a:cs typeface="Arial" pitchFamily="34" charset="-120"/>
              </a:rPr>
              <a:t>8</a:t>
            </a:r>
            <a:endParaRPr lang="en-US" sz="10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F3864"/>
        </a:solidFill>
      </p:bgPr>
    </p:bg>
    <p:spTree>
      <p:nvGrpSpPr>
        <p:cNvPr id="1" name=""/>
        <p:cNvGrpSpPr/>
        <p:nvPr/>
      </p:nvGrpSpPr>
      <p:grpSpPr>
        <a:xfrm>
          <a:off x="0" y="0"/>
          <a:ext cx="0" cy="0"/>
          <a:chOff x="0" y="0"/>
          <a:chExt cx="0" cy="0"/>
        </a:xfrm>
      </p:grpSpPr>
      <p:sp>
        <p:nvSpPr>
          <p:cNvPr id="2" name="Text 0"/>
          <p:cNvSpPr/>
          <p:nvPr/>
        </p:nvSpPr>
        <p:spPr>
          <a:xfrm>
            <a:off x="731520" y="2194560"/>
            <a:ext cx="10698480" cy="822960"/>
          </a:xfrm>
          <a:prstGeom prst="rect">
            <a:avLst/>
          </a:prstGeom>
          <a:noFill/>
          <a:ln/>
        </p:spPr>
        <p:txBody>
          <a:bodyPr wrap="square" lIns="0" tIns="0" rIns="0" bIns="0" rtlCol="0" anchor="ctr"/>
          <a:lstStyle/>
          <a:p>
            <a:pPr indent="0" marL="0">
              <a:buNone/>
            </a:pPr>
            <a:r>
              <a:rPr lang="en-US" sz="3400" b="1" dirty="0">
                <a:solidFill>
                  <a:srgbClr val="FFFFFF"/>
                </a:solidFill>
                <a:latin typeface="Arial" pitchFamily="34" charset="0"/>
                <a:ea typeface="Arial" pitchFamily="34" charset="-122"/>
                <a:cs typeface="Arial" pitchFamily="34" charset="-120"/>
              </a:rPr>
              <a:t>All done</a:t>
            </a:r>
            <a:endParaRPr lang="en-US" sz="3400" dirty="0"/>
          </a:p>
        </p:txBody>
      </p:sp>
      <p:sp>
        <p:nvSpPr>
          <p:cNvPr id="3" name="Text 1"/>
          <p:cNvSpPr/>
          <p:nvPr/>
        </p:nvSpPr>
        <p:spPr>
          <a:xfrm>
            <a:off x="731520" y="3108960"/>
            <a:ext cx="10698480" cy="731520"/>
          </a:xfrm>
          <a:prstGeom prst="rect">
            <a:avLst/>
          </a:prstGeom>
          <a:noFill/>
          <a:ln/>
        </p:spPr>
        <p:txBody>
          <a:bodyPr wrap="square" lIns="0" tIns="0" rIns="0" bIns="0" rtlCol="0" anchor="ctr"/>
          <a:lstStyle/>
          <a:p>
            <a:pPr indent="0" marL="0">
              <a:buNone/>
            </a:pPr>
            <a:r>
              <a:rPr lang="en-US" sz="1800" dirty="0">
                <a:solidFill>
                  <a:srgbClr val="D9EEF1"/>
                </a:solidFill>
                <a:latin typeface="Arial" pitchFamily="34" charset="0"/>
                <a:ea typeface="Arial" pitchFamily="34" charset="-122"/>
                <a:cs typeface="Arial" pitchFamily="34" charset="-120"/>
              </a:rPr>
              <a:t>Ask your teacher how to submit your answers today (for example, on a paper answer slip).</a:t>
            </a:r>
            <a:endParaRPr lang="en-US" sz="18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9</Slides>
  <Notes>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9</vt:i4>
      </vt:variant>
    </vt:vector>
  </HeadingPairs>
  <TitlesOfParts>
    <vt:vector size="1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Biology Grade 11 - Growth and Development in Plants - Lesson 3 Quick Check</dc:title>
  <dc:subject>PptxGenJS Presentation</dc:subject>
  <dc:creator>PptxGenJS</dc:creator>
  <cp:lastModifiedBy>PptxGenJS</cp:lastModifiedBy>
  <cp:revision>1</cp:revision>
  <dcterms:created xsi:type="dcterms:W3CDTF">2026-10-01T20:16:55Z</dcterms:created>
  <dcterms:modified xsi:type="dcterms:W3CDTF">2026-10-01T20:16:55Z</dcterms:modified>
</cp:coreProperties>
</file>