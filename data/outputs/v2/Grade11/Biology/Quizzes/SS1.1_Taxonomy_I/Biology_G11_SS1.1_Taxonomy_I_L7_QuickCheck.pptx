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creativecommons.org/licenses/by-nc/4.0/"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1463040"/>
            <a:ext cx="10698480" cy="457200"/>
          </a:xfrm>
          <a:prstGeom prst="rect">
            <a:avLst/>
          </a:prstGeom>
          <a:noFill/>
          <a:ln/>
        </p:spPr>
        <p:txBody>
          <a:bodyPr wrap="square" lIns="0" tIns="0" rIns="0" bIns="0" rtlCol="0" anchor="ctr"/>
          <a:lstStyle/>
          <a:p>
            <a:pPr indent="0" marL="0">
              <a:buNone/>
            </a:pPr>
            <a:r>
              <a:rPr lang="en-US" sz="1600" b="1" spc="200" kern="0" dirty="0">
                <a:solidFill>
                  <a:srgbClr val="AFC8E8"/>
                </a:solidFill>
                <a:latin typeface="Arial" pitchFamily="34" charset="0"/>
                <a:ea typeface="Arial" pitchFamily="34" charset="-122"/>
                <a:cs typeface="Arial" pitchFamily="34" charset="-120"/>
              </a:rPr>
              <a:t>BIOLOGY — GRADE 11  |  TAXONOMY I</a:t>
            </a:r>
            <a:endParaRPr lang="en-US" sz="1600" dirty="0"/>
          </a:p>
        </p:txBody>
      </p:sp>
      <p:sp>
        <p:nvSpPr>
          <p:cNvPr id="3" name="Text 1"/>
          <p:cNvSpPr/>
          <p:nvPr/>
        </p:nvSpPr>
        <p:spPr>
          <a:xfrm>
            <a:off x="731520" y="1965960"/>
            <a:ext cx="1069848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Quick Check</a:t>
            </a:r>
            <a:endParaRPr lang="en-US" sz="4000" dirty="0"/>
          </a:p>
        </p:txBody>
      </p:sp>
      <p:sp>
        <p:nvSpPr>
          <p:cNvPr id="4" name="Text 2"/>
          <p:cNvSpPr/>
          <p:nvPr/>
        </p:nvSpPr>
        <p:spPr>
          <a:xfrm>
            <a:off x="731520" y="2880360"/>
            <a:ext cx="10698480" cy="1097280"/>
          </a:xfrm>
          <a:prstGeom prst="rect">
            <a:avLst/>
          </a:prstGeom>
          <a:noFill/>
          <a:ln/>
        </p:spPr>
        <p:txBody>
          <a:bodyPr wrap="square" lIns="0" tIns="0" rIns="0" bIns="0" rtlCol="0" anchor="t"/>
          <a:lstStyle/>
          <a:p>
            <a:pPr indent="0" marL="0">
              <a:buNone/>
            </a:pPr>
            <a:r>
              <a:rPr lang="en-US" sz="2000" dirty="0">
                <a:solidFill>
                  <a:srgbClr val="D9EEF1"/>
                </a:solidFill>
                <a:latin typeface="Arial" pitchFamily="34" charset="0"/>
                <a:ea typeface="Arial" pitchFamily="34" charset="-122"/>
                <a:cs typeface="Arial" pitchFamily="34" charset="-120"/>
              </a:rPr>
              <a:t>Lesson 7: Five Kingdoms of Living Organisms</a:t>
            </a:r>
            <a:endParaRPr lang="en-US" sz="2000" dirty="0"/>
          </a:p>
        </p:txBody>
      </p:sp>
      <p:sp>
        <p:nvSpPr>
          <p:cNvPr id="5" name="Text 3"/>
          <p:cNvSpPr/>
          <p:nvPr/>
        </p:nvSpPr>
        <p:spPr>
          <a:xfrm>
            <a:off x="731520" y="4114800"/>
            <a:ext cx="10698480" cy="457200"/>
          </a:xfrm>
          <a:prstGeom prst="rect">
            <a:avLst/>
          </a:prstGeom>
          <a:noFill/>
          <a:ln/>
        </p:spPr>
        <p:txBody>
          <a:bodyPr wrap="square" lIns="0" tIns="0" rIns="0" bIns="0" rtlCol="0" anchor="ctr"/>
          <a:lstStyle/>
          <a:p>
            <a:pPr indent="0" marL="0">
              <a:buNone/>
            </a:pPr>
            <a:r>
              <a:rPr lang="en-US" sz="1600" i="1" dirty="0">
                <a:solidFill>
                  <a:srgbClr val="AFC8E8"/>
                </a:solidFill>
                <a:latin typeface="Arial" pitchFamily="34" charset="0"/>
                <a:ea typeface="Arial" pitchFamily="34" charset="-122"/>
                <a:cs typeface="Arial" pitchFamily="34" charset="-120"/>
              </a:rPr>
              <a:t>7 multiple-choice questions  •  choose A, B, C or D</a:t>
            </a:r>
            <a:endParaRPr lang="en-US" sz="1600" dirty="0"/>
          </a:p>
        </p:txBody>
      </p:sp>
      <p:sp>
        <p:nvSpPr>
          <p:cNvPr id="6" name="Text 4"/>
          <p:cNvSpPr/>
          <p:nvPr/>
        </p:nvSpPr>
        <p:spPr>
          <a:xfrm>
            <a:off x="731520" y="5257800"/>
            <a:ext cx="10698480" cy="365760"/>
          </a:xfrm>
          <a:prstGeom prst="rect">
            <a:avLst/>
          </a:prstGeom>
          <a:noFill/>
          <a:ln/>
        </p:spPr>
        <p:txBody>
          <a:bodyPr wrap="square" lIns="0" tIns="0" rIns="0" bIns="0" rtlCol="0" anchor="ctr"/>
          <a:lstStyle/>
          <a:p>
            <a:pPr indent="0" marL="0">
              <a:buNone/>
            </a:pPr>
            <a:r>
              <a:rPr lang="en-US" sz="1300" dirty="0">
                <a:solidFill>
                  <a:srgbClr val="AFC8E8"/>
                </a:solidFill>
                <a:latin typeface="Arial" pitchFamily="34" charset="0"/>
                <a:ea typeface="Arial" pitchFamily="34" charset="-122"/>
                <a:cs typeface="Arial" pitchFamily="34" charset="-120"/>
              </a:rPr>
              <a:t>Sub-Strand 1.1: Taxonomy I   |   Lesson 7</a:t>
            </a:r>
            <a:endParaRPr lang="en-US" sz="1300" dirty="0"/>
          </a:p>
        </p:txBody>
      </p:sp>
      <p:sp>
        <p:nvSpPr>
          <p:cNvPr id="7" name="Text 5"/>
          <p:cNvSpPr/>
          <p:nvPr/>
        </p:nvSpPr>
        <p:spPr>
          <a:xfrm>
            <a:off x="731520" y="5760720"/>
            <a:ext cx="10698480" cy="822960"/>
          </a:xfrm>
          <a:prstGeom prst="rect">
            <a:avLst/>
          </a:prstGeom>
          <a:noFill/>
          <a:ln/>
        </p:spPr>
        <p:txBody>
          <a:bodyPr wrap="square" lIns="0" tIns="0" rIns="0" bIns="0" rtlCol="0" anchor="t"/>
          <a:lstStyle/>
          <a:p>
            <a:pPr indent="0" marL="0">
              <a:buNone/>
            </a:pPr>
            <a:r>
              <a:rPr lang="en-US" sz="900" dirty="0">
                <a:solidFill>
                  <a:srgbClr val="8FA8C8"/>
                </a:solidFill>
                <a:latin typeface="Arial" pitchFamily="34" charset="0"/>
                <a:ea typeface="Arial" pitchFamily="34" charset="-122"/>
                <a:cs typeface="Arial" pitchFamily="34" charset="-120"/>
              </a:rPr>
              <a:t>© 2026 SeaVuria and ARES. Aligned with KICD objectives. Developed by SeaVuria; technical implementation by ARES (with AI assistance from Claude). Licensed under </a:t>
            </a:r>
            <a:pPr indent="0" marL="0">
              <a:buNone/>
            </a:pPr>
            <a:r>
              <a:rPr lang="en-US" sz="900" u="sng" dirty="0">
                <a:solidFill>
                  <a:srgbClr val="AFC8E8"/>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CC BY-NC 4.0</a:t>
            </a:r>
            <a:pPr indent="0" marL="0">
              <a:buNone/>
            </a:pPr>
            <a:r>
              <a:rPr lang="en-US" sz="900" dirty="0">
                <a:solidFill>
                  <a:srgbClr val="8FA8C8"/>
                </a:solidFill>
                <a:latin typeface="Arial" pitchFamily="34" charset="0"/>
                <a:ea typeface="Arial" pitchFamily="34" charset="-122"/>
                <a:cs typeface="Arial" pitchFamily="34" charset="-120"/>
              </a:rPr>
              <a:t> (https://creativecommons.org/licenses/by-nc/4.0/).</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1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Predict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Groups once sorted a goat, chicken, maize, mushroom, algae, bacteria, bean plant and mosquito by colour, habitat and usefulness, and every group was right by its own rules. Which basis for grouping can be checked by anyone, in any country, and give the same result?</a:t>
            </a:r>
            <a:endParaRPr lang="en-US" sz="16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colour and size of the organism</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How useful or harmful the organism is to people</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Cell type and how the organism gets its food</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What the organism is called in Kikuyu, Luo or Kiswahili</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2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Learners studying bacteria and the fermented milk maziwa lala record the cell type on their Kingdom Data Card. Which kingdom is made of prokaryotic cells?</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Plantae</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Monera</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Protoctista</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Fungi</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3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learner looks at green Spirogyra from a pond jar and says, 'It is green and lives in water, so it is a plant.' Which is the best response?</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Correct, all green organisms belong to Kingdom Plantae</a:t>
            </a:r>
            <a:endParaRPr lang="en-US" sz="13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Wrong, Spirogyra is an animal because it lives in water</a:t>
            </a:r>
            <a:endParaRPr lang="en-US" sz="13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Wrong, Spirogyra and other algae belong to Kingdom Protoctista, so being green does not make an organism a plant</a:t>
            </a:r>
            <a:endParaRPr lang="en-US" sz="13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Wrong, Spirogyra is a fungus because it grows in water</a:t>
            </a:r>
            <a:endParaRPr lang="en-US" sz="13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4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A mushroom grows from the soil next to a maize plant. Why is the mushroom NOT placed in Kingdom Plantae?</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It is a prokaryote, so it cannot be a plant</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It is not green, so it must be an animal</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It cannot make its own food (it is heterotrophic) and its cell wall is made of chitin</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It grows in soil, which only fungi do</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5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learner writes a Claim-Evidence-Reasoning statement placing the mosquito in Kingdom Animalia. Which reasoning is the strongest?</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It is a pest that spreads disease</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It is a multicellular eukaryote that feeds on other organisms (heterotrophic)</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It lives near water and is active at night</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It is small and has wings, like a chicken</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6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Model Building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A group revises its class model and places the eight organisms into kingdoms. Which placement is correct?</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Bacteria in Monera, algae in Protoctista and mushroom in Fungi</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Bacteria in Protoctista and goat in Animalia</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Algae in Plantae and mushroom in Fungi</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Mushroom in Plantae and bacteria in Monera</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7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End of lesson</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Which list names the five taxonomic kingdoms of living organisms?</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Monera, Fungi, Plantae, Animalia, Viruses</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Monera, Protoctista, Fungi, Plantae, Animalia</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Plantae, Animalia, Fungi, Bacteria, Insects</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Bacteria, Algae, Mushrooms, Plants, Mammals</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2194560"/>
            <a:ext cx="10698480" cy="82296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All done</a:t>
            </a:r>
            <a:endParaRPr lang="en-US" sz="3400" dirty="0"/>
          </a:p>
        </p:txBody>
      </p:sp>
      <p:sp>
        <p:nvSpPr>
          <p:cNvPr id="3" name="Text 1"/>
          <p:cNvSpPr/>
          <p:nvPr/>
        </p:nvSpPr>
        <p:spPr>
          <a:xfrm>
            <a:off x="731520" y="3108960"/>
            <a:ext cx="10698480" cy="731520"/>
          </a:xfrm>
          <a:prstGeom prst="rect">
            <a:avLst/>
          </a:prstGeom>
          <a:noFill/>
          <a:ln/>
        </p:spPr>
        <p:txBody>
          <a:bodyPr wrap="square" lIns="0" tIns="0" rIns="0" bIns="0" rtlCol="0" anchor="ctr"/>
          <a:lstStyle/>
          <a:p>
            <a:pPr indent="0" marL="0">
              <a:buNone/>
            </a:pPr>
            <a:r>
              <a:rPr lang="en-US" sz="1800" dirty="0">
                <a:solidFill>
                  <a:srgbClr val="D9EEF1"/>
                </a:solidFill>
                <a:latin typeface="Arial" pitchFamily="34" charset="0"/>
                <a:ea typeface="Arial" pitchFamily="34" charset="-122"/>
                <a:cs typeface="Arial" pitchFamily="34" charset="-120"/>
              </a:rPr>
              <a:t>Ask your teacher how to submit your answers today (for example, on a paper answer slip).</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Biology Grade 11 - Taxonomy I - Lesson 7 Quick Check</dc:title>
  <dc:subject>PptxGenJS Presentation</dc:subject>
  <dc:creator>PptxGenJS</dc:creator>
  <cp:lastModifiedBy>PptxGenJS</cp:lastModifiedBy>
  <cp:revision>1</cp:revision>
  <dcterms:created xsi:type="dcterms:W3CDTF">2026-10-01T20:16:55Z</dcterms:created>
  <dcterms:modified xsi:type="dcterms:W3CDTF">2026-10-01T20:16:55Z</dcterms:modified>
</cp:coreProperties>
</file>