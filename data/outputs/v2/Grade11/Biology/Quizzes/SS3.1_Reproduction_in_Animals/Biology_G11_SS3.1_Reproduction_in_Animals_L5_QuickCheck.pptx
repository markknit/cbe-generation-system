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hyperlink" Target="https://creativecommons.org/licenses/by-nc/4.0/" TargetMode="External"/><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3864"/>
        </a:solidFill>
      </p:bgPr>
    </p:bg>
    <p:spTree>
      <p:nvGrpSpPr>
        <p:cNvPr id="1" name=""/>
        <p:cNvGrpSpPr/>
        <p:nvPr/>
      </p:nvGrpSpPr>
      <p:grpSpPr>
        <a:xfrm>
          <a:off x="0" y="0"/>
          <a:ext cx="0" cy="0"/>
          <a:chOff x="0" y="0"/>
          <a:chExt cx="0" cy="0"/>
        </a:xfrm>
      </p:grpSpPr>
      <p:sp>
        <p:nvSpPr>
          <p:cNvPr id="2" name="Text 0"/>
          <p:cNvSpPr/>
          <p:nvPr/>
        </p:nvSpPr>
        <p:spPr>
          <a:xfrm>
            <a:off x="731520" y="1463040"/>
            <a:ext cx="10698480" cy="457200"/>
          </a:xfrm>
          <a:prstGeom prst="rect">
            <a:avLst/>
          </a:prstGeom>
          <a:noFill/>
          <a:ln/>
        </p:spPr>
        <p:txBody>
          <a:bodyPr wrap="square" lIns="0" tIns="0" rIns="0" bIns="0" rtlCol="0" anchor="ctr"/>
          <a:lstStyle/>
          <a:p>
            <a:pPr indent="0" marL="0">
              <a:buNone/>
            </a:pPr>
            <a:r>
              <a:rPr lang="en-US" sz="1600" b="1" spc="200" kern="0" dirty="0">
                <a:solidFill>
                  <a:srgbClr val="AFC8E8"/>
                </a:solidFill>
                <a:latin typeface="Arial" pitchFamily="34" charset="0"/>
                <a:ea typeface="Arial" pitchFamily="34" charset="-122"/>
                <a:cs typeface="Arial" pitchFamily="34" charset="-120"/>
              </a:rPr>
              <a:t>BIOLOGY — GRADE 11  |  REPRODUCTION IN ANIMALS</a:t>
            </a:r>
            <a:endParaRPr lang="en-US" sz="1600" dirty="0"/>
          </a:p>
        </p:txBody>
      </p:sp>
      <p:sp>
        <p:nvSpPr>
          <p:cNvPr id="3" name="Text 1"/>
          <p:cNvSpPr/>
          <p:nvPr/>
        </p:nvSpPr>
        <p:spPr>
          <a:xfrm>
            <a:off x="731520" y="1965960"/>
            <a:ext cx="10698480" cy="914400"/>
          </a:xfrm>
          <a:prstGeom prst="rect">
            <a:avLst/>
          </a:prstGeom>
          <a:noFill/>
          <a:ln/>
        </p:spPr>
        <p:txBody>
          <a:bodyPr wrap="square" lIns="0" tIns="0" rIns="0" bIns="0" rtlCol="0" anchor="ctr"/>
          <a:lstStyle/>
          <a:p>
            <a:pPr indent="0" marL="0">
              <a:buNone/>
            </a:pPr>
            <a:r>
              <a:rPr lang="en-US" sz="4000" b="1" dirty="0">
                <a:solidFill>
                  <a:srgbClr val="FFFFFF"/>
                </a:solidFill>
                <a:latin typeface="Arial" pitchFamily="34" charset="0"/>
                <a:ea typeface="Arial" pitchFamily="34" charset="-122"/>
                <a:cs typeface="Arial" pitchFamily="34" charset="-120"/>
              </a:rPr>
              <a:t>Quick Check</a:t>
            </a:r>
            <a:endParaRPr lang="en-US" sz="4000" dirty="0"/>
          </a:p>
        </p:txBody>
      </p:sp>
      <p:sp>
        <p:nvSpPr>
          <p:cNvPr id="4" name="Text 2"/>
          <p:cNvSpPr/>
          <p:nvPr/>
        </p:nvSpPr>
        <p:spPr>
          <a:xfrm>
            <a:off x="731520" y="2880360"/>
            <a:ext cx="10698480" cy="1097280"/>
          </a:xfrm>
          <a:prstGeom prst="rect">
            <a:avLst/>
          </a:prstGeom>
          <a:noFill/>
          <a:ln/>
        </p:spPr>
        <p:txBody>
          <a:bodyPr wrap="square" lIns="0" tIns="0" rIns="0" bIns="0" rtlCol="0" anchor="t"/>
          <a:lstStyle/>
          <a:p>
            <a:pPr indent="0" marL="0">
              <a:buNone/>
            </a:pPr>
            <a:r>
              <a:rPr lang="en-US" sz="2000" dirty="0">
                <a:solidFill>
                  <a:srgbClr val="D9EEF1"/>
                </a:solidFill>
                <a:latin typeface="Arial" pitchFamily="34" charset="0"/>
                <a:ea typeface="Arial" pitchFamily="34" charset="-122"/>
                <a:cs typeface="Arial" pitchFamily="34" charset="-120"/>
              </a:rPr>
              <a:t>Lesson 5: From Fertilisation to Birth: How Hormones and the Placenta Sustain Pregnancy</a:t>
            </a:r>
            <a:endParaRPr lang="en-US" sz="2000" dirty="0"/>
          </a:p>
        </p:txBody>
      </p:sp>
      <p:sp>
        <p:nvSpPr>
          <p:cNvPr id="5" name="Text 3"/>
          <p:cNvSpPr/>
          <p:nvPr/>
        </p:nvSpPr>
        <p:spPr>
          <a:xfrm>
            <a:off x="731520" y="4114800"/>
            <a:ext cx="10698480" cy="457200"/>
          </a:xfrm>
          <a:prstGeom prst="rect">
            <a:avLst/>
          </a:prstGeom>
          <a:noFill/>
          <a:ln/>
        </p:spPr>
        <p:txBody>
          <a:bodyPr wrap="square" lIns="0" tIns="0" rIns="0" bIns="0" rtlCol="0" anchor="ctr"/>
          <a:lstStyle/>
          <a:p>
            <a:pPr indent="0" marL="0">
              <a:buNone/>
            </a:pPr>
            <a:r>
              <a:rPr lang="en-US" sz="1600" i="1" dirty="0">
                <a:solidFill>
                  <a:srgbClr val="AFC8E8"/>
                </a:solidFill>
                <a:latin typeface="Arial" pitchFamily="34" charset="0"/>
                <a:ea typeface="Arial" pitchFamily="34" charset="-122"/>
                <a:cs typeface="Arial" pitchFamily="34" charset="-120"/>
              </a:rPr>
              <a:t>9 multiple-choice questions  •  choose A, B, C or D</a:t>
            </a:r>
            <a:endParaRPr lang="en-US" sz="1600" dirty="0"/>
          </a:p>
        </p:txBody>
      </p:sp>
      <p:sp>
        <p:nvSpPr>
          <p:cNvPr id="6" name="Text 4"/>
          <p:cNvSpPr/>
          <p:nvPr/>
        </p:nvSpPr>
        <p:spPr>
          <a:xfrm>
            <a:off x="731520" y="5257800"/>
            <a:ext cx="10698480" cy="365760"/>
          </a:xfrm>
          <a:prstGeom prst="rect">
            <a:avLst/>
          </a:prstGeom>
          <a:noFill/>
          <a:ln/>
        </p:spPr>
        <p:txBody>
          <a:bodyPr wrap="square" lIns="0" tIns="0" rIns="0" bIns="0" rtlCol="0" anchor="ctr"/>
          <a:lstStyle/>
          <a:p>
            <a:pPr indent="0" marL="0">
              <a:buNone/>
            </a:pPr>
            <a:r>
              <a:rPr lang="en-US" sz="1300" dirty="0">
                <a:solidFill>
                  <a:srgbClr val="AFC8E8"/>
                </a:solidFill>
                <a:latin typeface="Arial" pitchFamily="34" charset="0"/>
                <a:ea typeface="Arial" pitchFamily="34" charset="-122"/>
                <a:cs typeface="Arial" pitchFamily="34" charset="-120"/>
              </a:rPr>
              <a:t>Sub-Strand 3.1: Reproduction in Animals   |   Lesson 5</a:t>
            </a:r>
            <a:endParaRPr lang="en-US" sz="1300" dirty="0"/>
          </a:p>
        </p:txBody>
      </p:sp>
      <p:sp>
        <p:nvSpPr>
          <p:cNvPr id="7" name="Text 5"/>
          <p:cNvSpPr/>
          <p:nvPr/>
        </p:nvSpPr>
        <p:spPr>
          <a:xfrm>
            <a:off x="731520" y="5760720"/>
            <a:ext cx="10698480" cy="822960"/>
          </a:xfrm>
          <a:prstGeom prst="rect">
            <a:avLst/>
          </a:prstGeom>
          <a:noFill/>
          <a:ln/>
        </p:spPr>
        <p:txBody>
          <a:bodyPr wrap="square" lIns="0" tIns="0" rIns="0" bIns="0" rtlCol="0" anchor="t"/>
          <a:lstStyle/>
          <a:p>
            <a:pPr indent="0" marL="0">
              <a:buNone/>
            </a:pPr>
            <a:r>
              <a:rPr lang="en-US" sz="900" dirty="0">
                <a:solidFill>
                  <a:srgbClr val="8FA8C8"/>
                </a:solidFill>
                <a:latin typeface="Arial" pitchFamily="34" charset="0"/>
                <a:ea typeface="Arial" pitchFamily="34" charset="-122"/>
                <a:cs typeface="Arial" pitchFamily="34" charset="-120"/>
              </a:rPr>
              <a:t>© 2026 SeaVuria and ARES. Aligned with KICD objectives. Developed by SeaVuria; technical implementation by ARES (with AI assistance from Claude). Licensed under </a:t>
            </a:r>
            <a:pPr indent="0" marL="0">
              <a:buNone/>
            </a:pPr>
            <a:r>
              <a:rPr lang="en-US" sz="900" u="sng" dirty="0">
                <a:solidFill>
                  <a:srgbClr val="AFC8E8"/>
                </a:solidFill>
                <a:latin typeface="Arial" pitchFamily="34" charset="0"/>
                <a:ea typeface="Arial" pitchFamily="34" charset="-122"/>
                <a:cs typeface="Arial" pitchFamily="34" charset="-120"/>
                <a:hlinkClick r:id="rId1" invalidUrl="" action="" tgtFrame="" tooltip="" history="1" highlightClick="0" endSnd="0">
                  <a:extLst>
                    <a:ext uri="{A12FA001-AC4F-418D-AE19-62706E023703}">
                      <ahyp:hlinkClr xmlns:ahyp="http://schemas.microsoft.com/office/drawing/2018/hyperlinkcolor" val="tx"/>
                    </a:ext>
                  </a:extLst>
                </a:hlinkClick>
              </a:rPr>
              <a:t>CC BY-NC 4.0</a:t>
            </a:r>
            <a:pPr indent="0" marL="0">
              <a:buNone/>
            </a:pPr>
            <a:r>
              <a:rPr lang="en-US" sz="900" dirty="0">
                <a:solidFill>
                  <a:srgbClr val="8FA8C8"/>
                </a:solidFill>
                <a:latin typeface="Arial" pitchFamily="34" charset="0"/>
                <a:ea typeface="Arial" pitchFamily="34" charset="-122"/>
                <a:cs typeface="Arial" pitchFamily="34" charset="-120"/>
              </a:rPr>
              <a:t> (https://creativecommons.org/licenses/by-nc/4.0/).</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6A4C93"/>
        </a:solidFill>
      </p:bgPr>
    </p:bg>
    <p:spTree>
      <p:nvGrpSpPr>
        <p:cNvPr id="1" name=""/>
        <p:cNvGrpSpPr/>
        <p:nvPr/>
      </p:nvGrpSpPr>
      <p:grpSpPr>
        <a:xfrm>
          <a:off x="0" y="0"/>
          <a:ext cx="0" cy="0"/>
          <a:chOff x="0" y="0"/>
          <a:chExt cx="0" cy="0"/>
        </a:xfrm>
      </p:grpSpPr>
      <p:sp>
        <p:nvSpPr>
          <p:cNvPr id="2" name="Text 0"/>
          <p:cNvSpPr/>
          <p:nvPr/>
        </p:nvSpPr>
        <p:spPr>
          <a:xfrm>
            <a:off x="548640" y="365760"/>
            <a:ext cx="6400800" cy="365760"/>
          </a:xfrm>
          <a:prstGeom prst="rect">
            <a:avLst/>
          </a:prstGeom>
          <a:noFill/>
          <a:ln/>
        </p:spPr>
        <p:txBody>
          <a:bodyPr wrap="square" lIns="0" tIns="0" rIns="0" bIns="0" rtlCol="0" anchor="ctr"/>
          <a:lstStyle/>
          <a:p>
            <a:pPr indent="0" marL="0">
              <a:buNone/>
            </a:pPr>
            <a:r>
              <a:rPr lang="en-US" sz="1300" b="1" spc="200" kern="0" dirty="0">
                <a:solidFill>
                  <a:srgbClr val="E0D6F0"/>
                </a:solidFill>
                <a:latin typeface="Arial" pitchFamily="34" charset="0"/>
                <a:ea typeface="Arial" pitchFamily="34" charset="-122"/>
                <a:cs typeface="Arial" pitchFamily="34" charset="-120"/>
              </a:rPr>
              <a:t>QUESTION 1 OF 9</a:t>
            </a:r>
            <a:endParaRPr lang="en-US" sz="1300" dirty="0"/>
          </a:p>
        </p:txBody>
      </p:sp>
      <p:sp>
        <p:nvSpPr>
          <p:cNvPr id="3" name="Shape 1"/>
          <p:cNvSpPr/>
          <p:nvPr/>
        </p:nvSpPr>
        <p:spPr>
          <a:xfrm>
            <a:off x="8138160" y="320040"/>
            <a:ext cx="3474720" cy="365760"/>
          </a:xfrm>
          <a:prstGeom prst="roundRect">
            <a:avLst>
              <a:gd name="adj" fmla="val 15000"/>
            </a:avLst>
          </a:prstGeom>
          <a:solidFill>
            <a:srgbClr val="5A3F80"/>
          </a:solidFill>
          <a:ln/>
        </p:spPr>
      </p:sp>
      <p:sp>
        <p:nvSpPr>
          <p:cNvPr id="4" name="Text 2"/>
          <p:cNvSpPr/>
          <p:nvPr/>
        </p:nvSpPr>
        <p:spPr>
          <a:xfrm>
            <a:off x="8138160" y="320040"/>
            <a:ext cx="3474720" cy="365760"/>
          </a:xfrm>
          <a:prstGeom prst="rect">
            <a:avLst/>
          </a:prstGeom>
          <a:noFill/>
          <a:ln/>
        </p:spPr>
        <p:txBody>
          <a:bodyPr wrap="square" lIns="0" tIns="0" rIns="0" bIns="0" rtlCol="0" anchor="ctr"/>
          <a:lstStyle/>
          <a:p>
            <a:pPr algn="ctr" indent="0" marL="0">
              <a:buNone/>
            </a:pPr>
            <a:r>
              <a:rPr lang="en-US" sz="1100" i="1" dirty="0">
                <a:solidFill>
                  <a:srgbClr val="E0D6F0"/>
                </a:solidFill>
                <a:latin typeface="Arial" pitchFamily="34" charset="0"/>
                <a:ea typeface="Arial" pitchFamily="34" charset="-122"/>
                <a:cs typeface="Arial" pitchFamily="34" charset="-120"/>
              </a:rPr>
              <a:t>Use after: Predict phase</a:t>
            </a:r>
            <a:endParaRPr lang="en-US" sz="1100" dirty="0"/>
          </a:p>
        </p:txBody>
      </p:sp>
      <p:sp>
        <p:nvSpPr>
          <p:cNvPr id="5" name="Text 3"/>
          <p:cNvSpPr/>
          <p:nvPr/>
        </p:nvSpPr>
        <p:spPr>
          <a:xfrm>
            <a:off x="548640" y="868680"/>
            <a:ext cx="11064240" cy="1325880"/>
          </a:xfrm>
          <a:prstGeom prst="rect">
            <a:avLst/>
          </a:prstGeom>
          <a:noFill/>
          <a:ln/>
        </p:spPr>
        <p:txBody>
          <a:bodyPr wrap="square" lIns="0" tIns="0" rIns="0" bIns="0" rtlCol="0" anchor="ctr"/>
          <a:lstStyle/>
          <a:p>
            <a:pPr indent="0" marL="0">
              <a:buNone/>
            </a:pPr>
            <a:r>
              <a:rPr lang="en-US" sz="2300" b="1" dirty="0">
                <a:solidFill>
                  <a:srgbClr val="FFFFFF"/>
                </a:solidFill>
                <a:latin typeface="Arial" pitchFamily="34" charset="0"/>
                <a:ea typeface="Arial" pitchFamily="34" charset="-122"/>
                <a:cs typeface="Arial" pitchFamily="34" charset="-120"/>
              </a:rPr>
              <a:t>A cow carries one calf for about 9 months. How does the developing calf get its oxygen and food while inside the mother?</a:t>
            </a:r>
            <a:endParaRPr lang="en-US" sz="2300" dirty="0"/>
          </a:p>
        </p:txBody>
      </p:sp>
      <p:sp>
        <p:nvSpPr>
          <p:cNvPr id="6" name="Shape 4"/>
          <p:cNvSpPr/>
          <p:nvPr/>
        </p:nvSpPr>
        <p:spPr>
          <a:xfrm>
            <a:off x="731520" y="2331720"/>
            <a:ext cx="10698480" cy="777240"/>
          </a:xfrm>
          <a:prstGeom prst="roundRect">
            <a:avLst>
              <a:gd name="adj" fmla="val 9412"/>
            </a:avLst>
          </a:prstGeom>
          <a:solidFill>
            <a:srgbClr val="7C5CAA"/>
          </a:solidFill>
          <a:ln/>
        </p:spPr>
      </p:sp>
      <p:sp>
        <p:nvSpPr>
          <p:cNvPr id="7" name="Text 5"/>
          <p:cNvSpPr/>
          <p:nvPr/>
        </p:nvSpPr>
        <p:spPr>
          <a:xfrm>
            <a:off x="914400" y="23317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8" name="Text 6"/>
          <p:cNvSpPr/>
          <p:nvPr/>
        </p:nvSpPr>
        <p:spPr>
          <a:xfrm>
            <a:off x="1554480" y="23317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The calf swallows food through its mouth and breathes air through its nose inside the uterus</a:t>
            </a:r>
            <a:endParaRPr lang="en-US" sz="1500" dirty="0"/>
          </a:p>
        </p:txBody>
      </p:sp>
      <p:sp>
        <p:nvSpPr>
          <p:cNvPr id="9" name="Shape 7"/>
          <p:cNvSpPr/>
          <p:nvPr/>
        </p:nvSpPr>
        <p:spPr>
          <a:xfrm>
            <a:off x="731520" y="3246120"/>
            <a:ext cx="10698480" cy="777240"/>
          </a:xfrm>
          <a:prstGeom prst="roundRect">
            <a:avLst>
              <a:gd name="adj" fmla="val 9412"/>
            </a:avLst>
          </a:prstGeom>
          <a:solidFill>
            <a:srgbClr val="7C5CAA"/>
          </a:solidFill>
          <a:ln/>
        </p:spPr>
      </p:sp>
      <p:sp>
        <p:nvSpPr>
          <p:cNvPr id="10" name="Text 8"/>
          <p:cNvSpPr/>
          <p:nvPr/>
        </p:nvSpPr>
        <p:spPr>
          <a:xfrm>
            <a:off x="914400" y="32461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1" name="Text 9"/>
          <p:cNvSpPr/>
          <p:nvPr/>
        </p:nvSpPr>
        <p:spPr>
          <a:xfrm>
            <a:off x="1554480" y="32461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The mother's blood flows directly into the calf's blood vessels and mixes with it</a:t>
            </a:r>
            <a:endParaRPr lang="en-US" sz="1500" dirty="0"/>
          </a:p>
        </p:txBody>
      </p:sp>
      <p:sp>
        <p:nvSpPr>
          <p:cNvPr id="12" name="Shape 10"/>
          <p:cNvSpPr/>
          <p:nvPr/>
        </p:nvSpPr>
        <p:spPr>
          <a:xfrm>
            <a:off x="731520" y="4160520"/>
            <a:ext cx="10698480" cy="777240"/>
          </a:xfrm>
          <a:prstGeom prst="roundRect">
            <a:avLst>
              <a:gd name="adj" fmla="val 9412"/>
            </a:avLst>
          </a:prstGeom>
          <a:solidFill>
            <a:srgbClr val="7C5CAA"/>
          </a:solidFill>
          <a:ln/>
        </p:spPr>
      </p:sp>
      <p:sp>
        <p:nvSpPr>
          <p:cNvPr id="13" name="Text 11"/>
          <p:cNvSpPr/>
          <p:nvPr/>
        </p:nvSpPr>
        <p:spPr>
          <a:xfrm>
            <a:off x="914400" y="41605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4" name="Text 12"/>
          <p:cNvSpPr/>
          <p:nvPr/>
        </p:nvSpPr>
        <p:spPr>
          <a:xfrm>
            <a:off x="1554480" y="41605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The calf uses only the yolk stored inside its body until birth</a:t>
            </a:r>
            <a:endParaRPr lang="en-US" sz="1500" dirty="0"/>
          </a:p>
        </p:txBody>
      </p:sp>
      <p:sp>
        <p:nvSpPr>
          <p:cNvPr id="15" name="Shape 13"/>
          <p:cNvSpPr/>
          <p:nvPr/>
        </p:nvSpPr>
        <p:spPr>
          <a:xfrm>
            <a:off x="731520" y="5074920"/>
            <a:ext cx="10698480" cy="777240"/>
          </a:xfrm>
          <a:prstGeom prst="roundRect">
            <a:avLst>
              <a:gd name="adj" fmla="val 9412"/>
            </a:avLst>
          </a:prstGeom>
          <a:solidFill>
            <a:srgbClr val="7C5CAA"/>
          </a:solidFill>
          <a:ln/>
        </p:spPr>
      </p:sp>
      <p:sp>
        <p:nvSpPr>
          <p:cNvPr id="16" name="Text 14"/>
          <p:cNvSpPr/>
          <p:nvPr/>
        </p:nvSpPr>
        <p:spPr>
          <a:xfrm>
            <a:off x="914400" y="50749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D</a:t>
            </a:r>
            <a:endParaRPr lang="en-US" sz="1800" dirty="0"/>
          </a:p>
        </p:txBody>
      </p:sp>
      <p:sp>
        <p:nvSpPr>
          <p:cNvPr id="17" name="Text 15"/>
          <p:cNvSpPr/>
          <p:nvPr/>
        </p:nvSpPr>
        <p:spPr>
          <a:xfrm>
            <a:off x="1554480" y="50749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Substances diffuse across the thin membranes of the placenta between the mother's blood and the calf's blood</a:t>
            </a:r>
            <a:endParaRPr lang="en-US" sz="1500" dirty="0"/>
          </a:p>
        </p:txBody>
      </p:sp>
      <p:sp>
        <p:nvSpPr>
          <p:cNvPr id="18" name="Text 16"/>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C9B8E0"/>
                </a:solidFill>
                <a:latin typeface="Arial" pitchFamily="34" charset="0"/>
                <a:ea typeface="Arial" pitchFamily="34" charset="-122"/>
                <a:cs typeface="Arial"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6A4C93"/>
        </a:solidFill>
      </p:bgPr>
    </p:bg>
    <p:spTree>
      <p:nvGrpSpPr>
        <p:cNvPr id="1" name=""/>
        <p:cNvGrpSpPr/>
        <p:nvPr/>
      </p:nvGrpSpPr>
      <p:grpSpPr>
        <a:xfrm>
          <a:off x="0" y="0"/>
          <a:ext cx="0" cy="0"/>
          <a:chOff x="0" y="0"/>
          <a:chExt cx="0" cy="0"/>
        </a:xfrm>
      </p:grpSpPr>
      <p:sp>
        <p:nvSpPr>
          <p:cNvPr id="2" name="Text 0"/>
          <p:cNvSpPr/>
          <p:nvPr/>
        </p:nvSpPr>
        <p:spPr>
          <a:xfrm>
            <a:off x="548640" y="365760"/>
            <a:ext cx="6400800" cy="365760"/>
          </a:xfrm>
          <a:prstGeom prst="rect">
            <a:avLst/>
          </a:prstGeom>
          <a:noFill/>
          <a:ln/>
        </p:spPr>
        <p:txBody>
          <a:bodyPr wrap="square" lIns="0" tIns="0" rIns="0" bIns="0" rtlCol="0" anchor="ctr"/>
          <a:lstStyle/>
          <a:p>
            <a:pPr indent="0" marL="0">
              <a:buNone/>
            </a:pPr>
            <a:r>
              <a:rPr lang="en-US" sz="1300" b="1" spc="200" kern="0" dirty="0">
                <a:solidFill>
                  <a:srgbClr val="E0D6F0"/>
                </a:solidFill>
                <a:latin typeface="Arial" pitchFamily="34" charset="0"/>
                <a:ea typeface="Arial" pitchFamily="34" charset="-122"/>
                <a:cs typeface="Arial" pitchFamily="34" charset="-120"/>
              </a:rPr>
              <a:t>QUESTION 2 OF 9</a:t>
            </a:r>
            <a:endParaRPr lang="en-US" sz="1300" dirty="0"/>
          </a:p>
        </p:txBody>
      </p:sp>
      <p:sp>
        <p:nvSpPr>
          <p:cNvPr id="3" name="Shape 1"/>
          <p:cNvSpPr/>
          <p:nvPr/>
        </p:nvSpPr>
        <p:spPr>
          <a:xfrm>
            <a:off x="8138160" y="320040"/>
            <a:ext cx="3474720" cy="365760"/>
          </a:xfrm>
          <a:prstGeom prst="roundRect">
            <a:avLst>
              <a:gd name="adj" fmla="val 15000"/>
            </a:avLst>
          </a:prstGeom>
          <a:solidFill>
            <a:srgbClr val="5A3F80"/>
          </a:solidFill>
          <a:ln/>
        </p:spPr>
      </p:sp>
      <p:sp>
        <p:nvSpPr>
          <p:cNvPr id="4" name="Text 2"/>
          <p:cNvSpPr/>
          <p:nvPr/>
        </p:nvSpPr>
        <p:spPr>
          <a:xfrm>
            <a:off x="8138160" y="320040"/>
            <a:ext cx="3474720" cy="365760"/>
          </a:xfrm>
          <a:prstGeom prst="rect">
            <a:avLst/>
          </a:prstGeom>
          <a:noFill/>
          <a:ln/>
        </p:spPr>
        <p:txBody>
          <a:bodyPr wrap="square" lIns="0" tIns="0" rIns="0" bIns="0" rtlCol="0" anchor="ctr"/>
          <a:lstStyle/>
          <a:p>
            <a:pPr algn="ctr" indent="0" marL="0">
              <a:buNone/>
            </a:pPr>
            <a:r>
              <a:rPr lang="en-US" sz="1100" i="1" dirty="0">
                <a:solidFill>
                  <a:srgbClr val="E0D6F0"/>
                </a:solidFill>
                <a:latin typeface="Arial" pitchFamily="34" charset="0"/>
                <a:ea typeface="Arial" pitchFamily="34" charset="-122"/>
                <a:cs typeface="Arial" pitchFamily="34" charset="-120"/>
              </a:rPr>
              <a:t>Use after: Predict phase</a:t>
            </a:r>
            <a:endParaRPr lang="en-US" sz="1100" dirty="0"/>
          </a:p>
        </p:txBody>
      </p:sp>
      <p:sp>
        <p:nvSpPr>
          <p:cNvPr id="5" name="Text 3"/>
          <p:cNvSpPr/>
          <p:nvPr/>
        </p:nvSpPr>
        <p:spPr>
          <a:xfrm>
            <a:off x="548640" y="868680"/>
            <a:ext cx="11064240" cy="1325880"/>
          </a:xfrm>
          <a:prstGeom prst="rect">
            <a:avLst/>
          </a:prstGeom>
          <a:noFill/>
          <a:ln/>
        </p:spPr>
        <p:txBody>
          <a:bodyPr wrap="square" lIns="0" tIns="0" rIns="0" bIns="0" rtlCol="0" anchor="ctr"/>
          <a:lstStyle/>
          <a:p>
            <a:pPr indent="0" marL="0">
              <a:buNone/>
            </a:pPr>
            <a:r>
              <a:rPr lang="en-US" sz="2300" b="1" dirty="0">
                <a:solidFill>
                  <a:srgbClr val="FFFFFF"/>
                </a:solidFill>
                <a:latin typeface="Arial" pitchFamily="34" charset="0"/>
                <a:ea typeface="Arial" pitchFamily="34" charset="-122"/>
                <a:cs typeface="Arial" pitchFamily="34" charset="-120"/>
              </a:rPr>
              <a:t>Which statement about IVF babies is correct?</a:t>
            </a:r>
            <a:endParaRPr lang="en-US" sz="2300" dirty="0"/>
          </a:p>
        </p:txBody>
      </p:sp>
      <p:sp>
        <p:nvSpPr>
          <p:cNvPr id="6" name="Shape 4"/>
          <p:cNvSpPr/>
          <p:nvPr/>
        </p:nvSpPr>
        <p:spPr>
          <a:xfrm>
            <a:off x="731520" y="2331720"/>
            <a:ext cx="10698480" cy="777240"/>
          </a:xfrm>
          <a:prstGeom prst="roundRect">
            <a:avLst>
              <a:gd name="adj" fmla="val 9412"/>
            </a:avLst>
          </a:prstGeom>
          <a:solidFill>
            <a:srgbClr val="7C5CAA"/>
          </a:solidFill>
          <a:ln/>
        </p:spPr>
      </p:sp>
      <p:sp>
        <p:nvSpPr>
          <p:cNvPr id="7" name="Text 5"/>
          <p:cNvSpPr/>
          <p:nvPr/>
        </p:nvSpPr>
        <p:spPr>
          <a:xfrm>
            <a:off x="914400" y="23317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8" name="Text 6"/>
          <p:cNvSpPr/>
          <p:nvPr/>
        </p:nvSpPr>
        <p:spPr>
          <a:xfrm>
            <a:off x="1554480" y="23317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The embryo is placed in the mother's uterus and still develops inside her body</a:t>
            </a:r>
            <a:endParaRPr lang="en-US" sz="1700" dirty="0"/>
          </a:p>
        </p:txBody>
      </p:sp>
      <p:sp>
        <p:nvSpPr>
          <p:cNvPr id="9" name="Shape 7"/>
          <p:cNvSpPr/>
          <p:nvPr/>
        </p:nvSpPr>
        <p:spPr>
          <a:xfrm>
            <a:off x="731520" y="3246120"/>
            <a:ext cx="10698480" cy="777240"/>
          </a:xfrm>
          <a:prstGeom prst="roundRect">
            <a:avLst>
              <a:gd name="adj" fmla="val 9412"/>
            </a:avLst>
          </a:prstGeom>
          <a:solidFill>
            <a:srgbClr val="7C5CAA"/>
          </a:solidFill>
          <a:ln/>
        </p:spPr>
      </p:sp>
      <p:sp>
        <p:nvSpPr>
          <p:cNvPr id="10" name="Text 8"/>
          <p:cNvSpPr/>
          <p:nvPr/>
        </p:nvSpPr>
        <p:spPr>
          <a:xfrm>
            <a:off x="914400" y="32461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1" name="Text 9"/>
          <p:cNvSpPr/>
          <p:nvPr/>
        </p:nvSpPr>
        <p:spPr>
          <a:xfrm>
            <a:off x="1554480" y="32461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The baby grows wholly in a test tube until birth</a:t>
            </a:r>
            <a:endParaRPr lang="en-US" sz="1700" dirty="0"/>
          </a:p>
        </p:txBody>
      </p:sp>
      <p:sp>
        <p:nvSpPr>
          <p:cNvPr id="12" name="Shape 10"/>
          <p:cNvSpPr/>
          <p:nvPr/>
        </p:nvSpPr>
        <p:spPr>
          <a:xfrm>
            <a:off x="731520" y="4160520"/>
            <a:ext cx="10698480" cy="777240"/>
          </a:xfrm>
          <a:prstGeom prst="roundRect">
            <a:avLst>
              <a:gd name="adj" fmla="val 9412"/>
            </a:avLst>
          </a:prstGeom>
          <a:solidFill>
            <a:srgbClr val="7C5CAA"/>
          </a:solidFill>
          <a:ln/>
        </p:spPr>
      </p:sp>
      <p:sp>
        <p:nvSpPr>
          <p:cNvPr id="13" name="Text 11"/>
          <p:cNvSpPr/>
          <p:nvPr/>
        </p:nvSpPr>
        <p:spPr>
          <a:xfrm>
            <a:off x="914400" y="41605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4" name="Text 12"/>
          <p:cNvSpPr/>
          <p:nvPr/>
        </p:nvSpPr>
        <p:spPr>
          <a:xfrm>
            <a:off x="1554480" y="41605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The baby grows inside the mother only for the first week and then in a machine</a:t>
            </a:r>
            <a:endParaRPr lang="en-US" sz="1700" dirty="0"/>
          </a:p>
        </p:txBody>
      </p:sp>
      <p:sp>
        <p:nvSpPr>
          <p:cNvPr id="15" name="Shape 13"/>
          <p:cNvSpPr/>
          <p:nvPr/>
        </p:nvSpPr>
        <p:spPr>
          <a:xfrm>
            <a:off x="731520" y="5074920"/>
            <a:ext cx="10698480" cy="777240"/>
          </a:xfrm>
          <a:prstGeom prst="roundRect">
            <a:avLst>
              <a:gd name="adj" fmla="val 9412"/>
            </a:avLst>
          </a:prstGeom>
          <a:solidFill>
            <a:srgbClr val="7C5CAA"/>
          </a:solidFill>
          <a:ln/>
        </p:spPr>
      </p:sp>
      <p:sp>
        <p:nvSpPr>
          <p:cNvPr id="16" name="Text 14"/>
          <p:cNvSpPr/>
          <p:nvPr/>
        </p:nvSpPr>
        <p:spPr>
          <a:xfrm>
            <a:off x="914400" y="50749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D</a:t>
            </a:r>
            <a:endParaRPr lang="en-US" sz="1800" dirty="0"/>
          </a:p>
        </p:txBody>
      </p:sp>
      <p:sp>
        <p:nvSpPr>
          <p:cNvPr id="17" name="Text 15"/>
          <p:cNvSpPr/>
          <p:nvPr/>
        </p:nvSpPr>
        <p:spPr>
          <a:xfrm>
            <a:off x="1554480" y="50749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The baby does not need a placenta because it started in a laboratory</a:t>
            </a:r>
            <a:endParaRPr lang="en-US" sz="1700" dirty="0"/>
          </a:p>
        </p:txBody>
      </p:sp>
      <p:sp>
        <p:nvSpPr>
          <p:cNvPr id="18" name="Text 16"/>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C9B8E0"/>
                </a:solidFill>
                <a:latin typeface="Arial" pitchFamily="34" charset="0"/>
                <a:ea typeface="Arial" pitchFamily="34" charset="-122"/>
                <a:cs typeface="Arial"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6A4C93"/>
        </a:solidFill>
      </p:bgPr>
    </p:bg>
    <p:spTree>
      <p:nvGrpSpPr>
        <p:cNvPr id="1" name=""/>
        <p:cNvGrpSpPr/>
        <p:nvPr/>
      </p:nvGrpSpPr>
      <p:grpSpPr>
        <a:xfrm>
          <a:off x="0" y="0"/>
          <a:ext cx="0" cy="0"/>
          <a:chOff x="0" y="0"/>
          <a:chExt cx="0" cy="0"/>
        </a:xfrm>
      </p:grpSpPr>
      <p:sp>
        <p:nvSpPr>
          <p:cNvPr id="2" name="Text 0"/>
          <p:cNvSpPr/>
          <p:nvPr/>
        </p:nvSpPr>
        <p:spPr>
          <a:xfrm>
            <a:off x="548640" y="365760"/>
            <a:ext cx="6400800" cy="365760"/>
          </a:xfrm>
          <a:prstGeom prst="rect">
            <a:avLst/>
          </a:prstGeom>
          <a:noFill/>
          <a:ln/>
        </p:spPr>
        <p:txBody>
          <a:bodyPr wrap="square" lIns="0" tIns="0" rIns="0" bIns="0" rtlCol="0" anchor="ctr"/>
          <a:lstStyle/>
          <a:p>
            <a:pPr indent="0" marL="0">
              <a:buNone/>
            </a:pPr>
            <a:r>
              <a:rPr lang="en-US" sz="1300" b="1" spc="200" kern="0" dirty="0">
                <a:solidFill>
                  <a:srgbClr val="E0D6F0"/>
                </a:solidFill>
                <a:latin typeface="Arial" pitchFamily="34" charset="0"/>
                <a:ea typeface="Arial" pitchFamily="34" charset="-122"/>
                <a:cs typeface="Arial" pitchFamily="34" charset="-120"/>
              </a:rPr>
              <a:t>QUESTION 3 OF 9</a:t>
            </a:r>
            <a:endParaRPr lang="en-US" sz="1300" dirty="0"/>
          </a:p>
        </p:txBody>
      </p:sp>
      <p:sp>
        <p:nvSpPr>
          <p:cNvPr id="3" name="Shape 1"/>
          <p:cNvSpPr/>
          <p:nvPr/>
        </p:nvSpPr>
        <p:spPr>
          <a:xfrm>
            <a:off x="8138160" y="320040"/>
            <a:ext cx="3474720" cy="365760"/>
          </a:xfrm>
          <a:prstGeom prst="roundRect">
            <a:avLst>
              <a:gd name="adj" fmla="val 15000"/>
            </a:avLst>
          </a:prstGeom>
          <a:solidFill>
            <a:srgbClr val="5A3F80"/>
          </a:solidFill>
          <a:ln/>
        </p:spPr>
      </p:sp>
      <p:sp>
        <p:nvSpPr>
          <p:cNvPr id="4" name="Text 2"/>
          <p:cNvSpPr/>
          <p:nvPr/>
        </p:nvSpPr>
        <p:spPr>
          <a:xfrm>
            <a:off x="8138160" y="320040"/>
            <a:ext cx="3474720" cy="365760"/>
          </a:xfrm>
          <a:prstGeom prst="rect">
            <a:avLst/>
          </a:prstGeom>
          <a:noFill/>
          <a:ln/>
        </p:spPr>
        <p:txBody>
          <a:bodyPr wrap="square" lIns="0" tIns="0" rIns="0" bIns="0" rtlCol="0" anchor="ctr"/>
          <a:lstStyle/>
          <a:p>
            <a:pPr algn="ctr" indent="0" marL="0">
              <a:buNone/>
            </a:pPr>
            <a:r>
              <a:rPr lang="en-US" sz="1100" i="1" dirty="0">
                <a:solidFill>
                  <a:srgbClr val="E0D6F0"/>
                </a:solidFill>
                <a:latin typeface="Arial" pitchFamily="34" charset="0"/>
                <a:ea typeface="Arial" pitchFamily="34" charset="-122"/>
                <a:cs typeface="Arial" pitchFamily="34" charset="-120"/>
              </a:rPr>
              <a:t>Use after: Observe phase</a:t>
            </a:r>
            <a:endParaRPr lang="en-US" sz="1100" dirty="0"/>
          </a:p>
        </p:txBody>
      </p:sp>
      <p:sp>
        <p:nvSpPr>
          <p:cNvPr id="5" name="Text 3"/>
          <p:cNvSpPr/>
          <p:nvPr/>
        </p:nvSpPr>
        <p:spPr>
          <a:xfrm>
            <a:off x="548640" y="868680"/>
            <a:ext cx="11064240" cy="1325880"/>
          </a:xfrm>
          <a:prstGeom prst="rect">
            <a:avLst/>
          </a:prstGeom>
          <a:noFill/>
          <a:ln/>
        </p:spPr>
        <p:txBody>
          <a:bodyPr wrap="square" lIns="0" tIns="0" rIns="0" bIns="0" rtlCol="0" anchor="ctr"/>
          <a:lstStyle/>
          <a:p>
            <a:pPr indent="0" marL="0">
              <a:buNone/>
            </a:pPr>
            <a:r>
              <a:rPr lang="en-US" sz="2300" b="1" dirty="0">
                <a:solidFill>
                  <a:srgbClr val="FFFFFF"/>
                </a:solidFill>
                <a:latin typeface="Arial" pitchFamily="34" charset="0"/>
                <a:ea typeface="Arial" pitchFamily="34" charset="-122"/>
                <a:cs typeface="Arial" pitchFamily="34" charset="-120"/>
              </a:rPr>
              <a:t>In humans, where does fertilisation normally take place, and where does the embryo then implant?</a:t>
            </a:r>
            <a:endParaRPr lang="en-US" sz="2300" dirty="0"/>
          </a:p>
        </p:txBody>
      </p:sp>
      <p:sp>
        <p:nvSpPr>
          <p:cNvPr id="6" name="Shape 4"/>
          <p:cNvSpPr/>
          <p:nvPr/>
        </p:nvSpPr>
        <p:spPr>
          <a:xfrm>
            <a:off x="731520" y="2331720"/>
            <a:ext cx="10698480" cy="777240"/>
          </a:xfrm>
          <a:prstGeom prst="roundRect">
            <a:avLst>
              <a:gd name="adj" fmla="val 9412"/>
            </a:avLst>
          </a:prstGeom>
          <a:solidFill>
            <a:srgbClr val="7C5CAA"/>
          </a:solidFill>
          <a:ln/>
        </p:spPr>
      </p:sp>
      <p:sp>
        <p:nvSpPr>
          <p:cNvPr id="7" name="Text 5"/>
          <p:cNvSpPr/>
          <p:nvPr/>
        </p:nvSpPr>
        <p:spPr>
          <a:xfrm>
            <a:off x="914400" y="23317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8" name="Text 6"/>
          <p:cNvSpPr/>
          <p:nvPr/>
        </p:nvSpPr>
        <p:spPr>
          <a:xfrm>
            <a:off x="1554480" y="23317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Fertilisation in the oviduct; implantation in the uterine wall</a:t>
            </a:r>
            <a:endParaRPr lang="en-US" sz="1700" dirty="0"/>
          </a:p>
        </p:txBody>
      </p:sp>
      <p:sp>
        <p:nvSpPr>
          <p:cNvPr id="9" name="Shape 7"/>
          <p:cNvSpPr/>
          <p:nvPr/>
        </p:nvSpPr>
        <p:spPr>
          <a:xfrm>
            <a:off x="731520" y="3246120"/>
            <a:ext cx="10698480" cy="777240"/>
          </a:xfrm>
          <a:prstGeom prst="roundRect">
            <a:avLst>
              <a:gd name="adj" fmla="val 9412"/>
            </a:avLst>
          </a:prstGeom>
          <a:solidFill>
            <a:srgbClr val="7C5CAA"/>
          </a:solidFill>
          <a:ln/>
        </p:spPr>
      </p:sp>
      <p:sp>
        <p:nvSpPr>
          <p:cNvPr id="10" name="Text 8"/>
          <p:cNvSpPr/>
          <p:nvPr/>
        </p:nvSpPr>
        <p:spPr>
          <a:xfrm>
            <a:off x="914400" y="32461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1" name="Text 9"/>
          <p:cNvSpPr/>
          <p:nvPr/>
        </p:nvSpPr>
        <p:spPr>
          <a:xfrm>
            <a:off x="1554480" y="32461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Fertilisation in the vagina; implantation in the cervix</a:t>
            </a:r>
            <a:endParaRPr lang="en-US" sz="1700" dirty="0"/>
          </a:p>
        </p:txBody>
      </p:sp>
      <p:sp>
        <p:nvSpPr>
          <p:cNvPr id="12" name="Shape 10"/>
          <p:cNvSpPr/>
          <p:nvPr/>
        </p:nvSpPr>
        <p:spPr>
          <a:xfrm>
            <a:off x="731520" y="4160520"/>
            <a:ext cx="10698480" cy="777240"/>
          </a:xfrm>
          <a:prstGeom prst="roundRect">
            <a:avLst>
              <a:gd name="adj" fmla="val 9412"/>
            </a:avLst>
          </a:prstGeom>
          <a:solidFill>
            <a:srgbClr val="7C5CAA"/>
          </a:solidFill>
          <a:ln/>
        </p:spPr>
      </p:sp>
      <p:sp>
        <p:nvSpPr>
          <p:cNvPr id="13" name="Text 11"/>
          <p:cNvSpPr/>
          <p:nvPr/>
        </p:nvSpPr>
        <p:spPr>
          <a:xfrm>
            <a:off x="914400" y="41605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4" name="Text 12"/>
          <p:cNvSpPr/>
          <p:nvPr/>
        </p:nvSpPr>
        <p:spPr>
          <a:xfrm>
            <a:off x="1554480" y="41605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Fertilisation in the uterus; implantation in the oviduct</a:t>
            </a:r>
            <a:endParaRPr lang="en-US" sz="1700" dirty="0"/>
          </a:p>
        </p:txBody>
      </p:sp>
      <p:sp>
        <p:nvSpPr>
          <p:cNvPr id="15" name="Shape 13"/>
          <p:cNvSpPr/>
          <p:nvPr/>
        </p:nvSpPr>
        <p:spPr>
          <a:xfrm>
            <a:off x="731520" y="5074920"/>
            <a:ext cx="10698480" cy="777240"/>
          </a:xfrm>
          <a:prstGeom prst="roundRect">
            <a:avLst>
              <a:gd name="adj" fmla="val 9412"/>
            </a:avLst>
          </a:prstGeom>
          <a:solidFill>
            <a:srgbClr val="7C5CAA"/>
          </a:solidFill>
          <a:ln/>
        </p:spPr>
      </p:sp>
      <p:sp>
        <p:nvSpPr>
          <p:cNvPr id="16" name="Text 14"/>
          <p:cNvSpPr/>
          <p:nvPr/>
        </p:nvSpPr>
        <p:spPr>
          <a:xfrm>
            <a:off x="914400" y="50749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D</a:t>
            </a:r>
            <a:endParaRPr lang="en-US" sz="1800" dirty="0"/>
          </a:p>
        </p:txBody>
      </p:sp>
      <p:sp>
        <p:nvSpPr>
          <p:cNvPr id="17" name="Text 15"/>
          <p:cNvSpPr/>
          <p:nvPr/>
        </p:nvSpPr>
        <p:spPr>
          <a:xfrm>
            <a:off x="1554480" y="50749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Fertilisation in the ovary; implantation in the placenta</a:t>
            </a:r>
            <a:endParaRPr lang="en-US" sz="1700" dirty="0"/>
          </a:p>
        </p:txBody>
      </p:sp>
      <p:sp>
        <p:nvSpPr>
          <p:cNvPr id="18" name="Text 16"/>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C9B8E0"/>
                </a:solidFill>
                <a:latin typeface="Arial" pitchFamily="34" charset="0"/>
                <a:ea typeface="Arial" pitchFamily="34" charset="-122"/>
                <a:cs typeface="Arial"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6A4C93"/>
        </a:solidFill>
      </p:bgPr>
    </p:bg>
    <p:spTree>
      <p:nvGrpSpPr>
        <p:cNvPr id="1" name=""/>
        <p:cNvGrpSpPr/>
        <p:nvPr/>
      </p:nvGrpSpPr>
      <p:grpSpPr>
        <a:xfrm>
          <a:off x="0" y="0"/>
          <a:ext cx="0" cy="0"/>
          <a:chOff x="0" y="0"/>
          <a:chExt cx="0" cy="0"/>
        </a:xfrm>
      </p:grpSpPr>
      <p:sp>
        <p:nvSpPr>
          <p:cNvPr id="2" name="Text 0"/>
          <p:cNvSpPr/>
          <p:nvPr/>
        </p:nvSpPr>
        <p:spPr>
          <a:xfrm>
            <a:off x="548640" y="365760"/>
            <a:ext cx="6400800" cy="365760"/>
          </a:xfrm>
          <a:prstGeom prst="rect">
            <a:avLst/>
          </a:prstGeom>
          <a:noFill/>
          <a:ln/>
        </p:spPr>
        <p:txBody>
          <a:bodyPr wrap="square" lIns="0" tIns="0" rIns="0" bIns="0" rtlCol="0" anchor="ctr"/>
          <a:lstStyle/>
          <a:p>
            <a:pPr indent="0" marL="0">
              <a:buNone/>
            </a:pPr>
            <a:r>
              <a:rPr lang="en-US" sz="1300" b="1" spc="200" kern="0" dirty="0">
                <a:solidFill>
                  <a:srgbClr val="E0D6F0"/>
                </a:solidFill>
                <a:latin typeface="Arial" pitchFamily="34" charset="0"/>
                <a:ea typeface="Arial" pitchFamily="34" charset="-122"/>
                <a:cs typeface="Arial" pitchFamily="34" charset="-120"/>
              </a:rPr>
              <a:t>QUESTION 4 OF 9</a:t>
            </a:r>
            <a:endParaRPr lang="en-US" sz="1300" dirty="0"/>
          </a:p>
        </p:txBody>
      </p:sp>
      <p:sp>
        <p:nvSpPr>
          <p:cNvPr id="3" name="Shape 1"/>
          <p:cNvSpPr/>
          <p:nvPr/>
        </p:nvSpPr>
        <p:spPr>
          <a:xfrm>
            <a:off x="8138160" y="320040"/>
            <a:ext cx="3474720" cy="365760"/>
          </a:xfrm>
          <a:prstGeom prst="roundRect">
            <a:avLst>
              <a:gd name="adj" fmla="val 15000"/>
            </a:avLst>
          </a:prstGeom>
          <a:solidFill>
            <a:srgbClr val="5A3F80"/>
          </a:solidFill>
          <a:ln/>
        </p:spPr>
      </p:sp>
      <p:sp>
        <p:nvSpPr>
          <p:cNvPr id="4" name="Text 2"/>
          <p:cNvSpPr/>
          <p:nvPr/>
        </p:nvSpPr>
        <p:spPr>
          <a:xfrm>
            <a:off x="8138160" y="320040"/>
            <a:ext cx="3474720" cy="365760"/>
          </a:xfrm>
          <a:prstGeom prst="rect">
            <a:avLst/>
          </a:prstGeom>
          <a:noFill/>
          <a:ln/>
        </p:spPr>
        <p:txBody>
          <a:bodyPr wrap="square" lIns="0" tIns="0" rIns="0" bIns="0" rtlCol="0" anchor="ctr"/>
          <a:lstStyle/>
          <a:p>
            <a:pPr algn="ctr" indent="0" marL="0">
              <a:buNone/>
            </a:pPr>
            <a:r>
              <a:rPr lang="en-US" sz="1100" i="1" dirty="0">
                <a:solidFill>
                  <a:srgbClr val="E0D6F0"/>
                </a:solidFill>
                <a:latin typeface="Arial" pitchFamily="34" charset="0"/>
                <a:ea typeface="Arial" pitchFamily="34" charset="-122"/>
                <a:cs typeface="Arial" pitchFamily="34" charset="-120"/>
              </a:rPr>
              <a:t>Use after: Observe phase</a:t>
            </a:r>
            <a:endParaRPr lang="en-US" sz="1100" dirty="0"/>
          </a:p>
        </p:txBody>
      </p:sp>
      <p:sp>
        <p:nvSpPr>
          <p:cNvPr id="5" name="Text 3"/>
          <p:cNvSpPr/>
          <p:nvPr/>
        </p:nvSpPr>
        <p:spPr>
          <a:xfrm>
            <a:off x="548640" y="868680"/>
            <a:ext cx="11064240" cy="132588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A learner draws a placenta and marks where oxygen and nutrients pass from the mother to the baby. Which labelled part is the site where this exchange happens?</a:t>
            </a:r>
            <a:endParaRPr lang="en-US" sz="2000" dirty="0"/>
          </a:p>
        </p:txBody>
      </p:sp>
      <p:sp>
        <p:nvSpPr>
          <p:cNvPr id="6" name="Shape 4"/>
          <p:cNvSpPr/>
          <p:nvPr/>
        </p:nvSpPr>
        <p:spPr>
          <a:xfrm>
            <a:off x="731520" y="2331720"/>
            <a:ext cx="10698480" cy="777240"/>
          </a:xfrm>
          <a:prstGeom prst="roundRect">
            <a:avLst>
              <a:gd name="adj" fmla="val 9412"/>
            </a:avLst>
          </a:prstGeom>
          <a:solidFill>
            <a:srgbClr val="7C5CAA"/>
          </a:solidFill>
          <a:ln/>
        </p:spPr>
      </p:sp>
      <p:sp>
        <p:nvSpPr>
          <p:cNvPr id="7" name="Text 5"/>
          <p:cNvSpPr/>
          <p:nvPr/>
        </p:nvSpPr>
        <p:spPr>
          <a:xfrm>
            <a:off x="914400" y="23317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8" name="Text 6"/>
          <p:cNvSpPr/>
          <p:nvPr/>
        </p:nvSpPr>
        <p:spPr>
          <a:xfrm>
            <a:off x="1554480" y="23317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The placenta, across thin membranes</a:t>
            </a:r>
            <a:endParaRPr lang="en-US" sz="1700" dirty="0"/>
          </a:p>
        </p:txBody>
      </p:sp>
      <p:sp>
        <p:nvSpPr>
          <p:cNvPr id="9" name="Shape 7"/>
          <p:cNvSpPr/>
          <p:nvPr/>
        </p:nvSpPr>
        <p:spPr>
          <a:xfrm>
            <a:off x="731520" y="3246120"/>
            <a:ext cx="10698480" cy="777240"/>
          </a:xfrm>
          <a:prstGeom prst="roundRect">
            <a:avLst>
              <a:gd name="adj" fmla="val 9412"/>
            </a:avLst>
          </a:prstGeom>
          <a:solidFill>
            <a:srgbClr val="7C5CAA"/>
          </a:solidFill>
          <a:ln/>
        </p:spPr>
      </p:sp>
      <p:sp>
        <p:nvSpPr>
          <p:cNvPr id="10" name="Text 8"/>
          <p:cNvSpPr/>
          <p:nvPr/>
        </p:nvSpPr>
        <p:spPr>
          <a:xfrm>
            <a:off x="914400" y="32461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1" name="Text 9"/>
          <p:cNvSpPr/>
          <p:nvPr/>
        </p:nvSpPr>
        <p:spPr>
          <a:xfrm>
            <a:off x="1554480" y="32461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The wall of the vagina</a:t>
            </a:r>
            <a:endParaRPr lang="en-US" sz="1700" dirty="0"/>
          </a:p>
        </p:txBody>
      </p:sp>
      <p:sp>
        <p:nvSpPr>
          <p:cNvPr id="12" name="Shape 10"/>
          <p:cNvSpPr/>
          <p:nvPr/>
        </p:nvSpPr>
        <p:spPr>
          <a:xfrm>
            <a:off x="731520" y="4160520"/>
            <a:ext cx="10698480" cy="777240"/>
          </a:xfrm>
          <a:prstGeom prst="roundRect">
            <a:avLst>
              <a:gd name="adj" fmla="val 9412"/>
            </a:avLst>
          </a:prstGeom>
          <a:solidFill>
            <a:srgbClr val="7C5CAA"/>
          </a:solidFill>
          <a:ln/>
        </p:spPr>
      </p:sp>
      <p:sp>
        <p:nvSpPr>
          <p:cNvPr id="13" name="Text 11"/>
          <p:cNvSpPr/>
          <p:nvPr/>
        </p:nvSpPr>
        <p:spPr>
          <a:xfrm>
            <a:off x="914400" y="41605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4" name="Text 12"/>
          <p:cNvSpPr/>
          <p:nvPr/>
        </p:nvSpPr>
        <p:spPr>
          <a:xfrm>
            <a:off x="1554480" y="41605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The amniotic fluid, where the baby absorbs food</a:t>
            </a:r>
            <a:endParaRPr lang="en-US" sz="1700" dirty="0"/>
          </a:p>
        </p:txBody>
      </p:sp>
      <p:sp>
        <p:nvSpPr>
          <p:cNvPr id="15" name="Shape 13"/>
          <p:cNvSpPr/>
          <p:nvPr/>
        </p:nvSpPr>
        <p:spPr>
          <a:xfrm>
            <a:off x="731520" y="5074920"/>
            <a:ext cx="10698480" cy="777240"/>
          </a:xfrm>
          <a:prstGeom prst="roundRect">
            <a:avLst>
              <a:gd name="adj" fmla="val 9412"/>
            </a:avLst>
          </a:prstGeom>
          <a:solidFill>
            <a:srgbClr val="7C5CAA"/>
          </a:solidFill>
          <a:ln/>
        </p:spPr>
      </p:sp>
      <p:sp>
        <p:nvSpPr>
          <p:cNvPr id="16" name="Text 14"/>
          <p:cNvSpPr/>
          <p:nvPr/>
        </p:nvSpPr>
        <p:spPr>
          <a:xfrm>
            <a:off x="914400" y="50749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D</a:t>
            </a:r>
            <a:endParaRPr lang="en-US" sz="1800" dirty="0"/>
          </a:p>
        </p:txBody>
      </p:sp>
      <p:sp>
        <p:nvSpPr>
          <p:cNvPr id="17" name="Text 15"/>
          <p:cNvSpPr/>
          <p:nvPr/>
        </p:nvSpPr>
        <p:spPr>
          <a:xfrm>
            <a:off x="1554480" y="50749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The umbilical cord, where maternal blood mixes with fetal blood</a:t>
            </a:r>
            <a:endParaRPr lang="en-US" sz="1700" dirty="0"/>
          </a:p>
        </p:txBody>
      </p:sp>
      <p:sp>
        <p:nvSpPr>
          <p:cNvPr id="18" name="Text 16"/>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C9B8E0"/>
                </a:solidFill>
                <a:latin typeface="Arial" pitchFamily="34" charset="0"/>
                <a:ea typeface="Arial" pitchFamily="34" charset="-122"/>
                <a:cs typeface="Arial"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6A4C93"/>
        </a:solidFill>
      </p:bgPr>
    </p:bg>
    <p:spTree>
      <p:nvGrpSpPr>
        <p:cNvPr id="1" name=""/>
        <p:cNvGrpSpPr/>
        <p:nvPr/>
      </p:nvGrpSpPr>
      <p:grpSpPr>
        <a:xfrm>
          <a:off x="0" y="0"/>
          <a:ext cx="0" cy="0"/>
          <a:chOff x="0" y="0"/>
          <a:chExt cx="0" cy="0"/>
        </a:xfrm>
      </p:grpSpPr>
      <p:sp>
        <p:nvSpPr>
          <p:cNvPr id="2" name="Text 0"/>
          <p:cNvSpPr/>
          <p:nvPr/>
        </p:nvSpPr>
        <p:spPr>
          <a:xfrm>
            <a:off x="548640" y="365760"/>
            <a:ext cx="6400800" cy="365760"/>
          </a:xfrm>
          <a:prstGeom prst="rect">
            <a:avLst/>
          </a:prstGeom>
          <a:noFill/>
          <a:ln/>
        </p:spPr>
        <p:txBody>
          <a:bodyPr wrap="square" lIns="0" tIns="0" rIns="0" bIns="0" rtlCol="0" anchor="ctr"/>
          <a:lstStyle/>
          <a:p>
            <a:pPr indent="0" marL="0">
              <a:buNone/>
            </a:pPr>
            <a:r>
              <a:rPr lang="en-US" sz="1300" b="1" spc="200" kern="0" dirty="0">
                <a:solidFill>
                  <a:srgbClr val="E0D6F0"/>
                </a:solidFill>
                <a:latin typeface="Arial" pitchFamily="34" charset="0"/>
                <a:ea typeface="Arial" pitchFamily="34" charset="-122"/>
                <a:cs typeface="Arial" pitchFamily="34" charset="-120"/>
              </a:rPr>
              <a:t>QUESTION 5 OF 9</a:t>
            </a:r>
            <a:endParaRPr lang="en-US" sz="1300" dirty="0"/>
          </a:p>
        </p:txBody>
      </p:sp>
      <p:sp>
        <p:nvSpPr>
          <p:cNvPr id="3" name="Shape 1"/>
          <p:cNvSpPr/>
          <p:nvPr/>
        </p:nvSpPr>
        <p:spPr>
          <a:xfrm>
            <a:off x="8138160" y="320040"/>
            <a:ext cx="3474720" cy="365760"/>
          </a:xfrm>
          <a:prstGeom prst="roundRect">
            <a:avLst>
              <a:gd name="adj" fmla="val 15000"/>
            </a:avLst>
          </a:prstGeom>
          <a:solidFill>
            <a:srgbClr val="5A3F80"/>
          </a:solidFill>
          <a:ln/>
        </p:spPr>
      </p:sp>
      <p:sp>
        <p:nvSpPr>
          <p:cNvPr id="4" name="Text 2"/>
          <p:cNvSpPr/>
          <p:nvPr/>
        </p:nvSpPr>
        <p:spPr>
          <a:xfrm>
            <a:off x="8138160" y="320040"/>
            <a:ext cx="3474720" cy="365760"/>
          </a:xfrm>
          <a:prstGeom prst="rect">
            <a:avLst/>
          </a:prstGeom>
          <a:noFill/>
          <a:ln/>
        </p:spPr>
        <p:txBody>
          <a:bodyPr wrap="square" lIns="0" tIns="0" rIns="0" bIns="0" rtlCol="0" anchor="ctr"/>
          <a:lstStyle/>
          <a:p>
            <a:pPr algn="ctr" indent="0" marL="0">
              <a:buNone/>
            </a:pPr>
            <a:r>
              <a:rPr lang="en-US" sz="1100" i="1" dirty="0">
                <a:solidFill>
                  <a:srgbClr val="E0D6F0"/>
                </a:solidFill>
                <a:latin typeface="Arial" pitchFamily="34" charset="0"/>
                <a:ea typeface="Arial" pitchFamily="34" charset="-122"/>
                <a:cs typeface="Arial" pitchFamily="34" charset="-120"/>
              </a:rPr>
              <a:t>Use after: Explain phase</a:t>
            </a:r>
            <a:endParaRPr lang="en-US" sz="1100" dirty="0"/>
          </a:p>
        </p:txBody>
      </p:sp>
      <p:sp>
        <p:nvSpPr>
          <p:cNvPr id="5" name="Text 3"/>
          <p:cNvSpPr/>
          <p:nvPr/>
        </p:nvSpPr>
        <p:spPr>
          <a:xfrm>
            <a:off x="548640" y="868680"/>
            <a:ext cx="11064240" cy="1325880"/>
          </a:xfrm>
          <a:prstGeom prst="rect">
            <a:avLst/>
          </a:prstGeom>
          <a:noFill/>
          <a:ln/>
        </p:spPr>
        <p:txBody>
          <a:bodyPr wrap="square" lIns="0" tIns="0" rIns="0" bIns="0" rtlCol="0" anchor="ctr"/>
          <a:lstStyle/>
          <a:p>
            <a:pPr indent="0" marL="0">
              <a:buNone/>
            </a:pPr>
            <a:r>
              <a:rPr lang="en-US" sz="2300" b="1" dirty="0">
                <a:solidFill>
                  <a:srgbClr val="FFFFFF"/>
                </a:solidFill>
                <a:latin typeface="Arial" pitchFamily="34" charset="0"/>
                <a:ea typeface="Arial" pitchFamily="34" charset="-122"/>
                <a:cs typeface="Arial" pitchFamily="34" charset="-120"/>
              </a:rPr>
              <a:t>Why does the mother's blood not mix with the baby's blood in the placenta, even though substances pass between them?</a:t>
            </a:r>
            <a:endParaRPr lang="en-US" sz="2300" dirty="0"/>
          </a:p>
        </p:txBody>
      </p:sp>
      <p:sp>
        <p:nvSpPr>
          <p:cNvPr id="6" name="Shape 4"/>
          <p:cNvSpPr/>
          <p:nvPr/>
        </p:nvSpPr>
        <p:spPr>
          <a:xfrm>
            <a:off x="731520" y="2331720"/>
            <a:ext cx="10698480" cy="777240"/>
          </a:xfrm>
          <a:prstGeom prst="roundRect">
            <a:avLst>
              <a:gd name="adj" fmla="val 9412"/>
            </a:avLst>
          </a:prstGeom>
          <a:solidFill>
            <a:srgbClr val="7C5CAA"/>
          </a:solidFill>
          <a:ln/>
        </p:spPr>
      </p:sp>
      <p:sp>
        <p:nvSpPr>
          <p:cNvPr id="7" name="Text 5"/>
          <p:cNvSpPr/>
          <p:nvPr/>
        </p:nvSpPr>
        <p:spPr>
          <a:xfrm>
            <a:off x="914400" y="23317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8" name="Text 6"/>
          <p:cNvSpPr/>
          <p:nvPr/>
        </p:nvSpPr>
        <p:spPr>
          <a:xfrm>
            <a:off x="1554480" y="23317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They have separate blood supplies, and substances move by diffusion across thin membranes</a:t>
            </a:r>
            <a:endParaRPr lang="en-US" sz="1500" dirty="0"/>
          </a:p>
        </p:txBody>
      </p:sp>
      <p:sp>
        <p:nvSpPr>
          <p:cNvPr id="9" name="Shape 7"/>
          <p:cNvSpPr/>
          <p:nvPr/>
        </p:nvSpPr>
        <p:spPr>
          <a:xfrm>
            <a:off x="731520" y="3246120"/>
            <a:ext cx="10698480" cy="777240"/>
          </a:xfrm>
          <a:prstGeom prst="roundRect">
            <a:avLst>
              <a:gd name="adj" fmla="val 9412"/>
            </a:avLst>
          </a:prstGeom>
          <a:solidFill>
            <a:srgbClr val="7C5CAA"/>
          </a:solidFill>
          <a:ln/>
        </p:spPr>
      </p:sp>
      <p:sp>
        <p:nvSpPr>
          <p:cNvPr id="10" name="Text 8"/>
          <p:cNvSpPr/>
          <p:nvPr/>
        </p:nvSpPr>
        <p:spPr>
          <a:xfrm>
            <a:off x="914400" y="32461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1" name="Text 9"/>
          <p:cNvSpPr/>
          <p:nvPr/>
        </p:nvSpPr>
        <p:spPr>
          <a:xfrm>
            <a:off x="1554480" y="32461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The umbilical cord pumps the mother's blood into the baby</a:t>
            </a:r>
            <a:endParaRPr lang="en-US" sz="1500" dirty="0"/>
          </a:p>
        </p:txBody>
      </p:sp>
      <p:sp>
        <p:nvSpPr>
          <p:cNvPr id="12" name="Shape 10"/>
          <p:cNvSpPr/>
          <p:nvPr/>
        </p:nvSpPr>
        <p:spPr>
          <a:xfrm>
            <a:off x="731520" y="4160520"/>
            <a:ext cx="10698480" cy="777240"/>
          </a:xfrm>
          <a:prstGeom prst="roundRect">
            <a:avLst>
              <a:gd name="adj" fmla="val 9412"/>
            </a:avLst>
          </a:prstGeom>
          <a:solidFill>
            <a:srgbClr val="7C5CAA"/>
          </a:solidFill>
          <a:ln/>
        </p:spPr>
      </p:sp>
      <p:sp>
        <p:nvSpPr>
          <p:cNvPr id="13" name="Text 11"/>
          <p:cNvSpPr/>
          <p:nvPr/>
        </p:nvSpPr>
        <p:spPr>
          <a:xfrm>
            <a:off x="914400" y="41605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4" name="Text 12"/>
          <p:cNvSpPr/>
          <p:nvPr/>
        </p:nvSpPr>
        <p:spPr>
          <a:xfrm>
            <a:off x="1554480" y="41605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The mother's red blood cells are too small to enter the baby's blood</a:t>
            </a:r>
            <a:endParaRPr lang="en-US" sz="1500" dirty="0"/>
          </a:p>
        </p:txBody>
      </p:sp>
      <p:sp>
        <p:nvSpPr>
          <p:cNvPr id="15" name="Shape 13"/>
          <p:cNvSpPr/>
          <p:nvPr/>
        </p:nvSpPr>
        <p:spPr>
          <a:xfrm>
            <a:off x="731520" y="5074920"/>
            <a:ext cx="10698480" cy="777240"/>
          </a:xfrm>
          <a:prstGeom prst="roundRect">
            <a:avLst>
              <a:gd name="adj" fmla="val 9412"/>
            </a:avLst>
          </a:prstGeom>
          <a:solidFill>
            <a:srgbClr val="7C5CAA"/>
          </a:solidFill>
          <a:ln/>
        </p:spPr>
      </p:sp>
      <p:sp>
        <p:nvSpPr>
          <p:cNvPr id="16" name="Text 14"/>
          <p:cNvSpPr/>
          <p:nvPr/>
        </p:nvSpPr>
        <p:spPr>
          <a:xfrm>
            <a:off x="914400" y="50749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D</a:t>
            </a:r>
            <a:endParaRPr lang="en-US" sz="1800" dirty="0"/>
          </a:p>
        </p:txBody>
      </p:sp>
      <p:sp>
        <p:nvSpPr>
          <p:cNvPr id="17" name="Text 15"/>
          <p:cNvSpPr/>
          <p:nvPr/>
        </p:nvSpPr>
        <p:spPr>
          <a:xfrm>
            <a:off x="1554480" y="50749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Blood mixes only during labour, not during pregnancy</a:t>
            </a:r>
            <a:endParaRPr lang="en-US" sz="1500" dirty="0"/>
          </a:p>
        </p:txBody>
      </p:sp>
      <p:sp>
        <p:nvSpPr>
          <p:cNvPr id="18" name="Text 16"/>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C9B8E0"/>
                </a:solidFill>
                <a:latin typeface="Arial" pitchFamily="34" charset="0"/>
                <a:ea typeface="Arial" pitchFamily="34" charset="-122"/>
                <a:cs typeface="Arial"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6A4C93"/>
        </a:solidFill>
      </p:bgPr>
    </p:bg>
    <p:spTree>
      <p:nvGrpSpPr>
        <p:cNvPr id="1" name=""/>
        <p:cNvGrpSpPr/>
        <p:nvPr/>
      </p:nvGrpSpPr>
      <p:grpSpPr>
        <a:xfrm>
          <a:off x="0" y="0"/>
          <a:ext cx="0" cy="0"/>
          <a:chOff x="0" y="0"/>
          <a:chExt cx="0" cy="0"/>
        </a:xfrm>
      </p:grpSpPr>
      <p:sp>
        <p:nvSpPr>
          <p:cNvPr id="2" name="Text 0"/>
          <p:cNvSpPr/>
          <p:nvPr/>
        </p:nvSpPr>
        <p:spPr>
          <a:xfrm>
            <a:off x="548640" y="365760"/>
            <a:ext cx="6400800" cy="365760"/>
          </a:xfrm>
          <a:prstGeom prst="rect">
            <a:avLst/>
          </a:prstGeom>
          <a:noFill/>
          <a:ln/>
        </p:spPr>
        <p:txBody>
          <a:bodyPr wrap="square" lIns="0" tIns="0" rIns="0" bIns="0" rtlCol="0" anchor="ctr"/>
          <a:lstStyle/>
          <a:p>
            <a:pPr indent="0" marL="0">
              <a:buNone/>
            </a:pPr>
            <a:r>
              <a:rPr lang="en-US" sz="1300" b="1" spc="200" kern="0" dirty="0">
                <a:solidFill>
                  <a:srgbClr val="E0D6F0"/>
                </a:solidFill>
                <a:latin typeface="Arial" pitchFamily="34" charset="0"/>
                <a:ea typeface="Arial" pitchFamily="34" charset="-122"/>
                <a:cs typeface="Arial" pitchFamily="34" charset="-120"/>
              </a:rPr>
              <a:t>QUESTION 6 OF 9</a:t>
            </a:r>
            <a:endParaRPr lang="en-US" sz="1300" dirty="0"/>
          </a:p>
        </p:txBody>
      </p:sp>
      <p:sp>
        <p:nvSpPr>
          <p:cNvPr id="3" name="Shape 1"/>
          <p:cNvSpPr/>
          <p:nvPr/>
        </p:nvSpPr>
        <p:spPr>
          <a:xfrm>
            <a:off x="8138160" y="320040"/>
            <a:ext cx="3474720" cy="365760"/>
          </a:xfrm>
          <a:prstGeom prst="roundRect">
            <a:avLst>
              <a:gd name="adj" fmla="val 15000"/>
            </a:avLst>
          </a:prstGeom>
          <a:solidFill>
            <a:srgbClr val="5A3F80"/>
          </a:solidFill>
          <a:ln/>
        </p:spPr>
      </p:sp>
      <p:sp>
        <p:nvSpPr>
          <p:cNvPr id="4" name="Text 2"/>
          <p:cNvSpPr/>
          <p:nvPr/>
        </p:nvSpPr>
        <p:spPr>
          <a:xfrm>
            <a:off x="8138160" y="320040"/>
            <a:ext cx="3474720" cy="365760"/>
          </a:xfrm>
          <a:prstGeom prst="rect">
            <a:avLst/>
          </a:prstGeom>
          <a:noFill/>
          <a:ln/>
        </p:spPr>
        <p:txBody>
          <a:bodyPr wrap="square" lIns="0" tIns="0" rIns="0" bIns="0" rtlCol="0" anchor="ctr"/>
          <a:lstStyle/>
          <a:p>
            <a:pPr algn="ctr" indent="0" marL="0">
              <a:buNone/>
            </a:pPr>
            <a:r>
              <a:rPr lang="en-US" sz="1100" i="1" dirty="0">
                <a:solidFill>
                  <a:srgbClr val="E0D6F0"/>
                </a:solidFill>
                <a:latin typeface="Arial" pitchFamily="34" charset="0"/>
                <a:ea typeface="Arial" pitchFamily="34" charset="-122"/>
                <a:cs typeface="Arial" pitchFamily="34" charset="-120"/>
              </a:rPr>
              <a:t>Use after: Explain phase</a:t>
            </a:r>
            <a:endParaRPr lang="en-US" sz="1100" dirty="0"/>
          </a:p>
        </p:txBody>
      </p:sp>
      <p:sp>
        <p:nvSpPr>
          <p:cNvPr id="5" name="Text 3"/>
          <p:cNvSpPr/>
          <p:nvPr/>
        </p:nvSpPr>
        <p:spPr>
          <a:xfrm>
            <a:off x="548640" y="868680"/>
            <a:ext cx="11064240" cy="132588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After implantation, which hormone from the embryo keeps the corpus luteum active so that progesterone continues to maintain the uterine lining?</a:t>
            </a:r>
            <a:endParaRPr lang="en-US" sz="2000" dirty="0"/>
          </a:p>
        </p:txBody>
      </p:sp>
      <p:sp>
        <p:nvSpPr>
          <p:cNvPr id="6" name="Shape 4"/>
          <p:cNvSpPr/>
          <p:nvPr/>
        </p:nvSpPr>
        <p:spPr>
          <a:xfrm>
            <a:off x="731520" y="2331720"/>
            <a:ext cx="10698480" cy="777240"/>
          </a:xfrm>
          <a:prstGeom prst="roundRect">
            <a:avLst>
              <a:gd name="adj" fmla="val 9412"/>
            </a:avLst>
          </a:prstGeom>
          <a:solidFill>
            <a:srgbClr val="7C5CAA"/>
          </a:solidFill>
          <a:ln/>
        </p:spPr>
      </p:sp>
      <p:sp>
        <p:nvSpPr>
          <p:cNvPr id="7" name="Text 5"/>
          <p:cNvSpPr/>
          <p:nvPr/>
        </p:nvSpPr>
        <p:spPr>
          <a:xfrm>
            <a:off x="914400" y="23317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8" name="Text 6"/>
          <p:cNvSpPr/>
          <p:nvPr/>
        </p:nvSpPr>
        <p:spPr>
          <a:xfrm>
            <a:off x="1554480" y="23317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Oestrogen in late pregnancy</a:t>
            </a:r>
            <a:endParaRPr lang="en-US" sz="1700" dirty="0"/>
          </a:p>
        </p:txBody>
      </p:sp>
      <p:sp>
        <p:nvSpPr>
          <p:cNvPr id="9" name="Shape 7"/>
          <p:cNvSpPr/>
          <p:nvPr/>
        </p:nvSpPr>
        <p:spPr>
          <a:xfrm>
            <a:off x="731520" y="3246120"/>
            <a:ext cx="10698480" cy="777240"/>
          </a:xfrm>
          <a:prstGeom prst="roundRect">
            <a:avLst>
              <a:gd name="adj" fmla="val 9412"/>
            </a:avLst>
          </a:prstGeom>
          <a:solidFill>
            <a:srgbClr val="7C5CAA"/>
          </a:solidFill>
          <a:ln/>
        </p:spPr>
      </p:sp>
      <p:sp>
        <p:nvSpPr>
          <p:cNvPr id="10" name="Text 8"/>
          <p:cNvSpPr/>
          <p:nvPr/>
        </p:nvSpPr>
        <p:spPr>
          <a:xfrm>
            <a:off x="914400" y="32461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1" name="Text 9"/>
          <p:cNvSpPr/>
          <p:nvPr/>
        </p:nvSpPr>
        <p:spPr>
          <a:xfrm>
            <a:off x="1554480" y="32461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Prolactin</a:t>
            </a:r>
            <a:endParaRPr lang="en-US" sz="1700" dirty="0"/>
          </a:p>
        </p:txBody>
      </p:sp>
      <p:sp>
        <p:nvSpPr>
          <p:cNvPr id="12" name="Shape 10"/>
          <p:cNvSpPr/>
          <p:nvPr/>
        </p:nvSpPr>
        <p:spPr>
          <a:xfrm>
            <a:off x="731520" y="4160520"/>
            <a:ext cx="10698480" cy="777240"/>
          </a:xfrm>
          <a:prstGeom prst="roundRect">
            <a:avLst>
              <a:gd name="adj" fmla="val 9412"/>
            </a:avLst>
          </a:prstGeom>
          <a:solidFill>
            <a:srgbClr val="7C5CAA"/>
          </a:solidFill>
          <a:ln/>
        </p:spPr>
      </p:sp>
      <p:sp>
        <p:nvSpPr>
          <p:cNvPr id="13" name="Text 11"/>
          <p:cNvSpPr/>
          <p:nvPr/>
        </p:nvSpPr>
        <p:spPr>
          <a:xfrm>
            <a:off x="914400" y="41605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4" name="Text 12"/>
          <p:cNvSpPr/>
          <p:nvPr/>
        </p:nvSpPr>
        <p:spPr>
          <a:xfrm>
            <a:off x="1554480" y="41605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Oxytocin</a:t>
            </a:r>
            <a:endParaRPr lang="en-US" sz="1700" dirty="0"/>
          </a:p>
        </p:txBody>
      </p:sp>
      <p:sp>
        <p:nvSpPr>
          <p:cNvPr id="15" name="Shape 13"/>
          <p:cNvSpPr/>
          <p:nvPr/>
        </p:nvSpPr>
        <p:spPr>
          <a:xfrm>
            <a:off x="731520" y="5074920"/>
            <a:ext cx="10698480" cy="777240"/>
          </a:xfrm>
          <a:prstGeom prst="roundRect">
            <a:avLst>
              <a:gd name="adj" fmla="val 9412"/>
            </a:avLst>
          </a:prstGeom>
          <a:solidFill>
            <a:srgbClr val="7C5CAA"/>
          </a:solidFill>
          <a:ln/>
        </p:spPr>
      </p:sp>
      <p:sp>
        <p:nvSpPr>
          <p:cNvPr id="16" name="Text 14"/>
          <p:cNvSpPr/>
          <p:nvPr/>
        </p:nvSpPr>
        <p:spPr>
          <a:xfrm>
            <a:off x="914400" y="50749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D</a:t>
            </a:r>
            <a:endParaRPr lang="en-US" sz="1800" dirty="0"/>
          </a:p>
        </p:txBody>
      </p:sp>
      <p:sp>
        <p:nvSpPr>
          <p:cNvPr id="17" name="Text 15"/>
          <p:cNvSpPr/>
          <p:nvPr/>
        </p:nvSpPr>
        <p:spPr>
          <a:xfrm>
            <a:off x="1554480" y="50749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hCG</a:t>
            </a:r>
            <a:endParaRPr lang="en-US" sz="1700" dirty="0"/>
          </a:p>
        </p:txBody>
      </p:sp>
      <p:sp>
        <p:nvSpPr>
          <p:cNvPr id="18" name="Text 16"/>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C9B8E0"/>
                </a:solidFill>
                <a:latin typeface="Arial" pitchFamily="34" charset="0"/>
                <a:ea typeface="Arial" pitchFamily="34" charset="-122"/>
                <a:cs typeface="Arial"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6A4C93"/>
        </a:solidFill>
      </p:bgPr>
    </p:bg>
    <p:spTree>
      <p:nvGrpSpPr>
        <p:cNvPr id="1" name=""/>
        <p:cNvGrpSpPr/>
        <p:nvPr/>
      </p:nvGrpSpPr>
      <p:grpSpPr>
        <a:xfrm>
          <a:off x="0" y="0"/>
          <a:ext cx="0" cy="0"/>
          <a:chOff x="0" y="0"/>
          <a:chExt cx="0" cy="0"/>
        </a:xfrm>
      </p:grpSpPr>
      <p:sp>
        <p:nvSpPr>
          <p:cNvPr id="2" name="Text 0"/>
          <p:cNvSpPr/>
          <p:nvPr/>
        </p:nvSpPr>
        <p:spPr>
          <a:xfrm>
            <a:off x="548640" y="365760"/>
            <a:ext cx="6400800" cy="365760"/>
          </a:xfrm>
          <a:prstGeom prst="rect">
            <a:avLst/>
          </a:prstGeom>
          <a:noFill/>
          <a:ln/>
        </p:spPr>
        <p:txBody>
          <a:bodyPr wrap="square" lIns="0" tIns="0" rIns="0" bIns="0" rtlCol="0" anchor="ctr"/>
          <a:lstStyle/>
          <a:p>
            <a:pPr indent="0" marL="0">
              <a:buNone/>
            </a:pPr>
            <a:r>
              <a:rPr lang="en-US" sz="1300" b="1" spc="200" kern="0" dirty="0">
                <a:solidFill>
                  <a:srgbClr val="E0D6F0"/>
                </a:solidFill>
                <a:latin typeface="Arial" pitchFamily="34" charset="0"/>
                <a:ea typeface="Arial" pitchFamily="34" charset="-122"/>
                <a:cs typeface="Arial" pitchFamily="34" charset="-120"/>
              </a:rPr>
              <a:t>QUESTION 7 OF 9</a:t>
            </a:r>
            <a:endParaRPr lang="en-US" sz="1300" dirty="0"/>
          </a:p>
        </p:txBody>
      </p:sp>
      <p:sp>
        <p:nvSpPr>
          <p:cNvPr id="3" name="Shape 1"/>
          <p:cNvSpPr/>
          <p:nvPr/>
        </p:nvSpPr>
        <p:spPr>
          <a:xfrm>
            <a:off x="8138160" y="320040"/>
            <a:ext cx="3474720" cy="365760"/>
          </a:xfrm>
          <a:prstGeom prst="roundRect">
            <a:avLst>
              <a:gd name="adj" fmla="val 15000"/>
            </a:avLst>
          </a:prstGeom>
          <a:solidFill>
            <a:srgbClr val="5A3F80"/>
          </a:solidFill>
          <a:ln/>
        </p:spPr>
      </p:sp>
      <p:sp>
        <p:nvSpPr>
          <p:cNvPr id="4" name="Text 2"/>
          <p:cNvSpPr/>
          <p:nvPr/>
        </p:nvSpPr>
        <p:spPr>
          <a:xfrm>
            <a:off x="8138160" y="320040"/>
            <a:ext cx="3474720" cy="365760"/>
          </a:xfrm>
          <a:prstGeom prst="rect">
            <a:avLst/>
          </a:prstGeom>
          <a:noFill/>
          <a:ln/>
        </p:spPr>
        <p:txBody>
          <a:bodyPr wrap="square" lIns="0" tIns="0" rIns="0" bIns="0" rtlCol="0" anchor="ctr"/>
          <a:lstStyle/>
          <a:p>
            <a:pPr algn="ctr" indent="0" marL="0">
              <a:buNone/>
            </a:pPr>
            <a:r>
              <a:rPr lang="en-US" sz="1100" i="1" dirty="0">
                <a:solidFill>
                  <a:srgbClr val="E0D6F0"/>
                </a:solidFill>
                <a:latin typeface="Arial" pitchFamily="34" charset="0"/>
                <a:ea typeface="Arial" pitchFamily="34" charset="-122"/>
                <a:cs typeface="Arial" pitchFamily="34" charset="-120"/>
              </a:rPr>
              <a:t>Use after: Explain phase</a:t>
            </a:r>
            <a:endParaRPr lang="en-US" sz="1100" dirty="0"/>
          </a:p>
        </p:txBody>
      </p:sp>
      <p:sp>
        <p:nvSpPr>
          <p:cNvPr id="5" name="Text 3"/>
          <p:cNvSpPr/>
          <p:nvPr/>
        </p:nvSpPr>
        <p:spPr>
          <a:xfrm>
            <a:off x="548640" y="868680"/>
            <a:ext cx="11064240" cy="132588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At the end of pregnancy, oxytocin causes the uterus to contract. These contractions push the baby against the cervix, which causes more oxytocin to be released. What is this type of control called?</a:t>
            </a:r>
            <a:endParaRPr lang="en-US" sz="1800" dirty="0"/>
          </a:p>
        </p:txBody>
      </p:sp>
      <p:sp>
        <p:nvSpPr>
          <p:cNvPr id="6" name="Shape 4"/>
          <p:cNvSpPr/>
          <p:nvPr/>
        </p:nvSpPr>
        <p:spPr>
          <a:xfrm>
            <a:off x="731520" y="2331720"/>
            <a:ext cx="10698480" cy="777240"/>
          </a:xfrm>
          <a:prstGeom prst="roundRect">
            <a:avLst>
              <a:gd name="adj" fmla="val 9412"/>
            </a:avLst>
          </a:prstGeom>
          <a:solidFill>
            <a:srgbClr val="7C5CAA"/>
          </a:solidFill>
          <a:ln/>
        </p:spPr>
      </p:sp>
      <p:sp>
        <p:nvSpPr>
          <p:cNvPr id="7" name="Text 5"/>
          <p:cNvSpPr/>
          <p:nvPr/>
        </p:nvSpPr>
        <p:spPr>
          <a:xfrm>
            <a:off x="914400" y="23317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8" name="Text 6"/>
          <p:cNvSpPr/>
          <p:nvPr/>
        </p:nvSpPr>
        <p:spPr>
          <a:xfrm>
            <a:off x="1554480" y="23317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Hormone mixing</a:t>
            </a:r>
            <a:endParaRPr lang="en-US" sz="1700" dirty="0"/>
          </a:p>
        </p:txBody>
      </p:sp>
      <p:sp>
        <p:nvSpPr>
          <p:cNvPr id="9" name="Shape 7"/>
          <p:cNvSpPr/>
          <p:nvPr/>
        </p:nvSpPr>
        <p:spPr>
          <a:xfrm>
            <a:off x="731520" y="3246120"/>
            <a:ext cx="10698480" cy="777240"/>
          </a:xfrm>
          <a:prstGeom prst="roundRect">
            <a:avLst>
              <a:gd name="adj" fmla="val 9412"/>
            </a:avLst>
          </a:prstGeom>
          <a:solidFill>
            <a:srgbClr val="7C5CAA"/>
          </a:solidFill>
          <a:ln/>
        </p:spPr>
      </p:sp>
      <p:sp>
        <p:nvSpPr>
          <p:cNvPr id="10" name="Text 8"/>
          <p:cNvSpPr/>
          <p:nvPr/>
        </p:nvSpPr>
        <p:spPr>
          <a:xfrm>
            <a:off x="914400" y="32461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1" name="Text 9"/>
          <p:cNvSpPr/>
          <p:nvPr/>
        </p:nvSpPr>
        <p:spPr>
          <a:xfrm>
            <a:off x="1554480" y="32461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Positive feedback</a:t>
            </a:r>
            <a:endParaRPr lang="en-US" sz="1700" dirty="0"/>
          </a:p>
        </p:txBody>
      </p:sp>
      <p:sp>
        <p:nvSpPr>
          <p:cNvPr id="12" name="Shape 10"/>
          <p:cNvSpPr/>
          <p:nvPr/>
        </p:nvSpPr>
        <p:spPr>
          <a:xfrm>
            <a:off x="731520" y="4160520"/>
            <a:ext cx="10698480" cy="777240"/>
          </a:xfrm>
          <a:prstGeom prst="roundRect">
            <a:avLst>
              <a:gd name="adj" fmla="val 9412"/>
            </a:avLst>
          </a:prstGeom>
          <a:solidFill>
            <a:srgbClr val="7C5CAA"/>
          </a:solidFill>
          <a:ln/>
        </p:spPr>
      </p:sp>
      <p:sp>
        <p:nvSpPr>
          <p:cNvPr id="13" name="Text 11"/>
          <p:cNvSpPr/>
          <p:nvPr/>
        </p:nvSpPr>
        <p:spPr>
          <a:xfrm>
            <a:off x="914400" y="41605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4" name="Text 12"/>
          <p:cNvSpPr/>
          <p:nvPr/>
        </p:nvSpPr>
        <p:spPr>
          <a:xfrm>
            <a:off x="1554480" y="41605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Negative feedback</a:t>
            </a:r>
            <a:endParaRPr lang="en-US" sz="1700" dirty="0"/>
          </a:p>
        </p:txBody>
      </p:sp>
      <p:sp>
        <p:nvSpPr>
          <p:cNvPr id="15" name="Shape 13"/>
          <p:cNvSpPr/>
          <p:nvPr/>
        </p:nvSpPr>
        <p:spPr>
          <a:xfrm>
            <a:off x="731520" y="5074920"/>
            <a:ext cx="10698480" cy="777240"/>
          </a:xfrm>
          <a:prstGeom prst="roundRect">
            <a:avLst>
              <a:gd name="adj" fmla="val 9412"/>
            </a:avLst>
          </a:prstGeom>
          <a:solidFill>
            <a:srgbClr val="7C5CAA"/>
          </a:solidFill>
          <a:ln/>
        </p:spPr>
      </p:sp>
      <p:sp>
        <p:nvSpPr>
          <p:cNvPr id="16" name="Text 14"/>
          <p:cNvSpPr/>
          <p:nvPr/>
        </p:nvSpPr>
        <p:spPr>
          <a:xfrm>
            <a:off x="914400" y="50749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D</a:t>
            </a:r>
            <a:endParaRPr lang="en-US" sz="1800" dirty="0"/>
          </a:p>
        </p:txBody>
      </p:sp>
      <p:sp>
        <p:nvSpPr>
          <p:cNvPr id="17" name="Text 15"/>
          <p:cNvSpPr/>
          <p:nvPr/>
        </p:nvSpPr>
        <p:spPr>
          <a:xfrm>
            <a:off x="1554480" y="50749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Homeostasis</a:t>
            </a:r>
            <a:endParaRPr lang="en-US" sz="1700" dirty="0"/>
          </a:p>
        </p:txBody>
      </p:sp>
      <p:sp>
        <p:nvSpPr>
          <p:cNvPr id="18" name="Text 16"/>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C9B8E0"/>
                </a:solidFill>
                <a:latin typeface="Arial" pitchFamily="34" charset="0"/>
                <a:ea typeface="Arial" pitchFamily="34" charset="-122"/>
                <a:cs typeface="Arial"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6A4C93"/>
        </a:solidFill>
      </p:bgPr>
    </p:bg>
    <p:spTree>
      <p:nvGrpSpPr>
        <p:cNvPr id="1" name=""/>
        <p:cNvGrpSpPr/>
        <p:nvPr/>
      </p:nvGrpSpPr>
      <p:grpSpPr>
        <a:xfrm>
          <a:off x="0" y="0"/>
          <a:ext cx="0" cy="0"/>
          <a:chOff x="0" y="0"/>
          <a:chExt cx="0" cy="0"/>
        </a:xfrm>
      </p:grpSpPr>
      <p:sp>
        <p:nvSpPr>
          <p:cNvPr id="2" name="Text 0"/>
          <p:cNvSpPr/>
          <p:nvPr/>
        </p:nvSpPr>
        <p:spPr>
          <a:xfrm>
            <a:off x="548640" y="365760"/>
            <a:ext cx="6400800" cy="365760"/>
          </a:xfrm>
          <a:prstGeom prst="rect">
            <a:avLst/>
          </a:prstGeom>
          <a:noFill/>
          <a:ln/>
        </p:spPr>
        <p:txBody>
          <a:bodyPr wrap="square" lIns="0" tIns="0" rIns="0" bIns="0" rtlCol="0" anchor="ctr"/>
          <a:lstStyle/>
          <a:p>
            <a:pPr indent="0" marL="0">
              <a:buNone/>
            </a:pPr>
            <a:r>
              <a:rPr lang="en-US" sz="1300" b="1" spc="200" kern="0" dirty="0">
                <a:solidFill>
                  <a:srgbClr val="E0D6F0"/>
                </a:solidFill>
                <a:latin typeface="Arial" pitchFamily="34" charset="0"/>
                <a:ea typeface="Arial" pitchFamily="34" charset="-122"/>
                <a:cs typeface="Arial" pitchFamily="34" charset="-120"/>
              </a:rPr>
              <a:t>QUESTION 8 OF 9</a:t>
            </a:r>
            <a:endParaRPr lang="en-US" sz="1300" dirty="0"/>
          </a:p>
        </p:txBody>
      </p:sp>
      <p:sp>
        <p:nvSpPr>
          <p:cNvPr id="3" name="Shape 1"/>
          <p:cNvSpPr/>
          <p:nvPr/>
        </p:nvSpPr>
        <p:spPr>
          <a:xfrm>
            <a:off x="8138160" y="320040"/>
            <a:ext cx="3474720" cy="365760"/>
          </a:xfrm>
          <a:prstGeom prst="roundRect">
            <a:avLst>
              <a:gd name="adj" fmla="val 15000"/>
            </a:avLst>
          </a:prstGeom>
          <a:solidFill>
            <a:srgbClr val="5A3F80"/>
          </a:solidFill>
          <a:ln/>
        </p:spPr>
      </p:sp>
      <p:sp>
        <p:nvSpPr>
          <p:cNvPr id="4" name="Text 2"/>
          <p:cNvSpPr/>
          <p:nvPr/>
        </p:nvSpPr>
        <p:spPr>
          <a:xfrm>
            <a:off x="8138160" y="320040"/>
            <a:ext cx="3474720" cy="365760"/>
          </a:xfrm>
          <a:prstGeom prst="rect">
            <a:avLst/>
          </a:prstGeom>
          <a:noFill/>
          <a:ln/>
        </p:spPr>
        <p:txBody>
          <a:bodyPr wrap="square" lIns="0" tIns="0" rIns="0" bIns="0" rtlCol="0" anchor="ctr"/>
          <a:lstStyle/>
          <a:p>
            <a:pPr algn="ctr" indent="0" marL="0">
              <a:buNone/>
            </a:pPr>
            <a:r>
              <a:rPr lang="en-US" sz="1100" i="1" dirty="0">
                <a:solidFill>
                  <a:srgbClr val="E0D6F0"/>
                </a:solidFill>
                <a:latin typeface="Arial" pitchFamily="34" charset="0"/>
                <a:ea typeface="Arial" pitchFamily="34" charset="-122"/>
                <a:cs typeface="Arial" pitchFamily="34" charset="-120"/>
              </a:rPr>
              <a:t>Use after: Model Building phase</a:t>
            </a:r>
            <a:endParaRPr lang="en-US" sz="1100" dirty="0"/>
          </a:p>
        </p:txBody>
      </p:sp>
      <p:sp>
        <p:nvSpPr>
          <p:cNvPr id="5" name="Text 3"/>
          <p:cNvSpPr/>
          <p:nvPr/>
        </p:nvSpPr>
        <p:spPr>
          <a:xfrm>
            <a:off x="548640" y="868680"/>
            <a:ext cx="11064240" cy="132588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A frog releases thousands of eggs in a pond, while a cow produces one calf at a time. Which statement best explains this difference?</a:t>
            </a:r>
            <a:endParaRPr lang="en-US" sz="2000" dirty="0"/>
          </a:p>
        </p:txBody>
      </p:sp>
      <p:sp>
        <p:nvSpPr>
          <p:cNvPr id="6" name="Shape 4"/>
          <p:cNvSpPr/>
          <p:nvPr/>
        </p:nvSpPr>
        <p:spPr>
          <a:xfrm>
            <a:off x="731520" y="2331720"/>
            <a:ext cx="10698480" cy="777240"/>
          </a:xfrm>
          <a:prstGeom prst="roundRect">
            <a:avLst>
              <a:gd name="adj" fmla="val 9412"/>
            </a:avLst>
          </a:prstGeom>
          <a:solidFill>
            <a:srgbClr val="7C5CAA"/>
          </a:solidFill>
          <a:ln/>
        </p:spPr>
      </p:sp>
      <p:sp>
        <p:nvSpPr>
          <p:cNvPr id="7" name="Text 5"/>
          <p:cNvSpPr/>
          <p:nvPr/>
        </p:nvSpPr>
        <p:spPr>
          <a:xfrm>
            <a:off x="914400" y="23317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8" name="Text 6"/>
          <p:cNvSpPr/>
          <p:nvPr/>
        </p:nvSpPr>
        <p:spPr>
          <a:xfrm>
            <a:off x="1554480" y="2331720"/>
            <a:ext cx="9692640" cy="777240"/>
          </a:xfrm>
          <a:prstGeom prst="rect">
            <a:avLst/>
          </a:prstGeom>
          <a:noFill/>
          <a:ln/>
        </p:spPr>
        <p:txBody>
          <a:bodyPr wrap="square" lIns="0" tIns="0" rIns="0" bIns="0" rtlCol="0" anchor="ctr"/>
          <a:lstStyle/>
          <a:p>
            <a:pPr indent="0" marL="0">
              <a:buNone/>
            </a:pPr>
            <a:r>
              <a:rPr lang="en-US" sz="1300" dirty="0">
                <a:solidFill>
                  <a:srgbClr val="FFFFFF"/>
                </a:solidFill>
                <a:latin typeface="Arial" pitchFamily="34" charset="0"/>
                <a:ea typeface="Arial" pitchFamily="34" charset="-122"/>
                <a:cs typeface="Arial" pitchFamily="34" charset="-120"/>
              </a:rPr>
              <a:t>The cow's calf is protected and nourished inside the mother and cared for after birth, so fewer offspring are needed</a:t>
            </a:r>
            <a:endParaRPr lang="en-US" sz="1300" dirty="0"/>
          </a:p>
        </p:txBody>
      </p:sp>
      <p:sp>
        <p:nvSpPr>
          <p:cNvPr id="9" name="Shape 7"/>
          <p:cNvSpPr/>
          <p:nvPr/>
        </p:nvSpPr>
        <p:spPr>
          <a:xfrm>
            <a:off x="731520" y="3246120"/>
            <a:ext cx="10698480" cy="777240"/>
          </a:xfrm>
          <a:prstGeom prst="roundRect">
            <a:avLst>
              <a:gd name="adj" fmla="val 9412"/>
            </a:avLst>
          </a:prstGeom>
          <a:solidFill>
            <a:srgbClr val="7C5CAA"/>
          </a:solidFill>
          <a:ln/>
        </p:spPr>
      </p:sp>
      <p:sp>
        <p:nvSpPr>
          <p:cNvPr id="10" name="Text 8"/>
          <p:cNvSpPr/>
          <p:nvPr/>
        </p:nvSpPr>
        <p:spPr>
          <a:xfrm>
            <a:off x="914400" y="32461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1" name="Text 9"/>
          <p:cNvSpPr/>
          <p:nvPr/>
        </p:nvSpPr>
        <p:spPr>
          <a:xfrm>
            <a:off x="1554480" y="3246120"/>
            <a:ext cx="9692640" cy="777240"/>
          </a:xfrm>
          <a:prstGeom prst="rect">
            <a:avLst/>
          </a:prstGeom>
          <a:noFill/>
          <a:ln/>
        </p:spPr>
        <p:txBody>
          <a:bodyPr wrap="square" lIns="0" tIns="0" rIns="0" bIns="0" rtlCol="0" anchor="ctr"/>
          <a:lstStyle/>
          <a:p>
            <a:pPr indent="0" marL="0">
              <a:buNone/>
            </a:pPr>
            <a:r>
              <a:rPr lang="en-US" sz="1300" dirty="0">
                <a:solidFill>
                  <a:srgbClr val="FFFFFF"/>
                </a:solidFill>
                <a:latin typeface="Arial" pitchFamily="34" charset="0"/>
                <a:ea typeface="Arial" pitchFamily="34" charset="-122"/>
                <a:cs typeface="Arial" pitchFamily="34" charset="-120"/>
              </a:rPr>
              <a:t>Frog eggs have thick shells, so many are needed to break through them</a:t>
            </a:r>
            <a:endParaRPr lang="en-US" sz="1300" dirty="0"/>
          </a:p>
        </p:txBody>
      </p:sp>
      <p:sp>
        <p:nvSpPr>
          <p:cNvPr id="12" name="Shape 10"/>
          <p:cNvSpPr/>
          <p:nvPr/>
        </p:nvSpPr>
        <p:spPr>
          <a:xfrm>
            <a:off x="731520" y="4160520"/>
            <a:ext cx="10698480" cy="777240"/>
          </a:xfrm>
          <a:prstGeom prst="roundRect">
            <a:avLst>
              <a:gd name="adj" fmla="val 9412"/>
            </a:avLst>
          </a:prstGeom>
          <a:solidFill>
            <a:srgbClr val="7C5CAA"/>
          </a:solidFill>
          <a:ln/>
        </p:spPr>
      </p:sp>
      <p:sp>
        <p:nvSpPr>
          <p:cNvPr id="13" name="Text 11"/>
          <p:cNvSpPr/>
          <p:nvPr/>
        </p:nvSpPr>
        <p:spPr>
          <a:xfrm>
            <a:off x="914400" y="41605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4" name="Text 12"/>
          <p:cNvSpPr/>
          <p:nvPr/>
        </p:nvSpPr>
        <p:spPr>
          <a:xfrm>
            <a:off x="1554480" y="4160520"/>
            <a:ext cx="9692640" cy="777240"/>
          </a:xfrm>
          <a:prstGeom prst="rect">
            <a:avLst/>
          </a:prstGeom>
          <a:noFill/>
          <a:ln/>
        </p:spPr>
        <p:txBody>
          <a:bodyPr wrap="square" lIns="0" tIns="0" rIns="0" bIns="0" rtlCol="0" anchor="ctr"/>
          <a:lstStyle/>
          <a:p>
            <a:pPr indent="0" marL="0">
              <a:buNone/>
            </a:pPr>
            <a:r>
              <a:rPr lang="en-US" sz="1300" dirty="0">
                <a:solidFill>
                  <a:srgbClr val="FFFFFF"/>
                </a:solidFill>
                <a:latin typeface="Arial" pitchFamily="34" charset="0"/>
                <a:ea typeface="Arial" pitchFamily="34" charset="-122"/>
                <a:cs typeface="Arial" pitchFamily="34" charset="-120"/>
              </a:rPr>
              <a:t>The frog's eggs are fertilised inside the body, so many are needed</a:t>
            </a:r>
            <a:endParaRPr lang="en-US" sz="1300" dirty="0"/>
          </a:p>
        </p:txBody>
      </p:sp>
      <p:sp>
        <p:nvSpPr>
          <p:cNvPr id="15" name="Shape 13"/>
          <p:cNvSpPr/>
          <p:nvPr/>
        </p:nvSpPr>
        <p:spPr>
          <a:xfrm>
            <a:off x="731520" y="5074920"/>
            <a:ext cx="10698480" cy="777240"/>
          </a:xfrm>
          <a:prstGeom prst="roundRect">
            <a:avLst>
              <a:gd name="adj" fmla="val 9412"/>
            </a:avLst>
          </a:prstGeom>
          <a:solidFill>
            <a:srgbClr val="7C5CAA"/>
          </a:solidFill>
          <a:ln/>
        </p:spPr>
      </p:sp>
      <p:sp>
        <p:nvSpPr>
          <p:cNvPr id="16" name="Text 14"/>
          <p:cNvSpPr/>
          <p:nvPr/>
        </p:nvSpPr>
        <p:spPr>
          <a:xfrm>
            <a:off x="914400" y="50749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D</a:t>
            </a:r>
            <a:endParaRPr lang="en-US" sz="1800" dirty="0"/>
          </a:p>
        </p:txBody>
      </p:sp>
      <p:sp>
        <p:nvSpPr>
          <p:cNvPr id="17" name="Text 15"/>
          <p:cNvSpPr/>
          <p:nvPr/>
        </p:nvSpPr>
        <p:spPr>
          <a:xfrm>
            <a:off x="1554480" y="5074920"/>
            <a:ext cx="9692640" cy="777240"/>
          </a:xfrm>
          <a:prstGeom prst="rect">
            <a:avLst/>
          </a:prstGeom>
          <a:noFill/>
          <a:ln/>
        </p:spPr>
        <p:txBody>
          <a:bodyPr wrap="square" lIns="0" tIns="0" rIns="0" bIns="0" rtlCol="0" anchor="ctr"/>
          <a:lstStyle/>
          <a:p>
            <a:pPr indent="0" marL="0">
              <a:buNone/>
            </a:pPr>
            <a:r>
              <a:rPr lang="en-US" sz="1300" dirty="0">
                <a:solidFill>
                  <a:srgbClr val="FFFFFF"/>
                </a:solidFill>
                <a:latin typeface="Arial" pitchFamily="34" charset="0"/>
                <a:ea typeface="Arial" pitchFamily="34" charset="-122"/>
                <a:cs typeface="Arial" pitchFamily="34" charset="-120"/>
              </a:rPr>
              <a:t>The cow has fewer eggs because cows are larger than frogs</a:t>
            </a:r>
            <a:endParaRPr lang="en-US" sz="1300" dirty="0"/>
          </a:p>
        </p:txBody>
      </p:sp>
      <p:sp>
        <p:nvSpPr>
          <p:cNvPr id="18" name="Text 16"/>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C9B8E0"/>
                </a:solidFill>
                <a:latin typeface="Arial" pitchFamily="34" charset="0"/>
                <a:ea typeface="Arial" pitchFamily="34" charset="-122"/>
                <a:cs typeface="Arial"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6A4C93"/>
        </a:solidFill>
      </p:bgPr>
    </p:bg>
    <p:spTree>
      <p:nvGrpSpPr>
        <p:cNvPr id="1" name=""/>
        <p:cNvGrpSpPr/>
        <p:nvPr/>
      </p:nvGrpSpPr>
      <p:grpSpPr>
        <a:xfrm>
          <a:off x="0" y="0"/>
          <a:ext cx="0" cy="0"/>
          <a:chOff x="0" y="0"/>
          <a:chExt cx="0" cy="0"/>
        </a:xfrm>
      </p:grpSpPr>
      <p:sp>
        <p:nvSpPr>
          <p:cNvPr id="2" name="Text 0"/>
          <p:cNvSpPr/>
          <p:nvPr/>
        </p:nvSpPr>
        <p:spPr>
          <a:xfrm>
            <a:off x="548640" y="365760"/>
            <a:ext cx="6400800" cy="365760"/>
          </a:xfrm>
          <a:prstGeom prst="rect">
            <a:avLst/>
          </a:prstGeom>
          <a:noFill/>
          <a:ln/>
        </p:spPr>
        <p:txBody>
          <a:bodyPr wrap="square" lIns="0" tIns="0" rIns="0" bIns="0" rtlCol="0" anchor="ctr"/>
          <a:lstStyle/>
          <a:p>
            <a:pPr indent="0" marL="0">
              <a:buNone/>
            </a:pPr>
            <a:r>
              <a:rPr lang="en-US" sz="1300" b="1" spc="200" kern="0" dirty="0">
                <a:solidFill>
                  <a:srgbClr val="E0D6F0"/>
                </a:solidFill>
                <a:latin typeface="Arial" pitchFamily="34" charset="0"/>
                <a:ea typeface="Arial" pitchFamily="34" charset="-122"/>
                <a:cs typeface="Arial" pitchFamily="34" charset="-120"/>
              </a:rPr>
              <a:t>QUESTION 9 OF 9</a:t>
            </a:r>
            <a:endParaRPr lang="en-US" sz="1300" dirty="0"/>
          </a:p>
        </p:txBody>
      </p:sp>
      <p:sp>
        <p:nvSpPr>
          <p:cNvPr id="3" name="Shape 1"/>
          <p:cNvSpPr/>
          <p:nvPr/>
        </p:nvSpPr>
        <p:spPr>
          <a:xfrm>
            <a:off x="8138160" y="320040"/>
            <a:ext cx="3474720" cy="365760"/>
          </a:xfrm>
          <a:prstGeom prst="roundRect">
            <a:avLst>
              <a:gd name="adj" fmla="val 15000"/>
            </a:avLst>
          </a:prstGeom>
          <a:solidFill>
            <a:srgbClr val="5A3F80"/>
          </a:solidFill>
          <a:ln/>
        </p:spPr>
      </p:sp>
      <p:sp>
        <p:nvSpPr>
          <p:cNvPr id="4" name="Text 2"/>
          <p:cNvSpPr/>
          <p:nvPr/>
        </p:nvSpPr>
        <p:spPr>
          <a:xfrm>
            <a:off x="8138160" y="320040"/>
            <a:ext cx="3474720" cy="365760"/>
          </a:xfrm>
          <a:prstGeom prst="rect">
            <a:avLst/>
          </a:prstGeom>
          <a:noFill/>
          <a:ln/>
        </p:spPr>
        <p:txBody>
          <a:bodyPr wrap="square" lIns="0" tIns="0" rIns="0" bIns="0" rtlCol="0" anchor="ctr"/>
          <a:lstStyle/>
          <a:p>
            <a:pPr algn="ctr" indent="0" marL="0">
              <a:buNone/>
            </a:pPr>
            <a:r>
              <a:rPr lang="en-US" sz="1100" i="1" dirty="0">
                <a:solidFill>
                  <a:srgbClr val="E0D6F0"/>
                </a:solidFill>
                <a:latin typeface="Arial" pitchFamily="34" charset="0"/>
                <a:ea typeface="Arial" pitchFamily="34" charset="-122"/>
                <a:cs typeface="Arial" pitchFamily="34" charset="-120"/>
              </a:rPr>
              <a:t>Use after: End of lesson</a:t>
            </a:r>
            <a:endParaRPr lang="en-US" sz="1100" dirty="0"/>
          </a:p>
        </p:txBody>
      </p:sp>
      <p:sp>
        <p:nvSpPr>
          <p:cNvPr id="5" name="Text 3"/>
          <p:cNvSpPr/>
          <p:nvPr/>
        </p:nvSpPr>
        <p:spPr>
          <a:xfrm>
            <a:off x="548640" y="868680"/>
            <a:ext cx="11064240" cy="1325880"/>
          </a:xfrm>
          <a:prstGeom prst="rect">
            <a:avLst/>
          </a:prstGeom>
          <a:noFill/>
          <a:ln/>
        </p:spPr>
        <p:txBody>
          <a:bodyPr wrap="square" lIns="0" tIns="0" rIns="0" bIns="0" rtlCol="0" anchor="ctr"/>
          <a:lstStyle/>
          <a:p>
            <a:pPr indent="0" marL="0">
              <a:buNone/>
            </a:pPr>
            <a:r>
              <a:rPr lang="en-US" sz="2300" b="1" dirty="0">
                <a:solidFill>
                  <a:srgbClr val="FFFFFF"/>
                </a:solidFill>
                <a:latin typeface="Arial" pitchFamily="34" charset="0"/>
                <a:ea typeface="Arial" pitchFamily="34" charset="-122"/>
                <a:cs typeface="Arial" pitchFamily="34" charset="-120"/>
              </a:rPr>
              <a:t>Which pair correctly matches a hormone with its role in pregnancy, birth or lactation?</a:t>
            </a:r>
            <a:endParaRPr lang="en-US" sz="2300" dirty="0"/>
          </a:p>
        </p:txBody>
      </p:sp>
      <p:sp>
        <p:nvSpPr>
          <p:cNvPr id="6" name="Shape 4"/>
          <p:cNvSpPr/>
          <p:nvPr/>
        </p:nvSpPr>
        <p:spPr>
          <a:xfrm>
            <a:off x="731520" y="2331720"/>
            <a:ext cx="10698480" cy="777240"/>
          </a:xfrm>
          <a:prstGeom prst="roundRect">
            <a:avLst>
              <a:gd name="adj" fmla="val 9412"/>
            </a:avLst>
          </a:prstGeom>
          <a:solidFill>
            <a:srgbClr val="7C5CAA"/>
          </a:solidFill>
          <a:ln/>
        </p:spPr>
      </p:sp>
      <p:sp>
        <p:nvSpPr>
          <p:cNvPr id="7" name="Text 5"/>
          <p:cNvSpPr/>
          <p:nvPr/>
        </p:nvSpPr>
        <p:spPr>
          <a:xfrm>
            <a:off x="914400" y="23317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8" name="Text 6"/>
          <p:cNvSpPr/>
          <p:nvPr/>
        </p:nvSpPr>
        <p:spPr>
          <a:xfrm>
            <a:off x="1554480" y="23317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Oxytocin: stops the uterine lining from forming</a:t>
            </a:r>
            <a:endParaRPr lang="en-US" sz="1700" dirty="0"/>
          </a:p>
        </p:txBody>
      </p:sp>
      <p:sp>
        <p:nvSpPr>
          <p:cNvPr id="9" name="Shape 7"/>
          <p:cNvSpPr/>
          <p:nvPr/>
        </p:nvSpPr>
        <p:spPr>
          <a:xfrm>
            <a:off x="731520" y="3246120"/>
            <a:ext cx="10698480" cy="777240"/>
          </a:xfrm>
          <a:prstGeom prst="roundRect">
            <a:avLst>
              <a:gd name="adj" fmla="val 9412"/>
            </a:avLst>
          </a:prstGeom>
          <a:solidFill>
            <a:srgbClr val="7C5CAA"/>
          </a:solidFill>
          <a:ln/>
        </p:spPr>
      </p:sp>
      <p:sp>
        <p:nvSpPr>
          <p:cNvPr id="10" name="Text 8"/>
          <p:cNvSpPr/>
          <p:nvPr/>
        </p:nvSpPr>
        <p:spPr>
          <a:xfrm>
            <a:off x="914400" y="32461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1" name="Text 9"/>
          <p:cNvSpPr/>
          <p:nvPr/>
        </p:nvSpPr>
        <p:spPr>
          <a:xfrm>
            <a:off x="1554480" y="32461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Prolactin: supports milk production after birth</a:t>
            </a:r>
            <a:endParaRPr lang="en-US" sz="1700" dirty="0"/>
          </a:p>
        </p:txBody>
      </p:sp>
      <p:sp>
        <p:nvSpPr>
          <p:cNvPr id="12" name="Shape 10"/>
          <p:cNvSpPr/>
          <p:nvPr/>
        </p:nvSpPr>
        <p:spPr>
          <a:xfrm>
            <a:off x="731520" y="4160520"/>
            <a:ext cx="10698480" cy="777240"/>
          </a:xfrm>
          <a:prstGeom prst="roundRect">
            <a:avLst>
              <a:gd name="adj" fmla="val 9412"/>
            </a:avLst>
          </a:prstGeom>
          <a:solidFill>
            <a:srgbClr val="7C5CAA"/>
          </a:solidFill>
          <a:ln/>
        </p:spPr>
      </p:sp>
      <p:sp>
        <p:nvSpPr>
          <p:cNvPr id="13" name="Text 11"/>
          <p:cNvSpPr/>
          <p:nvPr/>
        </p:nvSpPr>
        <p:spPr>
          <a:xfrm>
            <a:off x="914400" y="41605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4" name="Text 12"/>
          <p:cNvSpPr/>
          <p:nvPr/>
        </p:nvSpPr>
        <p:spPr>
          <a:xfrm>
            <a:off x="1554480" y="41605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Progesterone: causes labour contractions</a:t>
            </a:r>
            <a:endParaRPr lang="en-US" sz="1700" dirty="0"/>
          </a:p>
        </p:txBody>
      </p:sp>
      <p:sp>
        <p:nvSpPr>
          <p:cNvPr id="15" name="Shape 13"/>
          <p:cNvSpPr/>
          <p:nvPr/>
        </p:nvSpPr>
        <p:spPr>
          <a:xfrm>
            <a:off x="731520" y="5074920"/>
            <a:ext cx="10698480" cy="777240"/>
          </a:xfrm>
          <a:prstGeom prst="roundRect">
            <a:avLst>
              <a:gd name="adj" fmla="val 9412"/>
            </a:avLst>
          </a:prstGeom>
          <a:solidFill>
            <a:srgbClr val="7C5CAA"/>
          </a:solidFill>
          <a:ln/>
        </p:spPr>
      </p:sp>
      <p:sp>
        <p:nvSpPr>
          <p:cNvPr id="16" name="Text 14"/>
          <p:cNvSpPr/>
          <p:nvPr/>
        </p:nvSpPr>
        <p:spPr>
          <a:xfrm>
            <a:off x="914400" y="50749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D</a:t>
            </a:r>
            <a:endParaRPr lang="en-US" sz="1800" dirty="0"/>
          </a:p>
        </p:txBody>
      </p:sp>
      <p:sp>
        <p:nvSpPr>
          <p:cNvPr id="17" name="Text 15"/>
          <p:cNvSpPr/>
          <p:nvPr/>
        </p:nvSpPr>
        <p:spPr>
          <a:xfrm>
            <a:off x="1554480" y="50749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hCG: produced by the mother's breasts to make milk</a:t>
            </a:r>
            <a:endParaRPr lang="en-US" sz="1700" dirty="0"/>
          </a:p>
        </p:txBody>
      </p:sp>
      <p:sp>
        <p:nvSpPr>
          <p:cNvPr id="18" name="Text 16"/>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C9B8E0"/>
                </a:solidFill>
                <a:latin typeface="Arial" pitchFamily="34" charset="0"/>
                <a:ea typeface="Arial" pitchFamily="34" charset="-122"/>
                <a:cs typeface="Arial"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F3864"/>
        </a:solidFill>
      </p:bgPr>
    </p:bg>
    <p:spTree>
      <p:nvGrpSpPr>
        <p:cNvPr id="1" name=""/>
        <p:cNvGrpSpPr/>
        <p:nvPr/>
      </p:nvGrpSpPr>
      <p:grpSpPr>
        <a:xfrm>
          <a:off x="0" y="0"/>
          <a:ext cx="0" cy="0"/>
          <a:chOff x="0" y="0"/>
          <a:chExt cx="0" cy="0"/>
        </a:xfrm>
      </p:grpSpPr>
      <p:sp>
        <p:nvSpPr>
          <p:cNvPr id="2" name="Text 0"/>
          <p:cNvSpPr/>
          <p:nvPr/>
        </p:nvSpPr>
        <p:spPr>
          <a:xfrm>
            <a:off x="731520" y="2194560"/>
            <a:ext cx="10698480" cy="822960"/>
          </a:xfrm>
          <a:prstGeom prst="rect">
            <a:avLst/>
          </a:prstGeom>
          <a:noFill/>
          <a:ln/>
        </p:spPr>
        <p:txBody>
          <a:bodyPr wrap="square" lIns="0" tIns="0" rIns="0" bIns="0" rtlCol="0" anchor="ctr"/>
          <a:lstStyle/>
          <a:p>
            <a:pPr indent="0" marL="0">
              <a:buNone/>
            </a:pPr>
            <a:r>
              <a:rPr lang="en-US" sz="3400" b="1" dirty="0">
                <a:solidFill>
                  <a:srgbClr val="FFFFFF"/>
                </a:solidFill>
                <a:latin typeface="Arial" pitchFamily="34" charset="0"/>
                <a:ea typeface="Arial" pitchFamily="34" charset="-122"/>
                <a:cs typeface="Arial" pitchFamily="34" charset="-120"/>
              </a:rPr>
              <a:t>All done</a:t>
            </a:r>
            <a:endParaRPr lang="en-US" sz="3400" dirty="0"/>
          </a:p>
        </p:txBody>
      </p:sp>
      <p:sp>
        <p:nvSpPr>
          <p:cNvPr id="3" name="Text 1"/>
          <p:cNvSpPr/>
          <p:nvPr/>
        </p:nvSpPr>
        <p:spPr>
          <a:xfrm>
            <a:off x="731520" y="3108960"/>
            <a:ext cx="10698480" cy="731520"/>
          </a:xfrm>
          <a:prstGeom prst="rect">
            <a:avLst/>
          </a:prstGeom>
          <a:noFill/>
          <a:ln/>
        </p:spPr>
        <p:txBody>
          <a:bodyPr wrap="square" lIns="0" tIns="0" rIns="0" bIns="0" rtlCol="0" anchor="ctr"/>
          <a:lstStyle/>
          <a:p>
            <a:pPr indent="0" marL="0">
              <a:buNone/>
            </a:pPr>
            <a:r>
              <a:rPr lang="en-US" sz="1800" dirty="0">
                <a:solidFill>
                  <a:srgbClr val="D9EEF1"/>
                </a:solidFill>
                <a:latin typeface="Arial" pitchFamily="34" charset="0"/>
                <a:ea typeface="Arial" pitchFamily="34" charset="-122"/>
                <a:cs typeface="Arial" pitchFamily="34" charset="-120"/>
              </a:rPr>
              <a:t>Ask your teacher how to submit your answers today (for example, on a paper answer slip).</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Biology Grade 11 - Reproduction in Animals - Lesson 5 Quick Check</dc:title>
  <dc:subject>PptxGenJS Presentation</dc:subject>
  <dc:creator>PptxGenJS</dc:creator>
  <cp:lastModifiedBy>PptxGenJS</cp:lastModifiedBy>
  <cp:revision>1</cp:revision>
  <dcterms:created xsi:type="dcterms:W3CDTF">2026-10-01T20:16:55Z</dcterms:created>
  <dcterms:modified xsi:type="dcterms:W3CDTF">2026-10-01T20:16:55Z</dcterms:modified>
</cp:coreProperties>
</file>