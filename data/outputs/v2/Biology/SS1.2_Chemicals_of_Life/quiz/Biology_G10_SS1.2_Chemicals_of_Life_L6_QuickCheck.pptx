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hyperlink" Target="https://creativecommons.org/licenses/by-nc/4.0/" TargetMode="External"/><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3864"/>
        </a:solidFill>
      </p:bgPr>
    </p:bg>
    <p:spTree>
      <p:nvGrpSpPr>
        <p:cNvPr id="1" name=""/>
        <p:cNvGrpSpPr/>
        <p:nvPr/>
      </p:nvGrpSpPr>
      <p:grpSpPr>
        <a:xfrm>
          <a:off x="0" y="0"/>
          <a:ext cx="0" cy="0"/>
          <a:chOff x="0" y="0"/>
          <a:chExt cx="0" cy="0"/>
        </a:xfrm>
      </p:grpSpPr>
      <p:sp>
        <p:nvSpPr>
          <p:cNvPr id="2" name="Text 0"/>
          <p:cNvSpPr/>
          <p:nvPr/>
        </p:nvSpPr>
        <p:spPr>
          <a:xfrm>
            <a:off x="731520" y="1463040"/>
            <a:ext cx="10698480" cy="457200"/>
          </a:xfrm>
          <a:prstGeom prst="rect">
            <a:avLst/>
          </a:prstGeom>
          <a:noFill/>
          <a:ln/>
        </p:spPr>
        <p:txBody>
          <a:bodyPr wrap="square" lIns="0" tIns="0" rIns="0" bIns="0" rtlCol="0" anchor="ctr"/>
          <a:lstStyle/>
          <a:p>
            <a:pPr indent="0" marL="0">
              <a:buNone/>
            </a:pPr>
            <a:r>
              <a:rPr lang="en-US" sz="1600" b="1" spc="200" kern="0" dirty="0">
                <a:solidFill>
                  <a:srgbClr val="AFC8E8"/>
                </a:solidFill>
                <a:latin typeface="Arial" pitchFamily="34" charset="0"/>
                <a:ea typeface="Arial" pitchFamily="34" charset="-122"/>
                <a:cs typeface="Arial" pitchFamily="34" charset="-120"/>
              </a:rPr>
              <a:t>BIOLOGY — GRADE 10  |  CHEMICALS OF LIFE</a:t>
            </a:r>
            <a:endParaRPr lang="en-US" sz="1600" dirty="0"/>
          </a:p>
        </p:txBody>
      </p:sp>
      <p:sp>
        <p:nvSpPr>
          <p:cNvPr id="3" name="Text 1"/>
          <p:cNvSpPr/>
          <p:nvPr/>
        </p:nvSpPr>
        <p:spPr>
          <a:xfrm>
            <a:off x="731520" y="1965960"/>
            <a:ext cx="10698480" cy="91440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Quick Check</a:t>
            </a:r>
            <a:endParaRPr lang="en-US" sz="4000" dirty="0"/>
          </a:p>
        </p:txBody>
      </p:sp>
      <p:sp>
        <p:nvSpPr>
          <p:cNvPr id="4" name="Text 2"/>
          <p:cNvSpPr/>
          <p:nvPr/>
        </p:nvSpPr>
        <p:spPr>
          <a:xfrm>
            <a:off x="731520" y="2880360"/>
            <a:ext cx="10698480" cy="1097280"/>
          </a:xfrm>
          <a:prstGeom prst="rect">
            <a:avLst/>
          </a:prstGeom>
          <a:noFill/>
          <a:ln/>
        </p:spPr>
        <p:txBody>
          <a:bodyPr wrap="square" lIns="0" tIns="0" rIns="0" bIns="0" rtlCol="0" anchor="t"/>
          <a:lstStyle/>
          <a:p>
            <a:pPr indent="0" marL="0">
              <a:buNone/>
            </a:pPr>
            <a:r>
              <a:rPr lang="en-US" sz="1600" dirty="0">
                <a:solidFill>
                  <a:srgbClr val="D9EEF1"/>
                </a:solidFill>
                <a:latin typeface="Arial" pitchFamily="34" charset="0"/>
                <a:ea typeface="Arial" pitchFamily="34" charset="-122"/>
                <a:cs typeface="Arial" pitchFamily="34" charset="-120"/>
              </a:rPr>
              <a:t>Lesson 6: Building Our Chemicals of Life Model: Consolidating the Science Behind Two Children in Kisumu</a:t>
            </a:r>
            <a:endParaRPr lang="en-US" sz="1600" dirty="0"/>
          </a:p>
        </p:txBody>
      </p:sp>
      <p:sp>
        <p:nvSpPr>
          <p:cNvPr id="5" name="Text 3"/>
          <p:cNvSpPr/>
          <p:nvPr/>
        </p:nvSpPr>
        <p:spPr>
          <a:xfrm>
            <a:off x="731520" y="4114800"/>
            <a:ext cx="10698480" cy="457200"/>
          </a:xfrm>
          <a:prstGeom prst="rect">
            <a:avLst/>
          </a:prstGeom>
          <a:noFill/>
          <a:ln/>
        </p:spPr>
        <p:txBody>
          <a:bodyPr wrap="square" lIns="0" tIns="0" rIns="0" bIns="0" rtlCol="0" anchor="ctr"/>
          <a:lstStyle/>
          <a:p>
            <a:pPr indent="0" marL="0">
              <a:buNone/>
            </a:pPr>
            <a:r>
              <a:rPr lang="en-US" sz="1600" i="1" dirty="0">
                <a:solidFill>
                  <a:srgbClr val="AFC8E8"/>
                </a:solidFill>
                <a:latin typeface="Arial" pitchFamily="34" charset="0"/>
                <a:ea typeface="Arial" pitchFamily="34" charset="-122"/>
                <a:cs typeface="Arial" pitchFamily="34" charset="-120"/>
              </a:rPr>
              <a:t>7 multiple-choice questions  •  choose A, B, C or D</a:t>
            </a:r>
            <a:endParaRPr lang="en-US" sz="1600" dirty="0"/>
          </a:p>
        </p:txBody>
      </p:sp>
      <p:sp>
        <p:nvSpPr>
          <p:cNvPr id="6" name="Text 4"/>
          <p:cNvSpPr/>
          <p:nvPr/>
        </p:nvSpPr>
        <p:spPr>
          <a:xfrm>
            <a:off x="731520" y="5257800"/>
            <a:ext cx="10698480" cy="365760"/>
          </a:xfrm>
          <a:prstGeom prst="rect">
            <a:avLst/>
          </a:prstGeom>
          <a:noFill/>
          <a:ln/>
        </p:spPr>
        <p:txBody>
          <a:bodyPr wrap="square" lIns="0" tIns="0" rIns="0" bIns="0" rtlCol="0" anchor="ctr"/>
          <a:lstStyle/>
          <a:p>
            <a:pPr indent="0" marL="0">
              <a:buNone/>
            </a:pPr>
            <a:r>
              <a:rPr lang="en-US" sz="1300" dirty="0">
                <a:solidFill>
                  <a:srgbClr val="AFC8E8"/>
                </a:solidFill>
                <a:latin typeface="Arial" pitchFamily="34" charset="0"/>
                <a:ea typeface="Arial" pitchFamily="34" charset="-122"/>
                <a:cs typeface="Arial" pitchFamily="34" charset="-120"/>
              </a:rPr>
              <a:t>Sub-Strand 1.2: Chemicals of Life   |   Lesson 6</a:t>
            </a:r>
            <a:endParaRPr lang="en-US" sz="1300" dirty="0"/>
          </a:p>
        </p:txBody>
      </p:sp>
      <p:sp>
        <p:nvSpPr>
          <p:cNvPr id="7" name="Text 5"/>
          <p:cNvSpPr/>
          <p:nvPr/>
        </p:nvSpPr>
        <p:spPr>
          <a:xfrm>
            <a:off x="731520" y="5760720"/>
            <a:ext cx="10698480" cy="822960"/>
          </a:xfrm>
          <a:prstGeom prst="rect">
            <a:avLst/>
          </a:prstGeom>
          <a:noFill/>
          <a:ln/>
        </p:spPr>
        <p:txBody>
          <a:bodyPr wrap="square" lIns="0" tIns="0" rIns="0" bIns="0" rtlCol="0" anchor="t"/>
          <a:lstStyle/>
          <a:p>
            <a:pPr indent="0" marL="0">
              <a:buNone/>
            </a:pPr>
            <a:r>
              <a:rPr lang="en-US" sz="900" dirty="0">
                <a:solidFill>
                  <a:srgbClr val="8FA8C8"/>
                </a:solidFill>
                <a:latin typeface="Arial" pitchFamily="34" charset="0"/>
                <a:ea typeface="Arial" pitchFamily="34" charset="-122"/>
                <a:cs typeface="Arial" pitchFamily="34" charset="-120"/>
              </a:rPr>
              <a:t>© 2026 SeaVuria and ARES. Aligned with KICD objectives. Developed by SeaVuria; technical implementation by ARES (with AI assistance from Claude). Licensed under </a:t>
            </a:r>
            <a:pPr indent="0" marL="0">
              <a:buNone/>
            </a:pPr>
            <a:r>
              <a:rPr lang="en-US" sz="900" u="sng" dirty="0">
                <a:solidFill>
                  <a:srgbClr val="AFC8E8"/>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CC BY-NC 4.0</a:t>
            </a:r>
            <a:pPr indent="0" marL="0">
              <a:buNone/>
            </a:pPr>
            <a:r>
              <a:rPr lang="en-US" sz="900" dirty="0">
                <a:solidFill>
                  <a:srgbClr val="8FA8C8"/>
                </a:solidFill>
                <a:latin typeface="Arial" pitchFamily="34" charset="0"/>
                <a:ea typeface="Arial" pitchFamily="34" charset="-122"/>
                <a:cs typeface="Arial" pitchFamily="34" charset="-120"/>
              </a:rPr>
              <a:t> (https://creativecommons.org/licenses/by-nc/4.0/).</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1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Predict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At the start of the unit, a group wrote: "Food is just energy, so two children eating the same amount should be equally healthy." Which updated statement shows the best evidence-based change in thinking?</a:t>
            </a:r>
            <a:endParaRPr lang="en-US" sz="18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Only carbohydrates matter, because they give the body glucose.</a:t>
            </a:r>
            <a:endParaRPr lang="en-US" sz="13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Food is made of six chemicals of life with different structures and functions, and missing one can cause a specific disease.</a:t>
            </a:r>
            <a:endParaRPr lang="en-US" sz="13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Food is mainly energy, but children who eat more of it become healthier.</a:t>
            </a:r>
            <a:endParaRPr lang="en-US" sz="13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Food with more water in it is healthier because water is a chemical of life.</a:t>
            </a:r>
            <a:endParaRPr lang="en-US" sz="13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2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Observe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On a group poster about two children in Kisumu, one child eats only ugali (maize starch) every day and the other eats githeri (maize and beans). Which arrow label correctly links the ugali child to the chemicals of life?</a:t>
            </a:r>
            <a:endParaRPr lang="en-US" sz="18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Excess protein and too little carbohydrate</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Plenty of carbohydrate but too little protein</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No carbohydrate at all, so no energy</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Balanced intake of all six chemicals</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3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Observe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A learner crushes avocado, shakes it with ethanol, then pours the liquid into water. A cloudy white layer forms. What does this ethanol emulsion result show?</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Starch is present</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Glucose is present</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Lipids (fats and oils) are present</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Proteins are present</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4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Explain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300" b="1" dirty="0">
                <a:solidFill>
                  <a:srgbClr val="FFFFFF"/>
                </a:solidFill>
                <a:latin typeface="Arial" pitchFamily="34" charset="0"/>
                <a:ea typeface="Arial" pitchFamily="34" charset="-122"/>
                <a:cs typeface="Arial" pitchFamily="34" charset="-120"/>
              </a:rPr>
              <a:t>A child eating only ugali develops a swollen belly (oedema). Which explanation is scientifically correct?</a:t>
            </a:r>
            <a:endParaRPr lang="en-US" sz="23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The body has no keratin, so the belly cannot hold its shape.</a:t>
            </a:r>
            <a:endParaRPr lang="en-US" sz="15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The child has no DNA to carry the genetic code.</a:t>
            </a:r>
            <a:endParaRPr lang="en-US" sz="15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The body cannot make enough albumin, a protein, because too few amino acids come from food.</a:t>
            </a:r>
            <a:endParaRPr lang="en-US" sz="15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Too much starch is stored in the belly as fat.</a:t>
            </a:r>
            <a:endParaRPr lang="en-US" sz="15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5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Explain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300" b="1" dirty="0">
                <a:solidFill>
                  <a:srgbClr val="FFFFFF"/>
                </a:solidFill>
                <a:latin typeface="Arial" pitchFamily="34" charset="0"/>
                <a:ea typeface="Arial" pitchFamily="34" charset="-122"/>
                <a:cs typeface="Arial" pitchFamily="34" charset="-120"/>
              </a:rPr>
              <a:t>A child in Kisumu eats githeri (maize and beans) regularly and stays healthy. What is the best chemical explanation?</a:t>
            </a:r>
            <a:endParaRPr lang="en-US" sz="23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Beans contain more starch, giving the child more energy than ugali does.</a:t>
            </a:r>
            <a:endParaRPr lang="en-US" sz="13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Maize in githeri contains protein instead of starch.</a:t>
            </a:r>
            <a:endParaRPr lang="en-US" sz="13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Githeri contains more water than ugali, so the child stays hydrated.</a:t>
            </a:r>
            <a:endParaRPr lang="en-US" sz="13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Maize supplies carbohydrate and beans supply protein, providing the amino acids the body needs for protein synthesis.</a:t>
            </a:r>
            <a:endParaRPr lang="en-US" sz="13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6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DQB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During the Driving Question Board review, a learner asks: "How do cells use DNA to know which proteins to build?" How should the class sort this question?</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Not a science question, so it should be removed</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Answered, because githeri contains protein</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New Question Generated, to investigate in a future unit on genetics</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Answered, because amino acids explain kwashiorkor</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7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Model Building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 typical Kenyan daily menu is: breakfast, uji (thin maize porridge) with sugar; lunch, ugali with sukuma wiki; supper, rice with a small piece of fried fish. Which nutritional gap is most likely?</a:t>
            </a:r>
            <a:endParaRPr lang="en-US" sz="18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No carbohydrates, because uji is thin</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No lipids, because fried food contains no fats or oils</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Insufficient protein, because the only protein source is a small piece of fish</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Too much protein, because fish is eaten</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F3864"/>
        </a:solidFill>
      </p:bgPr>
    </p:bg>
    <p:spTree>
      <p:nvGrpSpPr>
        <p:cNvPr id="1" name=""/>
        <p:cNvGrpSpPr/>
        <p:nvPr/>
      </p:nvGrpSpPr>
      <p:grpSpPr>
        <a:xfrm>
          <a:off x="0" y="0"/>
          <a:ext cx="0" cy="0"/>
          <a:chOff x="0" y="0"/>
          <a:chExt cx="0" cy="0"/>
        </a:xfrm>
      </p:grpSpPr>
      <p:sp>
        <p:nvSpPr>
          <p:cNvPr id="2" name="Text 0"/>
          <p:cNvSpPr/>
          <p:nvPr/>
        </p:nvSpPr>
        <p:spPr>
          <a:xfrm>
            <a:off x="731520" y="2194560"/>
            <a:ext cx="10698480" cy="822960"/>
          </a:xfrm>
          <a:prstGeom prst="rect">
            <a:avLst/>
          </a:prstGeom>
          <a:noFill/>
          <a:ln/>
        </p:spPr>
        <p:txBody>
          <a:bodyPr wrap="square" lIns="0" tIns="0" rIns="0" bIns="0" rtlCol="0" anchor="ctr"/>
          <a:lstStyle/>
          <a:p>
            <a:pPr indent="0" marL="0">
              <a:buNone/>
            </a:pPr>
            <a:r>
              <a:rPr lang="en-US" sz="3400" b="1" dirty="0">
                <a:solidFill>
                  <a:srgbClr val="FFFFFF"/>
                </a:solidFill>
                <a:latin typeface="Arial" pitchFamily="34" charset="0"/>
                <a:ea typeface="Arial" pitchFamily="34" charset="-122"/>
                <a:cs typeface="Arial" pitchFamily="34" charset="-120"/>
              </a:rPr>
              <a:t>All done</a:t>
            </a:r>
            <a:endParaRPr lang="en-US" sz="3400" dirty="0"/>
          </a:p>
        </p:txBody>
      </p:sp>
      <p:sp>
        <p:nvSpPr>
          <p:cNvPr id="3" name="Text 1"/>
          <p:cNvSpPr/>
          <p:nvPr/>
        </p:nvSpPr>
        <p:spPr>
          <a:xfrm>
            <a:off x="731520" y="3108960"/>
            <a:ext cx="10698480" cy="731520"/>
          </a:xfrm>
          <a:prstGeom prst="rect">
            <a:avLst/>
          </a:prstGeom>
          <a:noFill/>
          <a:ln/>
        </p:spPr>
        <p:txBody>
          <a:bodyPr wrap="square" lIns="0" tIns="0" rIns="0" bIns="0" rtlCol="0" anchor="ctr"/>
          <a:lstStyle/>
          <a:p>
            <a:pPr indent="0" marL="0">
              <a:buNone/>
            </a:pPr>
            <a:r>
              <a:rPr lang="en-US" sz="1800" dirty="0">
                <a:solidFill>
                  <a:srgbClr val="D9EEF1"/>
                </a:solidFill>
                <a:latin typeface="Arial" pitchFamily="34" charset="0"/>
                <a:ea typeface="Arial" pitchFamily="34" charset="-122"/>
                <a:cs typeface="Arial" pitchFamily="34" charset="-120"/>
              </a:rPr>
              <a:t>Ask your teacher how to submit your answers today (for example, on a paper answer slip).</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Biology Grade 10 - Chemicals of Life - Lesson 6 Quick Check</dc:title>
  <dc:subject>PptxGenJS Presentation</dc:subject>
  <dc:creator>PptxGenJS</dc:creator>
  <cp:lastModifiedBy>PptxGenJS</cp:lastModifiedBy>
  <cp:revision>1</cp:revision>
  <dcterms:created xsi:type="dcterms:W3CDTF">2026-09-30T07:55:20Z</dcterms:created>
  <dcterms:modified xsi:type="dcterms:W3CDTF">2026-09-30T07:55:20Z</dcterms:modified>
</cp:coreProperties>
</file>