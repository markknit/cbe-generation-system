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PURPOSE OF THIS LESSON</a:t>
            </a:r>
          </a:p>
          <a:p>
            <a:r>
              <a:rPr lang="en-GB" sz="1200"/>
              <a:t>• Learners meet the cell as the basic unit of life. They learn the three ideas of cell theory from Schleiden, Schwann and Virchow.</a:t>
            </a:r>
          </a:p>
          <a:p>
            <a:r>
              <a:rPr lang="en-GB" sz="1200"/>
              <a:t>• They compare prokaryotic and eukaryotic cells using labelled diagrams and a card sort.</a:t>
            </a:r>
          </a:p>
          <a:p>
            <a:r>
              <a:rPr lang="en-GB" sz="1200"/>
              <a:t>• They use the ugali kitchen picture to make new cell words easier to remember.</a:t>
            </a:r>
          </a:p>
          <a:p>
            <a:r>
              <a:rPr lang="en-GB" sz="1200"/>
              <a:t>• They connect cell theory to the healing cut: new skin cells come from skin cells that were already there.</a:t>
            </a:r>
          </a:p>
          <a:p>
            <a:r>
              <a:rPr lang="en-GB" sz="1200"/>
              <a:t>• They draw Version 1 of their cell model. They keep this one page and revise it in a new colour in every lesson.</a:t>
            </a:r>
          </a:p>
          <a:p>
            <a:r>
              <a:rPr lang="en-GB" sz="1200"/>
              <a:t/>
            </a:r>
          </a:p>
          <a:p>
            <a:r>
              <a:rPr lang="en-GB" sz="1200" b="1"/>
              <a:t>BEFORE CLASS</a:t>
            </a:r>
          </a:p>
          <a:p>
            <a:r>
              <a:rPr lang="en-GB" sz="1200"/>
              <a:t>• Display the phenomenon image of Amina's healing finger on the board before learners enter.</a:t>
            </a:r>
          </a:p>
          <a:p>
            <a:r>
              <a:rPr lang="en-GB" sz="1200"/>
              <a:t>• Prepare 12 feature cards per group (copy them from the card sort slide onto paper strips if there are no printed sets). The SoW gives no group numbers.</a:t>
            </a:r>
          </a:p>
          <a:p>
            <a:r>
              <a:rPr lang="en-GB" sz="1200"/>
              <a:t>• Prepare printed A3 diagram sheets or ARES resource cards: animal cell, plant cell, prokaryotic cell. Include a short reading on the three scientists with countries and periods.</a:t>
            </a:r>
          </a:p>
          <a:p>
            <a:r>
              <a:rPr lang="en-GB" sz="1200"/>
              <a:t>• Have sticky notes in two colours (yellow and green) and star stickers ready for the Driving Question Board.</a:t>
            </a:r>
          </a:p>
          <a:p>
            <a:r>
              <a:rPr lang="en-GB" sz="1200"/>
              <a:t>• Write the Version 1 checklist where all learners can see it (8 labels, 1 Key sentence per label, 1 Limitation Statement with 2 gaps).</a:t>
            </a:r>
          </a:p>
          <a:p>
            <a:r>
              <a:rPr lang="en-GB" sz="1200"/>
              <a:t>• Have green, blue and red pencils ready for colour-coding. Learners need a pen for the model and a different colour for marking predictions.</a:t>
            </a:r>
          </a:p>
          <a:p>
            <a:r>
              <a:rPr lang="en-GB" sz="1200"/>
              <a:t>• Preview observe.video (Khan Academy, Prokaryotic and eukaryotic cells) before class. Do not play it until after the card sort.</a:t>
            </a:r>
          </a:p>
          <a:p>
            <a:r>
              <a:rPr lang="en-GB" sz="1200"/>
              <a:t>• Decide where to photograph the Driving Question Board and the Version 1 models at the end.</a:t>
            </a:r>
          </a:p>
          <a:p>
            <a:r>
              <a:rPr lang="en-GB" sz="1200"/>
              <a:t/>
            </a:r>
          </a:p>
          <a:p>
            <a:r>
              <a:rPr lang="en-GB" sz="1200" b="1"/>
              <a:t>DO NOT SHOW YET</a:t>
            </a:r>
          </a:p>
          <a:p>
            <a:r>
              <a:rPr lang="en-GB" sz="1200"/>
              <a:t>• Do not play the ARES video observe.video (Prokaryotic and eukaryotic cells) until after learners finish the card sort. It can give away the sort answers.</a:t>
            </a:r>
          </a:p>
          <a:p>
            <a:r>
              <a:rPr lang="en-GB" sz="1200"/>
              <a:t>• Do not show the slides 'What the card sort showed' or 'Colour-code your diagrams' until after learners have sorted their cards.</a:t>
            </a:r>
          </a:p>
          <a:p>
            <a:r>
              <a:rPr lang="en-GB" sz="1200"/>
              <a:t>• Do not give learners the ARES readings on prokaryotic and eukaryotic cells (predict.reading, observe.reading) before the card sort.</a:t>
            </a:r>
          </a:p>
          <a:p>
            <a:r>
              <a:rPr lang="en-GB" sz="1200"/>
              <a:t>• Do not show or read out the answer key (countries, dates, colour key, model answers) while learners are still writing.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TEACHER ONLY — HIDDEN SLIDE</a:t>
            </a:r>
          </a:p>
          <a:p>
            <a:r>
              <a:rPr lang="en-GB" sz="1200"/>
              <a:t/>
            </a:r>
          </a:p>
          <a:p>
            <a:r>
              <a:rPr lang="en-GB" sz="1200" b="1"/>
              <a:t>HOW TO USE THE NOTES</a:t>
            </a:r>
          </a:p>
          <a:p>
            <a:r>
              <a:rPr lang="en-GB" sz="1200"/>
              <a:t>Every slide has notes written for you, in the same order:</a:t>
            </a:r>
          </a:p>
          <a:p>
            <a:r>
              <a:rPr lang="en-GB" sz="1200"/>
              <a:t>• TIME — how long to spend.</a:t>
            </a:r>
          </a:p>
          <a:p>
            <a:r>
              <a:rPr lang="en-GB" sz="1200"/>
              <a:t>• DO — what to do, step by step.</a:t>
            </a:r>
          </a:p>
          <a:p>
            <a:r>
              <a:rPr lang="en-GB" sz="1200"/>
              <a:t>• SAY — words you can read aloud. Change them to suit your class.</a:t>
            </a:r>
          </a:p>
          <a:p>
            <a:r>
              <a:rPr lang="en-GB" sz="1200"/>
              <a:t>• WAIT TIME — how long to stay silent after a question.</a:t>
            </a:r>
          </a:p>
          <a:p>
            <a:r>
              <a:rPr lang="en-GB" sz="1200"/>
              <a:t>• LOOK FOR — what to listen and look for.</a:t>
            </a:r>
          </a:p>
          <a:p>
            <a:r>
              <a:rPr lang="en-GB" sz="1200"/>
              <a:t>• IF… — what to do if students are stuck or equipment fails.</a:t>
            </a:r>
          </a:p>
          <a:p>
            <a:r>
              <a:rPr lang="en-GB" sz="1200"/>
              <a:t>• WHY THIS WORKS — the reason behind the strategy.</a:t>
            </a:r>
          </a:p>
          <a:p>
            <a:r>
              <a:rPr lang="en-GB" sz="1200"/>
              <a:t>• ANSWER KEY — a model answer for every student task.</a:t>
            </a:r>
          </a:p>
          <a:p>
            <a:r>
              <a:rPr lang="en-GB" sz="1200"/>
              <a:t/>
            </a:r>
          </a:p>
          <a:p>
            <a:r>
              <a:rPr lang="en-GB" sz="1200"/>
              <a:t>Open Presenter View in Slide Show to see the notes while students see the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TEACHER ONLY — HIDDEN SLIDE</a:t>
            </a:r>
          </a:p>
          <a:p>
            <a:r>
              <a:rPr lang="en-GB" sz="1200"/>
              <a:t/>
            </a:r>
          </a:p>
          <a:p>
            <a:r>
              <a:rPr lang="en-GB" sz="1200" b="1"/>
              <a:t>IF EQUIPMENT OR MATERIALS ARE MISSING</a:t>
            </a:r>
          </a:p>
          <a:p>
            <a:r>
              <a:rPr lang="en-GB" sz="1200"/>
              <a:t>If A3 sheets or ARES cards are missing, use the diagram slides. If cards are short, write them on paper strips or share one set between two groups. If sticky notes run out, use paper squares.</a:t>
            </a:r>
          </a:p>
          <a:p>
            <a:r>
              <a:rPr lang="en-GB" sz="1200"/>
              <a:t/>
            </a:r>
          </a:p>
          <a:p>
            <a:r>
              <a:rPr lang="en-GB" sz="1200"/>
              <a:t>The ARES resources for this lesson, with a match note for each, are on the next hidden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TEACHER ONLY — HIDDEN SLIDE</a:t>
            </a:r>
          </a:p>
          <a:p>
            <a:r>
              <a:rPr lang="en-GB" sz="1200"/>
              <a:t/>
            </a:r>
          </a:p>
          <a:p>
            <a:r>
              <a:rPr lang="en-GB" sz="1200" b="1"/>
              <a:t>RESOURCE LINKS (plain URLs, for printed copies)</a:t>
            </a:r>
          </a:p>
          <a:p>
            <a:r>
              <a:rPr lang="en-GB" sz="1200"/>
              <a:t>• USE LATER: Prokaryotic and eukaryotic cells (Khan Academy (English - US curriculum), video). This video gives away the prokaryote and eukaryote differences students should find themselves. Use after the card sort, at 'What the card sort showed'.  http://ares.local:8069/en/learn/#/topics/c/98ccf1c8b3d35cfea5093cdb61b64836</a:t>
            </a:r>
          </a:p>
          <a:p>
            <a:r>
              <a:rPr lang="en-GB" sz="1200"/>
              <a:t>• USE LATER: Prokaryotic and Eukaryotic Cells (Flexbook) (CK-12, html). The reading explains prokaryote and eukaryote features, which would pre-empt the prediction. Use after 'What the card sort showed' as consolidation reading.  http://ares.local:8069/en/learn/#/topics/c/a9225822ddc15923af4f4e8b0cfe74cf</a:t>
            </a:r>
          </a:p>
          <a:p>
            <a:r>
              <a:rPr lang="en-GB" sz="1200"/>
              <a:t>• USE LATER: Prokaryotic and Eukaryotic Cells Practice (CK-12, exercise). Practice questions on prokaryotes and eukaryotes need the content first. Use after 'Colour-code your diagrams' to check understanding.  http://ares.local:8069/en/learn/#/topics/c/010c56a26444568587b8d2019e991130</a:t>
            </a:r>
          </a:p>
          <a:p>
            <a:r>
              <a:rPr lang="en-GB" sz="1200"/>
              <a:t>• PREVIEW FIRST: Organelles in eukaryotic cells (Khan Academy (English - US curriculum), video). On topic for Explain but goes deep into organelle functions. Check it does not go beyond Version 1 labels; organelles are Lessons 4 and 5.  http://ares.local:8069/en/learn/#/topics/c/9f2d3e6f004d59c7a0106ab068d0cf53</a:t>
            </a:r>
          </a:p>
          <a:p>
            <a:r>
              <a:rPr lang="en-GB" sz="1200"/>
              <a:t>• BEST MATCH: Prokaryotic and eukaryotic cells (Khan Academy (English - US curriculum), exercise). Khan Academy practice on prokaryotic and eukaryotic cells fits Explain consolidation after the card sort. Quick check that its level suits Grade 10.  http://ares.local:8069/en/learn/#/topics/c/7420d24fcc8f5eb78e3f3947ada0a787</a:t>
            </a:r>
          </a:p>
          <a:p>
            <a:r>
              <a:rPr lang="en-GB" sz="1200"/>
              <a:t>• USE LATER: Comparing animal and plant cells (Khan Academy (English - US curriculum), video). Plant versus animal comparison is mostly Lesson 5 content. Use it in Lesson 5 when learners compare plant and animal cells.  http://ares.local:8069/en/learn/#/topics/c/8640601f847a586e97f0030c90135a9c</a:t>
            </a:r>
          </a:p>
          <a:p>
            <a:r>
              <a:rPr lang="en-GB" sz="1200"/>
              <a:t>• PREVIEW FIRST: Introduction to cells (Khan Academy (English - US curriculum), exercise). Introductory cell practice may help learners judge what the evidence answers. Preview to check it matches 'Does our evidence answer it yet?' and avoids new content.  http://ares.local:8069/en/learn/#/topics/c/c8c45e8126b65881b96c536160e9f5b2</a:t>
            </a:r>
          </a:p>
          <a:p>
            <a:r>
              <a:rPr lang="en-GB" sz="1200"/>
              <a:t>• DO NOT USE: Endosymbiosis theory (Khan Academy (English - US curriculum), video). Endosymbiosis theory is beyond Grade 10 and Version 1 needs, and no lesson in this unit teaches it.  http://ares.local:8069/en/learn/#/topics/c/8ef024cff77d53aa8a74817f01142299</a:t>
            </a:r>
          </a:p>
          <a:p>
            <a:r>
              <a:rPr lang="en-GB" sz="1200"/>
              <a:t>• BEST MATCH: The Cell Theory Practice (CK-12, exercise). Cell theory practice supports Version 1 model-building by securing the three tenets. Check the questions stay at Grade 10 level.  http://ares.local:8069/en/learn/#/topics/c/210efd38886b5c02897bbb926bcaa0d1</a:t>
            </a:r>
          </a:p>
          <a:p>
            <a:r>
              <a:rPr lang="en-GB" sz="1200"/>
              <a:t/>
            </a:r>
          </a:p>
          <a:p>
            <a:r>
              <a:rPr lang="en-GB" sz="1200"/>
              <a:t>Click an icon in Slide Show to open the resource in ARES. DO NOT USE resources are listed so you know why they were left 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a:t>
            </a:r>
          </a:p>
          <a:p>
            <a:r>
              <a:rPr lang="en-GB" sz="1200"/>
              <a:t/>
            </a:r>
          </a:p>
          <a:p>
            <a:r>
              <a:rPr lang="en-GB" sz="1200" b="1"/>
              <a:t>DO</a:t>
            </a:r>
          </a:p>
          <a:p>
            <a:r>
              <a:rPr lang="en-GB" sz="1200"/>
              <a:t>• Point to Lesson 2 on the map and to the YOU ARE HERE marker.</a:t>
            </a:r>
          </a:p>
          <a:p>
            <a:r>
              <a:rPr lang="en-GB" sz="1200"/>
              <a:t>• Read the So far line aloud.</a:t>
            </a:r>
          </a:p>
          <a:p>
            <a:r>
              <a:rPr lang="en-GB" sz="1200"/>
              <a:t>• Read the unit driving question aloud. Keep this to about 1 minute.</a:t>
            </a:r>
          </a:p>
          <a:p>
            <a:r>
              <a:rPr lang="en-GB" sz="1200"/>
              <a:t/>
            </a:r>
          </a:p>
          <a:p>
            <a:r>
              <a:rPr lang="en-GB" sz="1200" b="1"/>
              <a:t>SAY</a:t>
            </a:r>
          </a:p>
          <a:p>
            <a:r>
              <a:rPr lang="en-GB" sz="1200"/>
              <a:t>• Last lesson we met Amina's healing finger and asked why cells look so different.</a:t>
            </a:r>
          </a:p>
          <a:p>
            <a:r>
              <a:rPr lang="en-GB" sz="1200"/>
              <a:t>• Today we find out what all cells have in common. That is the first step towards the big question.</a:t>
            </a:r>
          </a:p>
          <a:p>
            <a:r>
              <a:rPr lang="en-GB" sz="1200"/>
              <a:t>• Look at the driving question. We cannot answer it yet. Today we build the base.</a:t>
            </a:r>
          </a:p>
          <a:p>
            <a:r>
              <a:rPr lang="en-GB" sz="1200"/>
              <a:t/>
            </a:r>
          </a:p>
          <a:p>
            <a:r>
              <a:rPr lang="en-GB" sz="1200" b="1"/>
              <a:t>WHY THIS WORKS</a:t>
            </a:r>
          </a:p>
          <a:p>
            <a:r>
              <a:rPr lang="en-GB" sz="1200"/>
              <a:t>Showing where today fits helps learners see the lesson as part of one story. Repeating the driving question keeps the healing cut in mind.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a:t>
            </a:r>
          </a:p>
          <a:p>
            <a:r>
              <a:rPr lang="en-GB" sz="1200"/>
              <a:t/>
            </a:r>
          </a:p>
          <a:p>
            <a:r>
              <a:rPr lang="en-GB" sz="1200" b="1"/>
              <a:t>DO</a:t>
            </a:r>
          </a:p>
          <a:p>
            <a:r>
              <a:rPr lang="en-GB" sz="1200"/>
              <a:t>• Read the three goals aloud with the class.</a:t>
            </a:r>
          </a:p>
          <a:p>
            <a:r>
              <a:rPr lang="en-GB" sz="1200"/>
              <a:t>• Read each key word and its meaning once. Do not teach them in depth now.</a:t>
            </a:r>
          </a:p>
          <a:p>
            <a:r>
              <a:rPr lang="en-GB" sz="1200"/>
              <a:t>• Keep this to about 1 minute.</a:t>
            </a:r>
          </a:p>
          <a:p>
            <a:r>
              <a:rPr lang="en-GB" sz="1200"/>
              <a:t/>
            </a:r>
          </a:p>
          <a:p>
            <a:r>
              <a:rPr lang="en-GB" sz="1200" b="1"/>
              <a:t>SAY</a:t>
            </a:r>
          </a:p>
          <a:p>
            <a:r>
              <a:rPr lang="en-GB" sz="1200"/>
              <a:t>• By the end of today you can state the three ideas of cell theory, compare two kinds of cell and draw Version 1 of your cell model.</a:t>
            </a:r>
          </a:p>
          <a:p>
            <a:r>
              <a:rPr lang="en-GB" sz="1200"/>
              <a:t>• These four words will come up today: cell, cell theory, analogy and model. You will use them as we go.</a:t>
            </a:r>
          </a:p>
          <a:p>
            <a:r>
              <a:rPr lang="en-GB" sz="1200"/>
              <a:t/>
            </a:r>
          </a:p>
          <a:p>
            <a:r>
              <a:rPr lang="en-GB" sz="1200" b="1"/>
              <a:t>WHY THIS WORKS</a:t>
            </a:r>
          </a:p>
          <a:p>
            <a:r>
              <a:rPr lang="en-GB" sz="1200"/>
              <a:t>Short goals tell learners what success looks like. The key words are only the ones needed to understand the task. You teach the other words when learners meet them on a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PREDICT PHASE (6 minutes total)</a:t>
            </a:r>
          </a:p>
          <a:p>
            <a:r>
              <a:rPr lang="en-GB" sz="1200" b="1"/>
              <a:t>TIME: 3 minutes Silent writing, as in the SoW (3 minutes).</a:t>
            </a:r>
          </a:p>
          <a:p>
            <a:r>
              <a:rPr lang="en-GB" sz="1200"/>
              <a:t/>
            </a:r>
          </a:p>
          <a:p>
            <a:r>
              <a:rPr lang="en-GB" sz="1200" b="1"/>
              <a:t>DO</a:t>
            </a:r>
          </a:p>
          <a:p>
            <a:r>
              <a:rPr lang="en-GB" sz="1200"/>
              <a:t>• Before learners enter, display the phenomenon image: Amina's healing finger (the cross-section diagram from Lesson 1).</a:t>
            </a:r>
          </a:p>
          <a:p>
            <a:r>
              <a:rPr lang="en-GB" sz="1200"/>
              <a:t>• Show this slide. Learners work alone in their science notebooks.</a:t>
            </a:r>
          </a:p>
          <a:p>
            <a:r>
              <a:rPr lang="en-GB" sz="1200"/>
              <a:t>• Start the 3:00 timer.</a:t>
            </a:r>
          </a:p>
          <a:p>
            <a:r>
              <a:rPr lang="en-GB" sz="1200"/>
              <a:t>• Walk around quietly and scan notebooks. Do not collect them.</a:t>
            </a:r>
          </a:p>
          <a:p>
            <a:r>
              <a:rPr lang="en-GB" sz="1200"/>
              <a:t/>
            </a:r>
          </a:p>
          <a:p>
            <a:r>
              <a:rPr lang="en-GB" sz="1200" b="1"/>
              <a:t>SAY</a:t>
            </a:r>
          </a:p>
          <a:p>
            <a:r>
              <a:rPr lang="en-GB" sz="1200"/>
              <a:t>• Before we learn anything new today, I want you to predict.</a:t>
            </a:r>
          </a:p>
          <a:p>
            <a:r>
              <a:rPr lang="en-GB" sz="1200"/>
              <a:t>• Look at Amina's finger. All those different cells working together. What do you think every single one of them has in common?</a:t>
            </a:r>
          </a:p>
          <a:p>
            <a:r>
              <a:rPr lang="en-GB" sz="1200"/>
              <a:t>• Write three sentences. Start with: I think all cells share… because…</a:t>
            </a:r>
          </a:p>
          <a:p>
            <a:r>
              <a:rPr lang="en-GB" sz="1200"/>
              <a:t/>
            </a:r>
          </a:p>
          <a:p>
            <a:r>
              <a:rPr lang="en-GB" sz="1200" b="1"/>
              <a:t>WAIT TIME</a:t>
            </a:r>
          </a:p>
          <a:p>
            <a:r>
              <a:rPr lang="en-GB" sz="1200"/>
              <a:t>The full 3 minutes of silence. Do not speak.</a:t>
            </a:r>
          </a:p>
          <a:p>
            <a:r>
              <a:rPr lang="en-GB" sz="1200"/>
              <a:t/>
            </a:r>
          </a:p>
          <a:p>
            <a:r>
              <a:rPr lang="en-GB" sz="1200" b="1"/>
              <a:t>LOOK FOR</a:t>
            </a:r>
          </a:p>
          <a:p>
            <a:r>
              <a:rPr lang="en-GB" sz="1200"/>
              <a:t>• Scan 8 to 10 notebooks: each learner has written at least 3 sentences before pair share starts.</a:t>
            </a:r>
          </a:p>
          <a:p>
            <a:r>
              <a:rPr lang="en-GB" sz="1200"/>
              <a:t>• Listen and look for: a membrane, genetic material, a control centre, a nucleus.</a:t>
            </a:r>
          </a:p>
          <a:p>
            <a:r>
              <a:rPr lang="en-GB" sz="1200"/>
              <a:t>• Note any learner who writes 'I don't know'. Give them support during Observe.</a:t>
            </a:r>
          </a:p>
          <a:p>
            <a:r>
              <a:rPr lang="en-GB" sz="1200"/>
              <a:t/>
            </a:r>
          </a:p>
          <a:p>
            <a:r>
              <a:rPr lang="en-GB" sz="1200" b="1"/>
              <a:t>IF…</a:t>
            </a:r>
          </a:p>
          <a:p>
            <a:r>
              <a:rPr lang="en-GB" sz="1200"/>
              <a:t>• If a learner writes 'I don't know', say: Think of two cells from Amina's finger. What parts might both have? Write one guess and one reason.</a:t>
            </a:r>
          </a:p>
          <a:p>
            <a:r>
              <a:rPr lang="en-GB" sz="1200"/>
              <a:t>• If a learner writes 'all cells have a nucleus', do not correct. Say: Interesting. Let's hold that idea and test it today.</a:t>
            </a:r>
          </a:p>
          <a:p>
            <a:r>
              <a:rPr lang="en-GB" sz="1200"/>
              <a:t/>
            </a:r>
          </a:p>
          <a:p>
            <a:r>
              <a:rPr lang="en-GB" sz="1200" b="1"/>
              <a:t>WHY THIS WORKS</a:t>
            </a:r>
          </a:p>
          <a:p>
            <a:r>
              <a:rPr lang="en-GB" sz="1200"/>
              <a:t>Writing a prediction alone brings out what learners already think before any teaching. This shows the teacher the misconceptions (for example, 'all cells have a nucleus') that the lesson will test.</a:t>
            </a:r>
          </a:p>
          <a:p>
            <a:r>
              <a:rPr lang="en-GB" sz="1200"/>
              <a:t/>
            </a:r>
          </a:p>
          <a:p>
            <a:r>
              <a:rPr lang="en-GB" sz="1200" b="1"/>
              <a:t>ANSWER KEY</a:t>
            </a:r>
          </a:p>
          <a:p>
            <a:r>
              <a:rPr lang="en-GB" sz="1200"/>
              <a:t>• Any honest prediction with a reason is accepted. Example: I think all cells share a cell membrane, because every cell needs a boundary. I think all cells share DNA, because they all came from the same body. I think they may all have a nucleus, because the nucleus controls the cell.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2 minutes Pair share is 90 seconds in the SoW; the rest of the slide time is for moving to the sharing slide.</a:t>
            </a:r>
          </a:p>
          <a:p>
            <a:r>
              <a:rPr lang="en-GB" sz="1200"/>
              <a:t/>
            </a:r>
          </a:p>
          <a:p>
            <a:r>
              <a:rPr lang="en-GB" sz="1200" b="1"/>
              <a:t>DO</a:t>
            </a:r>
          </a:p>
          <a:p>
            <a:r>
              <a:rPr lang="en-GB" sz="1200"/>
              <a:t>• Learners turn to a shoulder partner.</a:t>
            </a:r>
          </a:p>
          <a:p>
            <a:r>
              <a:rPr lang="en-GB" sz="1200"/>
              <a:t>• Start the 1:30 timer.</a:t>
            </a:r>
          </a:p>
          <a:p>
            <a:r>
              <a:rPr lang="en-GB" sz="1200"/>
              <a:t>• Walk around and listen. Choose 3 pairs to call on next.</a:t>
            </a:r>
          </a:p>
          <a:p>
            <a:r>
              <a:rPr lang="en-GB" sz="1200"/>
              <a:t/>
            </a:r>
          </a:p>
          <a:p>
            <a:r>
              <a:rPr lang="en-GB" sz="1200" b="1"/>
              <a:t>SAY</a:t>
            </a:r>
          </a:p>
          <a:p>
            <a:r>
              <a:rPr lang="en-GB" sz="1200"/>
              <a:t>• Turn to your shoulder partner. Read your sentences to each other.</a:t>
            </a:r>
          </a:p>
          <a:p>
            <a:r>
              <a:rPr lang="en-GB" sz="1200"/>
              <a:t>• Listen carefully. Then agree on one idea you can share with the class.</a:t>
            </a:r>
          </a:p>
          <a:p>
            <a:r>
              <a:rPr lang="en-GB" sz="1200"/>
              <a:t/>
            </a:r>
          </a:p>
          <a:p>
            <a:r>
              <a:rPr lang="en-GB" sz="1200" b="1"/>
              <a:t>LOOK FOR</a:t>
            </a:r>
          </a:p>
          <a:p>
            <a:r>
              <a:rPr lang="en-GB" sz="1200"/>
              <a:t>• Both partners speak. Note pairs that mention a membrane, genetic material or a nucleus.</a:t>
            </a:r>
          </a:p>
          <a:p>
            <a:r>
              <a:rPr lang="en-GB" sz="1200"/>
              <a:t/>
            </a:r>
          </a:p>
          <a:p>
            <a:r>
              <a:rPr lang="en-GB" sz="1200" b="1"/>
              <a:t>IF…</a:t>
            </a:r>
          </a:p>
          <a:p>
            <a:r>
              <a:rPr lang="en-GB" sz="1200"/>
              <a:t>• If a pair is silent, say: Start with your 'because'. Why did you think that?</a:t>
            </a:r>
          </a:p>
          <a:p>
            <a:r>
              <a:rPr lang="en-GB" sz="1200"/>
              <a:t/>
            </a:r>
          </a:p>
          <a:p>
            <a:r>
              <a:rPr lang="en-GB" sz="1200" b="1"/>
              <a:t>WHY THIS WORKS</a:t>
            </a:r>
          </a:p>
          <a:p>
            <a:r>
              <a:rPr lang="en-GB" sz="1200"/>
              <a:t>Saying an idea aloud to one partner is a low-risk step before speaking to the whole class. More learners are ready to share.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 SoW shares 3 pairs and records key words. Kept short to fit the period.</a:t>
            </a:r>
          </a:p>
          <a:p>
            <a:r>
              <a:rPr lang="en-GB" sz="1200"/>
              <a:t/>
            </a:r>
          </a:p>
          <a:p>
            <a:r>
              <a:rPr lang="en-GB" sz="1200" b="1"/>
              <a:t>DO</a:t>
            </a:r>
          </a:p>
          <a:p>
            <a:r>
              <a:rPr lang="en-GB" sz="1200"/>
              <a:t>• Write OUR PREDICTIONS as a column heading on the board. Write BEFORE — Our Predictions beside it.</a:t>
            </a:r>
          </a:p>
          <a:p>
            <a:r>
              <a:rPr lang="en-GB" sz="1200"/>
              <a:t>• Cold-call 3 pairs: one pair that mentioned a membrane or genetic material, one pair that wrote 'nucleus', and one pair you did not hear from yet.</a:t>
            </a:r>
          </a:p>
          <a:p>
            <a:r>
              <a:rPr lang="en-GB" sz="1200"/>
              <a:t>• Write the key words on the board.</a:t>
            </a:r>
          </a:p>
          <a:p>
            <a:r>
              <a:rPr lang="en-GB" sz="1200"/>
              <a:t>• Ask for a hands-up count: Who wrote that every cell has a nucleus? Write the number on the board. You will return to it in Explain.</a:t>
            </a:r>
          </a:p>
          <a:p>
            <a:r>
              <a:rPr lang="en-GB" sz="1200"/>
              <a:t/>
            </a:r>
          </a:p>
          <a:p>
            <a:r>
              <a:rPr lang="en-GB" sz="1200" b="1"/>
              <a:t>SAY</a:t>
            </a:r>
          </a:p>
          <a:p>
            <a:r>
              <a:rPr lang="en-GB" sz="1200"/>
              <a:t>• Pair at the window table, what did you agree on?</a:t>
            </a:r>
          </a:p>
          <a:p>
            <a:r>
              <a:rPr lang="en-GB" sz="1200"/>
              <a:t>• Thank you. Interesting. Let's hold that idea and test it today.</a:t>
            </a:r>
          </a:p>
          <a:p>
            <a:r>
              <a:rPr lang="en-GB" sz="1200"/>
              <a:t/>
            </a:r>
          </a:p>
          <a:p>
            <a:r>
              <a:rPr lang="en-GB" sz="1200" b="1"/>
              <a:t>WAIT TIME</a:t>
            </a:r>
          </a:p>
          <a:p>
            <a:r>
              <a:rPr lang="en-GB" sz="1200"/>
              <a:t>5 seconds after each name before they answer.</a:t>
            </a:r>
          </a:p>
          <a:p>
            <a:r>
              <a:rPr lang="en-GB" sz="1200"/>
              <a:t/>
            </a:r>
          </a:p>
          <a:p>
            <a:r>
              <a:rPr lang="en-GB" sz="1200" b="1"/>
              <a:t>LOOK FOR</a:t>
            </a:r>
          </a:p>
          <a:p>
            <a:r>
              <a:rPr lang="en-GB" sz="1200"/>
              <a:t>• Pairs give a reason, not only an idea.</a:t>
            </a:r>
          </a:p>
          <a:p>
            <a:r>
              <a:rPr lang="en-GB" sz="1200"/>
              <a:t/>
            </a:r>
          </a:p>
          <a:p>
            <a:r>
              <a:rPr lang="en-GB" sz="1200" b="1"/>
              <a:t>IF…</a:t>
            </a:r>
          </a:p>
          <a:p>
            <a:r>
              <a:rPr lang="en-GB" sz="1200"/>
              <a:t>• If a pair gives a wrong idea, do not correct. Say: Interesting. Let's hold that idea and test it today.</a:t>
            </a:r>
          </a:p>
          <a:p>
            <a:r>
              <a:rPr lang="en-GB" sz="1200"/>
              <a:t/>
            </a:r>
          </a:p>
          <a:p>
            <a:r>
              <a:rPr lang="en-GB" sz="1200" b="1"/>
              <a:t>WHY THIS WORKS</a:t>
            </a:r>
          </a:p>
          <a:p>
            <a:r>
              <a:rPr lang="en-GB" sz="1200"/>
              <a:t>Writing predictions where everyone can see them makes learners want to check them later. Not correcting keeps learners willing to share.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OBSERVE PHASE (35 minutes total)</a:t>
            </a:r>
          </a:p>
          <a:p>
            <a:r>
              <a:rPr lang="en-GB" sz="1200" b="1"/>
              <a:t>TIME: 4 minutes SoW Part A is 15 minutes in all (trimmed to 12). This is part 1 of 2.</a:t>
            </a:r>
          </a:p>
          <a:p>
            <a:r>
              <a:rPr lang="en-GB" sz="1200"/>
              <a:t/>
            </a:r>
          </a:p>
          <a:p>
            <a:r>
              <a:rPr lang="en-GB" sz="1200" b="1"/>
              <a:t>DO</a:t>
            </a:r>
          </a:p>
          <a:p>
            <a:r>
              <a:rPr lang="en-GB" sz="1200"/>
              <a:t>• Draw a simple kitchen outline on the board. Label it: door = cell membrane; recipe book on shelf = nucleus/DNA; jiko (stove) = mitochondria; sufuria, mwiko, chopping board = organelles.</a:t>
            </a:r>
          </a:p>
          <a:p>
            <a:r>
              <a:rPr lang="en-GB" sz="1200"/>
              <a:t>• Tell the analogy story, then pause.</a:t>
            </a:r>
          </a:p>
          <a:p>
            <a:r>
              <a:rPr lang="en-GB" sz="1200"/>
              <a:t>• Ask the question on the slide. Cold-call 2 learners.</a:t>
            </a:r>
          </a:p>
          <a:p>
            <a:r>
              <a:rPr lang="en-GB" sz="1200"/>
              <a:t/>
            </a:r>
          </a:p>
          <a:p>
            <a:r>
              <a:rPr lang="en-GB" sz="1200" b="1"/>
              <a:t>SAY</a:t>
            </a:r>
          </a:p>
          <a:p>
            <a:r>
              <a:rPr lang="en-GB" sz="1200"/>
              <a:t>• Every kitchen in Nairobi, whether in a Kibera home or a Westlands restaurant, has these basics.</a:t>
            </a:r>
          </a:p>
          <a:p>
            <a:r>
              <a:rPr lang="en-GB" sz="1200"/>
              <a:t>• But the kitchen in a hospital canteen is set up differently from a home kitchen in Kericho. Same tools, different arrangement, different job.</a:t>
            </a:r>
          </a:p>
          <a:p>
            <a:r>
              <a:rPr lang="en-GB" sz="1200"/>
              <a:t>• That is exactly what we will discover about cells.</a:t>
            </a:r>
          </a:p>
          <a:p>
            <a:r>
              <a:rPr lang="en-GB" sz="1200"/>
              <a:t>• What part of the kitchen would you say is like the cell membrane, the thing that controls what comes in and out?</a:t>
            </a:r>
          </a:p>
          <a:p>
            <a:r>
              <a:rPr lang="en-GB" sz="1200"/>
              <a:t/>
            </a:r>
          </a:p>
          <a:p>
            <a:r>
              <a:rPr lang="en-GB" sz="1200" b="1"/>
              <a:t>WAIT TIME</a:t>
            </a:r>
          </a:p>
          <a:p>
            <a:r>
              <a:rPr lang="en-GB" sz="1200"/>
              <a:t>10 seconds of silence after the story. 12 seconds after the question.</a:t>
            </a:r>
          </a:p>
          <a:p>
            <a:r>
              <a:rPr lang="en-GB" sz="1200"/>
              <a:t/>
            </a:r>
          </a:p>
          <a:p>
            <a:r>
              <a:rPr lang="en-GB" sz="1200" b="1"/>
              <a:t>LOOK FOR</a:t>
            </a:r>
          </a:p>
          <a:p>
            <a:r>
              <a:rPr lang="en-GB" sz="1200"/>
              <a:t>• Learners link 'controls what comes in and out' to the door. Note who can explain why.</a:t>
            </a:r>
          </a:p>
          <a:p>
            <a:r>
              <a:rPr lang="en-GB" sz="1200"/>
              <a:t/>
            </a:r>
          </a:p>
          <a:p>
            <a:r>
              <a:rPr lang="en-GB" sz="1200" b="1"/>
              <a:t>IF…</a:t>
            </a:r>
          </a:p>
          <a:p>
            <a:r>
              <a:rPr lang="en-GB" sz="1200"/>
              <a:t>• If no one answers, say: Think about who or what can pass through the door of a kitchen. Who decides?</a:t>
            </a:r>
          </a:p>
          <a:p>
            <a:r>
              <a:rPr lang="en-GB" sz="1200"/>
              <a:t/>
            </a:r>
          </a:p>
          <a:p>
            <a:r>
              <a:rPr lang="en-GB" sz="1200" b="1"/>
              <a:t>WHY THIS WORKS</a:t>
            </a:r>
          </a:p>
          <a:p>
            <a:r>
              <a:rPr lang="en-GB" sz="1200"/>
              <a:t>A familiar kitchen gives new cell words something to attach to, so there is less to remember. Learners reuse the same picture all lesson. Misconception addressed: a cell is not just a blob; it is organised.</a:t>
            </a:r>
          </a:p>
          <a:p>
            <a:r>
              <a:rPr lang="en-GB" sz="1200"/>
              <a:t/>
            </a:r>
          </a:p>
          <a:p>
            <a:r>
              <a:rPr lang="en-GB" sz="1200" b="1"/>
              <a:t>SCIENCE NOTE FOR YOU</a:t>
            </a:r>
          </a:p>
          <a:p>
            <a:r>
              <a:rPr lang="en-GB" sz="1200"/>
              <a:t>Use this one mapping all lesson. Limits of the analogy: a kitchen door is opened and shut by a person. A cell membrane controls what passes without anyone deciding. A jiko makes heat by burning fuel. Mitochondria release energy from food inside the cell.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8 minutes SoW Part A is 15 minutes in all (trimmed to 12). This is part 2 of 2.</a:t>
            </a:r>
          </a:p>
          <a:p>
            <a:r>
              <a:rPr lang="en-GB" sz="1200"/>
              <a:t/>
            </a:r>
          </a:p>
          <a:p>
            <a:r>
              <a:rPr lang="en-GB" sz="1200" b="1"/>
              <a:t>DO</a:t>
            </a:r>
          </a:p>
          <a:p>
            <a:r>
              <a:rPr lang="en-GB" sz="1200"/>
              <a:t>• Groups of four discuss, then each learner copies and completes the two-column table in their notebook.</a:t>
            </a:r>
          </a:p>
          <a:p>
            <a:r>
              <a:rPr lang="en-GB" sz="1200"/>
              <a:t>• Circulate. Check two tables per group.</a:t>
            </a:r>
          </a:p>
          <a:p>
            <a:r>
              <a:rPr lang="en-GB" sz="1200"/>
              <a:t/>
            </a:r>
          </a:p>
          <a:p>
            <a:r>
              <a:rPr lang="en-GB" sz="1200" b="1"/>
              <a:t>SAY</a:t>
            </a:r>
          </a:p>
          <a:p>
            <a:r>
              <a:rPr lang="en-GB" sz="1200"/>
              <a:t>• Talk in your group. Which cell part is each kitchen feature like?</a:t>
            </a:r>
          </a:p>
          <a:p>
            <a:r>
              <a:rPr lang="en-GB" sz="1200"/>
              <a:t>• Fill in the table in your own notebook.</a:t>
            </a:r>
          </a:p>
          <a:p>
            <a:r>
              <a:rPr lang="en-GB" sz="1200"/>
              <a:t/>
            </a:r>
          </a:p>
          <a:p>
            <a:r>
              <a:rPr lang="en-GB" sz="1200" b="1"/>
              <a:t>WAIT TIME</a:t>
            </a:r>
          </a:p>
          <a:p>
            <a:r>
              <a:rPr lang="en-GB" sz="1200"/>
              <a:t>10 seconds after each prompt before you help.</a:t>
            </a:r>
          </a:p>
          <a:p>
            <a:r>
              <a:rPr lang="en-GB" sz="1200"/>
              <a:t/>
            </a:r>
          </a:p>
          <a:p>
            <a:r>
              <a:rPr lang="en-GB" sz="1200" b="1"/>
              <a:t>LOOK FOR</a:t>
            </a:r>
          </a:p>
          <a:p>
            <a:r>
              <a:rPr lang="en-GB" sz="1200"/>
              <a:t>• Check two tables in each group: at least 5 correct mappings.</a:t>
            </a:r>
          </a:p>
          <a:p>
            <a:r>
              <a:rPr lang="en-GB" sz="1200"/>
              <a:t>• Listen for reasons such as 'the door controls what goes in and out'.</a:t>
            </a:r>
          </a:p>
          <a:p>
            <a:r>
              <a:rPr lang="en-GB" sz="1200"/>
              <a:t/>
            </a:r>
          </a:p>
          <a:p>
            <a:r>
              <a:rPr lang="en-GB" sz="1200" b="1"/>
              <a:t>IF…</a:t>
            </a:r>
          </a:p>
          <a:p>
            <a:r>
              <a:rPr lang="en-GB" sz="1200"/>
              <a:t>• If a group maps the jiko to the membrane, say: The jiko makes heat from fuel. Which cell part releases energy from food?</a:t>
            </a:r>
          </a:p>
          <a:p>
            <a:r>
              <a:rPr lang="en-GB" sz="1200"/>
              <a:t>• If a group has fewer than 5 rows filled, say: Look at the kitchen picture. What does each thing do? Which cell part does a similar job?</a:t>
            </a:r>
          </a:p>
          <a:p>
            <a:r>
              <a:rPr lang="en-GB" sz="1200"/>
              <a:t/>
            </a:r>
          </a:p>
          <a:p>
            <a:r>
              <a:rPr lang="en-GB" sz="1200" b="1"/>
              <a:t>WHY THIS WORKS</a:t>
            </a:r>
          </a:p>
          <a:p>
            <a:r>
              <a:rPr lang="en-GB" sz="1200"/>
              <a:t>Matching a known kitchen to unknown cell parts links new words to things learners already understand. Doing it in a group lets learners argue about their choices.</a:t>
            </a:r>
          </a:p>
          <a:p>
            <a:r>
              <a:rPr lang="en-GB" sz="1200"/>
              <a:t/>
            </a:r>
          </a:p>
          <a:p>
            <a:r>
              <a:rPr lang="en-GB" sz="1200" b="1"/>
              <a:t>ANSWER KEY</a:t>
            </a:r>
          </a:p>
          <a:p>
            <a:r>
              <a:rPr lang="en-GB" sz="1200"/>
              <a:t>• Door = cell membrane.</a:t>
            </a:r>
          </a:p>
          <a:p>
            <a:r>
              <a:rPr lang="en-GB" sz="1200"/>
              <a:t>• Recipe book on the shelf = nucleus (DNA).</a:t>
            </a:r>
          </a:p>
          <a:p>
            <a:r>
              <a:rPr lang="en-GB" sz="1200"/>
              <a:t>• Jiko (stove) = mitochondria.</a:t>
            </a:r>
          </a:p>
          <a:p>
            <a:r>
              <a:rPr lang="en-GB" sz="1200"/>
              <a:t>• Sufuria = an organelle (a cell part with a job).</a:t>
            </a:r>
          </a:p>
          <a:p>
            <a:r>
              <a:rPr lang="en-GB" sz="1200"/>
              <a:t>• Mwiko and chopping board = organelles.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3 minutes SoW Part B is 20 minutes in all (trimmed to 15). Split over four slides.</a:t>
            </a:r>
          </a:p>
          <a:p>
            <a:r>
              <a:rPr lang="en-GB" sz="1200"/>
              <a:t/>
            </a:r>
          </a:p>
          <a:p>
            <a:r>
              <a:rPr lang="en-GB" sz="1200" b="1"/>
              <a:t>DO</a:t>
            </a:r>
          </a:p>
          <a:p>
            <a:r>
              <a:rPr lang="en-GB" sz="1200"/>
              <a:t>• Show the diagram. If printed A3 sheets or ARES cards are available, learners may use them as well.</a:t>
            </a:r>
          </a:p>
          <a:p>
            <a:r>
              <a:rPr lang="en-GB" sz="1200"/>
              <a:t>• Give learners 1 minute of silent looking. Then ask them to point to the parts and name them in pairs.</a:t>
            </a:r>
          </a:p>
          <a:p>
            <a:r>
              <a:rPr lang="en-GB" sz="1200"/>
              <a:t/>
            </a:r>
          </a:p>
          <a:p>
            <a:r>
              <a:rPr lang="en-GB" sz="1200" b="1"/>
              <a:t>SAY</a:t>
            </a:r>
          </a:p>
          <a:p>
            <a:r>
              <a:rPr lang="en-GB" sz="1200"/>
              <a:t>• This is a generalised animal cell. Look at the labels.</a:t>
            </a:r>
          </a:p>
          <a:p>
            <a:r>
              <a:rPr lang="en-GB" sz="1200"/>
              <a:t>• Which parts did you put in your kitchen table?</a:t>
            </a:r>
          </a:p>
          <a:p>
            <a:r>
              <a:rPr lang="en-GB" sz="1200"/>
              <a:t/>
            </a:r>
          </a:p>
          <a:p>
            <a:r>
              <a:rPr lang="en-GB" sz="1200" b="1"/>
              <a:t>WAIT TIME</a:t>
            </a:r>
          </a:p>
          <a:p>
            <a:r>
              <a:rPr lang="en-GB" sz="1200"/>
              <a:t>10 seconds after each question.</a:t>
            </a:r>
          </a:p>
          <a:p>
            <a:r>
              <a:rPr lang="en-GB" sz="1200"/>
              <a:t/>
            </a:r>
          </a:p>
          <a:p>
            <a:r>
              <a:rPr lang="en-GB" sz="1200" b="1"/>
              <a:t>LOOK FOR</a:t>
            </a:r>
          </a:p>
          <a:p>
            <a:r>
              <a:rPr lang="en-GB" sz="1200"/>
              <a:t>• Learners name parts without reading the label.</a:t>
            </a:r>
          </a:p>
          <a:p>
            <a:r>
              <a:rPr lang="en-GB" sz="1200"/>
              <a:t/>
            </a:r>
          </a:p>
          <a:p>
            <a:r>
              <a:rPr lang="en-GB" sz="1200" b="1"/>
              <a:t>IF…</a:t>
            </a:r>
          </a:p>
          <a:p>
            <a:r>
              <a:rPr lang="en-GB" sz="1200"/>
              <a:t>• If learners are not sure of a part, say: Read the label. Then tell your partner what it might do.</a:t>
            </a:r>
          </a:p>
          <a:p>
            <a:r>
              <a:rPr lang="en-GB" sz="1200"/>
              <a:t/>
            </a:r>
          </a:p>
          <a:p>
            <a:r>
              <a:rPr lang="en-GB" sz="1200" b="1"/>
              <a:t>WHY THIS WORKS</a:t>
            </a:r>
          </a:p>
          <a:p>
            <a:r>
              <a:rPr lang="en-GB" sz="1200"/>
              <a:t>Studying the diagram first gives every learner the same evidence to use in the card sort.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2 minutes Part 2 of 4 for SoW Part B.</a:t>
            </a:r>
          </a:p>
          <a:p>
            <a:r>
              <a:rPr lang="en-GB" sz="1200"/>
              <a:t/>
            </a:r>
          </a:p>
          <a:p>
            <a:r>
              <a:rPr lang="en-GB" sz="1200" b="1"/>
              <a:t>DO</a:t>
            </a:r>
          </a:p>
          <a:p>
            <a:r>
              <a:rPr lang="en-GB" sz="1200"/>
              <a:t>• Show the diagram.</a:t>
            </a:r>
          </a:p>
          <a:p>
            <a:r>
              <a:rPr lang="en-GB" sz="1200"/>
              <a:t>• Ask pairs to find 2 parts that are in the animal cell and 2 parts that are only in this cell.</a:t>
            </a:r>
          </a:p>
          <a:p>
            <a:r>
              <a:rPr lang="en-GB" sz="1200"/>
              <a:t/>
            </a:r>
          </a:p>
          <a:p>
            <a:r>
              <a:rPr lang="en-GB" sz="1200" b="1"/>
              <a:t>SAY</a:t>
            </a:r>
          </a:p>
          <a:p>
            <a:r>
              <a:rPr lang="en-GB" sz="1200"/>
              <a:t>• Compare this with the animal cell. What do you see here that was not in the animal cell?</a:t>
            </a:r>
          </a:p>
          <a:p>
            <a:r>
              <a:rPr lang="en-GB" sz="1200"/>
              <a:t/>
            </a:r>
          </a:p>
          <a:p>
            <a:r>
              <a:rPr lang="en-GB" sz="1200" b="1"/>
              <a:t>WAIT TIME</a:t>
            </a:r>
          </a:p>
          <a:p>
            <a:r>
              <a:rPr lang="en-GB" sz="1200"/>
              <a:t>10 seconds after the question.</a:t>
            </a:r>
          </a:p>
          <a:p>
            <a:r>
              <a:rPr lang="en-GB" sz="1200"/>
              <a:t/>
            </a:r>
          </a:p>
          <a:p>
            <a:r>
              <a:rPr lang="en-GB" sz="1200" b="1"/>
              <a:t>LOOK FOR</a:t>
            </a:r>
          </a:p>
          <a:p>
            <a:r>
              <a:rPr lang="en-GB" sz="1200"/>
              <a:t>• Learners find the cell wall and the vacuole as extra parts.</a:t>
            </a:r>
          </a:p>
          <a:p>
            <a:r>
              <a:rPr lang="en-GB" sz="1200"/>
              <a:t/>
            </a:r>
          </a:p>
          <a:p>
            <a:r>
              <a:rPr lang="en-GB" sz="1200" b="1"/>
              <a:t>IF…</a:t>
            </a:r>
          </a:p>
          <a:p>
            <a:r>
              <a:rPr lang="en-GB" sz="1200"/>
              <a:t>• If a learner cannot find a difference, say: Look at the outside of the cell. What is there?</a:t>
            </a:r>
          </a:p>
          <a:p>
            <a:r>
              <a:rPr lang="en-GB" sz="1200"/>
              <a:t/>
            </a:r>
          </a:p>
          <a:p>
            <a:r>
              <a:rPr lang="en-GB" sz="1200" b="1"/>
              <a:t>WHY THIS WORKS</a:t>
            </a:r>
          </a:p>
          <a:p>
            <a:r>
              <a:rPr lang="en-GB" sz="1200"/>
              <a:t>Comparing two diagrams helps learners spot patterns themselves before the teacher names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2 minutes Part 3 of 4 for SoW Part B.</a:t>
            </a:r>
          </a:p>
          <a:p>
            <a:r>
              <a:rPr lang="en-GB" sz="1200"/>
              <a:t/>
            </a:r>
          </a:p>
          <a:p>
            <a:r>
              <a:rPr lang="en-GB" sz="1200" b="1"/>
              <a:t>DO</a:t>
            </a:r>
          </a:p>
          <a:p>
            <a:r>
              <a:rPr lang="en-GB" sz="1200"/>
              <a:t>• Show the diagram.</a:t>
            </a:r>
          </a:p>
          <a:p>
            <a:r>
              <a:rPr lang="en-GB" sz="1200"/>
              <a:t>• Ask pairs: Which parts do you see here that were in the other two cells? Which are missing?</a:t>
            </a:r>
          </a:p>
          <a:p>
            <a:r>
              <a:rPr lang="en-GB" sz="1200"/>
              <a:t>• Do not play any ARES video now. Videos on this topic can give away the card sort answers.</a:t>
            </a:r>
          </a:p>
          <a:p>
            <a:r>
              <a:rPr lang="en-GB" sz="1200"/>
              <a:t/>
            </a:r>
          </a:p>
          <a:p>
            <a:r>
              <a:rPr lang="en-GB" sz="1200" b="1"/>
              <a:t>SAY</a:t>
            </a:r>
          </a:p>
          <a:p>
            <a:r>
              <a:rPr lang="en-GB" sz="1200"/>
              <a:t>• This is a prokaryotic cell, a bacterium such as E. coli.</a:t>
            </a:r>
          </a:p>
          <a:p>
            <a:r>
              <a:rPr lang="en-GB" sz="1200"/>
              <a:t>• Look at it next to the animal and plant cells. What is the same? What is missing?</a:t>
            </a:r>
          </a:p>
          <a:p>
            <a:r>
              <a:rPr lang="en-GB" sz="1200"/>
              <a:t/>
            </a:r>
          </a:p>
          <a:p>
            <a:r>
              <a:rPr lang="en-GB" sz="1200" b="1"/>
              <a:t>WAIT TIME</a:t>
            </a:r>
          </a:p>
          <a:p>
            <a:r>
              <a:rPr lang="en-GB" sz="1200"/>
              <a:t>10 seconds after the question.</a:t>
            </a:r>
          </a:p>
          <a:p>
            <a:r>
              <a:rPr lang="en-GB" sz="1200"/>
              <a:t/>
            </a:r>
          </a:p>
          <a:p>
            <a:r>
              <a:rPr lang="en-GB" sz="1200" b="1"/>
              <a:t>LOOK FOR</a:t>
            </a:r>
          </a:p>
          <a:p>
            <a:r>
              <a:rPr lang="en-GB" sz="1200"/>
              <a:t>• Learners notice that the DNA is not inside a nucleus.</a:t>
            </a:r>
          </a:p>
          <a:p>
            <a:r>
              <a:rPr lang="en-GB" sz="1200"/>
              <a:t/>
            </a:r>
          </a:p>
          <a:p>
            <a:r>
              <a:rPr lang="en-GB" sz="1200" b="1"/>
              <a:t>IF…</a:t>
            </a:r>
          </a:p>
          <a:p>
            <a:r>
              <a:rPr lang="en-GB" sz="1200"/>
              <a:t>• If learners do not see the difference, say: Where is the DNA in the animal cell? Where is it here?</a:t>
            </a:r>
          </a:p>
          <a:p>
            <a:r>
              <a:rPr lang="en-GB" sz="1200"/>
              <a:t/>
            </a:r>
          </a:p>
          <a:p>
            <a:r>
              <a:rPr lang="en-GB" sz="1200" b="1"/>
              <a:t>WHY THIS WORKS</a:t>
            </a:r>
          </a:p>
          <a:p>
            <a:r>
              <a:rPr lang="en-GB" sz="1200"/>
              <a:t>Seeing the three cells one after another gives learners the evidence they need for the card sort.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8 minutes Part 4 of 4 for SoW Part B.</a:t>
            </a:r>
          </a:p>
          <a:p>
            <a:r>
              <a:rPr lang="en-GB" sz="1200"/>
              <a:t/>
            </a:r>
          </a:p>
          <a:p>
            <a:r>
              <a:rPr lang="en-GB" sz="1200" b="1"/>
              <a:t>DO</a:t>
            </a:r>
          </a:p>
          <a:p>
            <a:r>
              <a:rPr lang="en-GB" sz="1200"/>
              <a:t>• Learners read about the three scientists on their ARES resource cards or printed sheets, then fill in the table.</a:t>
            </a:r>
          </a:p>
          <a:p>
            <a:r>
              <a:rPr lang="en-GB" sz="1200"/>
              <a:t>• Circulate. Check that every row has a sentence in the last column.</a:t>
            </a:r>
          </a:p>
          <a:p>
            <a:r>
              <a:rPr lang="en-GB" sz="1200"/>
              <a:t/>
            </a:r>
          </a:p>
          <a:p>
            <a:r>
              <a:rPr lang="en-GB" sz="1200" b="1"/>
              <a:t>SAY</a:t>
            </a:r>
          </a:p>
          <a:p>
            <a:r>
              <a:rPr lang="en-GB" sz="1200"/>
              <a:t>• You will read about three scientists. Each added one piece to the cell theory puzzle.</a:t>
            </a:r>
          </a:p>
          <a:p>
            <a:r>
              <a:rPr lang="en-GB" sz="1200"/>
              <a:t>• As you read, fill in your Evidence Table. For each scientist, write one sentence that connects their idea to Amina's healing finger.</a:t>
            </a:r>
          </a:p>
          <a:p>
            <a:r>
              <a:rPr lang="en-GB" sz="1200"/>
              <a:t/>
            </a:r>
          </a:p>
          <a:p>
            <a:r>
              <a:rPr lang="en-GB" sz="1200" b="1"/>
              <a:t>WAIT TIME</a:t>
            </a:r>
          </a:p>
          <a:p>
            <a:r>
              <a:rPr lang="en-GB" sz="1200"/>
              <a:t>10 seconds after each prompt before you help.</a:t>
            </a:r>
          </a:p>
          <a:p>
            <a:r>
              <a:rPr lang="en-GB" sz="1200"/>
              <a:t/>
            </a:r>
          </a:p>
          <a:p>
            <a:r>
              <a:rPr lang="en-GB" sz="1200" b="1"/>
              <a:t>LOOK FOR</a:t>
            </a:r>
          </a:p>
          <a:p>
            <a:r>
              <a:rPr lang="en-GB" sz="1200"/>
              <a:t>• Check 8 to 10 notebooks: every scientist row has a completed last-column sentence. A blank row means the learner cannot yet connect theory to observation.</a:t>
            </a:r>
          </a:p>
          <a:p>
            <a:r>
              <a:rPr lang="en-GB" sz="1200"/>
              <a:t/>
            </a:r>
          </a:p>
          <a:p>
            <a:r>
              <a:rPr lang="en-GB" sz="1200" b="1"/>
              <a:t>IF…</a:t>
            </a:r>
          </a:p>
          <a:p>
            <a:r>
              <a:rPr lang="en-GB" sz="1200"/>
              <a:t>• If a learner is stuck on Virchow, say: Virchow said all cells come from pre-existing cells. How does that explain where the new skin cells on Amina's finger came from?</a:t>
            </a:r>
          </a:p>
          <a:p>
            <a:r>
              <a:rPr lang="en-GB" sz="1200"/>
              <a:t/>
            </a:r>
          </a:p>
          <a:p>
            <a:r>
              <a:rPr lang="en-GB" sz="1200" b="1"/>
              <a:t>WHY THIS WORKS</a:t>
            </a:r>
          </a:p>
          <a:p>
            <a:r>
              <a:rPr lang="en-GB" sz="1200"/>
              <a:t>Linking each scientist to Amina's finger stops learners from just copying names and dates. History becomes evidence for the phenomenon. Misconception addressed: new cells appear from nothing.</a:t>
            </a:r>
          </a:p>
          <a:p>
            <a:r>
              <a:rPr lang="en-GB" sz="1200"/>
              <a:t/>
            </a:r>
          </a:p>
          <a:p>
            <a:r>
              <a:rPr lang="en-GB" sz="1200" b="1"/>
              <a:t>ANSWER KEY</a:t>
            </a:r>
          </a:p>
          <a:p>
            <a:r>
              <a:rPr lang="en-GB" sz="1200"/>
              <a:t>• Schleiden | Germany, 1838 | A botanist. He said all plants are made of cells. | Amina was cutting onions. Onions, like her finger, are made of cells.</a:t>
            </a:r>
          </a:p>
          <a:p>
            <a:r>
              <a:rPr lang="en-GB" sz="1200"/>
              <a:t>• Schwann | Germany, 1839 | He studied animal cells. He said animals are made of cells too. | Amina's skin, blood and muscle cells are all cells.</a:t>
            </a:r>
          </a:p>
          <a:p>
            <a:r>
              <a:rPr lang="en-GB" sz="1200"/>
              <a:t>• Virchow | Germany, 1855 | All cells come from pre-existing cells (omnis cellula e cellula). | New skin cells on Amina's finger came from skin cells that were already there.</a:t>
            </a:r>
          </a:p>
          <a:p>
            <a:r>
              <a:rPr lang="en-GB" sz="1200"/>
              <a:t/>
            </a:r>
          </a:p>
          <a:p>
            <a:r>
              <a:rPr lang="en-GB" sz="1200" b="1"/>
              <a:t>RESOURCE LINKS (plain URLs, for printed copies)</a:t>
            </a:r>
          </a:p>
          <a:p>
            <a:r>
              <a:rPr lang="en-GB" sz="1200"/>
              <a:t>• The Cell Theory Practice (CK-12): http://ares.local:8069/en/learn/#/topics/c/210efd38886b5c02897bbb926bcaa0d1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8 minutes SoW Part C is 10 minutes (8 to sort, then justify and photograph). Trimmed to 8 in all.</a:t>
            </a:r>
          </a:p>
          <a:p>
            <a:r>
              <a:rPr lang="en-GB" sz="1200"/>
              <a:t/>
            </a:r>
          </a:p>
          <a:p>
            <a:r>
              <a:rPr lang="en-GB" sz="1200" b="1"/>
              <a:t>DO</a:t>
            </a:r>
          </a:p>
          <a:p>
            <a:r>
              <a:rPr lang="en-GB" sz="1200"/>
              <a:t>• Give each group a set of 12 feature cards. Copy the 12 cards from the slide onto paper strips if you do not have printed sets.</a:t>
            </a:r>
          </a:p>
          <a:p>
            <a:r>
              <a:rPr lang="en-GB" sz="1200"/>
              <a:t>• Groups of 3 or 4 sort the cards into two columns on their desk.</a:t>
            </a:r>
          </a:p>
          <a:p>
            <a:r>
              <a:rPr lang="en-GB" sz="1200"/>
              <a:t>• After the timer, cold-call one group for each disputed card. Then ask groups to photograph or sketch their sorted table.</a:t>
            </a:r>
          </a:p>
          <a:p>
            <a:r>
              <a:rPr lang="en-GB" sz="1200"/>
              <a:t>• Note any card that is wrong in most groups. Use this in the first Explain slide.</a:t>
            </a:r>
          </a:p>
          <a:p>
            <a:r>
              <a:rPr lang="en-GB" sz="1200"/>
              <a:t/>
            </a:r>
          </a:p>
          <a:p>
            <a:r>
              <a:rPr lang="en-GB" sz="1200" b="1"/>
              <a:t>SAY</a:t>
            </a:r>
          </a:p>
          <a:p>
            <a:r>
              <a:rPr lang="en-GB" sz="1200"/>
              <a:t>• Sort these into Prokaryote or Eukaryote. Be ready to justify every card.</a:t>
            </a:r>
          </a:p>
          <a:p>
            <a:r>
              <a:rPr lang="en-GB" sz="1200"/>
              <a:t>• Group by the door, where did you put 'Has no membrane-bound nucleus', and why?</a:t>
            </a:r>
          </a:p>
          <a:p>
            <a:r>
              <a:rPr lang="en-GB" sz="1200"/>
              <a:t/>
            </a:r>
          </a:p>
          <a:p>
            <a:r>
              <a:rPr lang="en-GB" sz="1200" b="1"/>
              <a:t>WAIT TIME</a:t>
            </a:r>
          </a:p>
          <a:p>
            <a:r>
              <a:rPr lang="en-GB" sz="1200"/>
              <a:t>10 seconds after each cold-call question.</a:t>
            </a:r>
          </a:p>
          <a:p>
            <a:r>
              <a:rPr lang="en-GB" sz="1200"/>
              <a:t/>
            </a:r>
          </a:p>
          <a:p>
            <a:r>
              <a:rPr lang="en-GB" sz="1200" b="1"/>
              <a:t>LOOK FOR</a:t>
            </a:r>
          </a:p>
          <a:p>
            <a:r>
              <a:rPr lang="en-GB" sz="1200"/>
              <a:t>• Note any card that most groups place wrongly. For example, 'Has ribosomes' placed only under Eukaryote.</a:t>
            </a:r>
          </a:p>
          <a:p>
            <a:r>
              <a:rPr lang="en-GB" sz="1200"/>
              <a:t>• Check 2 or 3 groups: each can give a reason for every card.</a:t>
            </a:r>
          </a:p>
          <a:p>
            <a:r>
              <a:rPr lang="en-GB" sz="1200"/>
              <a:t/>
            </a:r>
          </a:p>
          <a:p>
            <a:r>
              <a:rPr lang="en-GB" sz="1200" b="1"/>
              <a:t>IF…</a:t>
            </a:r>
          </a:p>
          <a:p>
            <a:r>
              <a:rPr lang="en-GB" sz="1200"/>
              <a:t>• If a group is stuck, say: Look at the three diagrams. Is this part in the bacterium? Is it in the animal or plant cell?</a:t>
            </a:r>
          </a:p>
          <a:p>
            <a:r>
              <a:rPr lang="en-GB" sz="1200"/>
              <a:t>• If a card is true for both, say: Hold that thought. Be ready to say why it is a hard card.</a:t>
            </a:r>
          </a:p>
          <a:p>
            <a:r>
              <a:rPr lang="en-GB" sz="1200"/>
              <a:t>• If a group puts a card in the wrong column, do not correct. Say: Be ready to justify it. We will check it together.</a:t>
            </a:r>
          </a:p>
          <a:p>
            <a:r>
              <a:rPr lang="en-GB" sz="1200"/>
              <a:t/>
            </a:r>
          </a:p>
          <a:p>
            <a:r>
              <a:rPr lang="en-GB" sz="1200" b="1"/>
              <a:t>WHY THIS WORKS</a:t>
            </a:r>
          </a:p>
          <a:p>
            <a:r>
              <a:rPr lang="en-GB" sz="1200"/>
              <a:t>Moving cards makes thinking visible and shows where groups disagree. Arguing about a card is where much of the learning happens. Misconception addressed: all cells have a nucleus.</a:t>
            </a:r>
          </a:p>
          <a:p>
            <a:r>
              <a:rPr lang="en-GB" sz="1200"/>
              <a:t/>
            </a:r>
          </a:p>
          <a:p>
            <a:r>
              <a:rPr lang="en-GB" sz="1200" b="1"/>
              <a:t>ANSWER KEY</a:t>
            </a:r>
          </a:p>
          <a:p>
            <a:r>
              <a:rPr lang="en-GB" sz="1200"/>
              <a:t>• Prokaryote: DNA floats freely; Found in bacteria; Has no membrane-bound nucleus; Has no membrane-bound organelles.</a:t>
            </a:r>
          </a:p>
          <a:p>
            <a:r>
              <a:rPr lang="en-GB" sz="1200"/>
              <a:t>• Eukaryote: Has a nucleus; Has mitochondria; DNA is inside a nucleus; Has an endoplasmic reticulum; Found in animal cells; Found in plant cells; Has membrane-bound organelles.</a:t>
            </a:r>
          </a:p>
          <a:p>
            <a:r>
              <a:rPr lang="en-GB" sz="1200"/>
              <a:t>• Both: Has ribosomes (a hard card; learners may place it between the two columns).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EXPLAIN PHASE (17 minutes total)</a:t>
            </a:r>
          </a:p>
          <a:p>
            <a:r>
              <a:rPr lang="en-GB" sz="1200" b="1"/>
              <a:t>TIME: 3 minutes Start of the SoW direct instruction (12 minutes in all, trimmed to 9).</a:t>
            </a:r>
          </a:p>
          <a:p>
            <a:r>
              <a:rPr lang="en-GB" sz="1200"/>
              <a:t/>
            </a:r>
          </a:p>
          <a:p>
            <a:r>
              <a:rPr lang="en-GB" sz="1200" b="1"/>
              <a:t>DO</a:t>
            </a:r>
          </a:p>
          <a:p>
            <a:r>
              <a:rPr lang="en-GB" sz="1200"/>
              <a:t>• Show the bacterium diagram again (previous slides) while you speak, then return to this slide.</a:t>
            </a:r>
          </a:p>
          <a:p>
            <a:r>
              <a:rPr lang="en-GB" sz="1200"/>
              <a:t>• Reveal the three columns one click at a time.</a:t>
            </a:r>
          </a:p>
          <a:p>
            <a:r>
              <a:rPr lang="en-GB" sz="1200"/>
              <a:t>• Use the cards that most groups got wrong in the sort. Ribosomes is the example in the SoW.</a:t>
            </a:r>
          </a:p>
          <a:p>
            <a:r>
              <a:rPr lang="en-GB" sz="1200"/>
              <a:t>• The ARES video (observe.video) may be played here, after the card sort, if time allows. Preview it first. Do not play it before the card sort.</a:t>
            </a:r>
          </a:p>
          <a:p>
            <a:r>
              <a:rPr lang="en-GB" sz="1200"/>
              <a:t/>
            </a:r>
          </a:p>
          <a:p>
            <a:r>
              <a:rPr lang="en-GB" sz="1200" b="1"/>
              <a:t>SAY</a:t>
            </a:r>
          </a:p>
          <a:p>
            <a:r>
              <a:rPr lang="en-GB" sz="1200"/>
              <a:t>• Let me address what I saw during the card sort. Ribosomes: almost every group put these under Eukaryote only. Let's look at the diagram together.</a:t>
            </a:r>
          </a:p>
          <a:p>
            <a:r>
              <a:rPr lang="en-GB" sz="1200"/>
              <a:t>• Ribosomes are actually present in both. This matters. It means even the simplest bacteria can make proteins.</a:t>
            </a:r>
          </a:p>
          <a:p>
            <a:r>
              <a:rPr lang="en-GB" sz="1200"/>
              <a:t>• That's why bacteria in an infected wound can be so dangerous. They are making proteins too.</a:t>
            </a:r>
          </a:p>
          <a:p>
            <a:r>
              <a:rPr lang="en-GB" sz="1200"/>
              <a:t/>
            </a:r>
          </a:p>
          <a:p>
            <a:r>
              <a:rPr lang="en-GB" sz="1200" b="1"/>
              <a:t>WAIT TIME</a:t>
            </a:r>
          </a:p>
          <a:p>
            <a:r>
              <a:rPr lang="en-GB" sz="1200"/>
              <a:t>10 seconds after the question, before you show the answer.</a:t>
            </a:r>
          </a:p>
          <a:p>
            <a:r>
              <a:rPr lang="en-GB" sz="1200"/>
              <a:t/>
            </a:r>
          </a:p>
          <a:p>
            <a:r>
              <a:rPr lang="en-GB" sz="1200" b="1"/>
              <a:t>LOOK FOR</a:t>
            </a:r>
          </a:p>
          <a:p>
            <a:r>
              <a:rPr lang="en-GB" sz="1200"/>
              <a:t>• Learners who got ribosomes wrong now change their cards. Ask a group that placed it correctly to say why.</a:t>
            </a:r>
          </a:p>
          <a:p>
            <a:r>
              <a:rPr lang="en-GB" sz="1200"/>
              <a:t/>
            </a:r>
          </a:p>
          <a:p>
            <a:r>
              <a:rPr lang="en-GB" sz="1200" b="1"/>
              <a:t>IF…</a:t>
            </a:r>
          </a:p>
          <a:p>
            <a:r>
              <a:rPr lang="en-GB" sz="1200"/>
              <a:t>• If learners say 'bacteria are too simple to have ribosomes', say: Look at the bacterium diagram. Point to the ribosomes. What do ribosomes help the cell make?</a:t>
            </a:r>
          </a:p>
          <a:p>
            <a:r>
              <a:rPr lang="en-GB" sz="1200"/>
              <a:t/>
            </a:r>
          </a:p>
          <a:p>
            <a:r>
              <a:rPr lang="en-GB" sz="1200" b="1"/>
              <a:t>WHY THIS WORKS</a:t>
            </a:r>
          </a:p>
          <a:p>
            <a:r>
              <a:rPr lang="en-GB" sz="1200"/>
              <a:t>Using learners' own sorting errors makes the teaching match what they need. They see the correct idea against the cards they placed themselves.</a:t>
            </a:r>
          </a:p>
          <a:p>
            <a:r>
              <a:rPr lang="en-GB" sz="1200"/>
              <a:t/>
            </a:r>
          </a:p>
          <a:p>
            <a:r>
              <a:rPr lang="en-GB" sz="1200" b="1"/>
              <a:t>SCIENCE NOTE FOR YOU</a:t>
            </a:r>
          </a:p>
          <a:p>
            <a:r>
              <a:rPr lang="en-GB" sz="1200"/>
              <a:t>The slide names three key differences from the SoW: nuclear membrane, organelles and how DNA is organised.</a:t>
            </a:r>
          </a:p>
          <a:p>
            <a:r>
              <a:rPr lang="en-GB" sz="1200"/>
              <a:t/>
            </a:r>
          </a:p>
          <a:p>
            <a:r>
              <a:rPr lang="en-GB" sz="1200" b="1"/>
              <a:t>RESOURCE LINKS (plain URLs, for printed copies)</a:t>
            </a:r>
          </a:p>
          <a:p>
            <a:r>
              <a:rPr lang="en-GB" sz="1200"/>
              <a:t>• Prokaryotic and eukaryotic cells (Khan Academy (English - US curriculum)): http://ares.local:8069/en/learn/#/topics/c/7420d24fcc8f5eb78e3f3947ada0a787</a:t>
            </a:r>
          </a:p>
          <a:p>
            <a:r>
              <a:rPr lang="en-GB" sz="1200"/>
              <a:t>• Prokaryotic and eukaryotic cells (Khan Academy (English - US curriculum)): http://ares.local:8069/en/learn/#/topics/c/98ccf1c8b3d35cfea5093cdb61b64836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3 minutes Middle part of the SoW direct instruction.</a:t>
            </a:r>
          </a:p>
          <a:p>
            <a:r>
              <a:rPr lang="en-GB" sz="1200"/>
              <a:t/>
            </a:r>
          </a:p>
          <a:p>
            <a:r>
              <a:rPr lang="en-GB" sz="1200" b="1"/>
              <a:t>DO</a:t>
            </a:r>
          </a:p>
          <a:p>
            <a:r>
              <a:rPr lang="en-GB" sz="1200"/>
              <a:t>• Write the three tenets word for word on the board.</a:t>
            </a:r>
          </a:p>
          <a:p>
            <a:r>
              <a:rPr lang="en-GB" sz="1200"/>
              <a:t>• Reveal them one click at a time. After each one, link to the table learners filled in.</a:t>
            </a:r>
          </a:p>
          <a:p>
            <a:r>
              <a:rPr lang="en-GB" sz="1200"/>
              <a:t/>
            </a:r>
          </a:p>
          <a:p>
            <a:r>
              <a:rPr lang="en-GB" sz="1200" b="1"/>
              <a:t>SAY</a:t>
            </a:r>
          </a:p>
          <a:p>
            <a:r>
              <a:rPr lang="en-GB" sz="1200"/>
              <a:t>• Matthias Schleiden was a botanist. He studied plant cells.</a:t>
            </a:r>
          </a:p>
          <a:p>
            <a:r>
              <a:rPr lang="en-GB" sz="1200"/>
              <a:t>• Theodor Schwann studied animal cells.</a:t>
            </a:r>
          </a:p>
          <a:p>
            <a:r>
              <a:rPr lang="en-GB" sz="1200"/>
              <a:t>• Rudolf Virchow said: Omnis cellula e cellula. All cells come from cells.</a:t>
            </a:r>
          </a:p>
          <a:p>
            <a:r>
              <a:rPr lang="en-GB" sz="1200"/>
              <a:t>• Many people built this idea over time. No one person did it alone.</a:t>
            </a:r>
          </a:p>
          <a:p>
            <a:r>
              <a:rPr lang="en-GB" sz="1200"/>
              <a:t/>
            </a:r>
          </a:p>
          <a:p>
            <a:r>
              <a:rPr lang="en-GB" sz="1200" b="1"/>
              <a:t>WAIT TIME</a:t>
            </a:r>
          </a:p>
          <a:p>
            <a:r>
              <a:rPr lang="en-GB" sz="1200"/>
              <a:t>5 seconds after each idea.</a:t>
            </a:r>
          </a:p>
          <a:p>
            <a:r>
              <a:rPr lang="en-GB" sz="1200"/>
              <a:t/>
            </a:r>
          </a:p>
          <a:p>
            <a:r>
              <a:rPr lang="en-GB" sz="1200" b="1"/>
              <a:t>LOOK FOR</a:t>
            </a:r>
          </a:p>
          <a:p>
            <a:r>
              <a:rPr lang="en-GB" sz="1200"/>
              <a:t>• Learners copy the tenets correctly into notebooks.</a:t>
            </a:r>
          </a:p>
          <a:p>
            <a:r>
              <a:rPr lang="en-GB" sz="1200"/>
              <a:t/>
            </a:r>
          </a:p>
          <a:p>
            <a:r>
              <a:rPr lang="en-GB" sz="1200" b="1"/>
              <a:t>IF…</a:t>
            </a:r>
          </a:p>
          <a:p>
            <a:r>
              <a:rPr lang="en-GB" sz="1200"/>
              <a:t>• If learners mix up the scientists, say: Check your Evidence Table. Which one said all cells come from cells?</a:t>
            </a:r>
          </a:p>
          <a:p>
            <a:r>
              <a:rPr lang="en-GB" sz="1200"/>
              <a:t/>
            </a:r>
          </a:p>
          <a:p>
            <a:r>
              <a:rPr lang="en-GB" sz="1200" b="1"/>
              <a:t>WHY THIS WORKS</a:t>
            </a:r>
          </a:p>
          <a:p>
            <a:r>
              <a:rPr lang="en-GB" sz="1200"/>
              <a:t>Naming the theory after learners have worked with the evidence helps them see what the words describe. Misconception addressed: scientific ideas come from one person.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3 minutes End of the SoW direct instruction (12 minutes in all, trimmed to 9).</a:t>
            </a:r>
          </a:p>
          <a:p>
            <a:r>
              <a:rPr lang="en-GB" sz="1200"/>
              <a:t/>
            </a:r>
          </a:p>
          <a:p>
            <a:r>
              <a:rPr lang="en-GB" sz="1200" b="1"/>
              <a:t>DO</a:t>
            </a:r>
          </a:p>
          <a:p>
            <a:r>
              <a:rPr lang="en-GB" sz="1200"/>
              <a:t>• Learners use their ARES diagram cards or printed sheets. They can also look back at the diagram slides.</a:t>
            </a:r>
          </a:p>
          <a:p>
            <a:r>
              <a:rPr lang="en-GB" sz="1200"/>
              <a:t>• Learners colour or underline each label GREEN, BLUE or RED.</a:t>
            </a:r>
          </a:p>
          <a:p>
            <a:r>
              <a:rPr lang="en-GB" sz="1200"/>
              <a:t>• Check ribosomes and cell wall first.</a:t>
            </a:r>
          </a:p>
          <a:p>
            <a:r>
              <a:rPr lang="en-GB" sz="1200"/>
              <a:t/>
            </a:r>
          </a:p>
          <a:p>
            <a:r>
              <a:rPr lang="en-GB" sz="1200" b="1"/>
              <a:t>SAY</a:t>
            </a:r>
          </a:p>
          <a:p>
            <a:r>
              <a:rPr lang="en-GB" sz="1200"/>
              <a:t>• Now colour-code your diagrams. Green is in both. Blue is eukaryotes only. Red is plant eukaryotes only.</a:t>
            </a:r>
          </a:p>
          <a:p>
            <a:r>
              <a:rPr lang="en-GB" sz="1200"/>
              <a:t/>
            </a:r>
          </a:p>
          <a:p>
            <a:r>
              <a:rPr lang="en-GB" sz="1200" b="1"/>
              <a:t>WAIT TIME</a:t>
            </a:r>
          </a:p>
          <a:p>
            <a:r>
              <a:rPr lang="en-GB" sz="1200"/>
              <a:t>10 seconds after each prompt before you help.</a:t>
            </a:r>
          </a:p>
          <a:p>
            <a:r>
              <a:rPr lang="en-GB" sz="1200"/>
              <a:t/>
            </a:r>
          </a:p>
          <a:p>
            <a:r>
              <a:rPr lang="en-GB" sz="1200" b="1"/>
              <a:t>LOOK FOR</a:t>
            </a:r>
          </a:p>
          <a:p>
            <a:r>
              <a:rPr lang="en-GB" sz="1200"/>
              <a:t>• Check 8 to 10 diagrams: ribosomes are GREEN (not BLUE) and the cell wall is RED. Address any other answer with that learner.</a:t>
            </a:r>
          </a:p>
          <a:p>
            <a:r>
              <a:rPr lang="en-GB" sz="1200"/>
              <a:t/>
            </a:r>
          </a:p>
          <a:p>
            <a:r>
              <a:rPr lang="en-GB" sz="1200" b="1"/>
              <a:t>IF…</a:t>
            </a:r>
          </a:p>
          <a:p>
            <a:r>
              <a:rPr lang="en-GB" sz="1200"/>
              <a:t>• If ribosomes are BLUE, say: Look at the bacterium. Are ribosomes there? What colour should they be?</a:t>
            </a:r>
          </a:p>
          <a:p>
            <a:r>
              <a:rPr lang="en-GB" sz="1200"/>
              <a:t>• If a learner asks about the cell wall in the bacterium, say: Good eye. Write your question on a yellow note for the Driving Question Board.</a:t>
            </a:r>
          </a:p>
          <a:p>
            <a:r>
              <a:rPr lang="en-GB" sz="1200"/>
              <a:t/>
            </a:r>
          </a:p>
          <a:p>
            <a:r>
              <a:rPr lang="en-GB" sz="1200" b="1"/>
              <a:t>WHY THIS WORKS</a:t>
            </a:r>
          </a:p>
          <a:p>
            <a:r>
              <a:rPr lang="en-GB" sz="1200"/>
              <a:t>Colour coding turns a diagram into a sorting task, which makes patterns easy to see and remember.</a:t>
            </a:r>
          </a:p>
          <a:p>
            <a:r>
              <a:rPr lang="en-GB" sz="1200"/>
              <a:t/>
            </a:r>
          </a:p>
          <a:p>
            <a:r>
              <a:rPr lang="en-GB" sz="1200" b="1"/>
              <a:t>ANSWER KEY</a:t>
            </a:r>
          </a:p>
          <a:p>
            <a:r>
              <a:rPr lang="en-GB" sz="1200"/>
              <a:t>• GREEN: cell membrane, cytoplasm, ribosomes.</a:t>
            </a:r>
          </a:p>
          <a:p>
            <a:r>
              <a:rPr lang="en-GB" sz="1200"/>
              <a:t>• BLUE: nucleus, mitochondrion, endoplasmic reticulum.</a:t>
            </a:r>
          </a:p>
          <a:p>
            <a:r>
              <a:rPr lang="en-GB" sz="1200"/>
              <a:t>• RED: cell wall, vacuole.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 Added from the manual: return to predictions. Not a separate SoW activity.</a:t>
            </a:r>
          </a:p>
          <a:p>
            <a:r>
              <a:rPr lang="en-GB" sz="1200"/>
              <a:t/>
            </a:r>
          </a:p>
          <a:p>
            <a:r>
              <a:rPr lang="en-GB" sz="1200" b="1"/>
              <a:t>DO</a:t>
            </a:r>
          </a:p>
          <a:p>
            <a:r>
              <a:rPr lang="en-GB" sz="1200"/>
              <a:t>• Point to the BEFORE — Our Predictions column and the hands-up count you wrote.</a:t>
            </a:r>
          </a:p>
          <a:p>
            <a:r>
              <a:rPr lang="en-GB" sz="1200"/>
              <a:t>• Learners use a different colour pen to mark each idea.</a:t>
            </a:r>
          </a:p>
          <a:p>
            <a:r>
              <a:rPr lang="en-GB" sz="1200"/>
              <a:t>• Ask for the same hands-up count again.</a:t>
            </a:r>
          </a:p>
          <a:p>
            <a:r>
              <a:rPr lang="en-GB" sz="1200"/>
              <a:t/>
            </a:r>
          </a:p>
          <a:p>
            <a:r>
              <a:rPr lang="en-GB" sz="1200" b="1"/>
              <a:t>SAY</a:t>
            </a:r>
          </a:p>
          <a:p>
            <a:r>
              <a:rPr lang="en-GB" sz="1200"/>
              <a:t>• Look back at what you wrote. Use a different colour. Mark each idea right or wrong, using what you saw today.</a:t>
            </a:r>
          </a:p>
          <a:p>
            <a:r>
              <a:rPr lang="en-GB" sz="1200"/>
              <a:t>• Hands up: who wrote that every cell has a nucleus? Does that fit today's evidence?</a:t>
            </a:r>
          </a:p>
          <a:p>
            <a:r>
              <a:rPr lang="en-GB" sz="1200"/>
              <a:t/>
            </a:r>
          </a:p>
          <a:p>
            <a:r>
              <a:rPr lang="en-GB" sz="1200" b="1"/>
              <a:t>WAIT TIME</a:t>
            </a:r>
          </a:p>
          <a:p>
            <a:r>
              <a:rPr lang="en-GB" sz="1200"/>
              <a:t>30 seconds of silent marking.</a:t>
            </a:r>
          </a:p>
          <a:p>
            <a:r>
              <a:rPr lang="en-GB" sz="1200"/>
              <a:t/>
            </a:r>
          </a:p>
          <a:p>
            <a:r>
              <a:rPr lang="en-GB" sz="1200" b="1"/>
              <a:t>LOOK FOR</a:t>
            </a:r>
          </a:p>
          <a:p>
            <a:r>
              <a:rPr lang="en-GB" sz="1200"/>
              <a:t>• Learners mark at least one idea as right or wrong. Check 6 notebooks.</a:t>
            </a:r>
          </a:p>
          <a:p>
            <a:r>
              <a:rPr lang="en-GB" sz="1200"/>
              <a:t/>
            </a:r>
          </a:p>
          <a:p>
            <a:r>
              <a:rPr lang="en-GB" sz="1200" b="1"/>
              <a:t>IF…</a:t>
            </a:r>
          </a:p>
          <a:p>
            <a:r>
              <a:rPr lang="en-GB" sz="1200"/>
              <a:t>• If a learner marks every idea 'right', say: Check the card sort. Does your idea fit the bacterium?</a:t>
            </a:r>
          </a:p>
          <a:p>
            <a:r>
              <a:rPr lang="en-GB" sz="1200"/>
              <a:t/>
            </a:r>
          </a:p>
          <a:p>
            <a:r>
              <a:rPr lang="en-GB" sz="1200" b="1"/>
              <a:t>WHY THIS WORKS</a:t>
            </a:r>
          </a:p>
          <a:p>
            <a:r>
              <a:rPr lang="en-GB" sz="1200"/>
              <a:t>Marking their own earlier ideas shows learners that their thinking has changed. Misconception addressed: all cells have a nucleus.</a:t>
            </a:r>
          </a:p>
          <a:p>
            <a:r>
              <a:rPr lang="en-GB" sz="1200"/>
              <a:t/>
            </a:r>
          </a:p>
          <a:p>
            <a:r>
              <a:rPr lang="en-GB" sz="1200" b="1"/>
              <a:t>ANSWER KEY</a:t>
            </a:r>
          </a:p>
          <a:p>
            <a:r>
              <a:rPr lang="en-GB" sz="1200"/>
              <a:t>• Example: Membrane: right (all cells have one). DNA: right (both cell types have it). Nucleus in every cell: wrong (bacteria have no membrane-bound nucleus).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6 minutes SoW: 8 minutes of silent writing. Trimmed to 6.</a:t>
            </a:r>
          </a:p>
          <a:p>
            <a:r>
              <a:rPr lang="en-GB" sz="1200"/>
              <a:t/>
            </a:r>
          </a:p>
          <a:p>
            <a:r>
              <a:rPr lang="en-GB" sz="1200" b="1"/>
              <a:t>DO</a:t>
            </a:r>
          </a:p>
          <a:p>
            <a:r>
              <a:rPr lang="en-GB" sz="1200"/>
              <a:t>• Learners write alone in their notebooks.</a:t>
            </a:r>
          </a:p>
          <a:p>
            <a:r>
              <a:rPr lang="en-GB" sz="1200"/>
              <a:t>• Start the 6:00 timer.</a:t>
            </a:r>
          </a:p>
          <a:p>
            <a:r>
              <a:rPr lang="en-GB" sz="1200"/>
              <a:t>• Circulate and read. At the end, collect 6 notebooks (two from each ability group) for rapid review.</a:t>
            </a:r>
          </a:p>
          <a:p>
            <a:r>
              <a:rPr lang="en-GB" sz="1200"/>
              <a:t/>
            </a:r>
          </a:p>
          <a:p>
            <a:r>
              <a:rPr lang="en-GB" sz="1200" b="1"/>
              <a:t>SAY</a:t>
            </a:r>
          </a:p>
          <a:p>
            <a:r>
              <a:rPr lang="en-GB" sz="1200"/>
              <a:t>• Using your colour-coded diagram, write a CER paragraph.</a:t>
            </a:r>
          </a:p>
          <a:p>
            <a:r>
              <a:rPr lang="en-GB" sz="1200"/>
              <a:t>• Your Claim answers: How did Amina's body make new skin cells?</a:t>
            </a:r>
          </a:p>
          <a:p>
            <a:r>
              <a:rPr lang="en-GB" sz="1200"/>
              <a:t>• Your Evidence comes from Virchow's idea. Your Reasoning explains how.</a:t>
            </a:r>
          </a:p>
          <a:p>
            <a:r>
              <a:rPr lang="en-GB" sz="1200"/>
              <a:t/>
            </a:r>
          </a:p>
          <a:p>
            <a:r>
              <a:rPr lang="en-GB" sz="1200" b="1"/>
              <a:t>WAIT TIME</a:t>
            </a:r>
          </a:p>
          <a:p>
            <a:r>
              <a:rPr lang="en-GB" sz="1200"/>
              <a:t>The full 6 minutes of silent writing.</a:t>
            </a:r>
          </a:p>
          <a:p>
            <a:r>
              <a:rPr lang="en-GB" sz="1200"/>
              <a:t/>
            </a:r>
          </a:p>
          <a:p>
            <a:r>
              <a:rPr lang="en-GB" sz="1200" b="1"/>
              <a:t>LOOK FOR</a:t>
            </a:r>
          </a:p>
          <a:p>
            <a:r>
              <a:rPr lang="en-GB" sz="1200"/>
              <a:t>• Each paragraph has a clear Claim sentence, evidence naming a scientist or tenet, and Reasoning with 'therefore' or 'because' that links to Amina's healing.</a:t>
            </a:r>
          </a:p>
          <a:p>
            <a:r>
              <a:rPr lang="en-GB" sz="1200"/>
              <a:t>• Collect 6 notebooks (two from each ability group) and check them quickly.</a:t>
            </a:r>
          </a:p>
          <a:p>
            <a:r>
              <a:rPr lang="en-GB" sz="1200"/>
              <a:t/>
            </a:r>
          </a:p>
          <a:p>
            <a:r>
              <a:rPr lang="en-GB" sz="1200" b="1"/>
              <a:t>IF…</a:t>
            </a:r>
          </a:p>
          <a:p>
            <a:r>
              <a:rPr lang="en-GB" sz="1200"/>
              <a:t>• If a learner is stuck, say: What did Virchow say about where new cells come from? Start there.</a:t>
            </a:r>
          </a:p>
          <a:p>
            <a:r>
              <a:rPr lang="en-GB" sz="1200"/>
              <a:t>• If the writing is general, say: Which cells are we talking about? Which cells made the new skin cells?</a:t>
            </a:r>
          </a:p>
          <a:p>
            <a:r>
              <a:rPr lang="en-GB" sz="1200"/>
              <a:t/>
            </a:r>
          </a:p>
          <a:p>
            <a:r>
              <a:rPr lang="en-GB" sz="1200" b="1"/>
              <a:t>WHY THIS WORKS</a:t>
            </a:r>
          </a:p>
          <a:p>
            <a:r>
              <a:rPr lang="en-GB" sz="1200"/>
              <a:t>CER moves learners from 'Virchow said…' to 'so Amina's body could…'. It makes them use the idea to explain the phenomenon. Misconception addressed: new cells appear from nothing.</a:t>
            </a:r>
          </a:p>
          <a:p>
            <a:r>
              <a:rPr lang="en-GB" sz="1200"/>
              <a:t/>
            </a:r>
          </a:p>
          <a:p>
            <a:r>
              <a:rPr lang="en-GB" sz="1200" b="1"/>
              <a:t>ANSWER KEY</a:t>
            </a:r>
          </a:p>
          <a:p>
            <a:r>
              <a:rPr lang="en-GB" sz="1200"/>
              <a:t>• Amina's body made new skin cells from skin cells that were already there. Virchow's cell theory says all cells arise from pre-existing cells. The living skin cells next to the cut divided to make new cells. Therefore the wound closed because new skin cells came from existing skin cells.</a:t>
            </a:r>
          </a:p>
          <a:p>
            <a:r>
              <a:rPr lang="en-GB" sz="1200"/>
              <a:t/>
            </a:r>
          </a:p>
          <a:p>
            <a:r>
              <a:rPr lang="en-GB" sz="1200" b="1"/>
              <a:t>SCIENCE NOTE FOR YOU</a:t>
            </a:r>
          </a:p>
          <a:p>
            <a:r>
              <a:rPr lang="en-GB" sz="1200"/>
              <a:t>You do not need to name cell division processes yet. It is enough that learners say cells divide to make new cells.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 SoW: cold-call 2 learners and a thumbs check (trimmed to 1 minute).</a:t>
            </a:r>
          </a:p>
          <a:p>
            <a:r>
              <a:rPr lang="en-GB" sz="1200"/>
              <a:t/>
            </a:r>
          </a:p>
          <a:p>
            <a:r>
              <a:rPr lang="en-GB" sz="1200" b="1"/>
              <a:t>DO</a:t>
            </a:r>
          </a:p>
          <a:p>
            <a:r>
              <a:rPr lang="en-GB" sz="1200"/>
              <a:t>• Cold-call 2 learners to read their CER aloud. Pick one with a strong, clear answer and one whose Reasoning is still short, so the class can compare.</a:t>
            </a:r>
          </a:p>
          <a:p>
            <a:r>
              <a:rPr lang="en-GB" sz="1200"/>
              <a:t>• Ask them to read only the Reasoning sentence if time is short.</a:t>
            </a:r>
          </a:p>
          <a:p>
            <a:r>
              <a:rPr lang="en-GB" sz="1200"/>
              <a:t>• After each reading, ask for thumbs.</a:t>
            </a:r>
          </a:p>
          <a:p>
            <a:r>
              <a:rPr lang="en-GB" sz="1200"/>
              <a:t/>
            </a:r>
          </a:p>
          <a:p>
            <a:r>
              <a:rPr lang="en-GB" sz="1200" b="1"/>
              <a:t>SAY</a:t>
            </a:r>
          </a:p>
          <a:p>
            <a:r>
              <a:rPr lang="en-GB" sz="1200"/>
              <a:t>• Please read your CER aloud.</a:t>
            </a:r>
          </a:p>
          <a:p>
            <a:r>
              <a:rPr lang="en-GB" sz="1200"/>
              <a:t>• Thumbs up if their Reasoning clearly connects cell theory to the phenomenon.</a:t>
            </a:r>
          </a:p>
          <a:p>
            <a:r>
              <a:rPr lang="en-GB" sz="1200"/>
              <a:t/>
            </a:r>
          </a:p>
          <a:p>
            <a:r>
              <a:rPr lang="en-GB" sz="1200" b="1"/>
              <a:t>WAIT TIME</a:t>
            </a:r>
          </a:p>
          <a:p>
            <a:r>
              <a:rPr lang="en-GB" sz="1200"/>
              <a:t>5 seconds after the thumbs question.</a:t>
            </a:r>
          </a:p>
          <a:p>
            <a:r>
              <a:rPr lang="en-GB" sz="1200"/>
              <a:t/>
            </a:r>
          </a:p>
          <a:p>
            <a:r>
              <a:rPr lang="en-GB" sz="1200" b="1"/>
              <a:t>LOOK FOR</a:t>
            </a:r>
          </a:p>
          <a:p>
            <a:r>
              <a:rPr lang="en-GB" sz="1200"/>
              <a:t>• Count the thumbs. Do most learners agree the Reasoning links cell theory to Amina?</a:t>
            </a:r>
          </a:p>
          <a:p>
            <a:r>
              <a:rPr lang="en-GB" sz="1200"/>
              <a:t>• Check if learners can say why the Reasoning works or not.</a:t>
            </a:r>
          </a:p>
          <a:p>
            <a:r>
              <a:rPr lang="en-GB" sz="1200"/>
              <a:t/>
            </a:r>
          </a:p>
          <a:p>
            <a:r>
              <a:rPr lang="en-GB" sz="1200" b="1"/>
              <a:t>IF…</a:t>
            </a:r>
          </a:p>
          <a:p>
            <a:r>
              <a:rPr lang="en-GB" sz="1200"/>
              <a:t>• If few thumbs go up, say: What is missing? What could they add to link Virchow to Amina's finger?</a:t>
            </a:r>
          </a:p>
          <a:p>
            <a:r>
              <a:rPr lang="en-GB" sz="1200"/>
              <a:t/>
            </a:r>
          </a:p>
          <a:p>
            <a:r>
              <a:rPr lang="en-GB" sz="1200" b="1"/>
              <a:t>WHY THIS WORKS</a:t>
            </a:r>
          </a:p>
          <a:p>
            <a:r>
              <a:rPr lang="en-GB" sz="1200"/>
              <a:t>Hearing a classmate's reasoning shows learners what a good explanation sounds like. Judging it makes them think about the connection themselves.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DRIVING QUESTION BOARD (5 minutes total)</a:t>
            </a:r>
          </a:p>
          <a:p>
            <a:r>
              <a:rPr lang="en-GB" sz="1200" b="1"/>
              <a:t>TIME: 4 minutes SoW: 4 minutes of silent reflection.</a:t>
            </a:r>
          </a:p>
          <a:p>
            <a:r>
              <a:rPr lang="en-GB" sz="1200"/>
              <a:t/>
            </a:r>
          </a:p>
          <a:p>
            <a:r>
              <a:rPr lang="en-GB" sz="1200" b="1"/>
              <a:t>DO</a:t>
            </a:r>
          </a:p>
          <a:p>
            <a:r>
              <a:rPr lang="en-GB" sz="1200"/>
              <a:t>• Read the driving question aloud with the class.</a:t>
            </a:r>
          </a:p>
          <a:p>
            <a:r>
              <a:rPr lang="en-GB" sz="1200"/>
              <a:t>• Hand out sticky notes in two colours: yellow for new questions, green for growing understanding.</a:t>
            </a:r>
          </a:p>
          <a:p>
            <a:r>
              <a:rPr lang="en-GB" sz="1200"/>
              <a:t>• Learners go to the board in turns to post and add stars.</a:t>
            </a:r>
          </a:p>
          <a:p>
            <a:r>
              <a:rPr lang="en-GB" sz="1200"/>
              <a:t>• After the timer, photograph the board for planning.</a:t>
            </a:r>
          </a:p>
          <a:p>
            <a:r>
              <a:rPr lang="en-GB" sz="1200"/>
              <a:t/>
            </a:r>
          </a:p>
          <a:p>
            <a:r>
              <a:rPr lang="en-GB" sz="1200" b="1"/>
              <a:t>SAY</a:t>
            </a:r>
          </a:p>
          <a:p>
            <a:r>
              <a:rPr lang="en-GB" sz="1200"/>
              <a:t>• We've been learning about cell theory and cell structure today. Look at our Driving Question Board. Has today's lesson answered any of the questions from Lesson 1? If so, put a star on it.</a:t>
            </a:r>
          </a:p>
          <a:p>
            <a:r>
              <a:rPr lang="en-GB" sz="1200"/>
              <a:t>• Then write your own note. Either a new question or a sentence that shows your thinking has grown. Use something you saw today.</a:t>
            </a:r>
          </a:p>
          <a:p>
            <a:r>
              <a:rPr lang="en-GB" sz="1200"/>
              <a:t/>
            </a:r>
          </a:p>
          <a:p>
            <a:r>
              <a:rPr lang="en-GB" sz="1200" b="1"/>
              <a:t>WAIT TIME</a:t>
            </a:r>
          </a:p>
          <a:p>
            <a:r>
              <a:rPr lang="en-GB" sz="1200"/>
              <a:t>The full 4 minutes of silent writing.</a:t>
            </a:r>
          </a:p>
          <a:p>
            <a:r>
              <a:rPr lang="en-GB" sz="1200"/>
              <a:t/>
            </a:r>
          </a:p>
          <a:p>
            <a:r>
              <a:rPr lang="en-GB" sz="1200" b="1"/>
              <a:t>LOOK FOR</a:t>
            </a:r>
          </a:p>
          <a:p>
            <a:r>
              <a:rPr lang="en-GB" sz="1200"/>
              <a:t>• Every learner posts at least one note. A missing note means possible disengagement or confusion. Follow up.</a:t>
            </a:r>
          </a:p>
          <a:p>
            <a:r>
              <a:rPr lang="en-GB" sz="1200"/>
              <a:t>• Check the green notes for accuracy. A note such as 'all cells are the same' is a misconception. Correct it before Lesson 3.</a:t>
            </a:r>
          </a:p>
          <a:p>
            <a:r>
              <a:rPr lang="en-GB" sz="1200"/>
              <a:t/>
            </a:r>
          </a:p>
          <a:p>
            <a:r>
              <a:rPr lang="en-GB" sz="1200" b="1"/>
              <a:t>IF…</a:t>
            </a:r>
          </a:p>
          <a:p>
            <a:r>
              <a:rPr lang="en-GB" sz="1200"/>
              <a:t>• If a learner writes 'all cells are the same', say: Look at your sorted cards. Are prokaryotic and eukaryotic cells exactly the same? Rewrite your note.</a:t>
            </a:r>
          </a:p>
          <a:p>
            <a:r>
              <a:rPr lang="en-GB" sz="1200"/>
              <a:t>• If a learner has no idea what to write, say: What surprised you today? Start with that.</a:t>
            </a:r>
          </a:p>
          <a:p>
            <a:r>
              <a:rPr lang="en-GB" sz="1200"/>
              <a:t/>
            </a:r>
          </a:p>
          <a:p>
            <a:r>
              <a:rPr lang="en-GB" sz="1200" b="1"/>
              <a:t>WHY THIS WORKS</a:t>
            </a:r>
          </a:p>
          <a:p>
            <a:r>
              <a:rPr lang="en-GB" sz="1200"/>
              <a:t>A public board makes thinking visible and shows the class that science keeps asking questions. The two colours show the teacher the balance between confusion and understanding.</a:t>
            </a:r>
          </a:p>
          <a:p>
            <a:r>
              <a:rPr lang="en-GB" sz="1200"/>
              <a:t/>
            </a:r>
          </a:p>
          <a:p>
            <a:r>
              <a:rPr lang="en-GB" sz="1200" b="1"/>
              <a:t>ANSWER KEY</a:t>
            </a:r>
          </a:p>
          <a:p>
            <a:r>
              <a:rPr lang="en-GB" sz="1200"/>
              <a:t>• Yellow note example: If all cells come from pre-existing cells, where did the first cell come from?</a:t>
            </a:r>
          </a:p>
          <a:p>
            <a:r>
              <a:rPr lang="en-GB" sz="1200"/>
              <a:t>• Green note example: I saw that both the bacterium and the animal cell have a cell membrane and ribosomes, so all cells share some basic parts.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1 minute Reading aloud 3 to 4 notes (SoW) plus a quick vote (manual).</a:t>
            </a:r>
          </a:p>
          <a:p>
            <a:r>
              <a:rPr lang="en-GB" sz="1200"/>
              <a:t/>
            </a:r>
          </a:p>
          <a:p>
            <a:r>
              <a:rPr lang="en-GB" sz="1200" b="1"/>
              <a:t>DO</a:t>
            </a:r>
          </a:p>
          <a:p>
            <a:r>
              <a:rPr lang="en-GB" sz="1200"/>
              <a:t>• Read 3 or 4 notes aloud quickly. Include at least one question note.</a:t>
            </a:r>
          </a:p>
          <a:p>
            <a:r>
              <a:rPr lang="en-GB" sz="1200"/>
              <a:t>• Point to the driving question.</a:t>
            </a:r>
          </a:p>
          <a:p>
            <a:r>
              <a:rPr lang="en-GB" sz="1200"/>
              <a:t>• Ask for a hands-up vote: Does the evidence we have today answer the driving question yet? Count Yes and Not yet.</a:t>
            </a:r>
          </a:p>
          <a:p>
            <a:r>
              <a:rPr lang="en-GB" sz="1200"/>
              <a:t/>
            </a:r>
          </a:p>
          <a:p>
            <a:r>
              <a:rPr lang="en-GB" sz="1200" b="1"/>
              <a:t>SAY</a:t>
            </a:r>
          </a:p>
          <a:p>
            <a:r>
              <a:rPr lang="en-GB" sz="1200"/>
              <a:t>• Listen to this question from the back table: If all cells come from pre-existing cells, where did the FIRST cell come from? That is a brilliant scientific question that researchers still debate.</a:t>
            </a:r>
          </a:p>
          <a:p>
            <a:r>
              <a:rPr lang="en-GB" sz="1200"/>
              <a:t>• Does the evidence on our board answer the big question yet? Yes, or not yet?</a:t>
            </a:r>
          </a:p>
          <a:p>
            <a:r>
              <a:rPr lang="en-GB" sz="1200"/>
              <a:t>• We still haven't answered the big one. Hold it. We'll get there.</a:t>
            </a:r>
          </a:p>
          <a:p>
            <a:r>
              <a:rPr lang="en-GB" sz="1200"/>
              <a:t/>
            </a:r>
          </a:p>
          <a:p>
            <a:r>
              <a:rPr lang="en-GB" sz="1200" b="1"/>
              <a:t>WAIT TIME</a:t>
            </a:r>
          </a:p>
          <a:p>
            <a:r>
              <a:rPr lang="en-GB" sz="1200"/>
              <a:t>5 seconds before the vote.</a:t>
            </a:r>
          </a:p>
          <a:p>
            <a:r>
              <a:rPr lang="en-GB" sz="1200"/>
              <a:t/>
            </a:r>
          </a:p>
          <a:p>
            <a:r>
              <a:rPr lang="en-GB" sz="1200" b="1"/>
              <a:t>LOOK FOR</a:t>
            </a:r>
          </a:p>
          <a:p>
            <a:r>
              <a:rPr lang="en-GB" sz="1200"/>
              <a:t>• Most learners vote 'Not yet'. Ask one or two why. Look for the idea that all cells share parts but we still have not explained why they look different.</a:t>
            </a:r>
          </a:p>
          <a:p>
            <a:r>
              <a:rPr lang="en-GB" sz="1200"/>
              <a:t/>
            </a:r>
          </a:p>
          <a:p>
            <a:r>
              <a:rPr lang="en-GB" sz="1200" b="1"/>
              <a:t>IF…</a:t>
            </a:r>
          </a:p>
          <a:p>
            <a:r>
              <a:rPr lang="en-GB" sz="1200"/>
              <a:t>• If many vote 'Yes', say: What evidence do we have for why a blood cell looks different from a skin cell? What is still missing?</a:t>
            </a:r>
          </a:p>
          <a:p>
            <a:r>
              <a:rPr lang="en-GB" sz="1200"/>
              <a:t/>
            </a:r>
          </a:p>
          <a:p>
            <a:r>
              <a:rPr lang="en-GB" sz="1200" b="1"/>
              <a:t>WHY THIS WORKS</a:t>
            </a:r>
          </a:p>
          <a:p>
            <a:r>
              <a:rPr lang="en-GB" sz="1200"/>
              <a:t>Voting on whether evidence is enough teaches learners to judge claims by evidence. It shows them the board is a working record, not a finished answer.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MODEL BUILDING PHASE (13 minutes total)</a:t>
            </a:r>
          </a:p>
          <a:p>
            <a:r>
              <a:rPr lang="en-GB" sz="1200" b="1"/>
              <a:t>TIME: 1 minute Quick introduction to the SoW model task (about 12 minutes in all across the next two slides).</a:t>
            </a:r>
          </a:p>
          <a:p>
            <a:r>
              <a:rPr lang="en-GB" sz="1200"/>
              <a:t/>
            </a:r>
          </a:p>
          <a:p>
            <a:r>
              <a:rPr lang="en-GB" sz="1200" b="1"/>
              <a:t>DO</a:t>
            </a:r>
          </a:p>
          <a:p>
            <a:r>
              <a:rPr lang="en-GB" sz="1200"/>
              <a:t>• Display the Version 1 checklist (this slide) on the board: 8 required labels, 1 sentence per label in the Key, 1 Limitation Statement with at least 2 gaps.</a:t>
            </a:r>
          </a:p>
          <a:p>
            <a:r>
              <a:rPr lang="en-GB" sz="1200"/>
              <a:t>• Explain that each learner keeps ONE model for the whole unit and revises it in a new colour each lesson.</a:t>
            </a:r>
          </a:p>
          <a:p>
            <a:r>
              <a:rPr lang="en-GB" sz="1200"/>
              <a:t/>
            </a:r>
          </a:p>
          <a:p>
            <a:r>
              <a:rPr lang="en-GB" sz="1200" b="1"/>
              <a:t>SAY</a:t>
            </a:r>
          </a:p>
          <a:p>
            <a:r>
              <a:rPr lang="en-GB" sz="1200"/>
              <a:t>• Every scientist who studies cells uses models. Models are never perfect, but they capture what we know right now.</a:t>
            </a:r>
          </a:p>
          <a:p>
            <a:r>
              <a:rPr lang="en-GB" sz="1200"/>
              <a:t>• Today you will draw Version 1 of YOUR cell model. By Lesson 12, this same page will be full of revisions, additions and corrections. That's what science looks like.</a:t>
            </a:r>
          </a:p>
          <a:p>
            <a:r>
              <a:rPr lang="en-GB" sz="1200"/>
              <a:t/>
            </a:r>
          </a:p>
          <a:p>
            <a:r>
              <a:rPr lang="en-GB" sz="1200" b="1"/>
              <a:t>LOOK FOR</a:t>
            </a:r>
          </a:p>
          <a:p>
            <a:r>
              <a:rPr lang="en-GB" sz="1200"/>
              <a:t>• Learners know the four things to do before they start.</a:t>
            </a:r>
          </a:p>
          <a:p>
            <a:r>
              <a:rPr lang="en-GB" sz="1200"/>
              <a:t/>
            </a:r>
          </a:p>
          <a:p>
            <a:r>
              <a:rPr lang="en-GB" sz="1200" b="1"/>
              <a:t>IF…</a:t>
            </a:r>
          </a:p>
          <a:p>
            <a:r>
              <a:rPr lang="en-GB" sz="1200"/>
              <a:t>• If learners ask whether to draw a plant or an animal cell, say: Choose one. Label the parts your cell has.</a:t>
            </a:r>
          </a:p>
          <a:p>
            <a:r>
              <a:rPr lang="en-GB" sz="1200"/>
              <a:t/>
            </a:r>
          </a:p>
          <a:p>
            <a:r>
              <a:rPr lang="en-GB" sz="1200" b="1"/>
              <a:t>WHY THIS WORKS</a:t>
            </a:r>
          </a:p>
          <a:p>
            <a:r>
              <a:rPr lang="en-GB" sz="1200"/>
              <a:t>Showing the checklist first makes the task clear. Telling learners the model will change builds expectation and shows them that models are for revising.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9 minutes SoW: 12 minutes for the whole model task. 9 here for the sketch and Key; the limits and partner share follow on the next slide.</a:t>
            </a:r>
          </a:p>
          <a:p>
            <a:r>
              <a:rPr lang="en-GB" sz="1200"/>
              <a:t/>
            </a:r>
          </a:p>
          <a:p>
            <a:r>
              <a:rPr lang="en-GB" sz="1200" b="1"/>
              <a:t>DO</a:t>
            </a:r>
          </a:p>
          <a:p>
            <a:r>
              <a:rPr lang="en-GB" sz="1200"/>
              <a:t>• Learners use a full blank page in their science notebook.</a:t>
            </a:r>
          </a:p>
          <a:p>
            <a:r>
              <a:rPr lang="en-GB" sz="1200"/>
              <a:t>• Tell them: This is your scientific record. Work silently and independently.</a:t>
            </a:r>
          </a:p>
          <a:p>
            <a:r>
              <a:rPr lang="en-GB" sz="1200"/>
              <a:t>• Circulate with the checklist. Narrate what you see: I see a learner has labelled the mitochondria and written that it produces energy. I see another learner has drawn a cell wall on an animal cell. Let's check that.</a:t>
            </a:r>
          </a:p>
          <a:p>
            <a:r>
              <a:rPr lang="en-GB" sz="1200"/>
              <a:t>• Collect all models at the end of the lesson, photograph them for records and return them next lesson.</a:t>
            </a:r>
          </a:p>
          <a:p>
            <a:r>
              <a:rPr lang="en-GB" sz="1200"/>
              <a:t/>
            </a:r>
          </a:p>
          <a:p>
            <a:r>
              <a:rPr lang="en-GB" sz="1200" b="1"/>
              <a:t>SAY</a:t>
            </a:r>
          </a:p>
          <a:p>
            <a:r>
              <a:rPr lang="en-GB" sz="1200"/>
              <a:t>• You have about 12 minutes for the whole model task: the sketch, the Key and your limits. Start with the sketch and the Key. Work silently and independently. This is YOUR scientific record.</a:t>
            </a:r>
          </a:p>
          <a:p>
            <a:r>
              <a:rPr lang="en-GB" sz="1200"/>
              <a:t>• Count your labels. How many do you have?</a:t>
            </a:r>
          </a:p>
          <a:p>
            <a:r>
              <a:rPr lang="en-GB" sz="1200"/>
              <a:t>• Check: do animal cells have cell walls?</a:t>
            </a:r>
          </a:p>
          <a:p>
            <a:r>
              <a:rPr lang="en-GB" sz="1200"/>
              <a:t/>
            </a:r>
          </a:p>
          <a:p>
            <a:r>
              <a:rPr lang="en-GB" sz="1200" b="1"/>
              <a:t>WAIT TIME</a:t>
            </a:r>
          </a:p>
          <a:p>
            <a:r>
              <a:rPr lang="en-GB" sz="1200"/>
              <a:t>10 seconds after a correction prompt, so the learner can self-correct.</a:t>
            </a:r>
          </a:p>
          <a:p>
            <a:r>
              <a:rPr lang="en-GB" sz="1200"/>
              <a:t/>
            </a:r>
          </a:p>
          <a:p>
            <a:r>
              <a:rPr lang="en-GB" sz="1200" b="1"/>
              <a:t>LOOK FOR</a:t>
            </a:r>
          </a:p>
          <a:p>
            <a:r>
              <a:rPr lang="en-GB" sz="1200"/>
              <a:t>• Check 8 to 10 notebooks with the checklist: all 8 required labels are present (cell wall and vacuole only for plant cells).</a:t>
            </a:r>
          </a:p>
          <a:p>
            <a:r>
              <a:rPr lang="en-GB" sz="1200"/>
              <a:t>• Each Model Key sentence says the structure AND its function. 'Nucleus: oval shape, contains DNA, controls cell activities' is adequate. 'Nucleus: it's in the middle' is not enough.</a:t>
            </a:r>
          </a:p>
          <a:p>
            <a:r>
              <a:rPr lang="en-GB" sz="1200"/>
              <a:t>• Animal cells are not drawn with a cell wall. The nucleus is drawn as a clear structure.</a:t>
            </a:r>
          </a:p>
          <a:p>
            <a:r>
              <a:rPr lang="en-GB" sz="1200"/>
              <a:t/>
            </a:r>
          </a:p>
          <a:p>
            <a:r>
              <a:rPr lang="en-GB" sz="1200" b="1"/>
              <a:t>IF…</a:t>
            </a:r>
          </a:p>
          <a:p>
            <a:r>
              <a:rPr lang="en-GB" sz="1200"/>
              <a:t>• If labels are missing, say: Count your labels. How many do you have? Which ones are missing?</a:t>
            </a:r>
          </a:p>
          <a:p>
            <a:r>
              <a:rPr lang="en-GB" sz="1200"/>
              <a:t>• If a Key sentence says only where the part is, say: Where it is tells me nothing about what it does. What is its job?</a:t>
            </a:r>
          </a:p>
          <a:p>
            <a:r>
              <a:rPr lang="en-GB" sz="1200"/>
              <a:t>• If an animal cell has a cell wall, say: Check the animal cell diagram. Do animal cells have cell walls?</a:t>
            </a:r>
          </a:p>
          <a:p>
            <a:r>
              <a:rPr lang="en-GB" sz="1200"/>
              <a:t/>
            </a:r>
          </a:p>
          <a:p>
            <a:r>
              <a:rPr lang="en-GB" sz="1200" b="1"/>
              <a:t>WHY THIS WORKS</a:t>
            </a:r>
          </a:p>
          <a:p>
            <a:r>
              <a:rPr lang="en-GB" sz="1200"/>
              <a:t>A dated, revisable model gives learners a record they can improve all unit. Writing a Key sentence forces them to link structure to function. Misconception addressed: animal cells have cell walls.</a:t>
            </a:r>
          </a:p>
          <a:p>
            <a:r>
              <a:rPr lang="en-GB" sz="1200"/>
              <a:t/>
            </a:r>
          </a:p>
          <a:p>
            <a:r>
              <a:rPr lang="en-GB" sz="1200" b="1"/>
              <a:t>ANSWER KEY</a:t>
            </a:r>
          </a:p>
          <a:p>
            <a:r>
              <a:rPr lang="en-GB" sz="1200"/>
              <a:t>• Sketch with labels: cell membrane, nucleus, cytoplasm, mitochondria, ribosomes, endoplasmic reticulum (plus cell wall and vacuole if plant).</a:t>
            </a:r>
          </a:p>
          <a:p>
            <a:r>
              <a:rPr lang="en-GB" sz="1200"/>
              <a:t>• Cell membrane: thin boundary that controls what enters and leaves the cell.</a:t>
            </a:r>
          </a:p>
          <a:p>
            <a:r>
              <a:rPr lang="en-GB" sz="1200"/>
              <a:t>• Cell wall (plant): strong outer layer that supports the cell.</a:t>
            </a:r>
          </a:p>
          <a:p>
            <a:r>
              <a:rPr lang="en-GB" sz="1200"/>
              <a:t>• Nucleus: oval shape, contains DNA, controls cell activities.</a:t>
            </a:r>
          </a:p>
          <a:p>
            <a:r>
              <a:rPr lang="en-GB" sz="1200"/>
              <a:t>• Cytoplasm: jelly-like part where many reactions happen.</a:t>
            </a:r>
          </a:p>
          <a:p>
            <a:r>
              <a:rPr lang="en-GB" sz="1200"/>
              <a:t>• Mitochondria: release energy from food for the cell to use.</a:t>
            </a:r>
          </a:p>
          <a:p>
            <a:r>
              <a:rPr lang="en-GB" sz="1200"/>
              <a:t>• Ribosomes: make proteins.</a:t>
            </a:r>
          </a:p>
          <a:p>
            <a:r>
              <a:rPr lang="en-GB" sz="1200"/>
              <a:t>• Vacuole (plant): stores water and dissolved substances.</a:t>
            </a:r>
          </a:p>
          <a:p>
            <a:r>
              <a:rPr lang="en-GB" sz="1200"/>
              <a:t>• Endoplasmic reticulum: network that moves materials around the cell.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3 minutes SoW: Limitation Statement and a 2-minute partner share, plus a next-lesson prediction added from the manual.</a:t>
            </a:r>
          </a:p>
          <a:p>
            <a:r>
              <a:rPr lang="en-GB" sz="1200"/>
              <a:t/>
            </a:r>
          </a:p>
          <a:p>
            <a:r>
              <a:rPr lang="en-GB" sz="1200" b="1"/>
              <a:t>DO</a:t>
            </a:r>
          </a:p>
          <a:p>
            <a:r>
              <a:rPr lang="en-GB" sz="1200"/>
              <a:t>• Learners write their Limitation Statement, then share with a partner.</a:t>
            </a:r>
          </a:p>
          <a:p>
            <a:r>
              <a:rPr lang="en-GB" sz="1200"/>
              <a:t>• Ask them to add one of their partner's gaps if they had not thought of it.</a:t>
            </a:r>
          </a:p>
          <a:p>
            <a:r>
              <a:rPr lang="en-GB" sz="1200"/>
              <a:t>• Ask for one sentence predicting the next lesson. Then collect all Version 1 models.</a:t>
            </a:r>
          </a:p>
          <a:p>
            <a:r>
              <a:rPr lang="en-GB" sz="1200"/>
              <a:t/>
            </a:r>
          </a:p>
          <a:p>
            <a:r>
              <a:rPr lang="en-GB" sz="1200" b="1"/>
              <a:t>SAY</a:t>
            </a:r>
          </a:p>
          <a:p>
            <a:r>
              <a:rPr lang="en-GB" sz="1200"/>
              <a:t>• Read your partner's limitation. Do you agree those are real gaps? Add one of their gaps to your own list if you hadn't thought of it.</a:t>
            </a:r>
          </a:p>
          <a:p>
            <a:r>
              <a:rPr lang="en-GB" sz="1200"/>
              <a:t>• Last, write one sentence: Next lesson, I predict… because…</a:t>
            </a:r>
          </a:p>
          <a:p>
            <a:r>
              <a:rPr lang="en-GB" sz="1200"/>
              <a:t/>
            </a:r>
          </a:p>
          <a:p>
            <a:r>
              <a:rPr lang="en-GB" sz="1200" b="1"/>
              <a:t>WAIT TIME</a:t>
            </a:r>
          </a:p>
          <a:p>
            <a:r>
              <a:rPr lang="en-GB" sz="1200"/>
              <a:t>20 seconds of silent writing before the partner share.</a:t>
            </a:r>
          </a:p>
          <a:p>
            <a:r>
              <a:rPr lang="en-GB" sz="1200"/>
              <a:t/>
            </a:r>
          </a:p>
          <a:p>
            <a:r>
              <a:rPr lang="en-GB" sz="1200" b="1"/>
              <a:t>LOOK FOR</a:t>
            </a:r>
          </a:p>
          <a:p>
            <a:r>
              <a:rPr lang="en-GB" sz="1200"/>
              <a:t>• Check 8 to 10 notebooks: at least 2 honest gaps are listed. Accept any scientifically honest statement.</a:t>
            </a:r>
          </a:p>
          <a:p>
            <a:r>
              <a:rPr lang="en-GB" sz="1200"/>
              <a:t>• Each learner has one sentence predicting the next lesson.</a:t>
            </a:r>
          </a:p>
          <a:p>
            <a:r>
              <a:rPr lang="en-GB" sz="1200"/>
              <a:t/>
            </a:r>
          </a:p>
          <a:p>
            <a:r>
              <a:rPr lang="en-GB" sz="1200" b="1"/>
              <a:t>IF…</a:t>
            </a:r>
          </a:p>
          <a:p>
            <a:r>
              <a:rPr lang="en-GB" sz="1200"/>
              <a:t>• If a learner cannot think of a gap, say: What do you still not know about how the cell membrane or the nucleus works? Write that.</a:t>
            </a:r>
          </a:p>
          <a:p>
            <a:r>
              <a:rPr lang="en-GB" sz="1200"/>
              <a:t>• If the prediction has no reason, say: Add a 'because'. What did you see today that makes you think that?</a:t>
            </a:r>
          </a:p>
          <a:p>
            <a:r>
              <a:rPr lang="en-GB" sz="1200"/>
              <a:t/>
            </a:r>
          </a:p>
          <a:p>
            <a:r>
              <a:rPr lang="en-GB" sz="1200" b="1"/>
              <a:t>WHY THIS WORKS</a:t>
            </a:r>
          </a:p>
          <a:p>
            <a:r>
              <a:rPr lang="en-GB" sz="1200"/>
              <a:t>Saying what a model cannot yet explain keeps learners from thinking they are finished. It also gives them a reason to look forward to the next lesson.</a:t>
            </a:r>
          </a:p>
          <a:p>
            <a:r>
              <a:rPr lang="en-GB" sz="1200"/>
              <a:t/>
            </a:r>
          </a:p>
          <a:p>
            <a:r>
              <a:rPr lang="en-GB" sz="1200" b="1"/>
              <a:t>ANSWER KEY</a:t>
            </a:r>
          </a:p>
          <a:p>
            <a:r>
              <a:rPr lang="en-GB" sz="1200"/>
              <a:t>• This model does not yet show how the cell membrane decides what to let in. It does not yet show how the nucleus talks to the rest of the cell.</a:t>
            </a:r>
          </a:p>
          <a:p>
            <a:r>
              <a:rPr lang="en-GB" sz="1200"/>
              <a:t>• Next lesson, I predict we will compare prokaryotic and eukaryotic cells in more detail, because today was only the start.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a:t>TIME: 2 minutes at the end, or as homework</a:t>
            </a:r>
          </a:p>
          <a:p>
            <a:r>
              <a:rPr lang="en-GB" sz="1200"/>
              <a:t/>
            </a:r>
          </a:p>
          <a:p>
            <a:r>
              <a:rPr lang="en-GB" sz="1200" b="1"/>
              <a:t>DO</a:t>
            </a:r>
          </a:p>
          <a:p>
            <a:r>
              <a:rPr lang="en-GB" sz="1200"/>
              <a:t>• Use this slide at the end of the lesson or set it as homework. Allow at most 2 minutes in class.</a:t>
            </a:r>
          </a:p>
          <a:p>
            <a:r>
              <a:rPr lang="en-GB" sz="1200"/>
              <a:t>• Learners write one or two sentences under each heading in their notebooks.</a:t>
            </a:r>
          </a:p>
          <a:p>
            <a:r>
              <a:rPr lang="en-GB" sz="1200"/>
              <a:t>• Ask for one or two volunteers to read an answer aloud.</a:t>
            </a:r>
          </a:p>
          <a:p>
            <a:r>
              <a:rPr lang="en-GB" sz="1200"/>
              <a:t/>
            </a:r>
          </a:p>
          <a:p>
            <a:r>
              <a:rPr lang="en-GB" sz="1200" b="1"/>
              <a:t>SAY</a:t>
            </a:r>
          </a:p>
          <a:p>
            <a:r>
              <a:rPr lang="en-GB" sz="1200"/>
              <a:t>• Answer the three questions in your notebook. What did you observe? What did you learn? How does this explain Amina's healing finger?</a:t>
            </a:r>
          </a:p>
          <a:p>
            <a:r>
              <a:rPr lang="en-GB" sz="1200"/>
              <a:t>• Use words from today: cell theory, prokaryotic and eukaryotic.</a:t>
            </a:r>
          </a:p>
          <a:p>
            <a:r>
              <a:rPr lang="en-GB" sz="1200"/>
              <a:t/>
            </a:r>
          </a:p>
          <a:p>
            <a:r>
              <a:rPr lang="en-GB" sz="1200" b="1"/>
              <a:t>WHY THIS WORKS</a:t>
            </a:r>
          </a:p>
          <a:p>
            <a:r>
              <a:rPr lang="en-GB" sz="1200"/>
              <a:t>Writing the three answers in the learner's own words shows what they understood. The last question links the lesson back to the healing cut.</a:t>
            </a:r>
          </a:p>
          <a:p>
            <a:r>
              <a:rPr lang="en-GB" sz="1200"/>
              <a:t/>
            </a:r>
          </a:p>
          <a:p>
            <a:r>
              <a:rPr lang="en-GB" sz="1200" b="1"/>
              <a:t>ANSWER KEY</a:t>
            </a:r>
          </a:p>
          <a:p>
            <a:r>
              <a:rPr lang="en-GB" sz="1200"/>
              <a:t>• Observe: I studied labelled diagrams of an animal cell, a plant cell and a prokaryotic cell such as E. coli. I sorted feature cards into Prokaryote and Eukaryote. I matched parts of the ugali kitchen to parts of the cell.</a:t>
            </a:r>
          </a:p>
          <a:p>
            <a:r>
              <a:rPr lang="en-GB" sz="1200"/>
              <a:t>• Learn: Cell theory has three ideas: all living things are made of cells; the cell is the basic unit of life; all cells arise from pre-existing cells. Schleiden, Schwann and Virchow each added to it. Eukaryotic cells have a membrane-bound nucleus and membrane-bound organelles. Prokaryotic cells do not.</a:t>
            </a:r>
          </a:p>
          <a:p>
            <a:r>
              <a:rPr lang="en-GB" sz="1200"/>
              <a:t>• Explain: Amina's body made new skin cells because of Virchow's idea that all cells come from pre-existing cells. The living skin cells next to the cut made new skin cells. Therefore the wound closed. My Version 1 cell model shows the main cell parts and what each does. It also lists what the model does not yet show.</a:t>
            </a:r>
          </a:p>
          <a:p>
            <a:r>
              <a:rPr lang="en-GB" sz="1200"/>
              <a:t/>
            </a:r>
          </a:p>
          <a:p>
            <a:r>
              <a:rPr lang="en-GB" sz="1200" b="1"/>
              <a:t>TEACHER REFLECTION</a:t>
            </a:r>
          </a:p>
          <a:p>
            <a:r>
              <a:rPr lang="en-GB" sz="1200"/>
              <a:t>• During the card sort, which cards did most groups place wrongly? Does your Lesson 3 plan deal with them?</a:t>
            </a:r>
          </a:p>
          <a:p>
            <a:r>
              <a:rPr lang="en-GB" sz="1200"/>
              <a:t>• In the CER paragraphs you collected, did learners connect Virchow's idea to new skin cells, or write about cells in general? If general, plan a 5-minute revisit at the start of Lesson 3.</a:t>
            </a:r>
          </a:p>
          <a:p>
            <a:r>
              <a:rPr lang="en-GB" sz="1200"/>
              <a:t>• How many yellow (question) and green (understanding) notes are on the board? If yellow heavily outnumbers green, plan a consolidation activity.</a:t>
            </a:r>
          </a:p>
          <a:p>
            <a:r>
              <a:rPr lang="en-GB" sz="1200"/>
              <a:t>• In the Version 1 models, did any learners draw a cell wall on an animal cell? Is the nucleus drawn as a clear structure?</a:t>
            </a:r>
          </a:p>
          <a:p>
            <a:r>
              <a:rPr lang="en-GB" sz="1200"/>
              <a:t>• Did you hold the full wait time, or did you answer for learners?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ares.local:8069/en/learn/#/topics/c/98ccf1c8b3d35cfea5093cdb61b64836" TargetMode="External"/><Relationship Id="rId6" Type="http://schemas.openxmlformats.org/officeDocument/2006/relationships/hyperlink" Target="http://ares.local:8069/en/learn/#/topics/c/a9225822ddc15923af4f4e8b0cfe74cf" TargetMode="External"/><Relationship Id="rId8" Type="http://schemas.openxmlformats.org/officeDocument/2006/relationships/hyperlink" Target="http://ares.local:8069/en/learn/#/topics/c/010c56a26444568587b8d2019e991130" TargetMode="External"/><Relationship Id="rId10" Type="http://schemas.openxmlformats.org/officeDocument/2006/relationships/hyperlink" Target="http://ares.local:8069/en/learn/#/topics/c/9f2d3e6f004d59c7a0106ab068d0cf53" TargetMode="External"/><Relationship Id="rId12" Type="http://schemas.openxmlformats.org/officeDocument/2006/relationships/hyperlink" Target="http://ares.local:8069/en/learn/#/topics/c/7420d24fcc8f5eb78e3f3947ada0a787" TargetMode="External"/><Relationship Id="rId14" Type="http://schemas.openxmlformats.org/officeDocument/2006/relationships/hyperlink" Target="http://ares.local:8069/en/learn/#/topics/c/8640601f847a586e97f0030c90135a9c" TargetMode="External"/><Relationship Id="rId16" Type="http://schemas.openxmlformats.org/officeDocument/2006/relationships/hyperlink" Target="http://ares.local:8069/en/learn/#/topics/c/c8c45e8126b65881b96c536160e9f5b2" TargetMode="External"/><Relationship Id="rId19" Type="http://schemas.openxmlformats.org/officeDocument/2006/relationships/hyperlink" Target="http://ares.local:8069/en/learn/#/topics/c/210efd38886b5c02897bbb926bcaa0d1" TargetMode="External"/><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4-3.png"/><Relationship Id="rId5" Type="http://schemas.openxmlformats.org/officeDocument/2006/relationships/image" Target="../media/image-4-4.png"/><Relationship Id="rId7" Type="http://schemas.openxmlformats.org/officeDocument/2006/relationships/image" Target="../media/image-4-5.png"/><Relationship Id="rId9" Type="http://schemas.openxmlformats.org/officeDocument/2006/relationships/image" Target="../media/image-4-3.png"/><Relationship Id="rId11" Type="http://schemas.openxmlformats.org/officeDocument/2006/relationships/image" Target="../media/image-4-5.png"/><Relationship Id="rId13" Type="http://schemas.openxmlformats.org/officeDocument/2006/relationships/image" Target="../media/image-4-3.png"/><Relationship Id="rId15" Type="http://schemas.openxmlformats.org/officeDocument/2006/relationships/image" Target="../media/image-4-5.png"/><Relationship Id="rId17" Type="http://schemas.openxmlformats.org/officeDocument/2006/relationships/image" Target="../media/image-4-3.png"/><Relationship Id="rId18" Type="http://schemas.openxmlformats.org/officeDocument/2006/relationships/image" Target="../media/image-4-5.png"/><Relationship Id="rId20" Type="http://schemas.openxmlformats.org/officeDocument/2006/relationships/slideLayout" Target="../slideLayouts/slideLayout1.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image" Target="../media/image-7-5.png"/><Relationship Id="rId5" Type="http://schemas.openxmlformats.org/officeDocument/2006/relationships/image" Target="../media/image-1-3.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5" Type="http://schemas.openxmlformats.org/officeDocument/2006/relationships/hyperlink" Target="http://ares.local:8069/en/learn/#/topics/c/210efd38886b5c02897bbb926bcaa0d1" TargetMode="External"/><Relationship Id="rId6" Type="http://schemas.openxmlformats.org/officeDocument/2006/relationships/hyperlink" Target="http://ares.local:8069/en/learn/#/topics/c/210efd38886b5c02897bbb926bcaa0d1" TargetMode="External"/><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image" Target="../media/image-7-5.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5" Type="http://schemas.openxmlformats.org/officeDocument/2006/relationships/hyperlink" Target="http://ares.local:8069/en/learn/#/topics/c/7420d24fcc8f5eb78e3f3947ada0a787" TargetMode="External"/><Relationship Id="rId6" Type="http://schemas.openxmlformats.org/officeDocument/2006/relationships/hyperlink" Target="http://ares.local:8069/en/learn/#/topics/c/7420d24fcc8f5eb78e3f3947ada0a787" TargetMode="External"/><Relationship Id="rId8" Type="http://schemas.openxmlformats.org/officeDocument/2006/relationships/hyperlink" Target="http://ares.local:8069/en/learn/#/topics/c/98ccf1c8b3d35cfea5093cdb61b64836" TargetMode="External"/><Relationship Id="rId9" Type="http://schemas.openxmlformats.org/officeDocument/2006/relationships/hyperlink" Target="http://ares.local:8069/en/learn/#/topics/c/98ccf1c8b3d35cfea5093cdb61b64836" TargetMode="External"/><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4-5.png"/><Relationship Id="rId7" Type="http://schemas.openxmlformats.org/officeDocument/2006/relationships/image" Target="../media/image-4-3.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7-5.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4.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25-4.png"/><Relationship Id="rId5" Type="http://schemas.openxmlformats.org/officeDocument/2006/relationships/image" Target="../media/image-1-5.png"/><Relationship Id="rId6" Type="http://schemas.openxmlformats.org/officeDocument/2006/relationships/image" Target="../media/image-25-6.png"/><Relationship Id="rId7" Type="http://schemas.openxmlformats.org/officeDocument/2006/relationships/image" Target="../media/image-1-1.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7-5.png"/><Relationship Id="rId5" Type="http://schemas.openxmlformats.org/officeDocument/2006/relationships/image" Target="../media/image-1-5.png"/><Relationship Id="rId6" Type="http://schemas.openxmlformats.org/officeDocument/2006/relationships/image" Target="../media/image-25-4.png"/><Relationship Id="rId7" Type="http://schemas.openxmlformats.org/officeDocument/2006/relationships/image" Target="../media/image-25-6.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7-5.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25-4.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02920" y="548640"/>
            <a:ext cx="6309360" cy="502920"/>
          </a:xfrm>
          <a:prstGeom prst="rect">
            <a:avLst/>
          </a:prstGeom>
          <a:noFill/>
          <a:ln/>
        </p:spPr>
        <p:txBody>
          <a:bodyPr wrap="square" lIns="0" tIns="0" rIns="0" bIns="0" rtlCol="0" anchor="t"/>
          <a:lstStyle/>
          <a:p>
            <a:pPr indent="0" marL="0">
              <a:buNone/>
            </a:pPr>
            <a:r>
              <a:rPr lang="en-US" sz="1300" b="1" spc="120" kern="0" dirty="0">
                <a:solidFill>
                  <a:srgbClr val="D7DF23"/>
                </a:solidFill>
                <a:latin typeface="Calibri" pitchFamily="34" charset="0"/>
                <a:ea typeface="Calibri" pitchFamily="34" charset="-122"/>
                <a:cs typeface="Calibri" pitchFamily="34" charset="-120"/>
              </a:rPr>
              <a:t>GRADE 10 BIOLOGY  ·  CELL STRUCTURE  ·  LESSON 2 OF 12  ·  80 MINUTES</a:t>
            </a:r>
            <a:endParaRPr lang="en-US" sz="1300" dirty="0"/>
          </a:p>
        </p:txBody>
      </p:sp>
      <p:sp>
        <p:nvSpPr>
          <p:cNvPr id="3" name="Text 1"/>
          <p:cNvSpPr/>
          <p:nvPr/>
        </p:nvSpPr>
        <p:spPr>
          <a:xfrm>
            <a:off x="502920" y="1097280"/>
            <a:ext cx="6309360" cy="79248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What Is a Cell?</a:t>
            </a:r>
            <a:endParaRPr lang="en-US" sz="5200" dirty="0"/>
          </a:p>
        </p:txBody>
      </p:sp>
      <p:sp>
        <p:nvSpPr>
          <p:cNvPr id="4" name="Text 2"/>
          <p:cNvSpPr/>
          <p:nvPr/>
        </p:nvSpPr>
        <p:spPr>
          <a:xfrm>
            <a:off x="502920" y="2118360"/>
            <a:ext cx="6309360" cy="670560"/>
          </a:xfrm>
          <a:prstGeom prst="rect">
            <a:avLst/>
          </a:prstGeom>
          <a:noFill/>
          <a:ln/>
        </p:spPr>
        <p:txBody>
          <a:bodyPr wrap="square" lIns="0" tIns="0" rIns="0" bIns="0" rtlCol="0" anchor="t"/>
          <a:lstStyle/>
          <a:p>
            <a:pPr indent="0" marL="0">
              <a:buNone/>
            </a:pPr>
            <a:r>
              <a:rPr lang="en-US" sz="2200" dirty="0">
                <a:solidFill>
                  <a:srgbClr val="DDDDDD"/>
                </a:solidFill>
                <a:latin typeface="Calibri" pitchFamily="34" charset="0"/>
                <a:ea typeface="Calibri" pitchFamily="34" charset="-122"/>
                <a:cs typeface="Calibri" pitchFamily="34" charset="-120"/>
              </a:rPr>
              <a:t>Find out what all cells share, and learn the three big ideas of cell theory.</a:t>
            </a:r>
            <a:endParaRPr lang="en-US" sz="2200" dirty="0"/>
          </a:p>
        </p:txBody>
      </p:sp>
      <p:sp>
        <p:nvSpPr>
          <p:cNvPr id="5" name="Text 3"/>
          <p:cNvSpPr/>
          <p:nvPr/>
        </p:nvSpPr>
        <p:spPr>
          <a:xfrm>
            <a:off x="502920" y="3017520"/>
            <a:ext cx="3657600" cy="274320"/>
          </a:xfrm>
          <a:prstGeom prst="rect">
            <a:avLst/>
          </a:prstGeom>
          <a:noFill/>
          <a:ln/>
        </p:spPr>
        <p:txBody>
          <a:bodyPr wrap="square" lIns="0" tIns="0" rIns="0" bIns="0" rtlCol="0" anchor="ctr"/>
          <a:lstStyle/>
          <a:p>
            <a:pPr indent="0" marL="0">
              <a:buNone/>
            </a:pPr>
            <a:r>
              <a:rPr lang="en-US" sz="1200" b="1" spc="200" kern="0" dirty="0">
                <a:solidFill>
                  <a:srgbClr val="BBBBBB"/>
                </a:solidFill>
                <a:latin typeface="Calibri" pitchFamily="34" charset="0"/>
                <a:ea typeface="Calibri" pitchFamily="34" charset="-122"/>
                <a:cs typeface="Calibri" pitchFamily="34" charset="-120"/>
              </a:rPr>
              <a:t>TODAY'S LESSON</a:t>
            </a:r>
            <a:endParaRPr lang="en-US" sz="1200" dirty="0"/>
          </a:p>
        </p:txBody>
      </p:sp>
      <p:sp>
        <p:nvSpPr>
          <p:cNvPr id="6" name="Shape 4"/>
          <p:cNvSpPr/>
          <p:nvPr/>
        </p:nvSpPr>
        <p:spPr>
          <a:xfrm>
            <a:off x="502920" y="3392424"/>
            <a:ext cx="329184" cy="329184"/>
          </a:xfrm>
          <a:prstGeom prst="ellipse">
            <a:avLst/>
          </a:prstGeom>
          <a:solidFill>
            <a:srgbClr val="47C6E4"/>
          </a:solidFill>
          <a:ln w="12700">
            <a:solidFill>
              <a:srgbClr val="47C6E4"/>
            </a:solidFill>
            <a:prstDash val="solid"/>
          </a:ln>
        </p:spPr>
      </p:sp>
      <p:pic>
        <p:nvPicPr>
          <p:cNvPr id="7" name="Image 0" descr="/home/markk/ares/cbe-presentations/generators/presentations/assets/emoji/thinking.png">    </p:cNvPr>
          <p:cNvPicPr>
            <a:picLocks noChangeAspect="1"/>
          </p:cNvPicPr>
          <p:nvPr/>
        </p:nvPicPr>
        <p:blipFill>
          <a:blip r:embed="rId1"/>
          <a:stretch>
            <a:fillRect/>
          </a:stretch>
        </p:blipFill>
        <p:spPr>
          <a:xfrm>
            <a:off x="548640" y="3438144"/>
            <a:ext cx="237744" cy="237744"/>
          </a:xfrm>
          <a:prstGeom prst="rect">
            <a:avLst/>
          </a:prstGeom>
        </p:spPr>
      </p:pic>
      <p:sp>
        <p:nvSpPr>
          <p:cNvPr id="8" name="Text 5"/>
          <p:cNvSpPr/>
          <p:nvPr/>
        </p:nvSpPr>
        <p:spPr>
          <a:xfrm>
            <a:off x="1005840" y="3337560"/>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Predict</a:t>
            </a:r>
            <a:endParaRPr lang="en-US" sz="2000" dirty="0"/>
          </a:p>
        </p:txBody>
      </p:sp>
      <p:sp>
        <p:nvSpPr>
          <p:cNvPr id="9" name="Shape 6"/>
          <p:cNvSpPr/>
          <p:nvPr/>
        </p:nvSpPr>
        <p:spPr>
          <a:xfrm>
            <a:off x="502920" y="3794760"/>
            <a:ext cx="329184" cy="329184"/>
          </a:xfrm>
          <a:prstGeom prst="ellipse">
            <a:avLst/>
          </a:prstGeom>
          <a:solidFill>
            <a:srgbClr val="D7DF23"/>
          </a:solidFill>
          <a:ln w="12700">
            <a:solidFill>
              <a:srgbClr val="D7DF23"/>
            </a:solidFill>
            <a:prstDash val="solid"/>
          </a:ln>
        </p:spPr>
      </p:sp>
      <p:pic>
        <p:nvPicPr>
          <p:cNvPr id="10" name="Image 1" descr="/home/markk/ares/cbe-presentations/generators/presentations/assets/emoji/magnifier.png">    </p:cNvPr>
          <p:cNvPicPr>
            <a:picLocks noChangeAspect="1"/>
          </p:cNvPicPr>
          <p:nvPr/>
        </p:nvPicPr>
        <p:blipFill>
          <a:blip r:embed="rId2"/>
          <a:stretch>
            <a:fillRect/>
          </a:stretch>
        </p:blipFill>
        <p:spPr>
          <a:xfrm>
            <a:off x="548640" y="3840480"/>
            <a:ext cx="237744" cy="237744"/>
          </a:xfrm>
          <a:prstGeom prst="rect">
            <a:avLst/>
          </a:prstGeom>
        </p:spPr>
      </p:pic>
      <p:sp>
        <p:nvSpPr>
          <p:cNvPr id="11" name="Text 7"/>
          <p:cNvSpPr/>
          <p:nvPr/>
        </p:nvSpPr>
        <p:spPr>
          <a:xfrm>
            <a:off x="1005840" y="3739896"/>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Observe</a:t>
            </a:r>
            <a:endParaRPr lang="en-US" sz="2000" dirty="0"/>
          </a:p>
        </p:txBody>
      </p:sp>
      <p:sp>
        <p:nvSpPr>
          <p:cNvPr id="12" name="Shape 8"/>
          <p:cNvSpPr/>
          <p:nvPr/>
        </p:nvSpPr>
        <p:spPr>
          <a:xfrm>
            <a:off x="502920" y="4197096"/>
            <a:ext cx="329184" cy="329184"/>
          </a:xfrm>
          <a:prstGeom prst="ellipse">
            <a:avLst/>
          </a:prstGeom>
          <a:solidFill>
            <a:srgbClr val="CF128C"/>
          </a:solidFill>
          <a:ln w="12700">
            <a:solidFill>
              <a:srgbClr val="CF128C"/>
            </a:solidFill>
            <a:prstDash val="solid"/>
          </a:ln>
        </p:spPr>
      </p:sp>
      <p:pic>
        <p:nvPicPr>
          <p:cNvPr id="13" name="Image 2" descr="/home/markk/ares/cbe-presentations/generators/presentations/assets/emoji/speech.png">    </p:cNvPr>
          <p:cNvPicPr>
            <a:picLocks noChangeAspect="1"/>
          </p:cNvPicPr>
          <p:nvPr/>
        </p:nvPicPr>
        <p:blipFill>
          <a:blip r:embed="rId3"/>
          <a:stretch>
            <a:fillRect/>
          </a:stretch>
        </p:blipFill>
        <p:spPr>
          <a:xfrm>
            <a:off x="548640" y="4242816"/>
            <a:ext cx="237744" cy="237744"/>
          </a:xfrm>
          <a:prstGeom prst="rect">
            <a:avLst/>
          </a:prstGeom>
        </p:spPr>
      </p:pic>
      <p:sp>
        <p:nvSpPr>
          <p:cNvPr id="14" name="Text 9"/>
          <p:cNvSpPr/>
          <p:nvPr/>
        </p:nvSpPr>
        <p:spPr>
          <a:xfrm>
            <a:off x="1005840" y="4142232"/>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Explain</a:t>
            </a:r>
            <a:endParaRPr lang="en-US" sz="2000" dirty="0"/>
          </a:p>
        </p:txBody>
      </p:sp>
      <p:sp>
        <p:nvSpPr>
          <p:cNvPr id="15" name="Shape 10"/>
          <p:cNvSpPr/>
          <p:nvPr/>
        </p:nvSpPr>
        <p:spPr>
          <a:xfrm>
            <a:off x="502920" y="4599432"/>
            <a:ext cx="329184" cy="329184"/>
          </a:xfrm>
          <a:prstGeom prst="ellipse">
            <a:avLst/>
          </a:prstGeom>
          <a:solidFill>
            <a:srgbClr val="FCBA63"/>
          </a:solidFill>
          <a:ln w="12700">
            <a:solidFill>
              <a:srgbClr val="FCBA63"/>
            </a:solidFill>
            <a:prstDash val="solid"/>
          </a:ln>
        </p:spPr>
      </p:sp>
      <p:pic>
        <p:nvPicPr>
          <p:cNvPr id="16" name="Image 3" descr="/home/markk/ares/cbe-presentations/generators/presentations/assets/emoji/pushpin.png">    </p:cNvPr>
          <p:cNvPicPr>
            <a:picLocks noChangeAspect="1"/>
          </p:cNvPicPr>
          <p:nvPr/>
        </p:nvPicPr>
        <p:blipFill>
          <a:blip r:embed="rId4"/>
          <a:stretch>
            <a:fillRect/>
          </a:stretch>
        </p:blipFill>
        <p:spPr>
          <a:xfrm>
            <a:off x="548640" y="4645152"/>
            <a:ext cx="237744" cy="237744"/>
          </a:xfrm>
          <a:prstGeom prst="rect">
            <a:avLst/>
          </a:prstGeom>
        </p:spPr>
      </p:pic>
      <p:sp>
        <p:nvSpPr>
          <p:cNvPr id="17" name="Text 11"/>
          <p:cNvSpPr/>
          <p:nvPr/>
        </p:nvSpPr>
        <p:spPr>
          <a:xfrm>
            <a:off x="1005840" y="4544568"/>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Driving Question Board</a:t>
            </a:r>
            <a:endParaRPr lang="en-US" sz="2000" dirty="0"/>
          </a:p>
        </p:txBody>
      </p:sp>
      <p:sp>
        <p:nvSpPr>
          <p:cNvPr id="18" name="Shape 12"/>
          <p:cNvSpPr/>
          <p:nvPr/>
        </p:nvSpPr>
        <p:spPr>
          <a:xfrm>
            <a:off x="502920" y="5001768"/>
            <a:ext cx="329184" cy="329184"/>
          </a:xfrm>
          <a:prstGeom prst="ellipse">
            <a:avLst/>
          </a:prstGeom>
          <a:solidFill>
            <a:srgbClr val="E44145"/>
          </a:solidFill>
          <a:ln w="12700">
            <a:solidFill>
              <a:srgbClr val="E44145"/>
            </a:solidFill>
            <a:prstDash val="solid"/>
          </a:ln>
        </p:spPr>
      </p:sp>
      <p:pic>
        <p:nvPicPr>
          <p:cNvPr id="19" name="Image 4" descr="/home/markk/ares/cbe-presentations/generators/presentations/assets/emoji/pencil.png">    </p:cNvPr>
          <p:cNvPicPr>
            <a:picLocks noChangeAspect="1"/>
          </p:cNvPicPr>
          <p:nvPr/>
        </p:nvPicPr>
        <p:blipFill>
          <a:blip r:embed="rId5"/>
          <a:stretch>
            <a:fillRect/>
          </a:stretch>
        </p:blipFill>
        <p:spPr>
          <a:xfrm>
            <a:off x="548640" y="5047488"/>
            <a:ext cx="237744" cy="237744"/>
          </a:xfrm>
          <a:prstGeom prst="rect">
            <a:avLst/>
          </a:prstGeom>
        </p:spPr>
      </p:pic>
      <p:sp>
        <p:nvSpPr>
          <p:cNvPr id="20" name="Text 13"/>
          <p:cNvSpPr/>
          <p:nvPr/>
        </p:nvSpPr>
        <p:spPr>
          <a:xfrm>
            <a:off x="1005840" y="4946904"/>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Model Building</a:t>
            </a:r>
            <a:endParaRPr lang="en-US" sz="2000" dirty="0"/>
          </a:p>
        </p:txBody>
      </p:sp>
      <p:pic>
        <p:nvPicPr>
          <p:cNvPr id="21" name="Image 5" descr="A drawing of a Kenyan kitchen with a jiko, a sufuria, a mwiko, a chopping board with onions and a recipe book on a shelf.">    </p:cNvPr>
          <p:cNvPicPr>
            <a:picLocks noChangeAspect="1"/>
          </p:cNvPicPr>
          <p:nvPr/>
        </p:nvPicPr>
        <p:blipFill>
          <a:blip r:embed="rId6"/>
          <a:stretch>
            <a:fillRect/>
          </a:stretch>
        </p:blipFill>
        <p:spPr>
          <a:xfrm>
            <a:off x="7178040" y="670712"/>
            <a:ext cx="4510735" cy="4510735"/>
          </a:xfrm>
          <a:prstGeom prst="rect">
            <a:avLst/>
          </a:prstGeom>
        </p:spPr>
      </p:pic>
      <p:sp>
        <p:nvSpPr>
          <p:cNvPr id="22" name="Text 14"/>
          <p:cNvSpPr/>
          <p:nvPr/>
        </p:nvSpPr>
        <p:spPr>
          <a:xfrm>
            <a:off x="502920" y="6236208"/>
            <a:ext cx="7326125" cy="457200"/>
          </a:xfrm>
          <a:prstGeom prst="rect">
            <a:avLst/>
          </a:prstGeom>
          <a:noFill/>
          <a:ln/>
        </p:spPr>
        <p:txBody>
          <a:bodyPr wrap="square" lIns="0" tIns="0" rIns="0" bIns="0" rtlCol="0" anchor="b"/>
          <a:lstStyle/>
          <a:p>
            <a:pPr indent="0" marL="0">
              <a:buNone/>
            </a:pPr>
            <a:r>
              <a:rPr lang="en-US" sz="1000" dirty="0">
                <a:solidFill>
                  <a:srgbClr val="BBBBBB"/>
                </a:solidFill>
                <a:latin typeface="Calibri" pitchFamily="34" charset="0"/>
                <a:ea typeface="Calibri" pitchFamily="34" charset="-122"/>
                <a:cs typeface="Calibri" pitchFamily="34" charset="-120"/>
              </a:rPr>
              <a:t>© 2026 SeaVuria and ARES Education. Aligned with KICD objectives. Developed by SeaVuria; technical implementation by ARES (with AI assistance from Claude). Licensed under CC BY-NC 4.0 (https://creativecommons.org/licenses/by-nc/4.0/). · Biology G10 · Cell Structure · Lesson 2</a:t>
            </a:r>
            <a:endParaRPr lang="en-US" sz="1000" dirty="0"/>
          </a:p>
        </p:txBody>
      </p:sp>
      <p:sp>
        <p:nvSpPr>
          <p:cNvPr id="23" name="Shape 15"/>
          <p:cNvSpPr/>
          <p:nvPr/>
        </p:nvSpPr>
        <p:spPr>
          <a:xfrm>
            <a:off x="8103365" y="6181344"/>
            <a:ext cx="3585411" cy="566928"/>
          </a:xfrm>
          <a:prstGeom prst="roundRect">
            <a:avLst>
              <a:gd name="adj" fmla="val 12903"/>
            </a:avLst>
          </a:prstGeom>
          <a:solidFill>
            <a:srgbClr val="FFFFFF"/>
          </a:solidFill>
          <a:ln w="12700">
            <a:solidFill>
              <a:srgbClr val="FFFFFF"/>
            </a:solidFill>
            <a:prstDash val="solid"/>
          </a:ln>
        </p:spPr>
      </p:sp>
      <p:pic>
        <p:nvPicPr>
          <p:cNvPr id="24" name="Image 6" descr="ARES Education logo">    </p:cNvPr>
          <p:cNvPicPr>
            <a:picLocks noChangeAspect="1"/>
          </p:cNvPicPr>
          <p:nvPr/>
        </p:nvPicPr>
        <p:blipFill>
          <a:blip r:embed="rId7"/>
          <a:stretch>
            <a:fillRect/>
          </a:stretch>
        </p:blipFill>
        <p:spPr>
          <a:xfrm>
            <a:off x="8240525" y="6236208"/>
            <a:ext cx="842211" cy="457200"/>
          </a:xfrm>
          <a:prstGeom prst="rect">
            <a:avLst/>
          </a:prstGeom>
        </p:spPr>
      </p:pic>
      <p:pic>
        <p:nvPicPr>
          <p:cNvPr id="25" name="Image 7" descr="SeaVuria logo">    </p:cNvPr>
          <p:cNvPicPr>
            <a:picLocks noChangeAspect="1"/>
          </p:cNvPicPr>
          <p:nvPr/>
        </p:nvPicPr>
        <p:blipFill>
          <a:blip r:embed="rId8"/>
          <a:stretch>
            <a:fillRect/>
          </a:stretch>
        </p:blipFill>
        <p:spPr>
          <a:xfrm>
            <a:off x="9265615" y="6236208"/>
            <a:ext cx="22860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Shape 0"/>
          <p:cNvSpPr/>
          <p:nvPr/>
        </p:nvSpPr>
        <p:spPr>
          <a:xfrm>
            <a:off x="502920" y="292608"/>
            <a:ext cx="1930019" cy="292608"/>
          </a:xfrm>
          <a:prstGeom prst="roundRect">
            <a:avLst>
              <a:gd name="adj" fmla="val 50000"/>
            </a:avLst>
          </a:prstGeom>
          <a:solidFill>
            <a:srgbClr val="444444"/>
          </a:solidFill>
          <a:ln w="12700">
            <a:solidFill>
              <a:srgbClr val="444444"/>
            </a:solidFill>
            <a:prstDash val="solid"/>
          </a:ln>
        </p:spPr>
      </p:sp>
      <p:sp>
        <p:nvSpPr>
          <p:cNvPr id="3" name="Text 1"/>
          <p:cNvSpPr/>
          <p:nvPr/>
        </p:nvSpPr>
        <p:spPr>
          <a:xfrm>
            <a:off x="502920" y="292608"/>
            <a:ext cx="193001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p:nvPr/>
        </p:nvSpPr>
        <p:spPr>
          <a:xfrm>
            <a:off x="502920" y="713232"/>
            <a:ext cx="1118585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How these lessons work: one routine, five phases</a:t>
            </a:r>
            <a:endParaRPr lang="en-US" sz="3200" dirty="0"/>
          </a:p>
        </p:txBody>
      </p:sp>
      <p:sp>
        <p:nvSpPr>
          <p:cNvPr id="5" name="Shape 3"/>
          <p:cNvSpPr/>
          <p:nvPr/>
        </p:nvSpPr>
        <p:spPr>
          <a:xfrm>
            <a:off x="502920" y="1383792"/>
            <a:ext cx="2651760" cy="457200"/>
          </a:xfrm>
          <a:prstGeom prst="roundRect">
            <a:avLst>
              <a:gd name="adj" fmla="val 20000"/>
            </a:avLst>
          </a:prstGeom>
          <a:solidFill>
            <a:srgbClr val="47C6E4"/>
          </a:solidFill>
          <a:ln w="12700">
            <a:solidFill>
              <a:srgbClr val="47C6E4"/>
            </a:solidFill>
            <a:prstDash val="solid"/>
          </a:ln>
        </p:spPr>
      </p:sp>
      <p:sp>
        <p:nvSpPr>
          <p:cNvPr id="6" name="Text 4"/>
          <p:cNvSpPr/>
          <p:nvPr/>
        </p:nvSpPr>
        <p:spPr>
          <a:xfrm>
            <a:off x="502920" y="1383792"/>
            <a:ext cx="265176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Predict</a:t>
            </a:r>
            <a:endParaRPr lang="en-US" sz="1600" dirty="0"/>
          </a:p>
        </p:txBody>
      </p:sp>
      <p:sp>
        <p:nvSpPr>
          <p:cNvPr id="7" name="Text 5"/>
          <p:cNvSpPr/>
          <p:nvPr/>
        </p:nvSpPr>
        <p:spPr>
          <a:xfrm>
            <a:off x="3337560" y="1383792"/>
            <a:ext cx="8351215"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Students write their own idea BEFORE anyone teaches. Writing first gives every student a starting point.</a:t>
            </a:r>
            <a:endParaRPr lang="en-US" sz="1600" dirty="0"/>
          </a:p>
        </p:txBody>
      </p:sp>
      <p:sp>
        <p:nvSpPr>
          <p:cNvPr id="8" name="Shape 6"/>
          <p:cNvSpPr/>
          <p:nvPr/>
        </p:nvSpPr>
        <p:spPr>
          <a:xfrm>
            <a:off x="502920" y="1950720"/>
            <a:ext cx="2651760" cy="457200"/>
          </a:xfrm>
          <a:prstGeom prst="roundRect">
            <a:avLst>
              <a:gd name="adj" fmla="val 20000"/>
            </a:avLst>
          </a:prstGeom>
          <a:solidFill>
            <a:srgbClr val="D7DF23"/>
          </a:solidFill>
          <a:ln w="12700">
            <a:solidFill>
              <a:srgbClr val="D7DF23"/>
            </a:solidFill>
            <a:prstDash val="solid"/>
          </a:ln>
        </p:spPr>
      </p:sp>
      <p:sp>
        <p:nvSpPr>
          <p:cNvPr id="9" name="Text 7"/>
          <p:cNvSpPr/>
          <p:nvPr/>
        </p:nvSpPr>
        <p:spPr>
          <a:xfrm>
            <a:off x="502920" y="1950720"/>
            <a:ext cx="265176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Observe</a:t>
            </a:r>
            <a:endParaRPr lang="en-US" sz="1600" dirty="0"/>
          </a:p>
        </p:txBody>
      </p:sp>
      <p:sp>
        <p:nvSpPr>
          <p:cNvPr id="10" name="Text 8"/>
          <p:cNvSpPr/>
          <p:nvPr/>
        </p:nvSpPr>
        <p:spPr>
          <a:xfrm>
            <a:off x="3337560" y="1950720"/>
            <a:ext cx="8351215"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Students look at evidence: a story, pictures, diagrams, a practical. They record what they see.</a:t>
            </a:r>
            <a:endParaRPr lang="en-US" sz="1600" dirty="0"/>
          </a:p>
        </p:txBody>
      </p:sp>
      <p:sp>
        <p:nvSpPr>
          <p:cNvPr id="11" name="Shape 9"/>
          <p:cNvSpPr/>
          <p:nvPr/>
        </p:nvSpPr>
        <p:spPr>
          <a:xfrm>
            <a:off x="502920" y="2517648"/>
            <a:ext cx="2651760" cy="457200"/>
          </a:xfrm>
          <a:prstGeom prst="roundRect">
            <a:avLst>
              <a:gd name="adj" fmla="val 20000"/>
            </a:avLst>
          </a:prstGeom>
          <a:solidFill>
            <a:srgbClr val="CF128C"/>
          </a:solidFill>
          <a:ln w="12700">
            <a:solidFill>
              <a:srgbClr val="CF128C"/>
            </a:solidFill>
            <a:prstDash val="solid"/>
          </a:ln>
        </p:spPr>
      </p:sp>
      <p:sp>
        <p:nvSpPr>
          <p:cNvPr id="12" name="Text 10"/>
          <p:cNvSpPr/>
          <p:nvPr/>
        </p:nvSpPr>
        <p:spPr>
          <a:xfrm>
            <a:off x="502920" y="2517648"/>
            <a:ext cx="26517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Explain</a:t>
            </a:r>
            <a:endParaRPr lang="en-US" sz="1600" dirty="0"/>
          </a:p>
        </p:txBody>
      </p:sp>
      <p:sp>
        <p:nvSpPr>
          <p:cNvPr id="13" name="Text 11"/>
          <p:cNvSpPr/>
          <p:nvPr/>
        </p:nvSpPr>
        <p:spPr>
          <a:xfrm>
            <a:off x="3337560" y="2517648"/>
            <a:ext cx="8351215"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You help students make sense of the evidence. Now you can name the idea, law or equation.</a:t>
            </a:r>
            <a:endParaRPr lang="en-US" sz="1600" dirty="0"/>
          </a:p>
        </p:txBody>
      </p:sp>
      <p:sp>
        <p:nvSpPr>
          <p:cNvPr id="14" name="Shape 12"/>
          <p:cNvSpPr/>
          <p:nvPr/>
        </p:nvSpPr>
        <p:spPr>
          <a:xfrm>
            <a:off x="502920" y="3084576"/>
            <a:ext cx="2651760" cy="457200"/>
          </a:xfrm>
          <a:prstGeom prst="roundRect">
            <a:avLst>
              <a:gd name="adj" fmla="val 20000"/>
            </a:avLst>
          </a:prstGeom>
          <a:solidFill>
            <a:srgbClr val="FCBA63"/>
          </a:solidFill>
          <a:ln w="12700">
            <a:solidFill>
              <a:srgbClr val="FCBA63"/>
            </a:solidFill>
            <a:prstDash val="solid"/>
          </a:ln>
        </p:spPr>
      </p:sp>
      <p:sp>
        <p:nvSpPr>
          <p:cNvPr id="15" name="Text 13"/>
          <p:cNvSpPr/>
          <p:nvPr/>
        </p:nvSpPr>
        <p:spPr>
          <a:xfrm>
            <a:off x="502920" y="3084576"/>
            <a:ext cx="265176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Driving Question Board</a:t>
            </a:r>
            <a:endParaRPr lang="en-US" sz="1600" dirty="0"/>
          </a:p>
        </p:txBody>
      </p:sp>
      <p:sp>
        <p:nvSpPr>
          <p:cNvPr id="16" name="Text 14"/>
          <p:cNvSpPr/>
          <p:nvPr/>
        </p:nvSpPr>
        <p:spPr>
          <a:xfrm>
            <a:off x="3337560" y="3084576"/>
            <a:ext cx="8351215"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Students add evidence and new questions to the class board. The board shows how thinking grows.</a:t>
            </a:r>
            <a:endParaRPr lang="en-US" sz="1600" dirty="0"/>
          </a:p>
        </p:txBody>
      </p:sp>
      <p:sp>
        <p:nvSpPr>
          <p:cNvPr id="17" name="Shape 15"/>
          <p:cNvSpPr/>
          <p:nvPr/>
        </p:nvSpPr>
        <p:spPr>
          <a:xfrm>
            <a:off x="502920" y="3651504"/>
            <a:ext cx="2651760" cy="457200"/>
          </a:xfrm>
          <a:prstGeom prst="roundRect">
            <a:avLst>
              <a:gd name="adj" fmla="val 20000"/>
            </a:avLst>
          </a:prstGeom>
          <a:solidFill>
            <a:srgbClr val="E44145"/>
          </a:solidFill>
          <a:ln w="12700">
            <a:solidFill>
              <a:srgbClr val="E44145"/>
            </a:solidFill>
            <a:prstDash val="solid"/>
          </a:ln>
        </p:spPr>
      </p:sp>
      <p:sp>
        <p:nvSpPr>
          <p:cNvPr id="18" name="Text 16"/>
          <p:cNvSpPr/>
          <p:nvPr/>
        </p:nvSpPr>
        <p:spPr>
          <a:xfrm>
            <a:off x="502920" y="3651504"/>
            <a:ext cx="26517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Model Building</a:t>
            </a:r>
            <a:endParaRPr lang="en-US" sz="1600" dirty="0"/>
          </a:p>
        </p:txBody>
      </p:sp>
      <p:sp>
        <p:nvSpPr>
          <p:cNvPr id="19" name="Text 17"/>
          <p:cNvSpPr/>
          <p:nvPr/>
        </p:nvSpPr>
        <p:spPr>
          <a:xfrm>
            <a:off x="3337560" y="3651504"/>
            <a:ext cx="8351215"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Students keep ONE model and revise it in a new colour each lesson. They say what evidence changed it.</a:t>
            </a:r>
            <a:endParaRPr lang="en-US" sz="1600" dirty="0"/>
          </a:p>
        </p:txBody>
      </p:sp>
      <p:sp>
        <p:nvSpPr>
          <p:cNvPr id="20" name="Text 18"/>
          <p:cNvSpPr/>
          <p:nvPr/>
        </p:nvSpPr>
        <p:spPr>
          <a:xfrm>
            <a:off x="502920" y="4401312"/>
            <a:ext cx="5486400" cy="32004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Three habits in every lesson</a:t>
            </a:r>
            <a:endParaRPr lang="en-US" sz="1800" dirty="0"/>
          </a:p>
        </p:txBody>
      </p:sp>
      <p:sp>
        <p:nvSpPr>
          <p:cNvPr id="21" name="Text 19"/>
          <p:cNvSpPr/>
          <p:nvPr/>
        </p:nvSpPr>
        <p:spPr>
          <a:xfrm>
            <a:off x="502920" y="4767072"/>
            <a:ext cx="6766560" cy="1005840"/>
          </a:xfrm>
          <a:prstGeom prst="rect">
            <a:avLst/>
          </a:prstGeom>
          <a:noFill/>
          <a:ln/>
        </p:spPr>
        <p:txBody>
          <a:bodyPr wrap="square" lIns="0" tIns="0" rIns="0" bIns="0" rtlCol="0" anchor="t"/>
          <a:lstStyle/>
          <a:p>
            <a:pPr indent="0" marL="0">
              <a:spcAft>
                <a:spcPts val="400"/>
              </a:spcAft>
              <a:buNone/>
            </a:pPr>
            <a:r>
              <a:rPr lang="en-US" sz="1600" b="1" dirty="0">
                <a:solidFill>
                  <a:srgbClr val="1A1A1A"/>
                </a:solidFill>
                <a:latin typeface="Calibri" pitchFamily="34" charset="0"/>
                <a:ea typeface="Calibri" pitchFamily="34" charset="-122"/>
                <a:cs typeface="Calibri" pitchFamily="34" charset="-120"/>
              </a:rPr>
              <a:t>Wait time. </a:t>
            </a:r>
            <a:pPr indent="0" marL="0">
              <a:spcAft>
                <a:spcPts val="400"/>
              </a:spcAft>
              <a:buNone/>
            </a:pPr>
            <a:r>
              <a:rPr lang="en-US" sz="1600" dirty="0">
                <a:solidFill>
                  <a:srgbClr val="1A1A1A"/>
                </a:solidFill>
                <a:latin typeface="Calibri" pitchFamily="34" charset="0"/>
                <a:ea typeface="Calibri" pitchFamily="34" charset="-122"/>
                <a:cs typeface="Calibri" pitchFamily="34" charset="-120"/>
              </a:rPr>
              <a:t>After you ask a question, stay silent. Count slowly to 10.</a:t>
            </a:r>
            <a:endParaRPr lang="en-US" sz="1600" dirty="0"/>
          </a:p>
          <a:p>
            <a:pPr indent="0" marL="0">
              <a:spcAft>
                <a:spcPts val="400"/>
              </a:spcAft>
              <a:buNone/>
            </a:pPr>
            <a:r>
              <a:rPr lang="en-US" sz="1600" b="1" dirty="0">
                <a:solidFill>
                  <a:srgbClr val="1A1A1A"/>
                </a:solidFill>
                <a:latin typeface="Calibri" pitchFamily="34" charset="0"/>
                <a:ea typeface="Calibri" pitchFamily="34" charset="-122"/>
                <a:cs typeface="Calibri" pitchFamily="34" charset="-120"/>
              </a:rPr>
              <a:t>Don't correct yet. </a:t>
            </a:r>
            <a:pPr indent="0" marL="0">
              <a:spcAft>
                <a:spcPts val="400"/>
              </a:spcAft>
              <a:buNone/>
            </a:pPr>
            <a:r>
              <a:rPr lang="en-US" sz="1600" dirty="0">
                <a:solidFill>
                  <a:srgbClr val="1A1A1A"/>
                </a:solidFill>
                <a:latin typeface="Calibri" pitchFamily="34" charset="0"/>
                <a:ea typeface="Calibri" pitchFamily="34" charset="-122"/>
                <a:cs typeface="Calibri" pitchFamily="34" charset="-120"/>
              </a:rPr>
              <a:t>In Predict, every idea is welcome. We test the ideas later.</a:t>
            </a:r>
            <a:endParaRPr lang="en-US" sz="1600" dirty="0"/>
          </a:p>
          <a:p>
            <a:pPr indent="0" marL="0">
              <a:spcAft>
                <a:spcPts val="400"/>
              </a:spcAft>
              <a:buNone/>
            </a:pPr>
            <a:r>
              <a:rPr lang="en-US" sz="1600" b="1" dirty="0">
                <a:solidFill>
                  <a:srgbClr val="1A1A1A"/>
                </a:solidFill>
                <a:latin typeface="Calibri" pitchFamily="34" charset="0"/>
                <a:ea typeface="Calibri" pitchFamily="34" charset="-122"/>
                <a:cs typeface="Calibri" pitchFamily="34" charset="-120"/>
              </a:rPr>
              <a:t>Call on everyone. </a:t>
            </a:r>
            <a:pPr indent="0" marL="0">
              <a:spcAft>
                <a:spcPts val="400"/>
              </a:spcAft>
              <a:buNone/>
            </a:pPr>
            <a:r>
              <a:rPr lang="en-US" sz="1600" dirty="0">
                <a:solidFill>
                  <a:srgbClr val="1A1A1A"/>
                </a:solidFill>
                <a:latin typeface="Calibri" pitchFamily="34" charset="0"/>
                <a:ea typeface="Calibri" pitchFamily="34" charset="-122"/>
                <a:cs typeface="Calibri" pitchFamily="34" charset="-120"/>
              </a:rPr>
              <a:t>Choose students yourself, not only raised hands.</a:t>
            </a:r>
            <a:endParaRPr lang="en-US" sz="1600" dirty="0"/>
          </a:p>
        </p:txBody>
      </p:sp>
      <p:sp>
        <p:nvSpPr>
          <p:cNvPr id="22" name="Shape 20"/>
          <p:cNvSpPr/>
          <p:nvPr/>
        </p:nvSpPr>
        <p:spPr>
          <a:xfrm>
            <a:off x="7589520" y="4447032"/>
            <a:ext cx="4099255" cy="1325880"/>
          </a:xfrm>
          <a:prstGeom prst="roundRect">
            <a:avLst>
              <a:gd name="adj" fmla="val 6897"/>
            </a:avLst>
          </a:prstGeom>
          <a:solidFill>
            <a:srgbClr val="F3F4F6"/>
          </a:solidFill>
          <a:ln w="12700">
            <a:solidFill>
              <a:srgbClr val="D9D9D9"/>
            </a:solidFill>
            <a:prstDash val="solid"/>
          </a:ln>
        </p:spPr>
      </p:sp>
      <p:sp>
        <p:nvSpPr>
          <p:cNvPr id="23" name="Text 21"/>
          <p:cNvSpPr/>
          <p:nvPr/>
        </p:nvSpPr>
        <p:spPr>
          <a:xfrm>
            <a:off x="7772400" y="4492752"/>
            <a:ext cx="3733495" cy="123444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CHECK FOR UNDERSTANDING</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A slide with this label has a quick check. Use LOOK FOR and IF… in the notes.</a:t>
            </a:r>
            <a:endParaRPr lang="en-US" sz="1600" dirty="0"/>
          </a:p>
        </p:txBody>
      </p:sp>
      <p:sp>
        <p:nvSpPr>
          <p:cNvPr id="24" name="Text 2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2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2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Text 0"/>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3"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4"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5" name="Shape 1"/>
          <p:cNvSpPr/>
          <p:nvPr/>
        </p:nvSpPr>
        <p:spPr>
          <a:xfrm>
            <a:off x="502920" y="292608"/>
            <a:ext cx="1930019" cy="292608"/>
          </a:xfrm>
          <a:prstGeom prst="roundRect">
            <a:avLst>
              <a:gd name="adj" fmla="val 50000"/>
            </a:avLst>
          </a:prstGeom>
          <a:solidFill>
            <a:srgbClr val="444444"/>
          </a:solidFill>
          <a:ln w="12700">
            <a:solidFill>
              <a:srgbClr val="444444"/>
            </a:solidFill>
            <a:prstDash val="solid"/>
          </a:ln>
        </p:spPr>
      </p:sp>
      <p:sp>
        <p:nvSpPr>
          <p:cNvPr id="6" name="Text 2"/>
          <p:cNvSpPr/>
          <p:nvPr/>
        </p:nvSpPr>
        <p:spPr>
          <a:xfrm>
            <a:off x="502920" y="292608"/>
            <a:ext cx="193001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7" name="Text 3"/>
          <p:cNvSpPr/>
          <p:nvPr/>
        </p:nvSpPr>
        <p:spPr>
          <a:xfrm>
            <a:off x="502920" y="713232"/>
            <a:ext cx="1118585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Lesson 2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383792"/>
          <a:ext cx="7315200" cy="914400"/>
        </p:xfrm>
        <a:graphic>
          <a:graphicData uri="http://schemas.openxmlformats.org/drawingml/2006/table">
            <a:tbl>
              <a:tblPr/>
              <a:tblGrid>
                <a:gridCol w="1737360"/>
                <a:gridCol w="822960"/>
                <a:gridCol w="4754880"/>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55555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55555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students do</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555555"/>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Opening</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2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Unit map and goals: quick read-through</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Predict</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D1F1F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6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D1F1F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Silent writing, pair share, BEFORE predictions on the board</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Observe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7C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12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7C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Part A: ugali kitchen analogy and mapping table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Observe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7C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23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7C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Part B diagram study and evidence table; Part C card sort</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Explain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C4E2"/>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17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C4E2"/>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Card sort feedback, cell theory, colour-code, predictions, CER writing</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Driving Question Board</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EEE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EEE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Sticky notes, stars, class vote on the evidence</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Model Building</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8D0D1"/>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13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8D0D1"/>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Version 1 model: sketch, Key, Limitation Statement</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Summary</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2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Summary Table at the end or as homework</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80 min</a:t>
                      </a: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4F6"/>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r>
            </a:tbl>
          </a:graphicData>
        </a:graphic>
      </p:graphicFrame>
      <p:sp>
        <p:nvSpPr>
          <p:cNvPr id="9" name="Text 4"/>
          <p:cNvSpPr/>
          <p:nvPr/>
        </p:nvSpPr>
        <p:spPr>
          <a:xfrm>
            <a:off x="8092440" y="1383792"/>
            <a:ext cx="3596335" cy="230124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Materials per group</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Science notebooks and pens (one set per learner)</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Set of 12 feature cards per group (quantity not given)</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A3 diagram sheets or ARES cards: animal, plant, prokaryotic cell</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Green, blue and red pencils for colour-coding</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Yellow and green sticky notes; star stickers</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Board and markers for kitchen sketch, predictions and checklist</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A different colour pen for marking predictions</a:t>
            </a:r>
            <a:endParaRPr lang="en-US" sz="1300" dirty="0"/>
          </a:p>
          <a:p>
            <a:pPr indent="0" marL="0">
              <a:buNone/>
            </a:pPr>
            <a:r>
              <a:rPr lang="en-US" sz="1200" dirty="0">
                <a:solidFill>
                  <a:srgbClr val="1A1A1A"/>
                </a:solidFill>
                <a:latin typeface="Calibri" pitchFamily="34" charset="0"/>
                <a:ea typeface="Calibri" pitchFamily="34" charset="-122"/>
                <a:cs typeface="Calibri" pitchFamily="34" charset="-120"/>
              </a:rPr>
              <a:t>• Phone or camera to photograph card sorts, board and models</a:t>
            </a:r>
            <a:endParaRPr lang="en-US" sz="1300" dirty="0"/>
          </a:p>
        </p:txBody>
      </p:sp>
      <p:sp>
        <p:nvSpPr>
          <p:cNvPr id="10" name="Text 5"/>
          <p:cNvSpPr/>
          <p:nvPr/>
        </p:nvSpPr>
        <p:spPr>
          <a:xfrm>
            <a:off x="502920" y="4309872"/>
            <a:ext cx="7315200" cy="68580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If equipment is short</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If A3 sheets or ARES cards are missing, use the diagram slides. If cards are short, write them on paper strips or share one set between two groups. If sticky notes run out, use paper squares.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3"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4"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5" name="Shape 1"/>
          <p:cNvSpPr/>
          <p:nvPr/>
        </p:nvSpPr>
        <p:spPr>
          <a:xfrm>
            <a:off x="502920" y="292608"/>
            <a:ext cx="1930019" cy="292608"/>
          </a:xfrm>
          <a:prstGeom prst="roundRect">
            <a:avLst>
              <a:gd name="adj" fmla="val 50000"/>
            </a:avLst>
          </a:prstGeom>
          <a:solidFill>
            <a:srgbClr val="444444"/>
          </a:solidFill>
          <a:ln w="12700">
            <a:solidFill>
              <a:srgbClr val="444444"/>
            </a:solidFill>
            <a:prstDash val="solid"/>
          </a:ln>
        </p:spPr>
      </p:sp>
      <p:sp>
        <p:nvSpPr>
          <p:cNvPr id="6" name="Text 2"/>
          <p:cNvSpPr/>
          <p:nvPr/>
        </p:nvSpPr>
        <p:spPr>
          <a:xfrm>
            <a:off x="502920" y="292608"/>
            <a:ext cx="193001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7" name="Text 3"/>
          <p:cNvSpPr/>
          <p:nvPr/>
        </p:nvSpPr>
        <p:spPr>
          <a:xfrm>
            <a:off x="502920" y="713232"/>
            <a:ext cx="1118585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ARES resources for Lesson 2</a:t>
            </a:r>
            <a:endParaRPr lang="en-US" sz="3200" dirty="0"/>
          </a:p>
        </p:txBody>
      </p:sp>
      <p:sp>
        <p:nvSpPr>
          <p:cNvPr id="8" name="Shape 4"/>
          <p:cNvSpPr/>
          <p:nvPr/>
        </p:nvSpPr>
        <p:spPr>
          <a:xfrm>
            <a:off x="502920" y="1383792"/>
            <a:ext cx="5455768" cy="868680"/>
          </a:xfrm>
          <a:prstGeom prst="roundRect">
            <a:avLst>
              <a:gd name="adj" fmla="val 8421"/>
            </a:avLst>
          </a:prstGeom>
          <a:solidFill>
            <a:srgbClr val="E8F0FB"/>
          </a:solidFill>
          <a:ln w="12700">
            <a:solidFill>
              <a:srgbClr val="1565C0"/>
            </a:solidFill>
            <a:prstDash val="solid"/>
          </a:ln>
        </p:spPr>
      </p:sp>
      <p:pic>
        <p:nvPicPr>
          <p:cNvPr id="9" name="Image 2" descr="Prokaryotic and eukaryotic cells (video) - opens an ARES resource">
            <a:hlinkClick r:id="rId4" tooltip="Prokaryotic and eukaryotic cells"/>
          </p:cNvPr>
          <p:cNvPicPr>
            <a:picLocks noChangeAspect="1"/>
          </p:cNvPicPr>
          <p:nvPr/>
        </p:nvPicPr>
        <p:blipFill>
          <a:blip r:embed="rId3"/>
          <a:stretch>
            <a:fillRect/>
          </a:stretch>
        </p:blipFill>
        <p:spPr>
          <a:xfrm>
            <a:off x="612648" y="1626108"/>
            <a:ext cx="384048" cy="384048"/>
          </a:xfrm>
          <a:prstGeom prst="rect">
            <a:avLst/>
          </a:prstGeom>
        </p:spPr>
      </p:pic>
      <p:sp>
        <p:nvSpPr>
          <p:cNvPr id="10" name="Text 5"/>
          <p:cNvSpPr/>
          <p:nvPr/>
        </p:nvSpPr>
        <p:spPr>
          <a:xfrm>
            <a:off x="1097280" y="1383792"/>
            <a:ext cx="4769968" cy="86868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USE LATER  </a:t>
            </a:r>
            <a:pPr indent="0" marL="0">
              <a:buNone/>
            </a:pPr>
            <a:r>
              <a:rPr lang="en-US" sz="1200" b="1" u="sng" dirty="0">
                <a:solidFill>
                  <a:srgbClr val="1F4E79"/>
                </a:solidFill>
                <a:latin typeface="Calibri" pitchFamily="34" charset="0"/>
                <a:ea typeface="Calibri" pitchFamily="34" charset="-122"/>
                <a:cs typeface="Calibri" pitchFamily="34" charset="-120"/>
                <a:hlinkClick r:id="rId4" invalidUrl="" action="" tgtFrame="" tooltip="Prokaryotic and eukaryotic cells" history="1" highlightClick="0" endSnd="0">
                  <a:extLst>
                    <a:ext uri="{A12FA001-AC4F-418D-AE19-62706E023703}">
                      <ahyp:hlinkClr xmlns:ahyp="http://schemas.microsoft.com/office/drawing/2018/hyperlinkcolor" val="tx"/>
                    </a:ext>
                  </a:extLst>
                </a:hlinkClick>
              </a:rPr>
              <a:t>Prokaryotic and eukaryotic cells</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This video gives away the prokaryote and eukaryote differences students should find themselves. Use after the card sort, at 'What the card sort showed'.</a:t>
            </a:r>
            <a:endParaRPr lang="en-US" sz="1000" dirty="0"/>
          </a:p>
        </p:txBody>
      </p:sp>
      <p:sp>
        <p:nvSpPr>
          <p:cNvPr id="11" name="Shape 6"/>
          <p:cNvSpPr/>
          <p:nvPr/>
        </p:nvSpPr>
        <p:spPr>
          <a:xfrm>
            <a:off x="502920" y="2325624"/>
            <a:ext cx="5455768" cy="868680"/>
          </a:xfrm>
          <a:prstGeom prst="roundRect">
            <a:avLst>
              <a:gd name="adj" fmla="val 8421"/>
            </a:avLst>
          </a:prstGeom>
          <a:solidFill>
            <a:srgbClr val="E8F0FB"/>
          </a:solidFill>
          <a:ln w="12700">
            <a:solidFill>
              <a:srgbClr val="1565C0"/>
            </a:solidFill>
            <a:prstDash val="solid"/>
          </a:ln>
        </p:spPr>
      </p:sp>
      <p:pic>
        <p:nvPicPr>
          <p:cNvPr id="12" name="Image 3" descr="Prokaryotic and Eukaryotic Cells (Flexbook) (html) - opens an ARES resource">
            <a:hlinkClick r:id="rId6" tooltip="Prokaryotic and Eukaryotic Cells (Flexbook)"/>
          </p:cNvPr>
          <p:cNvPicPr>
            <a:picLocks noChangeAspect="1"/>
          </p:cNvPicPr>
          <p:nvPr/>
        </p:nvPicPr>
        <p:blipFill>
          <a:blip r:embed="rId5"/>
          <a:stretch>
            <a:fillRect/>
          </a:stretch>
        </p:blipFill>
        <p:spPr>
          <a:xfrm>
            <a:off x="612648" y="2567940"/>
            <a:ext cx="384048" cy="384048"/>
          </a:xfrm>
          <a:prstGeom prst="rect">
            <a:avLst/>
          </a:prstGeom>
        </p:spPr>
      </p:pic>
      <p:sp>
        <p:nvSpPr>
          <p:cNvPr id="13" name="Text 7"/>
          <p:cNvSpPr/>
          <p:nvPr/>
        </p:nvSpPr>
        <p:spPr>
          <a:xfrm>
            <a:off x="1097280" y="2325624"/>
            <a:ext cx="4769968" cy="86868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USE LATER  </a:t>
            </a:r>
            <a:pPr indent="0" marL="0">
              <a:buNone/>
            </a:pPr>
            <a:r>
              <a:rPr lang="en-US" sz="1200" b="1" u="sng" dirty="0">
                <a:solidFill>
                  <a:srgbClr val="1F4E79"/>
                </a:solidFill>
                <a:latin typeface="Calibri" pitchFamily="34" charset="0"/>
                <a:ea typeface="Calibri" pitchFamily="34" charset="-122"/>
                <a:cs typeface="Calibri" pitchFamily="34" charset="-120"/>
                <a:hlinkClick r:id="rId6" invalidUrl="" action="" tgtFrame="" tooltip="Prokaryotic and Eukaryotic Cells (Flexbook)" history="1" highlightClick="0" endSnd="0">
                  <a:extLst>
                    <a:ext uri="{A12FA001-AC4F-418D-AE19-62706E023703}">
                      <ahyp:hlinkClr xmlns:ahyp="http://schemas.microsoft.com/office/drawing/2018/hyperlinkcolor" val="tx"/>
                    </a:ext>
                  </a:extLst>
                </a:hlinkClick>
              </a:rPr>
              <a:t>Prokaryotic and Eukaryotic Cells (Flexbook)</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CK-12. The reading explains prokaryote and eukaryote features, which would pre-empt the prediction. Use after 'What the card sort showed' as consolidation reading.</a:t>
            </a:r>
            <a:endParaRPr lang="en-US" sz="1000" dirty="0"/>
          </a:p>
        </p:txBody>
      </p:sp>
      <p:sp>
        <p:nvSpPr>
          <p:cNvPr id="14" name="Shape 8"/>
          <p:cNvSpPr/>
          <p:nvPr/>
        </p:nvSpPr>
        <p:spPr>
          <a:xfrm>
            <a:off x="502920" y="3267456"/>
            <a:ext cx="5455768" cy="701040"/>
          </a:xfrm>
          <a:prstGeom prst="roundRect">
            <a:avLst>
              <a:gd name="adj" fmla="val 10435"/>
            </a:avLst>
          </a:prstGeom>
          <a:solidFill>
            <a:srgbClr val="E8F0FB"/>
          </a:solidFill>
          <a:ln w="12700">
            <a:solidFill>
              <a:srgbClr val="1565C0"/>
            </a:solidFill>
            <a:prstDash val="solid"/>
          </a:ln>
        </p:spPr>
      </p:sp>
      <p:pic>
        <p:nvPicPr>
          <p:cNvPr id="15" name="Image 4" descr="Prokaryotic and Eukaryotic Cells Practice (exercise) - opens an ARES resource">
            <a:hlinkClick r:id="rId8" tooltip="Prokaryotic and Eukaryotic Cells Practice"/>
          </p:cNvPr>
          <p:cNvPicPr>
            <a:picLocks noChangeAspect="1"/>
          </p:cNvPicPr>
          <p:nvPr/>
        </p:nvPicPr>
        <p:blipFill>
          <a:blip r:embed="rId7"/>
          <a:stretch>
            <a:fillRect/>
          </a:stretch>
        </p:blipFill>
        <p:spPr>
          <a:xfrm>
            <a:off x="612648" y="3425952"/>
            <a:ext cx="384048" cy="384048"/>
          </a:xfrm>
          <a:prstGeom prst="rect">
            <a:avLst/>
          </a:prstGeom>
        </p:spPr>
      </p:pic>
      <p:sp>
        <p:nvSpPr>
          <p:cNvPr id="16" name="Text 9"/>
          <p:cNvSpPr/>
          <p:nvPr/>
        </p:nvSpPr>
        <p:spPr>
          <a:xfrm>
            <a:off x="1097280" y="3267456"/>
            <a:ext cx="4769968" cy="70104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USE LATER  </a:t>
            </a:r>
            <a:pPr indent="0" marL="0">
              <a:buNone/>
            </a:pPr>
            <a:r>
              <a:rPr lang="en-US" sz="1200" b="1" u="sng" dirty="0">
                <a:solidFill>
                  <a:srgbClr val="1F4E79"/>
                </a:solidFill>
                <a:latin typeface="Calibri" pitchFamily="34" charset="0"/>
                <a:ea typeface="Calibri" pitchFamily="34" charset="-122"/>
                <a:cs typeface="Calibri" pitchFamily="34" charset="-120"/>
                <a:hlinkClick r:id="rId8" invalidUrl="" action="" tgtFrame="" tooltip="Prokaryotic and Eukaryotic Cells Practice" history="1" highlightClick="0" endSnd="0">
                  <a:extLst>
                    <a:ext uri="{A12FA001-AC4F-418D-AE19-62706E023703}">
                      <ahyp:hlinkClr xmlns:ahyp="http://schemas.microsoft.com/office/drawing/2018/hyperlinkcolor" val="tx"/>
                    </a:ext>
                  </a:extLst>
                </a:hlinkClick>
              </a:rPr>
              <a:t>Prokaryotic and Eukaryotic Cells Practice</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CK-12. Practice questions on prokaryotes and eukaryotes need the content first. Use after 'Colour-code your diagrams' to check understanding.</a:t>
            </a:r>
            <a:endParaRPr lang="en-US" sz="1000" dirty="0"/>
          </a:p>
        </p:txBody>
      </p:sp>
      <p:sp>
        <p:nvSpPr>
          <p:cNvPr id="17" name="Shape 10"/>
          <p:cNvSpPr/>
          <p:nvPr/>
        </p:nvSpPr>
        <p:spPr>
          <a:xfrm>
            <a:off x="502920" y="4041648"/>
            <a:ext cx="5455768" cy="868680"/>
          </a:xfrm>
          <a:prstGeom prst="roundRect">
            <a:avLst>
              <a:gd name="adj" fmla="val 8421"/>
            </a:avLst>
          </a:prstGeom>
          <a:solidFill>
            <a:srgbClr val="FFF6E5"/>
          </a:solidFill>
          <a:ln w="12700">
            <a:solidFill>
              <a:srgbClr val="B26A00"/>
            </a:solidFill>
            <a:prstDash val="solid"/>
          </a:ln>
        </p:spPr>
      </p:sp>
      <p:pic>
        <p:nvPicPr>
          <p:cNvPr id="18" name="Image 5" descr="Organelles in eukaryotic cells (video) - opens an ARES resource">
            <a:hlinkClick r:id="rId10" tooltip="Organelles in eukaryotic cells"/>
          </p:cNvPr>
          <p:cNvPicPr>
            <a:picLocks noChangeAspect="1"/>
          </p:cNvPicPr>
          <p:nvPr/>
        </p:nvPicPr>
        <p:blipFill>
          <a:blip r:embed="rId9"/>
          <a:stretch>
            <a:fillRect/>
          </a:stretch>
        </p:blipFill>
        <p:spPr>
          <a:xfrm>
            <a:off x="612648" y="4283964"/>
            <a:ext cx="384048" cy="384048"/>
          </a:xfrm>
          <a:prstGeom prst="rect">
            <a:avLst/>
          </a:prstGeom>
        </p:spPr>
      </p:pic>
      <p:sp>
        <p:nvSpPr>
          <p:cNvPr id="19" name="Text 11"/>
          <p:cNvSpPr/>
          <p:nvPr/>
        </p:nvSpPr>
        <p:spPr>
          <a:xfrm>
            <a:off x="1097280" y="4041648"/>
            <a:ext cx="4769968" cy="868680"/>
          </a:xfrm>
          <a:prstGeom prst="rect">
            <a:avLst/>
          </a:prstGeom>
          <a:noFill/>
          <a:ln/>
        </p:spPr>
        <p:txBody>
          <a:bodyPr wrap="square" lIns="0" tIns="0" rIns="0" bIns="0" rtlCol="0" anchor="ctr"/>
          <a:lstStyle/>
          <a:p>
            <a:pPr indent="0" marL="0">
              <a:buNone/>
            </a:pPr>
            <a:r>
              <a:rPr lang="en-US" sz="1000" b="1" dirty="0">
                <a:solidFill>
                  <a:srgbClr val="B26A00"/>
                </a:solidFill>
                <a:latin typeface="Calibri" pitchFamily="34" charset="0"/>
                <a:ea typeface="Calibri" pitchFamily="34" charset="-122"/>
                <a:cs typeface="Calibri" pitchFamily="34" charset="-120"/>
              </a:rPr>
              <a:t>PREVIEW FIRST  </a:t>
            </a:r>
            <a:pPr indent="0" marL="0">
              <a:buNone/>
            </a:pPr>
            <a:r>
              <a:rPr lang="en-US" sz="1200" b="1" u="sng" dirty="0">
                <a:solidFill>
                  <a:srgbClr val="1F4E79"/>
                </a:solidFill>
                <a:latin typeface="Calibri" pitchFamily="34" charset="0"/>
                <a:ea typeface="Calibri" pitchFamily="34" charset="-122"/>
                <a:cs typeface="Calibri" pitchFamily="34" charset="-120"/>
                <a:hlinkClick r:id="rId10" invalidUrl="" action="" tgtFrame="" tooltip="Organelles in eukaryotic cells" history="1" highlightClick="0" endSnd="0">
                  <a:extLst>
                    <a:ext uri="{A12FA001-AC4F-418D-AE19-62706E023703}">
                      <ahyp:hlinkClr xmlns:ahyp="http://schemas.microsoft.com/office/drawing/2018/hyperlinkcolor" val="tx"/>
                    </a:ext>
                  </a:extLst>
                </a:hlinkClick>
              </a:rPr>
              <a:t>Organelles in eukaryotic cells</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On topic for Explain but goes deep into organelle functions. Check it does not go beyond Version 1 labels; organelles are Lessons 4 and 5.</a:t>
            </a:r>
            <a:endParaRPr lang="en-US" sz="1000" dirty="0"/>
          </a:p>
        </p:txBody>
      </p:sp>
      <p:sp>
        <p:nvSpPr>
          <p:cNvPr id="20" name="Shape 12"/>
          <p:cNvSpPr/>
          <p:nvPr/>
        </p:nvSpPr>
        <p:spPr>
          <a:xfrm>
            <a:off x="502920" y="4983480"/>
            <a:ext cx="5455768" cy="868680"/>
          </a:xfrm>
          <a:prstGeom prst="roundRect">
            <a:avLst>
              <a:gd name="adj" fmla="val 8421"/>
            </a:avLst>
          </a:prstGeom>
          <a:solidFill>
            <a:srgbClr val="EAF6EC"/>
          </a:solidFill>
          <a:ln w="12700">
            <a:solidFill>
              <a:srgbClr val="2E7D32"/>
            </a:solidFill>
            <a:prstDash val="solid"/>
          </a:ln>
        </p:spPr>
      </p:sp>
      <p:pic>
        <p:nvPicPr>
          <p:cNvPr id="21" name="Image 6" descr="Prokaryotic and eukaryotic cells (exercise) - opens an ARES resource">
            <a:hlinkClick r:id="rId12" tooltip="Prokaryotic and eukaryotic cells"/>
          </p:cNvPr>
          <p:cNvPicPr>
            <a:picLocks noChangeAspect="1"/>
          </p:cNvPicPr>
          <p:nvPr/>
        </p:nvPicPr>
        <p:blipFill>
          <a:blip r:embed="rId11"/>
          <a:stretch>
            <a:fillRect/>
          </a:stretch>
        </p:blipFill>
        <p:spPr>
          <a:xfrm>
            <a:off x="612648" y="5225796"/>
            <a:ext cx="384048" cy="384048"/>
          </a:xfrm>
          <a:prstGeom prst="rect">
            <a:avLst/>
          </a:prstGeom>
        </p:spPr>
      </p:pic>
      <p:sp>
        <p:nvSpPr>
          <p:cNvPr id="22" name="Text 13"/>
          <p:cNvSpPr/>
          <p:nvPr/>
        </p:nvSpPr>
        <p:spPr>
          <a:xfrm>
            <a:off x="1097280" y="4983480"/>
            <a:ext cx="4769968" cy="868680"/>
          </a:xfrm>
          <a:prstGeom prst="rect">
            <a:avLst/>
          </a:prstGeom>
          <a:noFill/>
          <a:ln/>
        </p:spPr>
        <p:txBody>
          <a:bodyPr wrap="square" lIns="0" tIns="0" rIns="0" bIns="0"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BEST MATCH  </a:t>
            </a:r>
            <a:pPr indent="0" marL="0">
              <a:buNone/>
            </a:pPr>
            <a:r>
              <a:rPr lang="en-US" sz="1200" b="1" u="sng" dirty="0">
                <a:solidFill>
                  <a:srgbClr val="1F4E79"/>
                </a:solidFill>
                <a:latin typeface="Calibri" pitchFamily="34" charset="0"/>
                <a:ea typeface="Calibri" pitchFamily="34" charset="-122"/>
                <a:cs typeface="Calibri" pitchFamily="34" charset="-120"/>
                <a:hlinkClick r:id="rId12" invalidUrl="" action="" tgtFrame="" tooltip="Prokaryotic and eukaryotic cells" history="1" highlightClick="0" endSnd="0">
                  <a:extLst>
                    <a:ext uri="{A12FA001-AC4F-418D-AE19-62706E023703}">
                      <ahyp:hlinkClr xmlns:ahyp="http://schemas.microsoft.com/office/drawing/2018/hyperlinkcolor" val="tx"/>
                    </a:ext>
                  </a:extLst>
                </a:hlinkClick>
              </a:rPr>
              <a:t>Prokaryotic and eukaryotic cells</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Khan Academy practice on prokaryotic and eukaryotic cells fits Explain consolidation after the card sort. Quick check that its level suits Grade 10.</a:t>
            </a:r>
            <a:endParaRPr lang="en-US" sz="1000" dirty="0"/>
          </a:p>
        </p:txBody>
      </p:sp>
      <p:sp>
        <p:nvSpPr>
          <p:cNvPr id="23" name="Shape 14"/>
          <p:cNvSpPr/>
          <p:nvPr/>
        </p:nvSpPr>
        <p:spPr>
          <a:xfrm>
            <a:off x="6233008" y="1383792"/>
            <a:ext cx="5455768" cy="701040"/>
          </a:xfrm>
          <a:prstGeom prst="roundRect">
            <a:avLst>
              <a:gd name="adj" fmla="val 10435"/>
            </a:avLst>
          </a:prstGeom>
          <a:solidFill>
            <a:srgbClr val="E8F0FB"/>
          </a:solidFill>
          <a:ln w="12700">
            <a:solidFill>
              <a:srgbClr val="1565C0"/>
            </a:solidFill>
            <a:prstDash val="solid"/>
          </a:ln>
        </p:spPr>
      </p:sp>
      <p:pic>
        <p:nvPicPr>
          <p:cNvPr id="24" name="Image 7" descr="Comparing animal and plant cells (video) - opens an ARES resource">
            <a:hlinkClick r:id="rId14" tooltip="Comparing animal and plant cells"/>
          </p:cNvPr>
          <p:cNvPicPr>
            <a:picLocks noChangeAspect="1"/>
          </p:cNvPicPr>
          <p:nvPr/>
        </p:nvPicPr>
        <p:blipFill>
          <a:blip r:embed="rId13"/>
          <a:stretch>
            <a:fillRect/>
          </a:stretch>
        </p:blipFill>
        <p:spPr>
          <a:xfrm>
            <a:off x="6342736" y="1542288"/>
            <a:ext cx="384048" cy="384048"/>
          </a:xfrm>
          <a:prstGeom prst="rect">
            <a:avLst/>
          </a:prstGeom>
        </p:spPr>
      </p:pic>
      <p:sp>
        <p:nvSpPr>
          <p:cNvPr id="25" name="Text 15"/>
          <p:cNvSpPr/>
          <p:nvPr/>
        </p:nvSpPr>
        <p:spPr>
          <a:xfrm>
            <a:off x="6827368" y="1383792"/>
            <a:ext cx="4769968" cy="70104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USE LATER  </a:t>
            </a:r>
            <a:pPr indent="0" marL="0">
              <a:buNone/>
            </a:pPr>
            <a:r>
              <a:rPr lang="en-US" sz="1200" b="1" u="sng" dirty="0">
                <a:solidFill>
                  <a:srgbClr val="1F4E79"/>
                </a:solidFill>
                <a:latin typeface="Calibri" pitchFamily="34" charset="0"/>
                <a:ea typeface="Calibri" pitchFamily="34" charset="-122"/>
                <a:cs typeface="Calibri" pitchFamily="34" charset="-120"/>
                <a:hlinkClick r:id="rId14" invalidUrl="" action="" tgtFrame="" tooltip="Comparing animal and plant cells" history="1" highlightClick="0" endSnd="0">
                  <a:extLst>
                    <a:ext uri="{A12FA001-AC4F-418D-AE19-62706E023703}">
                      <ahyp:hlinkClr xmlns:ahyp="http://schemas.microsoft.com/office/drawing/2018/hyperlinkcolor" val="tx"/>
                    </a:ext>
                  </a:extLst>
                </a:hlinkClick>
              </a:rPr>
              <a:t>Comparing animal and plant cells</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Plant versus animal comparison is mostly Lesson 5 content. Use it in Lesson 5 when learners compare plant and animal cells.</a:t>
            </a:r>
            <a:endParaRPr lang="en-US" sz="1000" dirty="0"/>
          </a:p>
        </p:txBody>
      </p:sp>
      <p:sp>
        <p:nvSpPr>
          <p:cNvPr id="26" name="Shape 16"/>
          <p:cNvSpPr/>
          <p:nvPr/>
        </p:nvSpPr>
        <p:spPr>
          <a:xfrm>
            <a:off x="6233008" y="2157984"/>
            <a:ext cx="5455768" cy="868680"/>
          </a:xfrm>
          <a:prstGeom prst="roundRect">
            <a:avLst>
              <a:gd name="adj" fmla="val 8421"/>
            </a:avLst>
          </a:prstGeom>
          <a:solidFill>
            <a:srgbClr val="FFF6E5"/>
          </a:solidFill>
          <a:ln w="12700">
            <a:solidFill>
              <a:srgbClr val="B26A00"/>
            </a:solidFill>
            <a:prstDash val="solid"/>
          </a:ln>
        </p:spPr>
      </p:sp>
      <p:pic>
        <p:nvPicPr>
          <p:cNvPr id="27" name="Image 8" descr="Introduction to cells (exercise) - opens an ARES resource">
            <a:hlinkClick r:id="rId16" tooltip="Introduction to cells"/>
          </p:cNvPr>
          <p:cNvPicPr>
            <a:picLocks noChangeAspect="1"/>
          </p:cNvPicPr>
          <p:nvPr/>
        </p:nvPicPr>
        <p:blipFill>
          <a:blip r:embed="rId15"/>
          <a:stretch>
            <a:fillRect/>
          </a:stretch>
        </p:blipFill>
        <p:spPr>
          <a:xfrm>
            <a:off x="6342736" y="2400300"/>
            <a:ext cx="384048" cy="384048"/>
          </a:xfrm>
          <a:prstGeom prst="rect">
            <a:avLst/>
          </a:prstGeom>
        </p:spPr>
      </p:pic>
      <p:sp>
        <p:nvSpPr>
          <p:cNvPr id="28" name="Text 17"/>
          <p:cNvSpPr/>
          <p:nvPr/>
        </p:nvSpPr>
        <p:spPr>
          <a:xfrm>
            <a:off x="6827368" y="2157984"/>
            <a:ext cx="4769968" cy="868680"/>
          </a:xfrm>
          <a:prstGeom prst="rect">
            <a:avLst/>
          </a:prstGeom>
          <a:noFill/>
          <a:ln/>
        </p:spPr>
        <p:txBody>
          <a:bodyPr wrap="square" lIns="0" tIns="0" rIns="0" bIns="0" rtlCol="0" anchor="ctr"/>
          <a:lstStyle/>
          <a:p>
            <a:pPr indent="0" marL="0">
              <a:buNone/>
            </a:pPr>
            <a:r>
              <a:rPr lang="en-US" sz="1000" b="1" dirty="0">
                <a:solidFill>
                  <a:srgbClr val="B26A00"/>
                </a:solidFill>
                <a:latin typeface="Calibri" pitchFamily="34" charset="0"/>
                <a:ea typeface="Calibri" pitchFamily="34" charset="-122"/>
                <a:cs typeface="Calibri" pitchFamily="34" charset="-120"/>
              </a:rPr>
              <a:t>PREVIEW FIRST  </a:t>
            </a:r>
            <a:pPr indent="0" marL="0">
              <a:buNone/>
            </a:pPr>
            <a:r>
              <a:rPr lang="en-US" sz="1200" b="1" u="sng" dirty="0">
                <a:solidFill>
                  <a:srgbClr val="1F4E79"/>
                </a:solidFill>
                <a:latin typeface="Calibri" pitchFamily="34" charset="0"/>
                <a:ea typeface="Calibri" pitchFamily="34" charset="-122"/>
                <a:cs typeface="Calibri" pitchFamily="34" charset="-120"/>
                <a:hlinkClick r:id="rId16" invalidUrl="" action="" tgtFrame="" tooltip="Introduction to cells" history="1" highlightClick="0" endSnd="0">
                  <a:extLst>
                    <a:ext uri="{A12FA001-AC4F-418D-AE19-62706E023703}">
                      <ahyp:hlinkClr xmlns:ahyp="http://schemas.microsoft.com/office/drawing/2018/hyperlinkcolor" val="tx"/>
                    </a:ext>
                  </a:extLst>
                </a:hlinkClick>
              </a:rPr>
              <a:t>Introduction to cells</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Introductory cell practice may help learners judge what the evidence answers. Preview to check it matches 'Does our evidence answer it yet?' and avoids new content.</a:t>
            </a:r>
            <a:endParaRPr lang="en-US" sz="1000" dirty="0"/>
          </a:p>
        </p:txBody>
      </p:sp>
      <p:sp>
        <p:nvSpPr>
          <p:cNvPr id="29" name="Shape 18"/>
          <p:cNvSpPr/>
          <p:nvPr/>
        </p:nvSpPr>
        <p:spPr>
          <a:xfrm>
            <a:off x="6233008" y="3099816"/>
            <a:ext cx="5455768" cy="701040"/>
          </a:xfrm>
          <a:prstGeom prst="roundRect">
            <a:avLst>
              <a:gd name="adj" fmla="val 10435"/>
            </a:avLst>
          </a:prstGeom>
          <a:solidFill>
            <a:srgbClr val="FDECEA"/>
          </a:solidFill>
          <a:ln w="12700">
            <a:solidFill>
              <a:srgbClr val="B71C1C"/>
            </a:solidFill>
            <a:prstDash val="solid"/>
          </a:ln>
        </p:spPr>
      </p:sp>
      <p:pic>
        <p:nvPicPr>
          <p:cNvPr id="30" name="Image 9" descr="Endosymbiosis theory (video) - opens an ARES resource">    </p:cNvPr>
          <p:cNvPicPr>
            <a:picLocks noChangeAspect="1"/>
          </p:cNvPicPr>
          <p:nvPr/>
        </p:nvPicPr>
        <p:blipFill>
          <a:blip r:embed="rId17"/>
          <a:stretch>
            <a:fillRect/>
          </a:stretch>
        </p:blipFill>
        <p:spPr>
          <a:xfrm>
            <a:off x="6342736" y="3258312"/>
            <a:ext cx="384048" cy="384048"/>
          </a:xfrm>
          <a:prstGeom prst="rect">
            <a:avLst/>
          </a:prstGeom>
        </p:spPr>
      </p:pic>
      <p:sp>
        <p:nvSpPr>
          <p:cNvPr id="31" name="Text 19"/>
          <p:cNvSpPr/>
          <p:nvPr/>
        </p:nvSpPr>
        <p:spPr>
          <a:xfrm>
            <a:off x="6827368" y="3099816"/>
            <a:ext cx="4769968" cy="701040"/>
          </a:xfrm>
          <a:prstGeom prst="rect">
            <a:avLst/>
          </a:prstGeom>
          <a:noFill/>
          <a:ln/>
        </p:spPr>
        <p:txBody>
          <a:bodyPr wrap="square" lIns="0" tIns="0" rIns="0" bIns="0" rtlCol="0" anchor="ctr"/>
          <a:lstStyle/>
          <a:p>
            <a:pPr indent="0" marL="0">
              <a:buNone/>
            </a:pPr>
            <a:r>
              <a:rPr lang="en-US" sz="1000" b="1" dirty="0">
                <a:solidFill>
                  <a:srgbClr val="B71C1C"/>
                </a:solidFill>
                <a:latin typeface="Calibri" pitchFamily="34" charset="0"/>
                <a:ea typeface="Calibri" pitchFamily="34" charset="-122"/>
                <a:cs typeface="Calibri" pitchFamily="34" charset="-120"/>
              </a:rPr>
              <a:t>DO NOT USE  </a:t>
            </a:r>
            <a:pPr indent="0" marL="0">
              <a:buNone/>
            </a:pPr>
            <a:r>
              <a:rPr lang="en-US" sz="1200" b="1" dirty="0">
                <a:solidFill>
                  <a:srgbClr val="1F4E79"/>
                </a:solidFill>
                <a:latin typeface="Calibri" pitchFamily="34" charset="0"/>
                <a:ea typeface="Calibri" pitchFamily="34" charset="-122"/>
                <a:cs typeface="Calibri" pitchFamily="34" charset="-120"/>
              </a:rPr>
              <a:t>Endosymbiosis theory</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Khan Academy (English - US curriculum). Endosymbiosis theory is beyond Grade 10 and Version 1 needs, and no lesson in this unit teaches it.</a:t>
            </a:r>
            <a:endParaRPr lang="en-US" sz="1000" dirty="0"/>
          </a:p>
        </p:txBody>
      </p:sp>
      <p:sp>
        <p:nvSpPr>
          <p:cNvPr id="32" name="Shape 20"/>
          <p:cNvSpPr/>
          <p:nvPr/>
        </p:nvSpPr>
        <p:spPr>
          <a:xfrm>
            <a:off x="6233008" y="3874008"/>
            <a:ext cx="5455768" cy="701040"/>
          </a:xfrm>
          <a:prstGeom prst="roundRect">
            <a:avLst>
              <a:gd name="adj" fmla="val 10435"/>
            </a:avLst>
          </a:prstGeom>
          <a:solidFill>
            <a:srgbClr val="EAF6EC"/>
          </a:solidFill>
          <a:ln w="12700">
            <a:solidFill>
              <a:srgbClr val="2E7D32"/>
            </a:solidFill>
            <a:prstDash val="solid"/>
          </a:ln>
        </p:spPr>
      </p:sp>
      <p:pic>
        <p:nvPicPr>
          <p:cNvPr id="33" name="Image 10" descr="The Cell Theory Practice (exercise) - opens an ARES resource">
            <a:hlinkClick r:id="rId19" tooltip="The Cell Theory Practice"/>
          </p:cNvPr>
          <p:cNvPicPr>
            <a:picLocks noChangeAspect="1"/>
          </p:cNvPicPr>
          <p:nvPr/>
        </p:nvPicPr>
        <p:blipFill>
          <a:blip r:embed="rId18"/>
          <a:stretch>
            <a:fillRect/>
          </a:stretch>
        </p:blipFill>
        <p:spPr>
          <a:xfrm>
            <a:off x="6342736" y="4032504"/>
            <a:ext cx="384048" cy="384048"/>
          </a:xfrm>
          <a:prstGeom prst="rect">
            <a:avLst/>
          </a:prstGeom>
        </p:spPr>
      </p:pic>
      <p:sp>
        <p:nvSpPr>
          <p:cNvPr id="34" name="Text 21"/>
          <p:cNvSpPr/>
          <p:nvPr/>
        </p:nvSpPr>
        <p:spPr>
          <a:xfrm>
            <a:off x="6827368" y="3874008"/>
            <a:ext cx="4769968" cy="701040"/>
          </a:xfrm>
          <a:prstGeom prst="rect">
            <a:avLst/>
          </a:prstGeom>
          <a:noFill/>
          <a:ln/>
        </p:spPr>
        <p:txBody>
          <a:bodyPr wrap="square" lIns="0" tIns="0" rIns="0" bIns="0"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BEST MATCH  </a:t>
            </a:r>
            <a:pPr indent="0" marL="0">
              <a:buNone/>
            </a:pPr>
            <a:r>
              <a:rPr lang="en-US" sz="1200" b="1" u="sng" dirty="0">
                <a:solidFill>
                  <a:srgbClr val="1F4E79"/>
                </a:solidFill>
                <a:latin typeface="Calibri" pitchFamily="34" charset="0"/>
                <a:ea typeface="Calibri" pitchFamily="34" charset="-122"/>
                <a:cs typeface="Calibri" pitchFamily="34" charset="-120"/>
                <a:hlinkClick r:id="rId19" invalidUrl="" action="" tgtFrame="" tooltip="The Cell Theory Practice" history="1" highlightClick="0" endSnd="0">
                  <a:extLst>
                    <a:ext uri="{A12FA001-AC4F-418D-AE19-62706E023703}">
                      <ahyp:hlinkClr xmlns:ahyp="http://schemas.microsoft.com/office/drawing/2018/hyperlinkcolor" val="tx"/>
                    </a:ext>
                  </a:extLst>
                </a:hlinkClick>
              </a:rPr>
              <a:t>The Cell Theory Practice</a:t>
            </a:r>
            <a:endParaRPr lang="en-US" sz="1000" dirty="0"/>
          </a:p>
          <a:p>
            <a:pPr indent="0" marL="0">
              <a:buNone/>
            </a:pPr>
            <a:r>
              <a:rPr lang="en-US" sz="1100" dirty="0">
                <a:solidFill>
                  <a:srgbClr val="1A1A1A"/>
                </a:solidFill>
                <a:latin typeface="Calibri" pitchFamily="34" charset="0"/>
                <a:ea typeface="Calibri" pitchFamily="34" charset="-122"/>
                <a:cs typeface="Calibri" pitchFamily="34" charset="-120"/>
              </a:rPr>
              <a:t>CK-12. Cell theory practice supports Version 1 model-building by securing the three tenets. Check the questions stay at Grade 10 level.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105281" cy="292608"/>
          </a:xfrm>
          <a:prstGeom prst="roundRect">
            <a:avLst>
              <a:gd name="adj" fmla="val 50000"/>
            </a:avLst>
          </a:prstGeom>
          <a:solidFill>
            <a:srgbClr val="111111"/>
          </a:solidFill>
          <a:ln w="12700">
            <a:solidFill>
              <a:srgbClr val="111111"/>
            </a:solidFill>
            <a:prstDash val="solid"/>
          </a:ln>
        </p:spPr>
      </p:sp>
      <p:sp>
        <p:nvSpPr>
          <p:cNvPr id="8" name="Text 4"/>
          <p:cNvSpPr/>
          <p:nvPr/>
        </p:nvSpPr>
        <p:spPr>
          <a:xfrm>
            <a:off x="502920" y="292608"/>
            <a:ext cx="1105281"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UNIT MAP</a:t>
            </a:r>
            <a:endParaRPr lang="en-US" sz="1100" dirty="0"/>
          </a:p>
        </p:txBody>
      </p:sp>
      <p:sp>
        <p:nvSpPr>
          <p:cNvPr id="9" name="Text 5"/>
          <p:cNvSpPr/>
          <p:nvPr/>
        </p:nvSpPr>
        <p:spPr>
          <a:xfrm>
            <a:off x="502920" y="713232"/>
            <a:ext cx="1118585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Where we are in the unit</a:t>
            </a:r>
            <a:endParaRPr lang="en-US" sz="3200" dirty="0"/>
          </a:p>
        </p:txBody>
      </p:sp>
      <p:sp>
        <p:nvSpPr>
          <p:cNvPr id="10" name="Shape 6"/>
          <p:cNvSpPr/>
          <p:nvPr/>
        </p:nvSpPr>
        <p:spPr>
          <a:xfrm>
            <a:off x="502920" y="1383792"/>
            <a:ext cx="5410048" cy="365760"/>
          </a:xfrm>
          <a:prstGeom prst="roundRect">
            <a:avLst>
              <a:gd name="adj" fmla="val 20000"/>
            </a:avLst>
          </a:prstGeom>
          <a:solidFill>
            <a:srgbClr val="E8EAED"/>
          </a:solidFill>
          <a:ln w="9525">
            <a:solidFill>
              <a:srgbClr val="D9D9D9"/>
            </a:solidFill>
            <a:prstDash val="solid"/>
          </a:ln>
        </p:spPr>
      </p:sp>
      <p:sp>
        <p:nvSpPr>
          <p:cNvPr id="11" name="Shape 7"/>
          <p:cNvSpPr/>
          <p:nvPr/>
        </p:nvSpPr>
        <p:spPr>
          <a:xfrm>
            <a:off x="594360" y="1392936"/>
            <a:ext cx="347472" cy="347472"/>
          </a:xfrm>
          <a:prstGeom prst="ellipse">
            <a:avLst/>
          </a:prstGeom>
          <a:solidFill>
            <a:srgbClr val="888888"/>
          </a:solidFill>
          <a:ln w="12700">
            <a:solidFill>
              <a:srgbClr val="888888"/>
            </a:solidFill>
            <a:prstDash val="solid"/>
          </a:ln>
        </p:spPr>
      </p:sp>
      <p:sp>
        <p:nvSpPr>
          <p:cNvPr id="12" name="Text 8"/>
          <p:cNvSpPr/>
          <p:nvPr/>
        </p:nvSpPr>
        <p:spPr>
          <a:xfrm>
            <a:off x="594360" y="13929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p:nvPr/>
        </p:nvSpPr>
        <p:spPr>
          <a:xfrm>
            <a:off x="1069848" y="1383792"/>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The Healing Cut</a:t>
            </a:r>
            <a:endParaRPr lang="en-US" sz="1800" dirty="0"/>
          </a:p>
        </p:txBody>
      </p:sp>
      <p:sp>
        <p:nvSpPr>
          <p:cNvPr id="14" name="Shape 10"/>
          <p:cNvSpPr/>
          <p:nvPr/>
        </p:nvSpPr>
        <p:spPr>
          <a:xfrm>
            <a:off x="502920" y="1804416"/>
            <a:ext cx="5410048" cy="365760"/>
          </a:xfrm>
          <a:prstGeom prst="roundRect">
            <a:avLst>
              <a:gd name="adj" fmla="val 20000"/>
            </a:avLst>
          </a:prstGeom>
          <a:solidFill>
            <a:srgbClr val="D7DF23"/>
          </a:solidFill>
          <a:ln w="25400">
            <a:solidFill>
              <a:srgbClr val="818615"/>
            </a:solidFill>
            <a:prstDash val="solid"/>
          </a:ln>
        </p:spPr>
      </p:sp>
      <p:sp>
        <p:nvSpPr>
          <p:cNvPr id="15" name="Shape 11"/>
          <p:cNvSpPr/>
          <p:nvPr/>
        </p:nvSpPr>
        <p:spPr>
          <a:xfrm>
            <a:off x="594360" y="1813560"/>
            <a:ext cx="347472" cy="347472"/>
          </a:xfrm>
          <a:prstGeom prst="ellipse">
            <a:avLst/>
          </a:prstGeom>
          <a:solidFill>
            <a:srgbClr val="111111"/>
          </a:solidFill>
          <a:ln w="12700">
            <a:solidFill>
              <a:srgbClr val="111111"/>
            </a:solidFill>
            <a:prstDash val="solid"/>
          </a:ln>
        </p:spPr>
      </p:sp>
      <p:sp>
        <p:nvSpPr>
          <p:cNvPr id="16" name="Text 12"/>
          <p:cNvSpPr/>
          <p:nvPr/>
        </p:nvSpPr>
        <p:spPr>
          <a:xfrm>
            <a:off x="594360" y="18135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1069848" y="1804416"/>
            <a:ext cx="3352648" cy="36576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What Is a Cell?</a:t>
            </a:r>
            <a:endParaRPr lang="en-US" sz="1800" dirty="0"/>
          </a:p>
        </p:txBody>
      </p:sp>
      <p:sp>
        <p:nvSpPr>
          <p:cNvPr id="18" name="Text 14"/>
          <p:cNvSpPr/>
          <p:nvPr/>
        </p:nvSpPr>
        <p:spPr>
          <a:xfrm>
            <a:off x="4449928" y="1804416"/>
            <a:ext cx="1371600" cy="365760"/>
          </a:xfrm>
          <a:prstGeom prst="rect">
            <a:avLst/>
          </a:prstGeom>
          <a:noFill/>
          <a:ln/>
        </p:spPr>
        <p:txBody>
          <a:bodyPr wrap="square" lIns="0" tIns="0" rIns="0" bIns="0" rtlCol="0" anchor="ctr"/>
          <a:lstStyle/>
          <a:p>
            <a:pPr algn="r" indent="0" marL="0">
              <a:buNone/>
            </a:pPr>
            <a:r>
              <a:rPr lang="en-US" sz="1200" b="1" dirty="0">
                <a:solidFill>
                  <a:srgbClr val="111111"/>
                </a:solidFill>
                <a:latin typeface="Calibri" pitchFamily="34" charset="0"/>
                <a:ea typeface="Calibri" pitchFamily="34" charset="-122"/>
                <a:cs typeface="Calibri" pitchFamily="34" charset="-120"/>
              </a:rPr>
              <a:t>YOU ARE HERE</a:t>
            </a:r>
            <a:endParaRPr lang="en-US" sz="1200" dirty="0"/>
          </a:p>
        </p:txBody>
      </p:sp>
      <p:sp>
        <p:nvSpPr>
          <p:cNvPr id="19" name="Shape 15"/>
          <p:cNvSpPr/>
          <p:nvPr/>
        </p:nvSpPr>
        <p:spPr>
          <a:xfrm>
            <a:off x="502920" y="2225040"/>
            <a:ext cx="5410048" cy="365760"/>
          </a:xfrm>
          <a:prstGeom prst="roundRect">
            <a:avLst>
              <a:gd name="adj" fmla="val 20000"/>
            </a:avLst>
          </a:prstGeom>
          <a:solidFill>
            <a:srgbClr val="F3F4F6"/>
          </a:solidFill>
          <a:ln w="9525">
            <a:solidFill>
              <a:srgbClr val="D9D9D9"/>
            </a:solidFill>
            <a:prstDash val="solid"/>
          </a:ln>
        </p:spPr>
      </p:sp>
      <p:sp>
        <p:nvSpPr>
          <p:cNvPr id="20" name="Shape 16"/>
          <p:cNvSpPr/>
          <p:nvPr/>
        </p:nvSpPr>
        <p:spPr>
          <a:xfrm>
            <a:off x="594360" y="2234184"/>
            <a:ext cx="347472" cy="347472"/>
          </a:xfrm>
          <a:prstGeom prst="ellipse">
            <a:avLst/>
          </a:prstGeom>
          <a:solidFill>
            <a:srgbClr val="FFFFFF"/>
          </a:solidFill>
          <a:ln w="12700">
            <a:solidFill>
              <a:srgbClr val="888888"/>
            </a:solidFill>
            <a:prstDash val="solid"/>
          </a:ln>
        </p:spPr>
      </p:sp>
      <p:sp>
        <p:nvSpPr>
          <p:cNvPr id="21" name="Text 17"/>
          <p:cNvSpPr/>
          <p:nvPr/>
        </p:nvSpPr>
        <p:spPr>
          <a:xfrm>
            <a:off x="594360" y="2234184"/>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3</a:t>
            </a:r>
            <a:endParaRPr lang="en-US" sz="1200" dirty="0"/>
          </a:p>
        </p:txBody>
      </p:sp>
      <p:sp>
        <p:nvSpPr>
          <p:cNvPr id="22" name="Text 18"/>
          <p:cNvSpPr/>
          <p:nvPr/>
        </p:nvSpPr>
        <p:spPr>
          <a:xfrm>
            <a:off x="1069848" y="2225040"/>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Prokaryotic vs. Eukaryotic Cells</a:t>
            </a:r>
            <a:endParaRPr lang="en-US" sz="1800" dirty="0"/>
          </a:p>
        </p:txBody>
      </p:sp>
      <p:sp>
        <p:nvSpPr>
          <p:cNvPr id="23" name="Shape 19"/>
          <p:cNvSpPr/>
          <p:nvPr/>
        </p:nvSpPr>
        <p:spPr>
          <a:xfrm>
            <a:off x="502920" y="2645664"/>
            <a:ext cx="5410048" cy="365760"/>
          </a:xfrm>
          <a:prstGeom prst="roundRect">
            <a:avLst>
              <a:gd name="adj" fmla="val 20000"/>
            </a:avLst>
          </a:prstGeom>
          <a:solidFill>
            <a:srgbClr val="F3F4F6"/>
          </a:solidFill>
          <a:ln w="9525">
            <a:solidFill>
              <a:srgbClr val="D9D9D9"/>
            </a:solidFill>
            <a:prstDash val="solid"/>
          </a:ln>
        </p:spPr>
      </p:sp>
      <p:sp>
        <p:nvSpPr>
          <p:cNvPr id="24" name="Shape 20"/>
          <p:cNvSpPr/>
          <p:nvPr/>
        </p:nvSpPr>
        <p:spPr>
          <a:xfrm>
            <a:off x="594360" y="2654808"/>
            <a:ext cx="347472" cy="347472"/>
          </a:xfrm>
          <a:prstGeom prst="ellipse">
            <a:avLst/>
          </a:prstGeom>
          <a:solidFill>
            <a:srgbClr val="FFFFFF"/>
          </a:solidFill>
          <a:ln w="12700">
            <a:solidFill>
              <a:srgbClr val="888888"/>
            </a:solidFill>
            <a:prstDash val="solid"/>
          </a:ln>
        </p:spPr>
      </p:sp>
      <p:sp>
        <p:nvSpPr>
          <p:cNvPr id="25" name="Text 21"/>
          <p:cNvSpPr/>
          <p:nvPr/>
        </p:nvSpPr>
        <p:spPr>
          <a:xfrm>
            <a:off x="594360" y="2654808"/>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4</a:t>
            </a:r>
            <a:endParaRPr lang="en-US" sz="1200" dirty="0"/>
          </a:p>
        </p:txBody>
      </p:sp>
      <p:sp>
        <p:nvSpPr>
          <p:cNvPr id="26" name="Text 22"/>
          <p:cNvSpPr/>
          <p:nvPr/>
        </p:nvSpPr>
        <p:spPr>
          <a:xfrm>
            <a:off x="1069848" y="2645664"/>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Plant Cell Ultrastructure</a:t>
            </a:r>
            <a:endParaRPr lang="en-US" sz="1800" dirty="0"/>
          </a:p>
        </p:txBody>
      </p:sp>
      <p:sp>
        <p:nvSpPr>
          <p:cNvPr id="27" name="Shape 23"/>
          <p:cNvSpPr/>
          <p:nvPr/>
        </p:nvSpPr>
        <p:spPr>
          <a:xfrm>
            <a:off x="502920" y="3066288"/>
            <a:ext cx="5410048" cy="365760"/>
          </a:xfrm>
          <a:prstGeom prst="roundRect">
            <a:avLst>
              <a:gd name="adj" fmla="val 20000"/>
            </a:avLst>
          </a:prstGeom>
          <a:solidFill>
            <a:srgbClr val="F3F4F6"/>
          </a:solidFill>
          <a:ln w="9525">
            <a:solidFill>
              <a:srgbClr val="D9D9D9"/>
            </a:solidFill>
            <a:prstDash val="solid"/>
          </a:ln>
        </p:spPr>
      </p:sp>
      <p:sp>
        <p:nvSpPr>
          <p:cNvPr id="28" name="Shape 24"/>
          <p:cNvSpPr/>
          <p:nvPr/>
        </p:nvSpPr>
        <p:spPr>
          <a:xfrm>
            <a:off x="594360" y="3075432"/>
            <a:ext cx="347472" cy="347472"/>
          </a:xfrm>
          <a:prstGeom prst="ellipse">
            <a:avLst/>
          </a:prstGeom>
          <a:solidFill>
            <a:srgbClr val="FFFFFF"/>
          </a:solidFill>
          <a:ln w="12700">
            <a:solidFill>
              <a:srgbClr val="888888"/>
            </a:solidFill>
            <a:prstDash val="solid"/>
          </a:ln>
        </p:spPr>
      </p:sp>
      <p:sp>
        <p:nvSpPr>
          <p:cNvPr id="29" name="Text 25"/>
          <p:cNvSpPr/>
          <p:nvPr/>
        </p:nvSpPr>
        <p:spPr>
          <a:xfrm>
            <a:off x="594360" y="3075432"/>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5</a:t>
            </a:r>
            <a:endParaRPr lang="en-US" sz="1200" dirty="0"/>
          </a:p>
        </p:txBody>
      </p:sp>
      <p:sp>
        <p:nvSpPr>
          <p:cNvPr id="30" name="Text 26"/>
          <p:cNvSpPr/>
          <p:nvPr/>
        </p:nvSpPr>
        <p:spPr>
          <a:xfrm>
            <a:off x="1069848" y="3066288"/>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Animal Cell Ultrastructure</a:t>
            </a:r>
            <a:endParaRPr lang="en-US" sz="1800" dirty="0"/>
          </a:p>
        </p:txBody>
      </p:sp>
      <p:sp>
        <p:nvSpPr>
          <p:cNvPr id="31" name="Shape 27"/>
          <p:cNvSpPr/>
          <p:nvPr/>
        </p:nvSpPr>
        <p:spPr>
          <a:xfrm>
            <a:off x="502920" y="3486912"/>
            <a:ext cx="5410048" cy="365760"/>
          </a:xfrm>
          <a:prstGeom prst="roundRect">
            <a:avLst>
              <a:gd name="adj" fmla="val 20000"/>
            </a:avLst>
          </a:prstGeom>
          <a:solidFill>
            <a:srgbClr val="F3F4F6"/>
          </a:solidFill>
          <a:ln w="9525">
            <a:solidFill>
              <a:srgbClr val="D9D9D9"/>
            </a:solidFill>
            <a:prstDash val="solid"/>
          </a:ln>
        </p:spPr>
      </p:sp>
      <p:sp>
        <p:nvSpPr>
          <p:cNvPr id="32" name="Shape 28"/>
          <p:cNvSpPr/>
          <p:nvPr/>
        </p:nvSpPr>
        <p:spPr>
          <a:xfrm>
            <a:off x="594360" y="3496056"/>
            <a:ext cx="347472" cy="347472"/>
          </a:xfrm>
          <a:prstGeom prst="ellipse">
            <a:avLst/>
          </a:prstGeom>
          <a:solidFill>
            <a:srgbClr val="FFFFFF"/>
          </a:solidFill>
          <a:ln w="12700">
            <a:solidFill>
              <a:srgbClr val="888888"/>
            </a:solidFill>
            <a:prstDash val="solid"/>
          </a:ln>
        </p:spPr>
      </p:sp>
      <p:sp>
        <p:nvSpPr>
          <p:cNvPr id="33" name="Text 29"/>
          <p:cNvSpPr/>
          <p:nvPr/>
        </p:nvSpPr>
        <p:spPr>
          <a:xfrm>
            <a:off x="594360" y="3496056"/>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6</a:t>
            </a:r>
            <a:endParaRPr lang="en-US" sz="1200" dirty="0"/>
          </a:p>
        </p:txBody>
      </p:sp>
      <p:sp>
        <p:nvSpPr>
          <p:cNvPr id="34" name="Text 30"/>
          <p:cNvSpPr/>
          <p:nvPr/>
        </p:nvSpPr>
        <p:spPr>
          <a:xfrm>
            <a:off x="1069848" y="3486912"/>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Observing Onion Epidermal Cells</a:t>
            </a:r>
            <a:endParaRPr lang="en-US" sz="1800" dirty="0"/>
          </a:p>
        </p:txBody>
      </p:sp>
      <p:sp>
        <p:nvSpPr>
          <p:cNvPr id="35" name="Shape 31"/>
          <p:cNvSpPr/>
          <p:nvPr/>
        </p:nvSpPr>
        <p:spPr>
          <a:xfrm>
            <a:off x="6278728" y="1383792"/>
            <a:ext cx="5410048" cy="365760"/>
          </a:xfrm>
          <a:prstGeom prst="roundRect">
            <a:avLst>
              <a:gd name="adj" fmla="val 20000"/>
            </a:avLst>
          </a:prstGeom>
          <a:solidFill>
            <a:srgbClr val="F3F4F6"/>
          </a:solidFill>
          <a:ln w="9525">
            <a:solidFill>
              <a:srgbClr val="D9D9D9"/>
            </a:solidFill>
            <a:prstDash val="solid"/>
          </a:ln>
        </p:spPr>
      </p:sp>
      <p:sp>
        <p:nvSpPr>
          <p:cNvPr id="36" name="Shape 32"/>
          <p:cNvSpPr/>
          <p:nvPr/>
        </p:nvSpPr>
        <p:spPr>
          <a:xfrm>
            <a:off x="6370168" y="1392936"/>
            <a:ext cx="347472" cy="347472"/>
          </a:xfrm>
          <a:prstGeom prst="ellipse">
            <a:avLst/>
          </a:prstGeom>
          <a:solidFill>
            <a:srgbClr val="FFFFFF"/>
          </a:solidFill>
          <a:ln w="12700">
            <a:solidFill>
              <a:srgbClr val="888888"/>
            </a:solidFill>
            <a:prstDash val="solid"/>
          </a:ln>
        </p:spPr>
      </p:sp>
      <p:sp>
        <p:nvSpPr>
          <p:cNvPr id="37" name="Text 33"/>
          <p:cNvSpPr/>
          <p:nvPr/>
        </p:nvSpPr>
        <p:spPr>
          <a:xfrm>
            <a:off x="6370168" y="1392936"/>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7</a:t>
            </a:r>
            <a:endParaRPr lang="en-US" sz="1200" dirty="0"/>
          </a:p>
        </p:txBody>
      </p:sp>
      <p:sp>
        <p:nvSpPr>
          <p:cNvPr id="38" name="Text 34"/>
          <p:cNvSpPr/>
          <p:nvPr/>
        </p:nvSpPr>
        <p:spPr>
          <a:xfrm>
            <a:off x="6845656" y="1383792"/>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Human Cheek Cells</a:t>
            </a:r>
            <a:endParaRPr lang="en-US" sz="1800" dirty="0"/>
          </a:p>
        </p:txBody>
      </p:sp>
      <p:sp>
        <p:nvSpPr>
          <p:cNvPr id="39" name="Shape 35"/>
          <p:cNvSpPr/>
          <p:nvPr/>
        </p:nvSpPr>
        <p:spPr>
          <a:xfrm>
            <a:off x="6278728" y="1804416"/>
            <a:ext cx="5410048" cy="365760"/>
          </a:xfrm>
          <a:prstGeom prst="roundRect">
            <a:avLst>
              <a:gd name="adj" fmla="val 20000"/>
            </a:avLst>
          </a:prstGeom>
          <a:solidFill>
            <a:srgbClr val="F3F4F6"/>
          </a:solidFill>
          <a:ln w="9525">
            <a:solidFill>
              <a:srgbClr val="D9D9D9"/>
            </a:solidFill>
            <a:prstDash val="solid"/>
          </a:ln>
        </p:spPr>
      </p:sp>
      <p:sp>
        <p:nvSpPr>
          <p:cNvPr id="40" name="Shape 36"/>
          <p:cNvSpPr/>
          <p:nvPr/>
        </p:nvSpPr>
        <p:spPr>
          <a:xfrm>
            <a:off x="6370168" y="1813560"/>
            <a:ext cx="347472" cy="347472"/>
          </a:xfrm>
          <a:prstGeom prst="ellipse">
            <a:avLst/>
          </a:prstGeom>
          <a:solidFill>
            <a:srgbClr val="FFFFFF"/>
          </a:solidFill>
          <a:ln w="12700">
            <a:solidFill>
              <a:srgbClr val="888888"/>
            </a:solidFill>
            <a:prstDash val="solid"/>
          </a:ln>
        </p:spPr>
      </p:sp>
      <p:sp>
        <p:nvSpPr>
          <p:cNvPr id="41" name="Text 37"/>
          <p:cNvSpPr/>
          <p:nvPr/>
        </p:nvSpPr>
        <p:spPr>
          <a:xfrm>
            <a:off x="6370168" y="1813560"/>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8</a:t>
            </a:r>
            <a:endParaRPr lang="en-US" sz="1200" dirty="0"/>
          </a:p>
        </p:txBody>
      </p:sp>
      <p:sp>
        <p:nvSpPr>
          <p:cNvPr id="42" name="Text 38"/>
          <p:cNvSpPr/>
          <p:nvPr/>
        </p:nvSpPr>
        <p:spPr>
          <a:xfrm>
            <a:off x="6845656" y="1804416"/>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Cell Specialisation</a:t>
            </a:r>
            <a:endParaRPr lang="en-US" sz="1800" dirty="0"/>
          </a:p>
        </p:txBody>
      </p:sp>
      <p:sp>
        <p:nvSpPr>
          <p:cNvPr id="43" name="Shape 39"/>
          <p:cNvSpPr/>
          <p:nvPr/>
        </p:nvSpPr>
        <p:spPr>
          <a:xfrm>
            <a:off x="6278728" y="2225040"/>
            <a:ext cx="5410048" cy="365760"/>
          </a:xfrm>
          <a:prstGeom prst="roundRect">
            <a:avLst>
              <a:gd name="adj" fmla="val 20000"/>
            </a:avLst>
          </a:prstGeom>
          <a:solidFill>
            <a:srgbClr val="F3F4F6"/>
          </a:solidFill>
          <a:ln w="9525">
            <a:solidFill>
              <a:srgbClr val="D9D9D9"/>
            </a:solidFill>
            <a:prstDash val="solid"/>
          </a:ln>
        </p:spPr>
      </p:sp>
      <p:sp>
        <p:nvSpPr>
          <p:cNvPr id="44" name="Shape 40"/>
          <p:cNvSpPr/>
          <p:nvPr/>
        </p:nvSpPr>
        <p:spPr>
          <a:xfrm>
            <a:off x="6370168" y="2234184"/>
            <a:ext cx="347472" cy="347472"/>
          </a:xfrm>
          <a:prstGeom prst="ellipse">
            <a:avLst/>
          </a:prstGeom>
          <a:solidFill>
            <a:srgbClr val="FFFFFF"/>
          </a:solidFill>
          <a:ln w="12700">
            <a:solidFill>
              <a:srgbClr val="888888"/>
            </a:solidFill>
            <a:prstDash val="solid"/>
          </a:ln>
        </p:spPr>
      </p:sp>
      <p:sp>
        <p:nvSpPr>
          <p:cNvPr id="45" name="Text 41"/>
          <p:cNvSpPr/>
          <p:nvPr/>
        </p:nvSpPr>
        <p:spPr>
          <a:xfrm>
            <a:off x="6370168" y="2234184"/>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9</a:t>
            </a:r>
            <a:endParaRPr lang="en-US" sz="1200" dirty="0"/>
          </a:p>
        </p:txBody>
      </p:sp>
      <p:sp>
        <p:nvSpPr>
          <p:cNvPr id="46" name="Text 42"/>
          <p:cNvSpPr/>
          <p:nvPr/>
        </p:nvSpPr>
        <p:spPr>
          <a:xfrm>
            <a:off x="6845656" y="2225040"/>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Specialised Plant Cells</a:t>
            </a:r>
            <a:endParaRPr lang="en-US" sz="1800" dirty="0"/>
          </a:p>
        </p:txBody>
      </p:sp>
      <p:sp>
        <p:nvSpPr>
          <p:cNvPr id="47" name="Shape 43"/>
          <p:cNvSpPr/>
          <p:nvPr/>
        </p:nvSpPr>
        <p:spPr>
          <a:xfrm>
            <a:off x="6278728" y="2645664"/>
            <a:ext cx="5410048" cy="365760"/>
          </a:xfrm>
          <a:prstGeom prst="roundRect">
            <a:avLst>
              <a:gd name="adj" fmla="val 20000"/>
            </a:avLst>
          </a:prstGeom>
          <a:solidFill>
            <a:srgbClr val="F3F4F6"/>
          </a:solidFill>
          <a:ln w="9525">
            <a:solidFill>
              <a:srgbClr val="D9D9D9"/>
            </a:solidFill>
            <a:prstDash val="solid"/>
          </a:ln>
        </p:spPr>
      </p:sp>
      <p:sp>
        <p:nvSpPr>
          <p:cNvPr id="48" name="Shape 44"/>
          <p:cNvSpPr/>
          <p:nvPr/>
        </p:nvSpPr>
        <p:spPr>
          <a:xfrm>
            <a:off x="6370168" y="2654808"/>
            <a:ext cx="347472" cy="347472"/>
          </a:xfrm>
          <a:prstGeom prst="ellipse">
            <a:avLst/>
          </a:prstGeom>
          <a:solidFill>
            <a:srgbClr val="FFFFFF"/>
          </a:solidFill>
          <a:ln w="12700">
            <a:solidFill>
              <a:srgbClr val="888888"/>
            </a:solidFill>
            <a:prstDash val="solid"/>
          </a:ln>
        </p:spPr>
      </p:sp>
      <p:sp>
        <p:nvSpPr>
          <p:cNvPr id="49" name="Text 45"/>
          <p:cNvSpPr/>
          <p:nvPr/>
        </p:nvSpPr>
        <p:spPr>
          <a:xfrm>
            <a:off x="6370168" y="2654808"/>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10</a:t>
            </a:r>
            <a:endParaRPr lang="en-US" sz="1200" dirty="0"/>
          </a:p>
        </p:txBody>
      </p:sp>
      <p:sp>
        <p:nvSpPr>
          <p:cNvPr id="50" name="Text 46"/>
          <p:cNvSpPr/>
          <p:nvPr/>
        </p:nvSpPr>
        <p:spPr>
          <a:xfrm>
            <a:off x="6845656" y="2645664"/>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Cell Organisation</a:t>
            </a:r>
            <a:endParaRPr lang="en-US" sz="1800" dirty="0"/>
          </a:p>
        </p:txBody>
      </p:sp>
      <p:sp>
        <p:nvSpPr>
          <p:cNvPr id="51" name="Shape 47"/>
          <p:cNvSpPr/>
          <p:nvPr/>
        </p:nvSpPr>
        <p:spPr>
          <a:xfrm>
            <a:off x="6278728" y="3066288"/>
            <a:ext cx="5410048" cy="365760"/>
          </a:xfrm>
          <a:prstGeom prst="roundRect">
            <a:avLst>
              <a:gd name="adj" fmla="val 20000"/>
            </a:avLst>
          </a:prstGeom>
          <a:solidFill>
            <a:srgbClr val="F3F4F6"/>
          </a:solidFill>
          <a:ln w="9525">
            <a:solidFill>
              <a:srgbClr val="D9D9D9"/>
            </a:solidFill>
            <a:prstDash val="solid"/>
          </a:ln>
        </p:spPr>
      </p:sp>
      <p:sp>
        <p:nvSpPr>
          <p:cNvPr id="52" name="Shape 48"/>
          <p:cNvSpPr/>
          <p:nvPr/>
        </p:nvSpPr>
        <p:spPr>
          <a:xfrm>
            <a:off x="6370168" y="3075432"/>
            <a:ext cx="347472" cy="347472"/>
          </a:xfrm>
          <a:prstGeom prst="ellipse">
            <a:avLst/>
          </a:prstGeom>
          <a:solidFill>
            <a:srgbClr val="FFFFFF"/>
          </a:solidFill>
          <a:ln w="12700">
            <a:solidFill>
              <a:srgbClr val="888888"/>
            </a:solidFill>
            <a:prstDash val="solid"/>
          </a:ln>
        </p:spPr>
      </p:sp>
      <p:sp>
        <p:nvSpPr>
          <p:cNvPr id="53" name="Text 49"/>
          <p:cNvSpPr/>
          <p:nvPr/>
        </p:nvSpPr>
        <p:spPr>
          <a:xfrm>
            <a:off x="6370168" y="3075432"/>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11</a:t>
            </a:r>
            <a:endParaRPr lang="en-US" sz="1200" dirty="0"/>
          </a:p>
        </p:txBody>
      </p:sp>
      <p:sp>
        <p:nvSpPr>
          <p:cNvPr id="54" name="Text 50"/>
          <p:cNvSpPr/>
          <p:nvPr/>
        </p:nvSpPr>
        <p:spPr>
          <a:xfrm>
            <a:off x="6845656" y="3066288"/>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Synthesis and Model Revision</a:t>
            </a:r>
            <a:endParaRPr lang="en-US" sz="1800" dirty="0"/>
          </a:p>
        </p:txBody>
      </p:sp>
      <p:sp>
        <p:nvSpPr>
          <p:cNvPr id="55" name="Shape 51"/>
          <p:cNvSpPr/>
          <p:nvPr/>
        </p:nvSpPr>
        <p:spPr>
          <a:xfrm>
            <a:off x="6278728" y="3486912"/>
            <a:ext cx="5410048" cy="365760"/>
          </a:xfrm>
          <a:prstGeom prst="roundRect">
            <a:avLst>
              <a:gd name="adj" fmla="val 20000"/>
            </a:avLst>
          </a:prstGeom>
          <a:solidFill>
            <a:srgbClr val="F3F4F6"/>
          </a:solidFill>
          <a:ln w="9525">
            <a:solidFill>
              <a:srgbClr val="D9D9D9"/>
            </a:solidFill>
            <a:prstDash val="solid"/>
          </a:ln>
        </p:spPr>
      </p:sp>
      <p:sp>
        <p:nvSpPr>
          <p:cNvPr id="56" name="Shape 52"/>
          <p:cNvSpPr/>
          <p:nvPr/>
        </p:nvSpPr>
        <p:spPr>
          <a:xfrm>
            <a:off x="6370168" y="3496056"/>
            <a:ext cx="347472" cy="347472"/>
          </a:xfrm>
          <a:prstGeom prst="ellipse">
            <a:avLst/>
          </a:prstGeom>
          <a:solidFill>
            <a:srgbClr val="FFFFFF"/>
          </a:solidFill>
          <a:ln w="12700">
            <a:solidFill>
              <a:srgbClr val="888888"/>
            </a:solidFill>
            <a:prstDash val="solid"/>
          </a:ln>
        </p:spPr>
      </p:sp>
      <p:sp>
        <p:nvSpPr>
          <p:cNvPr id="57" name="Text 53"/>
          <p:cNvSpPr/>
          <p:nvPr/>
        </p:nvSpPr>
        <p:spPr>
          <a:xfrm>
            <a:off x="6370168" y="3496056"/>
            <a:ext cx="347472" cy="34747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12</a:t>
            </a:r>
            <a:endParaRPr lang="en-US" sz="1200" dirty="0"/>
          </a:p>
        </p:txBody>
      </p:sp>
      <p:sp>
        <p:nvSpPr>
          <p:cNvPr id="58" name="Text 54"/>
          <p:cNvSpPr/>
          <p:nvPr/>
        </p:nvSpPr>
        <p:spPr>
          <a:xfrm>
            <a:off x="6845656" y="3486912"/>
            <a:ext cx="4769968"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Consolidation and Final Explanation</a:t>
            </a:r>
            <a:endParaRPr lang="en-US" sz="1800" dirty="0"/>
          </a:p>
        </p:txBody>
      </p:sp>
      <p:sp>
        <p:nvSpPr>
          <p:cNvPr id="59" name="Text 55"/>
          <p:cNvSpPr/>
          <p:nvPr/>
        </p:nvSpPr>
        <p:spPr>
          <a:xfrm>
            <a:off x="502920" y="4044696"/>
            <a:ext cx="11185855" cy="27432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So far: In Lesson 1 we met Amina's healing finger and asked why cells look so different.</a:t>
            </a:r>
            <a:endParaRPr lang="en-US" sz="1800" dirty="0"/>
          </a:p>
        </p:txBody>
      </p:sp>
      <p:sp>
        <p:nvSpPr>
          <p:cNvPr id="60" name="Shape 56"/>
          <p:cNvSpPr/>
          <p:nvPr/>
        </p:nvSpPr>
        <p:spPr>
          <a:xfrm>
            <a:off x="502920" y="4456176"/>
            <a:ext cx="11185855" cy="822960"/>
          </a:xfrm>
          <a:prstGeom prst="roundRect">
            <a:avLst>
              <a:gd name="adj" fmla="val 11111"/>
            </a:avLst>
          </a:prstGeom>
          <a:solidFill>
            <a:srgbClr val="111111"/>
          </a:solidFill>
          <a:ln w="12700">
            <a:solidFill>
              <a:srgbClr val="111111"/>
            </a:solidFill>
            <a:prstDash val="solid"/>
          </a:ln>
        </p:spPr>
      </p:sp>
      <p:sp>
        <p:nvSpPr>
          <p:cNvPr id="61" name="Text 57"/>
          <p:cNvSpPr/>
          <p:nvPr/>
        </p:nvSpPr>
        <p:spPr>
          <a:xfrm>
            <a:off x="731520" y="4501896"/>
            <a:ext cx="10728655"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Driving question: Why do cells in our body look so different from each other — and how does the shape of a cell determine the job it can do?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EDF9FC"/>
          </a:solidFill>
          <a:ln w="12700">
            <a:solidFill>
              <a:srgbClr val="EDF9FC"/>
            </a:solidFill>
            <a:prstDash val="solid"/>
          </a:ln>
        </p:spPr>
      </p:sp>
      <p:sp>
        <p:nvSpPr>
          <p:cNvPr id="3" name="Shape 1"/>
          <p:cNvSpPr/>
          <p:nvPr/>
        </p:nvSpPr>
        <p:spPr>
          <a:xfrm>
            <a:off x="10637215" y="-1005840"/>
            <a:ext cx="2377440" cy="2377440"/>
          </a:xfrm>
          <a:prstGeom prst="ellipse">
            <a:avLst/>
          </a:prstGeom>
          <a:solidFill>
            <a:srgbClr val="F2FBFD"/>
          </a:solidFill>
          <a:ln w="12700">
            <a:solidFill>
              <a:srgbClr val="F2FBFD"/>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893445" cy="292608"/>
          </a:xfrm>
          <a:prstGeom prst="roundRect">
            <a:avLst>
              <a:gd name="adj" fmla="val 50000"/>
            </a:avLst>
          </a:prstGeom>
          <a:solidFill>
            <a:srgbClr val="111111"/>
          </a:solidFill>
          <a:ln w="12700">
            <a:solidFill>
              <a:srgbClr val="111111"/>
            </a:solidFill>
            <a:prstDash val="solid"/>
          </a:ln>
        </p:spPr>
      </p:sp>
      <p:sp>
        <p:nvSpPr>
          <p:cNvPr id="8" name="Text 4"/>
          <p:cNvSpPr/>
          <p:nvPr/>
        </p:nvSpPr>
        <p:spPr>
          <a:xfrm>
            <a:off x="502920" y="292608"/>
            <a:ext cx="893445"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TODAY</a:t>
            </a:r>
            <a:endParaRPr lang="en-US" sz="1100" dirty="0"/>
          </a:p>
        </p:txBody>
      </p:sp>
      <p:sp>
        <p:nvSpPr>
          <p:cNvPr id="9" name="Text 5"/>
          <p:cNvSpPr/>
          <p:nvPr/>
        </p:nvSpPr>
        <p:spPr>
          <a:xfrm>
            <a:off x="502920" y="713232"/>
            <a:ext cx="1118585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By the end of this lesson you can…</a:t>
            </a:r>
            <a:endParaRPr lang="en-US" sz="3200" dirty="0"/>
          </a:p>
        </p:txBody>
      </p:sp>
      <p:sp>
        <p:nvSpPr>
          <p:cNvPr id="10" name="Shape 6"/>
          <p:cNvSpPr/>
          <p:nvPr/>
        </p:nvSpPr>
        <p:spPr>
          <a:xfrm>
            <a:off x="502920" y="1615440"/>
            <a:ext cx="512064" cy="512064"/>
          </a:xfrm>
          <a:prstGeom prst="ellipse">
            <a:avLst/>
          </a:prstGeom>
          <a:solidFill>
            <a:srgbClr val="47C6E4"/>
          </a:solidFill>
          <a:ln w="12700">
            <a:solidFill>
              <a:srgbClr val="47C6E4"/>
            </a:solidFill>
            <a:prstDash val="solid"/>
          </a:ln>
        </p:spPr>
      </p:sp>
      <p:sp>
        <p:nvSpPr>
          <p:cNvPr id="11" name="Text 7"/>
          <p:cNvSpPr/>
          <p:nvPr/>
        </p:nvSpPr>
        <p:spPr>
          <a:xfrm>
            <a:off x="502920" y="1615440"/>
            <a:ext cx="512064" cy="512064"/>
          </a:xfrm>
          <a:prstGeom prst="rect">
            <a:avLst/>
          </a:prstGeom>
          <a:noFill/>
          <a:ln/>
        </p:spPr>
        <p:txBody>
          <a:bodyPr wrap="square" lIns="0" tIns="0" rIns="0" bIns="0"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1</a:t>
            </a:r>
            <a:endParaRPr lang="en-US" sz="2000" dirty="0"/>
          </a:p>
        </p:txBody>
      </p:sp>
      <p:sp>
        <p:nvSpPr>
          <p:cNvPr id="12" name="Text 8"/>
          <p:cNvSpPr/>
          <p:nvPr/>
        </p:nvSpPr>
        <p:spPr>
          <a:xfrm>
            <a:off x="1234440" y="1383792"/>
            <a:ext cx="5669280" cy="9753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State </a:t>
            </a:r>
            <a:pPr indent="0" marL="0">
              <a:buNone/>
            </a:pPr>
            <a:r>
              <a:rPr lang="en-US" sz="2600" dirty="0">
                <a:solidFill>
                  <a:srgbClr val="1A1A1A"/>
                </a:solidFill>
                <a:latin typeface="Calibri" pitchFamily="34" charset="0"/>
                <a:ea typeface="Calibri" pitchFamily="34" charset="-122"/>
                <a:cs typeface="Calibri" pitchFamily="34" charset="-120"/>
              </a:rPr>
              <a:t>the three ideas of cell theory and the scientists who built them.</a:t>
            </a:r>
            <a:endParaRPr lang="en-US" sz="2600" dirty="0"/>
          </a:p>
        </p:txBody>
      </p:sp>
      <p:sp>
        <p:nvSpPr>
          <p:cNvPr id="13" name="Shape 9"/>
          <p:cNvSpPr/>
          <p:nvPr/>
        </p:nvSpPr>
        <p:spPr>
          <a:xfrm>
            <a:off x="502920" y="2773680"/>
            <a:ext cx="512064" cy="512064"/>
          </a:xfrm>
          <a:prstGeom prst="ellipse">
            <a:avLst/>
          </a:prstGeom>
          <a:solidFill>
            <a:srgbClr val="D7DF23"/>
          </a:solidFill>
          <a:ln w="12700">
            <a:solidFill>
              <a:srgbClr val="D7DF23"/>
            </a:solidFill>
            <a:prstDash val="solid"/>
          </a:ln>
        </p:spPr>
      </p:sp>
      <p:sp>
        <p:nvSpPr>
          <p:cNvPr id="14" name="Text 10"/>
          <p:cNvSpPr/>
          <p:nvPr/>
        </p:nvSpPr>
        <p:spPr>
          <a:xfrm>
            <a:off x="502920" y="2773680"/>
            <a:ext cx="512064" cy="512064"/>
          </a:xfrm>
          <a:prstGeom prst="rect">
            <a:avLst/>
          </a:prstGeom>
          <a:noFill/>
          <a:ln/>
        </p:spPr>
        <p:txBody>
          <a:bodyPr wrap="square" lIns="0" tIns="0" rIns="0" bIns="0"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2</a:t>
            </a:r>
            <a:endParaRPr lang="en-US" sz="2000" dirty="0"/>
          </a:p>
        </p:txBody>
      </p:sp>
      <p:sp>
        <p:nvSpPr>
          <p:cNvPr id="15" name="Text 11"/>
          <p:cNvSpPr/>
          <p:nvPr/>
        </p:nvSpPr>
        <p:spPr>
          <a:xfrm>
            <a:off x="1234440" y="2542032"/>
            <a:ext cx="5669280" cy="9753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Compare </a:t>
            </a:r>
            <a:pPr indent="0" marL="0">
              <a:buNone/>
            </a:pPr>
            <a:r>
              <a:rPr lang="en-US" sz="2600" dirty="0">
                <a:solidFill>
                  <a:srgbClr val="1A1A1A"/>
                </a:solidFill>
                <a:latin typeface="Calibri" pitchFamily="34" charset="0"/>
                <a:ea typeface="Calibri" pitchFamily="34" charset="-122"/>
                <a:cs typeface="Calibri" pitchFamily="34" charset="-120"/>
              </a:rPr>
              <a:t>prokaryotic and eukaryotic cells using their structures.</a:t>
            </a:r>
            <a:endParaRPr lang="en-US" sz="2600" dirty="0"/>
          </a:p>
        </p:txBody>
      </p:sp>
      <p:sp>
        <p:nvSpPr>
          <p:cNvPr id="16" name="Shape 12"/>
          <p:cNvSpPr/>
          <p:nvPr/>
        </p:nvSpPr>
        <p:spPr>
          <a:xfrm>
            <a:off x="502920" y="3931920"/>
            <a:ext cx="512064" cy="512064"/>
          </a:xfrm>
          <a:prstGeom prst="ellipse">
            <a:avLst/>
          </a:prstGeom>
          <a:solidFill>
            <a:srgbClr val="CF128C"/>
          </a:solidFill>
          <a:ln w="12700">
            <a:solidFill>
              <a:srgbClr val="CF128C"/>
            </a:solidFill>
            <a:prstDash val="solid"/>
          </a:ln>
        </p:spPr>
      </p:sp>
      <p:sp>
        <p:nvSpPr>
          <p:cNvPr id="17" name="Text 13"/>
          <p:cNvSpPr/>
          <p:nvPr/>
        </p:nvSpPr>
        <p:spPr>
          <a:xfrm>
            <a:off x="502920" y="393192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4"/>
          <p:cNvSpPr/>
          <p:nvPr/>
        </p:nvSpPr>
        <p:spPr>
          <a:xfrm>
            <a:off x="1234440" y="3700272"/>
            <a:ext cx="5669280" cy="9753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Describe </a:t>
            </a:r>
            <a:pPr indent="0" marL="0">
              <a:buNone/>
            </a:pPr>
            <a:r>
              <a:rPr lang="en-US" sz="2600" dirty="0">
                <a:solidFill>
                  <a:srgbClr val="1A1A1A"/>
                </a:solidFill>
                <a:latin typeface="Calibri" pitchFamily="34" charset="0"/>
                <a:ea typeface="Calibri" pitchFamily="34" charset="-122"/>
                <a:cs typeface="Calibri" pitchFamily="34" charset="-120"/>
              </a:rPr>
              <a:t>a cell by sketching and labelling Version 1 of your cell model.</a:t>
            </a:r>
            <a:endParaRPr lang="en-US" sz="2600" dirty="0"/>
          </a:p>
        </p:txBody>
      </p:sp>
      <p:sp>
        <p:nvSpPr>
          <p:cNvPr id="19" name="Shape 15"/>
          <p:cNvSpPr/>
          <p:nvPr/>
        </p:nvSpPr>
        <p:spPr>
          <a:xfrm>
            <a:off x="7269480" y="1383792"/>
            <a:ext cx="4419295" cy="4294632"/>
          </a:xfrm>
          <a:prstGeom prst="roundRect">
            <a:avLst>
              <a:gd name="adj" fmla="val 2555"/>
            </a:avLst>
          </a:prstGeom>
          <a:solidFill>
            <a:srgbClr val="F3F4F6"/>
          </a:solidFill>
          <a:ln w="12700">
            <a:solidFill>
              <a:srgbClr val="D9D9D9"/>
            </a:solidFill>
            <a:prstDash val="solid"/>
          </a:ln>
        </p:spPr>
      </p:sp>
      <p:sp>
        <p:nvSpPr>
          <p:cNvPr id="20" name="Text 16"/>
          <p:cNvSpPr/>
          <p:nvPr/>
        </p:nvSpPr>
        <p:spPr>
          <a:xfrm>
            <a:off x="7452360" y="1566672"/>
            <a:ext cx="4053535" cy="3928872"/>
          </a:xfrm>
          <a:prstGeom prst="rect">
            <a:avLst/>
          </a:prstGeom>
          <a:noFill/>
          <a:ln/>
        </p:spPr>
        <p:txBody>
          <a:bodyPr wrap="square" lIns="0" tIns="0" rIns="0" bIns="0" rtlCol="0" anchor="t"/>
          <a:lstStyle/>
          <a:p>
            <a:pPr indent="0" marL="0">
              <a:spcAft>
                <a:spcPts val="600"/>
              </a:spcAft>
              <a:buNone/>
            </a:pPr>
            <a:r>
              <a:rPr lang="en-US" sz="2000" b="1" dirty="0">
                <a:solidFill>
                  <a:srgbClr val="1A1A1A"/>
                </a:solidFill>
                <a:latin typeface="Calibri" pitchFamily="34" charset="0"/>
                <a:ea typeface="Calibri" pitchFamily="34" charset="-122"/>
                <a:cs typeface="Calibri" pitchFamily="34" charset="-120"/>
              </a:rPr>
              <a:t>Key words</a:t>
            </a:r>
            <a:endParaRPr lang="en-US" sz="2000" dirty="0"/>
          </a:p>
          <a:p>
            <a:pPr indent="0" marL="0">
              <a:buNone/>
            </a:pPr>
            <a:r>
              <a:rPr lang="en-US" sz="1800" b="1" dirty="0">
                <a:solidFill>
                  <a:srgbClr val="1A1A1A"/>
                </a:solidFill>
                <a:latin typeface="Calibri" pitchFamily="34" charset="0"/>
                <a:ea typeface="Calibri" pitchFamily="34" charset="-122"/>
                <a:cs typeface="Calibri" pitchFamily="34" charset="-120"/>
              </a:rPr>
              <a:t>cell</a:t>
            </a:r>
            <a:endParaRPr lang="en-US" sz="2000" dirty="0"/>
          </a:p>
          <a:p>
            <a:pPr indent="0" marL="0">
              <a:spcAft>
                <a:spcPts val="600"/>
              </a:spcAft>
              <a:buNone/>
            </a:pPr>
            <a:r>
              <a:rPr lang="en-US" sz="1600" dirty="0">
                <a:solidFill>
                  <a:srgbClr val="555555"/>
                </a:solidFill>
                <a:latin typeface="Calibri" pitchFamily="34" charset="0"/>
                <a:ea typeface="Calibri" pitchFamily="34" charset="-122"/>
                <a:cs typeface="Calibri" pitchFamily="34" charset="-120"/>
              </a:rPr>
              <a:t>The basic unit of life. All living things are made of cells.</a:t>
            </a:r>
            <a:endParaRPr lang="en-US" sz="2000" dirty="0"/>
          </a:p>
          <a:p>
            <a:pPr indent="0" marL="0">
              <a:buNone/>
            </a:pPr>
            <a:r>
              <a:rPr lang="en-US" sz="1800" b="1" dirty="0">
                <a:solidFill>
                  <a:srgbClr val="1A1A1A"/>
                </a:solidFill>
                <a:latin typeface="Calibri" pitchFamily="34" charset="0"/>
                <a:ea typeface="Calibri" pitchFamily="34" charset="-122"/>
                <a:cs typeface="Calibri" pitchFamily="34" charset="-120"/>
              </a:rPr>
              <a:t>cell theory</a:t>
            </a:r>
            <a:endParaRPr lang="en-US" sz="2000" dirty="0"/>
          </a:p>
          <a:p>
            <a:pPr indent="0" marL="0">
              <a:spcAft>
                <a:spcPts val="600"/>
              </a:spcAft>
              <a:buNone/>
            </a:pPr>
            <a:r>
              <a:rPr lang="en-US" sz="1600" dirty="0">
                <a:solidFill>
                  <a:srgbClr val="555555"/>
                </a:solidFill>
                <a:latin typeface="Calibri" pitchFamily="34" charset="0"/>
                <a:ea typeface="Calibri" pitchFamily="34" charset="-122"/>
                <a:cs typeface="Calibri" pitchFamily="34" charset="-120"/>
              </a:rPr>
              <a:t>Three big ideas about cells, built by many scientists over time.</a:t>
            </a:r>
            <a:endParaRPr lang="en-US" sz="2000" dirty="0"/>
          </a:p>
          <a:p>
            <a:pPr indent="0" marL="0">
              <a:buNone/>
            </a:pPr>
            <a:r>
              <a:rPr lang="en-US" sz="1800" b="1" dirty="0">
                <a:solidFill>
                  <a:srgbClr val="1A1A1A"/>
                </a:solidFill>
                <a:latin typeface="Calibri" pitchFamily="34" charset="0"/>
                <a:ea typeface="Calibri" pitchFamily="34" charset="-122"/>
                <a:cs typeface="Calibri" pitchFamily="34" charset="-120"/>
              </a:rPr>
              <a:t>analogy</a:t>
            </a:r>
            <a:endParaRPr lang="en-US" sz="2000" dirty="0"/>
          </a:p>
          <a:p>
            <a:pPr indent="0" marL="0">
              <a:spcAft>
                <a:spcPts val="600"/>
              </a:spcAft>
              <a:buNone/>
            </a:pPr>
            <a:r>
              <a:rPr lang="en-US" sz="1600" dirty="0">
                <a:solidFill>
                  <a:srgbClr val="555555"/>
                </a:solidFill>
                <a:latin typeface="Calibri" pitchFamily="34" charset="0"/>
                <a:ea typeface="Calibri" pitchFamily="34" charset="-122"/>
                <a:cs typeface="Calibri" pitchFamily="34" charset="-120"/>
              </a:rPr>
              <a:t>Comparing something new to something you already know.</a:t>
            </a:r>
            <a:endParaRPr lang="en-US" sz="2000" dirty="0"/>
          </a:p>
          <a:p>
            <a:pPr indent="0" marL="0">
              <a:buNone/>
            </a:pPr>
            <a:r>
              <a:rPr lang="en-US" sz="1800" b="1" dirty="0">
                <a:solidFill>
                  <a:srgbClr val="1A1A1A"/>
                </a:solidFill>
                <a:latin typeface="Calibri" pitchFamily="34" charset="0"/>
                <a:ea typeface="Calibri" pitchFamily="34" charset="-122"/>
                <a:cs typeface="Calibri" pitchFamily="34" charset="-120"/>
              </a:rPr>
              <a:t>model</a:t>
            </a:r>
            <a:endParaRPr lang="en-US" sz="2000" dirty="0"/>
          </a:p>
          <a:p>
            <a:pPr indent="0" marL="0">
              <a:spcAft>
                <a:spcPts val="600"/>
              </a:spcAft>
              <a:buNone/>
            </a:pPr>
            <a:r>
              <a:rPr lang="en-US" sz="1600" dirty="0">
                <a:solidFill>
                  <a:srgbClr val="555555"/>
                </a:solidFill>
                <a:latin typeface="Calibri" pitchFamily="34" charset="0"/>
                <a:ea typeface="Calibri" pitchFamily="34" charset="-122"/>
                <a:cs typeface="Calibri" pitchFamily="34" charset="-120"/>
              </a:rPr>
              <a:t>A drawing or idea that shows how something works. We can improve it.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EDF9FC"/>
          </a:solidFill>
          <a:ln w="12700">
            <a:solidFill>
              <a:srgbClr val="EDF9FC"/>
            </a:solidFill>
            <a:prstDash val="solid"/>
          </a:ln>
        </p:spPr>
      </p:sp>
      <p:sp>
        <p:nvSpPr>
          <p:cNvPr id="3" name="Shape 1"/>
          <p:cNvSpPr/>
          <p:nvPr/>
        </p:nvSpPr>
        <p:spPr>
          <a:xfrm>
            <a:off x="10637215" y="-1005840"/>
            <a:ext cx="2377440" cy="2377440"/>
          </a:xfrm>
          <a:prstGeom prst="ellipse">
            <a:avLst/>
          </a:prstGeom>
          <a:solidFill>
            <a:srgbClr val="F2FBFD"/>
          </a:solidFill>
          <a:ln w="12700">
            <a:solidFill>
              <a:srgbClr val="F2FBFD"/>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3140" cy="292608"/>
          </a:xfrm>
          <a:prstGeom prst="roundRect">
            <a:avLst>
              <a:gd name="adj" fmla="val 50000"/>
            </a:avLst>
          </a:prstGeom>
          <a:solidFill>
            <a:srgbClr val="47C6E4"/>
          </a:solidFill>
          <a:ln w="12700">
            <a:solidFill>
              <a:srgbClr val="47C6E4"/>
            </a:solidFill>
            <a:prstDash val="solid"/>
          </a:ln>
        </p:spPr>
      </p:sp>
      <p:sp>
        <p:nvSpPr>
          <p:cNvPr id="8" name="Text 4"/>
          <p:cNvSpPr/>
          <p:nvPr/>
        </p:nvSpPr>
        <p:spPr>
          <a:xfrm>
            <a:off x="502920" y="292608"/>
            <a:ext cx="99314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PREDICT</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DAF4FA"/>
          </a:solidFill>
          <a:ln w="31750">
            <a:solidFill>
              <a:srgbClr val="47C6E4"/>
            </a:solidFill>
            <a:prstDash val="solid"/>
          </a:ln>
        </p:spPr>
      </p:sp>
      <p:pic>
        <p:nvPicPr>
          <p:cNvPr id="12" name="Image 2" descr="/home/markk/ares/cbe-presentations/generators/presentations/assets/emoji/thinking.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Predict: What do all cells share?</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Think alone first. Write three sentences.</a:t>
            </a:r>
            <a:endParaRPr lang="en-US" sz="2000" dirty="0"/>
          </a:p>
        </p:txBody>
      </p:sp>
      <p:pic>
        <p:nvPicPr>
          <p:cNvPr id="15" name="Image 3" descr="A girl smiling and holding up one finger with a neat plaster on it, beside a chopping board with sliced onions.">    </p:cNvPr>
          <p:cNvPicPr>
            <a:picLocks noChangeAspect="1"/>
          </p:cNvPicPr>
          <p:nvPr/>
        </p:nvPicPr>
        <p:blipFill>
          <a:blip r:embed="rId4"/>
          <a:stretch>
            <a:fillRect/>
          </a:stretch>
        </p:blipFill>
        <p:spPr>
          <a:xfrm>
            <a:off x="7482535" y="1813560"/>
            <a:ext cx="4206240" cy="4206240"/>
          </a:xfrm>
          <a:prstGeom prst="rect">
            <a:avLst/>
          </a:prstGeom>
        </p:spPr>
      </p:pic>
      <p:sp>
        <p:nvSpPr>
          <p:cNvPr id="16" name="Shape 10"/>
          <p:cNvSpPr/>
          <p:nvPr/>
        </p:nvSpPr>
        <p:spPr>
          <a:xfrm>
            <a:off x="7619695" y="1950720"/>
            <a:ext cx="1828800" cy="868680"/>
          </a:xfrm>
          <a:prstGeom prst="roundRect">
            <a:avLst>
              <a:gd name="adj" fmla="val 21053"/>
            </a:avLst>
          </a:prstGeom>
          <a:solidFill>
            <a:srgbClr val="111111"/>
          </a:solidFill>
          <a:ln w="12700">
            <a:solidFill>
              <a:srgbClr val="111111"/>
            </a:solidFill>
            <a:prstDash val="solid"/>
          </a:ln>
        </p:spPr>
      </p:sp>
      <p:pic>
        <p:nvPicPr>
          <p:cNvPr id="17" name="Image 4" descr="/home/markk/ares/cbe-presentations/generators/presentations/assets/emoji/stopwatch.png">    </p:cNvPr>
          <p:cNvPicPr>
            <a:picLocks noChangeAspect="1"/>
          </p:cNvPicPr>
          <p:nvPr/>
        </p:nvPicPr>
        <p:blipFill>
          <a:blip r:embed="rId5"/>
          <a:stretch>
            <a:fillRect/>
          </a:stretch>
        </p:blipFill>
        <p:spPr>
          <a:xfrm>
            <a:off x="7756855" y="2060448"/>
            <a:ext cx="457200" cy="457200"/>
          </a:xfrm>
          <a:prstGeom prst="rect">
            <a:avLst/>
          </a:prstGeom>
        </p:spPr>
      </p:pic>
      <p:sp>
        <p:nvSpPr>
          <p:cNvPr id="18" name="Text 11"/>
          <p:cNvSpPr/>
          <p:nvPr/>
        </p:nvSpPr>
        <p:spPr>
          <a:xfrm>
            <a:off x="8168335" y="1987296"/>
            <a:ext cx="11887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3:00</a:t>
            </a:r>
            <a:endParaRPr lang="en-US" sz="3000" dirty="0"/>
          </a:p>
        </p:txBody>
      </p:sp>
      <p:sp>
        <p:nvSpPr>
          <p:cNvPr id="19" name="Text 12"/>
          <p:cNvSpPr/>
          <p:nvPr/>
        </p:nvSpPr>
        <p:spPr>
          <a:xfrm>
            <a:off x="7711135" y="2526792"/>
            <a:ext cx="164592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Silent writing</a:t>
            </a:r>
            <a:endParaRPr lang="en-US" sz="1200" dirty="0"/>
          </a:p>
        </p:txBody>
      </p:sp>
      <p:sp>
        <p:nvSpPr>
          <p:cNvPr id="20" name="Shape 13"/>
          <p:cNvSpPr/>
          <p:nvPr/>
        </p:nvSpPr>
        <p:spPr>
          <a:xfrm>
            <a:off x="502920" y="1761744"/>
            <a:ext cx="6613855" cy="2746248"/>
          </a:xfrm>
          <a:prstGeom prst="roundRect">
            <a:avLst>
              <a:gd name="adj" fmla="val 7325"/>
            </a:avLst>
          </a:prstGeom>
          <a:solidFill>
            <a:srgbClr val="E5F7FB"/>
          </a:solidFill>
          <a:ln w="28575">
            <a:solidFill>
              <a:srgbClr val="47C6E4"/>
            </a:solidFill>
            <a:prstDash val="solid"/>
          </a:ln>
        </p:spPr>
      </p:sp>
      <p:sp>
        <p:nvSpPr>
          <p:cNvPr id="21" name="Shape 14"/>
          <p:cNvSpPr/>
          <p:nvPr/>
        </p:nvSpPr>
        <p:spPr>
          <a:xfrm>
            <a:off x="704088" y="2778252"/>
            <a:ext cx="713232" cy="713232"/>
          </a:xfrm>
          <a:prstGeom prst="ellipse">
            <a:avLst/>
          </a:prstGeom>
          <a:solidFill>
            <a:srgbClr val="47C6E4"/>
          </a:solidFill>
          <a:ln w="12700">
            <a:solidFill>
              <a:srgbClr val="47C6E4"/>
            </a:solidFill>
            <a:prstDash val="solid"/>
          </a:ln>
        </p:spPr>
      </p:sp>
      <p:sp>
        <p:nvSpPr>
          <p:cNvPr id="22" name="Text 15"/>
          <p:cNvSpPr/>
          <p:nvPr/>
        </p:nvSpPr>
        <p:spPr>
          <a:xfrm>
            <a:off x="704088" y="2778252"/>
            <a:ext cx="713232" cy="713232"/>
          </a:xfrm>
          <a:prstGeom prst="rect">
            <a:avLst/>
          </a:prstGeom>
          <a:noFill/>
          <a:ln/>
        </p:spPr>
        <p:txBody>
          <a:bodyPr wrap="square" lIns="0" tIns="0" rIns="0" bIns="0" rtlCol="0" anchor="ctr"/>
          <a:lstStyle/>
          <a:p>
            <a:pPr algn="ctr" indent="0" marL="0">
              <a:buNone/>
            </a:pPr>
            <a:r>
              <a:rPr lang="en-US" sz="3400" b="1" dirty="0">
                <a:solidFill>
                  <a:srgbClr val="1A1A1A"/>
                </a:solidFill>
                <a:latin typeface="Calibri" pitchFamily="34" charset="0"/>
                <a:ea typeface="Calibri" pitchFamily="34" charset="-122"/>
                <a:cs typeface="Calibri" pitchFamily="34" charset="-120"/>
              </a:rPr>
              <a:t>?</a:t>
            </a:r>
            <a:endParaRPr lang="en-US" sz="3400" dirty="0"/>
          </a:p>
        </p:txBody>
      </p:sp>
      <p:sp>
        <p:nvSpPr>
          <p:cNvPr id="23" name="Text 16"/>
          <p:cNvSpPr/>
          <p:nvPr/>
        </p:nvSpPr>
        <p:spPr>
          <a:xfrm>
            <a:off x="1645920" y="1807464"/>
            <a:ext cx="5260543" cy="2654808"/>
          </a:xfrm>
          <a:prstGeom prst="rect">
            <a:avLst/>
          </a:prstGeom>
          <a:noFill/>
          <a:ln/>
        </p:spPr>
        <p:txBody>
          <a:bodyPr wrap="square" lIns="0" tIns="0" rIns="0" bIns="0" rtlCol="0" anchor="ctr"/>
          <a:lstStyle/>
          <a:p>
            <a:pPr indent="0" marL="0">
              <a:buNone/>
            </a:pPr>
            <a:r>
              <a:rPr lang="en-US" sz="3100" b="1" dirty="0">
                <a:solidFill>
                  <a:srgbClr val="1A1A1A"/>
                </a:solidFill>
                <a:latin typeface="Calibri" pitchFamily="34" charset="0"/>
                <a:ea typeface="Calibri" pitchFamily="34" charset="-122"/>
                <a:cs typeface="Calibri" pitchFamily="34" charset="-120"/>
              </a:rPr>
              <a:t>Platelets, neutrophils, fibroblasts and skin cells helped heal Amina's finger. They look different. What do ALL cells share?</a:t>
            </a:r>
            <a:endParaRPr lang="en-US" sz="3100" dirty="0"/>
          </a:p>
        </p:txBody>
      </p:sp>
      <p:sp>
        <p:nvSpPr>
          <p:cNvPr id="24" name="Shape 17"/>
          <p:cNvSpPr/>
          <p:nvPr/>
        </p:nvSpPr>
        <p:spPr>
          <a:xfrm>
            <a:off x="502920" y="4690872"/>
            <a:ext cx="6613855" cy="1304544"/>
          </a:xfrm>
          <a:prstGeom prst="roundRect">
            <a:avLst>
              <a:gd name="adj" fmla="val 9813"/>
            </a:avLst>
          </a:prstGeom>
          <a:solidFill>
            <a:srgbClr val="DAF4FA"/>
          </a:solidFill>
          <a:ln w="15875">
            <a:solidFill>
              <a:srgbClr val="87DAED"/>
            </a:solidFill>
            <a:prstDash val="solid"/>
          </a:ln>
        </p:spPr>
      </p:sp>
      <p:sp>
        <p:nvSpPr>
          <p:cNvPr id="25" name="Shape 18"/>
          <p:cNvSpPr/>
          <p:nvPr/>
        </p:nvSpPr>
        <p:spPr>
          <a:xfrm>
            <a:off x="521208" y="4855464"/>
            <a:ext cx="91440" cy="975360"/>
          </a:xfrm>
          <a:prstGeom prst="rect">
            <a:avLst/>
          </a:prstGeom>
          <a:solidFill>
            <a:srgbClr val="47C6E4"/>
          </a:solidFill>
          <a:ln w="12700">
            <a:solidFill>
              <a:srgbClr val="47C6E4"/>
            </a:solidFill>
            <a:prstDash val="solid"/>
          </a:ln>
        </p:spPr>
      </p:sp>
      <p:sp>
        <p:nvSpPr>
          <p:cNvPr id="26" name="Text 19"/>
          <p:cNvSpPr/>
          <p:nvPr/>
        </p:nvSpPr>
        <p:spPr>
          <a:xfrm>
            <a:off x="868680" y="4828032"/>
            <a:ext cx="5973775" cy="1030224"/>
          </a:xfrm>
          <a:prstGeom prst="rect">
            <a:avLst/>
          </a:prstGeom>
          <a:noFill/>
          <a:ln/>
        </p:spPr>
        <p:txBody>
          <a:bodyPr wrap="square" lIns="0" tIns="0" rIns="0" bIns="0" rtlCol="0" anchor="ctr"/>
          <a:lstStyle/>
          <a:p>
            <a:pPr indent="0" marL="0">
              <a:spcAft>
                <a:spcPts val="600"/>
              </a:spcAft>
              <a:buNone/>
            </a:pPr>
            <a:r>
              <a:rPr lang="en-US" sz="2900" b="1" dirty="0">
                <a:solidFill>
                  <a:srgbClr val="1A1A1A"/>
                </a:solidFill>
                <a:latin typeface="Calibri" pitchFamily="34" charset="0"/>
                <a:ea typeface="Calibri" pitchFamily="34" charset="-122"/>
                <a:cs typeface="Calibri" pitchFamily="34" charset="-120"/>
              </a:rPr>
              <a:t>Write 3 sentences in your notebook.</a:t>
            </a:r>
            <a:endParaRPr lang="en-US" sz="2900" dirty="0"/>
          </a:p>
          <a:p>
            <a:pPr indent="0" marL="0">
              <a:spcAft>
                <a:spcPts val="600"/>
              </a:spcAft>
              <a:buNone/>
            </a:pPr>
            <a:r>
              <a:rPr lang="en-US" sz="2900" b="1" dirty="0">
                <a:solidFill>
                  <a:srgbClr val="1A1A1A"/>
                </a:solidFill>
                <a:latin typeface="Calibri" pitchFamily="34" charset="0"/>
                <a:ea typeface="Calibri" pitchFamily="34" charset="-122"/>
                <a:cs typeface="Calibri" pitchFamily="34" charset="-120"/>
              </a:rPr>
              <a:t>I think all cells share… because…</a:t>
            </a:r>
            <a:endParaRPr lang="en-US" sz="2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EDF9FC"/>
          </a:solidFill>
          <a:ln w="12700">
            <a:solidFill>
              <a:srgbClr val="EDF9FC"/>
            </a:solidFill>
            <a:prstDash val="solid"/>
          </a:ln>
        </p:spPr>
      </p:sp>
      <p:sp>
        <p:nvSpPr>
          <p:cNvPr id="3" name="Shape 1"/>
          <p:cNvSpPr/>
          <p:nvPr/>
        </p:nvSpPr>
        <p:spPr>
          <a:xfrm>
            <a:off x="10637215" y="-1005840"/>
            <a:ext cx="2377440" cy="2377440"/>
          </a:xfrm>
          <a:prstGeom prst="ellipse">
            <a:avLst/>
          </a:prstGeom>
          <a:solidFill>
            <a:srgbClr val="F2FBFD"/>
          </a:solidFill>
          <a:ln w="12700">
            <a:solidFill>
              <a:srgbClr val="F2FBFD"/>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3140" cy="292608"/>
          </a:xfrm>
          <a:prstGeom prst="roundRect">
            <a:avLst>
              <a:gd name="adj" fmla="val 50000"/>
            </a:avLst>
          </a:prstGeom>
          <a:solidFill>
            <a:srgbClr val="47C6E4"/>
          </a:solidFill>
          <a:ln w="12700">
            <a:solidFill>
              <a:srgbClr val="47C6E4"/>
            </a:solidFill>
            <a:prstDash val="solid"/>
          </a:ln>
        </p:spPr>
      </p:sp>
      <p:sp>
        <p:nvSpPr>
          <p:cNvPr id="8" name="Text 4"/>
          <p:cNvSpPr/>
          <p:nvPr/>
        </p:nvSpPr>
        <p:spPr>
          <a:xfrm>
            <a:off x="502920" y="292608"/>
            <a:ext cx="99314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PREDICT</a:t>
            </a:r>
            <a:endParaRPr lang="en-US" sz="1100" dirty="0"/>
          </a:p>
        </p:txBody>
      </p:sp>
      <p:sp>
        <p:nvSpPr>
          <p:cNvPr id="9" name="Shape 5"/>
          <p:cNvSpPr/>
          <p:nvPr/>
        </p:nvSpPr>
        <p:spPr>
          <a:xfrm>
            <a:off x="502920" y="713232"/>
            <a:ext cx="713232" cy="713232"/>
          </a:xfrm>
          <a:prstGeom prst="ellipse">
            <a:avLst/>
          </a:prstGeom>
          <a:solidFill>
            <a:srgbClr val="DAF4FA"/>
          </a:solidFill>
          <a:ln w="31750">
            <a:solidFill>
              <a:srgbClr val="47C6E4"/>
            </a:solidFill>
            <a:prstDash val="solid"/>
          </a:ln>
        </p:spPr>
      </p:sp>
      <p:pic>
        <p:nvPicPr>
          <p:cNvPr id="10" name="Image 2" descr="/home/markk/ares/cbe-presentations/generators/presentations/assets/emoji/thinking.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Pair share</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Talk with your shoulder partner.</a:t>
            </a:r>
            <a:endParaRPr lang="en-US" sz="2000" dirty="0"/>
          </a:p>
        </p:txBody>
      </p:sp>
      <p:sp>
        <p:nvSpPr>
          <p:cNvPr id="13" name="Shape 8"/>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4"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5" name="Text 9"/>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1:30</a:t>
            </a:r>
            <a:endParaRPr lang="en-US" sz="3000" dirty="0"/>
          </a:p>
        </p:txBody>
      </p:sp>
      <p:sp>
        <p:nvSpPr>
          <p:cNvPr id="16" name="Text 10"/>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Pair share</a:t>
            </a:r>
            <a:endParaRPr lang="en-US" sz="1200" dirty="0"/>
          </a:p>
        </p:txBody>
      </p:sp>
      <p:pic>
        <p:nvPicPr>
          <p:cNvPr id="17" name="Image 4" descr="/home/markk/ares/cbe-presentations/generators/presentations/assets/emoji/speech.png">    </p:cNvPr>
          <p:cNvPicPr>
            <a:picLocks noChangeAspect="1"/>
          </p:cNvPicPr>
          <p:nvPr/>
        </p:nvPicPr>
        <p:blipFill>
          <a:blip r:embed="rId5"/>
          <a:stretch>
            <a:fillRect/>
          </a:stretch>
        </p:blipFill>
        <p:spPr>
          <a:xfrm>
            <a:off x="502920" y="1825752"/>
            <a:ext cx="475488" cy="475488"/>
          </a:xfrm>
          <a:prstGeom prst="rect">
            <a:avLst/>
          </a:prstGeom>
        </p:spPr>
      </p:pic>
      <p:sp>
        <p:nvSpPr>
          <p:cNvPr id="18" name="Text 11"/>
          <p:cNvSpPr/>
          <p:nvPr/>
        </p:nvSpPr>
        <p:spPr>
          <a:xfrm>
            <a:off x="1161288" y="1761744"/>
            <a:ext cx="8168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Read your 3 sentences to your partner.</a:t>
            </a:r>
            <a:endParaRPr lang="en-US" sz="3000" dirty="0"/>
          </a:p>
        </p:txBody>
      </p:sp>
      <p:pic>
        <p:nvPicPr>
          <p:cNvPr id="19" name="Image 5" descr="/home/markk/ares/cbe-presentations/generators/presentations/assets/emoji/ear.png">    </p:cNvPr>
          <p:cNvPicPr>
            <a:picLocks noChangeAspect="1"/>
          </p:cNvPicPr>
          <p:nvPr/>
        </p:nvPicPr>
        <p:blipFill>
          <a:blip r:embed="rId6"/>
          <a:stretch>
            <a:fillRect/>
          </a:stretch>
        </p:blipFill>
        <p:spPr>
          <a:xfrm>
            <a:off x="502920" y="2520696"/>
            <a:ext cx="475488" cy="475488"/>
          </a:xfrm>
          <a:prstGeom prst="rect">
            <a:avLst/>
          </a:prstGeom>
        </p:spPr>
      </p:pic>
      <p:sp>
        <p:nvSpPr>
          <p:cNvPr id="20" name="Text 12"/>
          <p:cNvSpPr/>
          <p:nvPr/>
        </p:nvSpPr>
        <p:spPr>
          <a:xfrm>
            <a:off x="1161288" y="2456688"/>
            <a:ext cx="8168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Listen to your partner's ideas.</a:t>
            </a:r>
            <a:endParaRPr lang="en-US" sz="3000" dirty="0"/>
          </a:p>
        </p:txBody>
      </p:sp>
      <p:pic>
        <p:nvPicPr>
          <p:cNvPr id="21" name="Image 6" descr="/home/markk/ares/cbe-presentations/generators/presentations/assets/emoji/handshake.png">    </p:cNvPr>
          <p:cNvPicPr>
            <a:picLocks noChangeAspect="1"/>
          </p:cNvPicPr>
          <p:nvPr/>
        </p:nvPicPr>
        <p:blipFill>
          <a:blip r:embed="rId7"/>
          <a:stretch>
            <a:fillRect/>
          </a:stretch>
        </p:blipFill>
        <p:spPr>
          <a:xfrm>
            <a:off x="502920" y="3215640"/>
            <a:ext cx="475488" cy="475488"/>
          </a:xfrm>
          <a:prstGeom prst="rect">
            <a:avLst/>
          </a:prstGeom>
        </p:spPr>
      </p:pic>
      <p:sp>
        <p:nvSpPr>
          <p:cNvPr id="22" name="Text 13"/>
          <p:cNvSpPr/>
          <p:nvPr/>
        </p:nvSpPr>
        <p:spPr>
          <a:xfrm>
            <a:off x="1161288" y="3151632"/>
            <a:ext cx="8168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Agree on one idea to share.</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EDF9FC"/>
          </a:solidFill>
          <a:ln w="12700">
            <a:solidFill>
              <a:srgbClr val="EDF9FC"/>
            </a:solidFill>
            <a:prstDash val="solid"/>
          </a:ln>
        </p:spPr>
      </p:sp>
      <p:sp>
        <p:nvSpPr>
          <p:cNvPr id="3" name="Shape 1"/>
          <p:cNvSpPr/>
          <p:nvPr/>
        </p:nvSpPr>
        <p:spPr>
          <a:xfrm>
            <a:off x="10637215" y="-1005840"/>
            <a:ext cx="2377440" cy="2377440"/>
          </a:xfrm>
          <a:prstGeom prst="ellipse">
            <a:avLst/>
          </a:prstGeom>
          <a:solidFill>
            <a:srgbClr val="F2FBFD"/>
          </a:solidFill>
          <a:ln w="12700">
            <a:solidFill>
              <a:srgbClr val="F2FBFD"/>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3140" cy="292608"/>
          </a:xfrm>
          <a:prstGeom prst="roundRect">
            <a:avLst>
              <a:gd name="adj" fmla="val 50000"/>
            </a:avLst>
          </a:prstGeom>
          <a:solidFill>
            <a:srgbClr val="47C6E4"/>
          </a:solidFill>
          <a:ln w="12700">
            <a:solidFill>
              <a:srgbClr val="47C6E4"/>
            </a:solidFill>
            <a:prstDash val="solid"/>
          </a:ln>
        </p:spPr>
      </p:sp>
      <p:sp>
        <p:nvSpPr>
          <p:cNvPr id="8" name="Text 4"/>
          <p:cNvSpPr/>
          <p:nvPr/>
        </p:nvSpPr>
        <p:spPr>
          <a:xfrm>
            <a:off x="502920" y="292608"/>
            <a:ext cx="99314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PREDICT</a:t>
            </a:r>
            <a:endParaRPr lang="en-US" sz="1100" dirty="0"/>
          </a:p>
        </p:txBody>
      </p:sp>
      <p:sp>
        <p:nvSpPr>
          <p:cNvPr id="9" name="Shape 5"/>
          <p:cNvSpPr/>
          <p:nvPr/>
        </p:nvSpPr>
        <p:spPr>
          <a:xfrm>
            <a:off x="502920" y="713232"/>
            <a:ext cx="713232" cy="713232"/>
          </a:xfrm>
          <a:prstGeom prst="ellipse">
            <a:avLst/>
          </a:prstGeom>
          <a:solidFill>
            <a:srgbClr val="DAF4FA"/>
          </a:solidFill>
          <a:ln w="31750">
            <a:solidFill>
              <a:srgbClr val="47C6E4"/>
            </a:solidFill>
            <a:prstDash val="solid"/>
          </a:ln>
        </p:spPr>
      </p:sp>
      <p:pic>
        <p:nvPicPr>
          <p:cNvPr id="10" name="Image 2" descr="/home/markk/ares/cbe-presentations/generators/presentations/assets/emoji/thinking.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BEFORE — Our Predictions</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Ideas from the class. We do not correct them yet.</a:t>
            </a:r>
            <a:endParaRPr lang="en-US" sz="2000" dirty="0"/>
          </a:p>
        </p:txBody>
      </p:sp>
      <p:sp>
        <p:nvSpPr>
          <p:cNvPr id="13" name="Shape 8"/>
          <p:cNvSpPr/>
          <p:nvPr/>
        </p:nvSpPr>
        <p:spPr>
          <a:xfrm>
            <a:off x="502920" y="1761744"/>
            <a:ext cx="11185855" cy="1395984"/>
          </a:xfrm>
          <a:prstGeom prst="roundRect">
            <a:avLst>
              <a:gd name="adj" fmla="val 9170"/>
            </a:avLst>
          </a:prstGeom>
          <a:solidFill>
            <a:srgbClr val="DAF4FA"/>
          </a:solidFill>
          <a:ln w="15875">
            <a:solidFill>
              <a:srgbClr val="87DAED"/>
            </a:solidFill>
            <a:prstDash val="solid"/>
          </a:ln>
        </p:spPr>
      </p:sp>
      <p:sp>
        <p:nvSpPr>
          <p:cNvPr id="14" name="Shape 9"/>
          <p:cNvSpPr/>
          <p:nvPr/>
        </p:nvSpPr>
        <p:spPr>
          <a:xfrm>
            <a:off x="521208" y="1926336"/>
            <a:ext cx="91440" cy="1066800"/>
          </a:xfrm>
          <a:prstGeom prst="rect">
            <a:avLst/>
          </a:prstGeom>
          <a:solidFill>
            <a:srgbClr val="47C6E4"/>
          </a:solidFill>
          <a:ln w="12700">
            <a:solidFill>
              <a:srgbClr val="47C6E4"/>
            </a:solidFill>
            <a:prstDash val="solid"/>
          </a:ln>
        </p:spPr>
      </p:sp>
      <p:sp>
        <p:nvSpPr>
          <p:cNvPr id="15" name="Text 10"/>
          <p:cNvSpPr/>
          <p:nvPr/>
        </p:nvSpPr>
        <p:spPr>
          <a:xfrm>
            <a:off x="868680" y="1898904"/>
            <a:ext cx="10545775" cy="1121664"/>
          </a:xfrm>
          <a:prstGeom prst="rect">
            <a:avLst/>
          </a:prstGeom>
          <a:noFill/>
          <a:ln/>
        </p:spPr>
        <p:txBody>
          <a:bodyPr wrap="square" lIns="0" tIns="0" rIns="0" bIns="0" rtlCol="0" anchor="ctr"/>
          <a:lstStyle/>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Key words from your ideas go on the board.</a:t>
            </a:r>
            <a:endParaRPr lang="en-US" sz="3200" dirty="0"/>
          </a:p>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We will test these ideas today.</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502920" y="713232"/>
            <a:ext cx="713232" cy="713232"/>
          </a:xfrm>
          <a:prstGeom prst="ellipse">
            <a:avLst/>
          </a:prstGeom>
          <a:solidFill>
            <a:srgbClr val="F7F9D3"/>
          </a:solidFill>
          <a:ln w="31750">
            <a:solidFill>
              <a:srgbClr val="D7DF23"/>
            </a:solidFill>
            <a:prstDash val="solid"/>
          </a:ln>
        </p:spPr>
      </p:sp>
      <p:pic>
        <p:nvPicPr>
          <p:cNvPr id="10"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The ugali kitchen</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Same basic tools. Set up in different ways.</a:t>
            </a:r>
            <a:endParaRPr lang="en-US" sz="2000" dirty="0"/>
          </a:p>
        </p:txBody>
      </p:sp>
      <p:pic>
        <p:nvPicPr>
          <p:cNvPr id="13" name="Image 3" descr="A drawing of a Kenyan kitchen with a jiko, a sufuria, a mwiko, a chopping board with onions and a recipe book on a shelf.">    </p:cNvPr>
          <p:cNvPicPr>
            <a:picLocks noChangeAspect="1"/>
          </p:cNvPicPr>
          <p:nvPr/>
        </p:nvPicPr>
        <p:blipFill>
          <a:blip r:embed="rId4"/>
          <a:stretch>
            <a:fillRect/>
          </a:stretch>
        </p:blipFill>
        <p:spPr>
          <a:xfrm>
            <a:off x="7482535" y="1813560"/>
            <a:ext cx="4206240" cy="4206240"/>
          </a:xfrm>
          <a:prstGeom prst="rect">
            <a:avLst/>
          </a:prstGeom>
        </p:spPr>
      </p:pic>
      <p:sp>
        <p:nvSpPr>
          <p:cNvPr id="14" name="Shape 8"/>
          <p:cNvSpPr/>
          <p:nvPr/>
        </p:nvSpPr>
        <p:spPr>
          <a:xfrm>
            <a:off x="502920" y="1761744"/>
            <a:ext cx="6613855" cy="2578608"/>
          </a:xfrm>
          <a:prstGeom prst="roundRect">
            <a:avLst>
              <a:gd name="adj" fmla="val 7801"/>
            </a:avLst>
          </a:prstGeom>
          <a:solidFill>
            <a:srgbClr val="F9FBE0"/>
          </a:solidFill>
          <a:ln w="28575">
            <a:solidFill>
              <a:srgbClr val="D7DF23"/>
            </a:solidFill>
            <a:prstDash val="solid"/>
          </a:ln>
        </p:spPr>
      </p:sp>
      <p:sp>
        <p:nvSpPr>
          <p:cNvPr id="15" name="Shape 9"/>
          <p:cNvSpPr/>
          <p:nvPr/>
        </p:nvSpPr>
        <p:spPr>
          <a:xfrm>
            <a:off x="704088" y="2694432"/>
            <a:ext cx="713232" cy="713232"/>
          </a:xfrm>
          <a:prstGeom prst="ellipse">
            <a:avLst/>
          </a:prstGeom>
          <a:solidFill>
            <a:srgbClr val="D7DF23"/>
          </a:solidFill>
          <a:ln w="12700">
            <a:solidFill>
              <a:srgbClr val="D7DF23"/>
            </a:solidFill>
            <a:prstDash val="solid"/>
          </a:ln>
        </p:spPr>
      </p:sp>
      <p:sp>
        <p:nvSpPr>
          <p:cNvPr id="16" name="Text 10"/>
          <p:cNvSpPr/>
          <p:nvPr/>
        </p:nvSpPr>
        <p:spPr>
          <a:xfrm>
            <a:off x="704088" y="2694432"/>
            <a:ext cx="713232" cy="713232"/>
          </a:xfrm>
          <a:prstGeom prst="rect">
            <a:avLst/>
          </a:prstGeom>
          <a:noFill/>
          <a:ln/>
        </p:spPr>
        <p:txBody>
          <a:bodyPr wrap="square" lIns="0" tIns="0" rIns="0" bIns="0" rtlCol="0" anchor="ctr"/>
          <a:lstStyle/>
          <a:p>
            <a:pPr algn="ctr" indent="0" marL="0">
              <a:buNone/>
            </a:pPr>
            <a:r>
              <a:rPr lang="en-US" sz="3400" b="1" dirty="0">
                <a:solidFill>
                  <a:srgbClr val="1A1A1A"/>
                </a:solidFill>
                <a:latin typeface="Calibri" pitchFamily="34" charset="0"/>
                <a:ea typeface="Calibri" pitchFamily="34" charset="-122"/>
                <a:cs typeface="Calibri" pitchFamily="34" charset="-120"/>
              </a:rPr>
              <a:t>?</a:t>
            </a:r>
            <a:endParaRPr lang="en-US" sz="3400" dirty="0"/>
          </a:p>
        </p:txBody>
      </p:sp>
      <p:sp>
        <p:nvSpPr>
          <p:cNvPr id="17" name="Text 11"/>
          <p:cNvSpPr/>
          <p:nvPr/>
        </p:nvSpPr>
        <p:spPr>
          <a:xfrm>
            <a:off x="1645920" y="1807464"/>
            <a:ext cx="5260543" cy="2487168"/>
          </a:xfrm>
          <a:prstGeom prst="rect">
            <a:avLst/>
          </a:prstGeom>
          <a:noFill/>
          <a:ln/>
        </p:spPr>
        <p:txBody>
          <a:bodyPr wrap="square" lIns="0" tIns="0" rIns="0" bIns="0"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Which part of the kitchen is like the cell membrane, the part that controls what comes in and out?</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7F9D3"/>
          </a:solidFill>
          <a:ln w="31750">
            <a:solidFill>
              <a:srgbClr val="D7DF23"/>
            </a:solidFill>
            <a:prstDash val="solid"/>
          </a:ln>
        </p:spPr>
      </p:sp>
      <p:pic>
        <p:nvPicPr>
          <p:cNvPr id="12"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Map the kitchen to the cell</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Work in groups of four. Fill in your notebook table.</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761744"/>
          <a:ext cx="11185855" cy="914400"/>
        </p:xfrm>
        <a:graphic>
          <a:graphicData uri="http://schemas.openxmlformats.org/drawingml/2006/table">
            <a:tbl>
              <a:tblPr/>
              <a:tblGrid>
                <a:gridCol w="6757212"/>
                <a:gridCol w="4428643"/>
              </a:tblGrid>
              <a:tr h="445008">
                <a:tc>
                  <a:txBody>
                    <a:bodyPr/>
                    <a:lstStyle/>
                    <a:p>
                      <a:pPr indent="0" marL="0">
                        <a:buNone/>
                      </a:pPr>
                      <a:r>
                        <a:rPr lang="en-US" sz="2200" b="1" dirty="0">
                          <a:solidFill>
                            <a:srgbClr val="FFFFFF"/>
                          </a:solidFill>
                          <a:latin typeface="Calibri" pitchFamily="34" charset="0"/>
                          <a:ea typeface="Calibri" pitchFamily="34" charset="-122"/>
                          <a:cs typeface="Calibri" pitchFamily="34" charset="-120"/>
                        </a:rPr>
                        <a:t>Kitchen feature</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c>
                  <a:txBody>
                    <a:bodyPr/>
                    <a:lstStyle/>
                    <a:p>
                      <a:pPr indent="0" marL="0">
                        <a:buNone/>
                      </a:pPr>
                      <a:r>
                        <a:rPr lang="en-US" sz="2200" b="1" dirty="0">
                          <a:solidFill>
                            <a:srgbClr val="FFFFFF"/>
                          </a:solidFill>
                          <a:latin typeface="Calibri" pitchFamily="34" charset="0"/>
                          <a:ea typeface="Calibri" pitchFamily="34" charset="-122"/>
                          <a:cs typeface="Calibri" pitchFamily="34" charset="-120"/>
                        </a:rPr>
                        <a:t>Cell feature</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r>
              <a:tr h="640080">
                <a:tc>
                  <a:txBody>
                    <a:bodyPr/>
                    <a:lstStyle/>
                    <a:p>
                      <a:pPr indent="0" marL="0">
                        <a:buNone/>
                      </a:pPr>
                      <a:r>
                        <a:rPr lang="en-US" sz="2200" b="1" dirty="0">
                          <a:solidFill>
                            <a:srgbClr val="1A1A1A"/>
                          </a:solidFill>
                          <a:latin typeface="Calibri" pitchFamily="34" charset="0"/>
                          <a:ea typeface="Calibri" pitchFamily="34" charset="-122"/>
                          <a:cs typeface="Calibri" pitchFamily="34" charset="-120"/>
                        </a:rPr>
                        <a:t>Door</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200" b="1" dirty="0">
                          <a:solidFill>
                            <a:srgbClr val="1A1A1A"/>
                          </a:solidFill>
                          <a:latin typeface="Calibri" pitchFamily="34" charset="0"/>
                          <a:ea typeface="Calibri" pitchFamily="34" charset="-122"/>
                          <a:cs typeface="Calibri" pitchFamily="34" charset="-120"/>
                        </a:rPr>
                        <a:t>Recipe book on the shelf</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200" b="1" dirty="0">
                          <a:solidFill>
                            <a:srgbClr val="1A1A1A"/>
                          </a:solidFill>
                          <a:latin typeface="Calibri" pitchFamily="34" charset="0"/>
                          <a:ea typeface="Calibri" pitchFamily="34" charset="-122"/>
                          <a:cs typeface="Calibri" pitchFamily="34" charset="-120"/>
                        </a:rPr>
                        <a:t>Jiko (stove)</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200" b="1" dirty="0">
                          <a:solidFill>
                            <a:srgbClr val="1A1A1A"/>
                          </a:solidFill>
                          <a:latin typeface="Calibri" pitchFamily="34" charset="0"/>
                          <a:ea typeface="Calibri" pitchFamily="34" charset="-122"/>
                          <a:cs typeface="Calibri" pitchFamily="34" charset="-120"/>
                        </a:rPr>
                        <a:t>Sufuria</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200" b="1" dirty="0">
                          <a:solidFill>
                            <a:srgbClr val="1A1A1A"/>
                          </a:solidFill>
                          <a:latin typeface="Calibri" pitchFamily="34" charset="0"/>
                          <a:ea typeface="Calibri" pitchFamily="34" charset="-122"/>
                          <a:cs typeface="Calibri" pitchFamily="34" charset="-120"/>
                        </a:rPr>
                        <a:t>Mwiko and chopping board</a:t>
                      </a: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2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502920" y="713232"/>
            <a:ext cx="713232" cy="713232"/>
          </a:xfrm>
          <a:prstGeom prst="ellipse">
            <a:avLst/>
          </a:prstGeom>
          <a:solidFill>
            <a:srgbClr val="F7F9D3"/>
          </a:solidFill>
          <a:ln w="31750">
            <a:solidFill>
              <a:srgbClr val="D7DF23"/>
            </a:solidFill>
            <a:prstDash val="solid"/>
          </a:ln>
        </p:spPr>
      </p:sp>
      <p:pic>
        <p:nvPicPr>
          <p:cNvPr id="10"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Study: an animal cell</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Read the labels. What jobs might these parts do?</a:t>
            </a:r>
            <a:endParaRPr lang="en-US" sz="2000" dirty="0"/>
          </a:p>
        </p:txBody>
      </p:sp>
      <p:sp>
        <p:nvSpPr>
          <p:cNvPr id="13" name="Shape 8"/>
          <p:cNvSpPr/>
          <p:nvPr/>
        </p:nvSpPr>
        <p:spPr>
          <a:xfrm>
            <a:off x="4313312" y="1904347"/>
            <a:ext cx="3565071" cy="3707674"/>
          </a:xfrm>
          <a:prstGeom prst="ellipse">
            <a:avLst/>
          </a:prstGeom>
          <a:solidFill>
            <a:srgbClr val="FDEBF0"/>
          </a:solidFill>
          <a:ln w="31750">
            <a:solidFill>
              <a:srgbClr val="C2185B"/>
            </a:solidFill>
            <a:prstDash val="solid"/>
          </a:ln>
        </p:spPr>
      </p:sp>
      <p:sp>
        <p:nvSpPr>
          <p:cNvPr id="14" name="Shape 9"/>
          <p:cNvSpPr/>
          <p:nvPr/>
        </p:nvSpPr>
        <p:spPr>
          <a:xfrm>
            <a:off x="4919374" y="2795615"/>
            <a:ext cx="1354727" cy="1354727"/>
          </a:xfrm>
          <a:prstGeom prst="ellipse">
            <a:avLst/>
          </a:prstGeom>
          <a:solidFill>
            <a:srgbClr val="E8DDF5"/>
          </a:solidFill>
          <a:ln w="20320">
            <a:solidFill>
              <a:srgbClr val="6A3FA0"/>
            </a:solidFill>
            <a:prstDash val="solid"/>
          </a:ln>
        </p:spPr>
      </p:sp>
      <p:sp>
        <p:nvSpPr>
          <p:cNvPr id="15" name="Shape 10"/>
          <p:cNvSpPr/>
          <p:nvPr/>
        </p:nvSpPr>
        <p:spPr>
          <a:xfrm>
            <a:off x="5293707" y="3169947"/>
            <a:ext cx="463459" cy="463459"/>
          </a:xfrm>
          <a:prstGeom prst="ellipse">
            <a:avLst/>
          </a:prstGeom>
          <a:solidFill>
            <a:srgbClr val="8E5CC8"/>
          </a:solidFill>
          <a:ln w="7620">
            <a:solidFill>
              <a:srgbClr val="6A3FA0"/>
            </a:solidFill>
            <a:prstDash val="solid"/>
          </a:ln>
        </p:spPr>
      </p:sp>
      <p:sp>
        <p:nvSpPr>
          <p:cNvPr id="16" name="Shape 11"/>
          <p:cNvSpPr/>
          <p:nvPr/>
        </p:nvSpPr>
        <p:spPr>
          <a:xfrm>
            <a:off x="6541482" y="2653012"/>
            <a:ext cx="677364" cy="356507"/>
          </a:xfrm>
          <a:prstGeom prst="ellipse">
            <a:avLst/>
          </a:prstGeom>
          <a:solidFill>
            <a:srgbClr val="FBD6A5"/>
          </a:solidFill>
          <a:ln w="15240">
            <a:solidFill>
              <a:srgbClr val="E07B00"/>
            </a:solidFill>
            <a:prstDash val="solid"/>
          </a:ln>
        </p:spPr>
      </p:sp>
      <p:sp>
        <p:nvSpPr>
          <p:cNvPr id="17" name="Shape 12"/>
          <p:cNvSpPr/>
          <p:nvPr/>
        </p:nvSpPr>
        <p:spPr>
          <a:xfrm>
            <a:off x="6663407" y="2724313"/>
            <a:ext cx="67736" cy="124778"/>
          </a:xfrm>
          <a:prstGeom prst="line">
            <a:avLst/>
          </a:prstGeom>
          <a:noFill/>
          <a:ln w="10160">
            <a:solidFill>
              <a:srgbClr val="E07B00"/>
            </a:solidFill>
            <a:prstDash val="solid"/>
          </a:ln>
        </p:spPr>
      </p:sp>
      <p:sp>
        <p:nvSpPr>
          <p:cNvPr id="18" name="Shape 13"/>
          <p:cNvSpPr/>
          <p:nvPr/>
        </p:nvSpPr>
        <p:spPr>
          <a:xfrm flipV="1">
            <a:off x="6663407" y="2849091"/>
            <a:ext cx="67736" cy="89127"/>
          </a:xfrm>
          <a:prstGeom prst="line">
            <a:avLst/>
          </a:prstGeom>
          <a:noFill/>
          <a:ln w="10160">
            <a:solidFill>
              <a:srgbClr val="E07B00"/>
            </a:solidFill>
            <a:prstDash val="solid"/>
          </a:ln>
        </p:spPr>
      </p:sp>
      <p:sp>
        <p:nvSpPr>
          <p:cNvPr id="19" name="Shape 14"/>
          <p:cNvSpPr/>
          <p:nvPr/>
        </p:nvSpPr>
        <p:spPr>
          <a:xfrm>
            <a:off x="6880163" y="2724313"/>
            <a:ext cx="67736" cy="124778"/>
          </a:xfrm>
          <a:prstGeom prst="line">
            <a:avLst/>
          </a:prstGeom>
          <a:noFill/>
          <a:ln w="10160">
            <a:solidFill>
              <a:srgbClr val="E07B00"/>
            </a:solidFill>
            <a:prstDash val="solid"/>
          </a:ln>
        </p:spPr>
      </p:sp>
      <p:sp>
        <p:nvSpPr>
          <p:cNvPr id="20" name="Shape 15"/>
          <p:cNvSpPr/>
          <p:nvPr/>
        </p:nvSpPr>
        <p:spPr>
          <a:xfrm flipV="1">
            <a:off x="6880163" y="2849091"/>
            <a:ext cx="67736" cy="89127"/>
          </a:xfrm>
          <a:prstGeom prst="line">
            <a:avLst/>
          </a:prstGeom>
          <a:noFill/>
          <a:ln w="10160">
            <a:solidFill>
              <a:srgbClr val="E07B00"/>
            </a:solidFill>
            <a:prstDash val="solid"/>
          </a:ln>
        </p:spPr>
      </p:sp>
      <p:sp>
        <p:nvSpPr>
          <p:cNvPr id="21" name="Shape 16"/>
          <p:cNvSpPr/>
          <p:nvPr/>
        </p:nvSpPr>
        <p:spPr>
          <a:xfrm>
            <a:off x="7096920" y="2724313"/>
            <a:ext cx="67736" cy="124778"/>
          </a:xfrm>
          <a:prstGeom prst="line">
            <a:avLst/>
          </a:prstGeom>
          <a:noFill/>
          <a:ln w="10160">
            <a:solidFill>
              <a:srgbClr val="E07B00"/>
            </a:solidFill>
            <a:prstDash val="solid"/>
          </a:ln>
        </p:spPr>
      </p:sp>
      <p:sp>
        <p:nvSpPr>
          <p:cNvPr id="22" name="Shape 17"/>
          <p:cNvSpPr/>
          <p:nvPr/>
        </p:nvSpPr>
        <p:spPr>
          <a:xfrm flipV="1">
            <a:off x="7096920" y="2849091"/>
            <a:ext cx="67736" cy="89127"/>
          </a:xfrm>
          <a:prstGeom prst="line">
            <a:avLst/>
          </a:prstGeom>
          <a:noFill/>
          <a:ln w="10160">
            <a:solidFill>
              <a:srgbClr val="E07B00"/>
            </a:solidFill>
            <a:prstDash val="solid"/>
          </a:ln>
        </p:spPr>
      </p:sp>
      <p:sp>
        <p:nvSpPr>
          <p:cNvPr id="23" name="Shape 18"/>
          <p:cNvSpPr/>
          <p:nvPr/>
        </p:nvSpPr>
        <p:spPr>
          <a:xfrm>
            <a:off x="6470180" y="4934658"/>
            <a:ext cx="677364" cy="356507"/>
          </a:xfrm>
          <a:prstGeom prst="ellipse">
            <a:avLst/>
          </a:prstGeom>
          <a:solidFill>
            <a:srgbClr val="FBD6A5"/>
          </a:solidFill>
          <a:ln w="15240">
            <a:solidFill>
              <a:srgbClr val="E07B00"/>
            </a:solidFill>
            <a:prstDash val="solid"/>
          </a:ln>
        </p:spPr>
      </p:sp>
      <p:sp>
        <p:nvSpPr>
          <p:cNvPr id="24" name="Shape 19"/>
          <p:cNvSpPr/>
          <p:nvPr/>
        </p:nvSpPr>
        <p:spPr>
          <a:xfrm>
            <a:off x="6592106" y="5005959"/>
            <a:ext cx="67736" cy="124777"/>
          </a:xfrm>
          <a:prstGeom prst="line">
            <a:avLst/>
          </a:prstGeom>
          <a:noFill/>
          <a:ln w="10160">
            <a:solidFill>
              <a:srgbClr val="E07B00"/>
            </a:solidFill>
            <a:prstDash val="solid"/>
          </a:ln>
        </p:spPr>
      </p:sp>
      <p:sp>
        <p:nvSpPr>
          <p:cNvPr id="25" name="Shape 20"/>
          <p:cNvSpPr/>
          <p:nvPr/>
        </p:nvSpPr>
        <p:spPr>
          <a:xfrm flipV="1">
            <a:off x="6592106" y="5130737"/>
            <a:ext cx="67736" cy="89127"/>
          </a:xfrm>
          <a:prstGeom prst="line">
            <a:avLst/>
          </a:prstGeom>
          <a:noFill/>
          <a:ln w="10160">
            <a:solidFill>
              <a:srgbClr val="E07B00"/>
            </a:solidFill>
            <a:prstDash val="solid"/>
          </a:ln>
        </p:spPr>
      </p:sp>
      <p:sp>
        <p:nvSpPr>
          <p:cNvPr id="26" name="Shape 21"/>
          <p:cNvSpPr/>
          <p:nvPr/>
        </p:nvSpPr>
        <p:spPr>
          <a:xfrm>
            <a:off x="6808862" y="5005959"/>
            <a:ext cx="67736" cy="124777"/>
          </a:xfrm>
          <a:prstGeom prst="line">
            <a:avLst/>
          </a:prstGeom>
          <a:noFill/>
          <a:ln w="10160">
            <a:solidFill>
              <a:srgbClr val="E07B00"/>
            </a:solidFill>
            <a:prstDash val="solid"/>
          </a:ln>
        </p:spPr>
      </p:sp>
      <p:sp>
        <p:nvSpPr>
          <p:cNvPr id="27" name="Shape 22"/>
          <p:cNvSpPr/>
          <p:nvPr/>
        </p:nvSpPr>
        <p:spPr>
          <a:xfrm flipV="1">
            <a:off x="6808862" y="5130737"/>
            <a:ext cx="67736" cy="89127"/>
          </a:xfrm>
          <a:prstGeom prst="line">
            <a:avLst/>
          </a:prstGeom>
          <a:noFill/>
          <a:ln w="10160">
            <a:solidFill>
              <a:srgbClr val="E07B00"/>
            </a:solidFill>
            <a:prstDash val="solid"/>
          </a:ln>
        </p:spPr>
      </p:sp>
      <p:sp>
        <p:nvSpPr>
          <p:cNvPr id="28" name="Shape 23"/>
          <p:cNvSpPr/>
          <p:nvPr/>
        </p:nvSpPr>
        <p:spPr>
          <a:xfrm>
            <a:off x="7025618" y="5005959"/>
            <a:ext cx="67736" cy="124777"/>
          </a:xfrm>
          <a:prstGeom prst="line">
            <a:avLst/>
          </a:prstGeom>
          <a:noFill/>
          <a:ln w="10160">
            <a:solidFill>
              <a:srgbClr val="E07B00"/>
            </a:solidFill>
            <a:prstDash val="solid"/>
          </a:ln>
        </p:spPr>
      </p:sp>
      <p:sp>
        <p:nvSpPr>
          <p:cNvPr id="29" name="Shape 24"/>
          <p:cNvSpPr/>
          <p:nvPr/>
        </p:nvSpPr>
        <p:spPr>
          <a:xfrm flipV="1">
            <a:off x="7025618" y="5130737"/>
            <a:ext cx="67736" cy="89127"/>
          </a:xfrm>
          <a:prstGeom prst="line">
            <a:avLst/>
          </a:prstGeom>
          <a:noFill/>
          <a:ln w="10160">
            <a:solidFill>
              <a:srgbClr val="E07B00"/>
            </a:solidFill>
            <a:prstDash val="solid"/>
          </a:ln>
        </p:spPr>
      </p:sp>
      <p:sp>
        <p:nvSpPr>
          <p:cNvPr id="30" name="Shape 25"/>
          <p:cNvSpPr/>
          <p:nvPr/>
        </p:nvSpPr>
        <p:spPr>
          <a:xfrm>
            <a:off x="4545042" y="4435548"/>
            <a:ext cx="677364" cy="356507"/>
          </a:xfrm>
          <a:prstGeom prst="ellipse">
            <a:avLst/>
          </a:prstGeom>
          <a:solidFill>
            <a:srgbClr val="FBD6A5"/>
          </a:solidFill>
          <a:ln w="15240">
            <a:solidFill>
              <a:srgbClr val="E07B00"/>
            </a:solidFill>
            <a:prstDash val="solid"/>
          </a:ln>
        </p:spPr>
      </p:sp>
      <p:sp>
        <p:nvSpPr>
          <p:cNvPr id="31" name="Shape 26"/>
          <p:cNvSpPr/>
          <p:nvPr/>
        </p:nvSpPr>
        <p:spPr>
          <a:xfrm>
            <a:off x="4666967" y="4506849"/>
            <a:ext cx="67736" cy="124778"/>
          </a:xfrm>
          <a:prstGeom prst="line">
            <a:avLst/>
          </a:prstGeom>
          <a:noFill/>
          <a:ln w="10160">
            <a:solidFill>
              <a:srgbClr val="E07B00"/>
            </a:solidFill>
            <a:prstDash val="solid"/>
          </a:ln>
        </p:spPr>
      </p:sp>
      <p:sp>
        <p:nvSpPr>
          <p:cNvPr id="32" name="Shape 27"/>
          <p:cNvSpPr/>
          <p:nvPr/>
        </p:nvSpPr>
        <p:spPr>
          <a:xfrm flipV="1">
            <a:off x="4666967" y="4631627"/>
            <a:ext cx="67736" cy="89127"/>
          </a:xfrm>
          <a:prstGeom prst="line">
            <a:avLst/>
          </a:prstGeom>
          <a:noFill/>
          <a:ln w="10160">
            <a:solidFill>
              <a:srgbClr val="E07B00"/>
            </a:solidFill>
            <a:prstDash val="solid"/>
          </a:ln>
        </p:spPr>
      </p:sp>
      <p:sp>
        <p:nvSpPr>
          <p:cNvPr id="33" name="Shape 28"/>
          <p:cNvSpPr/>
          <p:nvPr/>
        </p:nvSpPr>
        <p:spPr>
          <a:xfrm>
            <a:off x="4883723" y="4506849"/>
            <a:ext cx="67736" cy="124778"/>
          </a:xfrm>
          <a:prstGeom prst="line">
            <a:avLst/>
          </a:prstGeom>
          <a:noFill/>
          <a:ln w="10160">
            <a:solidFill>
              <a:srgbClr val="E07B00"/>
            </a:solidFill>
            <a:prstDash val="solid"/>
          </a:ln>
        </p:spPr>
      </p:sp>
      <p:sp>
        <p:nvSpPr>
          <p:cNvPr id="34" name="Shape 29"/>
          <p:cNvSpPr/>
          <p:nvPr/>
        </p:nvSpPr>
        <p:spPr>
          <a:xfrm flipV="1">
            <a:off x="4883723" y="4631627"/>
            <a:ext cx="67736" cy="89127"/>
          </a:xfrm>
          <a:prstGeom prst="line">
            <a:avLst/>
          </a:prstGeom>
          <a:noFill/>
          <a:ln w="10160">
            <a:solidFill>
              <a:srgbClr val="E07B00"/>
            </a:solidFill>
            <a:prstDash val="solid"/>
          </a:ln>
        </p:spPr>
      </p:sp>
      <p:sp>
        <p:nvSpPr>
          <p:cNvPr id="35" name="Shape 30"/>
          <p:cNvSpPr/>
          <p:nvPr/>
        </p:nvSpPr>
        <p:spPr>
          <a:xfrm>
            <a:off x="5100480" y="4506849"/>
            <a:ext cx="67736" cy="124778"/>
          </a:xfrm>
          <a:prstGeom prst="line">
            <a:avLst/>
          </a:prstGeom>
          <a:noFill/>
          <a:ln w="10160">
            <a:solidFill>
              <a:srgbClr val="E07B00"/>
            </a:solidFill>
            <a:prstDash val="solid"/>
          </a:ln>
        </p:spPr>
      </p:sp>
      <p:sp>
        <p:nvSpPr>
          <p:cNvPr id="36" name="Shape 31"/>
          <p:cNvSpPr/>
          <p:nvPr/>
        </p:nvSpPr>
        <p:spPr>
          <a:xfrm flipV="1">
            <a:off x="5100480" y="4631627"/>
            <a:ext cx="67736" cy="89127"/>
          </a:xfrm>
          <a:prstGeom prst="line">
            <a:avLst/>
          </a:prstGeom>
          <a:noFill/>
          <a:ln w="10160">
            <a:solidFill>
              <a:srgbClr val="E07B00"/>
            </a:solidFill>
            <a:prstDash val="solid"/>
          </a:ln>
        </p:spPr>
      </p:sp>
      <p:sp>
        <p:nvSpPr>
          <p:cNvPr id="37" name="Shape 32"/>
          <p:cNvSpPr/>
          <p:nvPr/>
        </p:nvSpPr>
        <p:spPr>
          <a:xfrm>
            <a:off x="6167149" y="4328595"/>
            <a:ext cx="115865" cy="49911"/>
          </a:xfrm>
          <a:prstGeom prst="line">
            <a:avLst/>
          </a:prstGeom>
          <a:noFill/>
          <a:ln w="16510">
            <a:solidFill>
              <a:srgbClr val="7B1FA2"/>
            </a:solidFill>
            <a:prstDash val="solid"/>
          </a:ln>
        </p:spPr>
      </p:sp>
      <p:sp>
        <p:nvSpPr>
          <p:cNvPr id="38" name="Shape 33"/>
          <p:cNvSpPr/>
          <p:nvPr/>
        </p:nvSpPr>
        <p:spPr>
          <a:xfrm flipV="1">
            <a:off x="6283014" y="4278684"/>
            <a:ext cx="115865" cy="99822"/>
          </a:xfrm>
          <a:prstGeom prst="line">
            <a:avLst/>
          </a:prstGeom>
          <a:noFill/>
          <a:ln w="16510">
            <a:solidFill>
              <a:srgbClr val="7B1FA2"/>
            </a:solidFill>
            <a:prstDash val="solid"/>
          </a:ln>
        </p:spPr>
      </p:sp>
      <p:sp>
        <p:nvSpPr>
          <p:cNvPr id="39" name="Shape 34"/>
          <p:cNvSpPr/>
          <p:nvPr/>
        </p:nvSpPr>
        <p:spPr>
          <a:xfrm>
            <a:off x="6398879" y="4278684"/>
            <a:ext cx="115865" cy="99822"/>
          </a:xfrm>
          <a:prstGeom prst="line">
            <a:avLst/>
          </a:prstGeom>
          <a:noFill/>
          <a:ln w="16510">
            <a:solidFill>
              <a:srgbClr val="7B1FA2"/>
            </a:solidFill>
            <a:prstDash val="solid"/>
          </a:ln>
        </p:spPr>
      </p:sp>
      <p:sp>
        <p:nvSpPr>
          <p:cNvPr id="40" name="Shape 35"/>
          <p:cNvSpPr/>
          <p:nvPr/>
        </p:nvSpPr>
        <p:spPr>
          <a:xfrm flipV="1">
            <a:off x="6514743" y="4278684"/>
            <a:ext cx="115865" cy="99822"/>
          </a:xfrm>
          <a:prstGeom prst="line">
            <a:avLst/>
          </a:prstGeom>
          <a:noFill/>
          <a:ln w="16510">
            <a:solidFill>
              <a:srgbClr val="7B1FA2"/>
            </a:solidFill>
            <a:prstDash val="solid"/>
          </a:ln>
        </p:spPr>
      </p:sp>
      <p:sp>
        <p:nvSpPr>
          <p:cNvPr id="41" name="Shape 36"/>
          <p:cNvSpPr/>
          <p:nvPr/>
        </p:nvSpPr>
        <p:spPr>
          <a:xfrm>
            <a:off x="6630608" y="4278684"/>
            <a:ext cx="115865" cy="99822"/>
          </a:xfrm>
          <a:prstGeom prst="line">
            <a:avLst/>
          </a:prstGeom>
          <a:noFill/>
          <a:ln w="16510">
            <a:solidFill>
              <a:srgbClr val="7B1FA2"/>
            </a:solidFill>
            <a:prstDash val="solid"/>
          </a:ln>
        </p:spPr>
      </p:sp>
      <p:sp>
        <p:nvSpPr>
          <p:cNvPr id="42" name="Shape 37"/>
          <p:cNvSpPr/>
          <p:nvPr/>
        </p:nvSpPr>
        <p:spPr>
          <a:xfrm flipV="1">
            <a:off x="6746473" y="4278684"/>
            <a:ext cx="115865" cy="99822"/>
          </a:xfrm>
          <a:prstGeom prst="line">
            <a:avLst/>
          </a:prstGeom>
          <a:noFill/>
          <a:ln w="16510">
            <a:solidFill>
              <a:srgbClr val="7B1FA2"/>
            </a:solidFill>
            <a:prstDash val="solid"/>
          </a:ln>
        </p:spPr>
      </p:sp>
      <p:sp>
        <p:nvSpPr>
          <p:cNvPr id="43" name="Shape 38"/>
          <p:cNvSpPr/>
          <p:nvPr/>
        </p:nvSpPr>
        <p:spPr>
          <a:xfrm>
            <a:off x="6862338" y="4278684"/>
            <a:ext cx="115865" cy="99822"/>
          </a:xfrm>
          <a:prstGeom prst="line">
            <a:avLst/>
          </a:prstGeom>
          <a:noFill/>
          <a:ln w="16510">
            <a:solidFill>
              <a:srgbClr val="7B1FA2"/>
            </a:solidFill>
            <a:prstDash val="solid"/>
          </a:ln>
        </p:spPr>
      </p:sp>
      <p:sp>
        <p:nvSpPr>
          <p:cNvPr id="44" name="Shape 39"/>
          <p:cNvSpPr/>
          <p:nvPr/>
        </p:nvSpPr>
        <p:spPr>
          <a:xfrm flipV="1">
            <a:off x="6978203" y="4278684"/>
            <a:ext cx="115865" cy="99822"/>
          </a:xfrm>
          <a:prstGeom prst="line">
            <a:avLst/>
          </a:prstGeom>
          <a:noFill/>
          <a:ln w="16510">
            <a:solidFill>
              <a:srgbClr val="7B1FA2"/>
            </a:solidFill>
            <a:prstDash val="solid"/>
          </a:ln>
        </p:spPr>
      </p:sp>
      <p:sp>
        <p:nvSpPr>
          <p:cNvPr id="45" name="Shape 40"/>
          <p:cNvSpPr/>
          <p:nvPr/>
        </p:nvSpPr>
        <p:spPr>
          <a:xfrm>
            <a:off x="6167149" y="4499719"/>
            <a:ext cx="115865" cy="49911"/>
          </a:xfrm>
          <a:prstGeom prst="line">
            <a:avLst/>
          </a:prstGeom>
          <a:noFill/>
          <a:ln w="16510">
            <a:solidFill>
              <a:srgbClr val="7B1FA2"/>
            </a:solidFill>
            <a:prstDash val="solid"/>
          </a:ln>
        </p:spPr>
      </p:sp>
      <p:sp>
        <p:nvSpPr>
          <p:cNvPr id="46" name="Shape 41"/>
          <p:cNvSpPr/>
          <p:nvPr/>
        </p:nvSpPr>
        <p:spPr>
          <a:xfrm flipV="1">
            <a:off x="6283014" y="4449808"/>
            <a:ext cx="115865" cy="99822"/>
          </a:xfrm>
          <a:prstGeom prst="line">
            <a:avLst/>
          </a:prstGeom>
          <a:noFill/>
          <a:ln w="16510">
            <a:solidFill>
              <a:srgbClr val="7B1FA2"/>
            </a:solidFill>
            <a:prstDash val="solid"/>
          </a:ln>
        </p:spPr>
      </p:sp>
      <p:sp>
        <p:nvSpPr>
          <p:cNvPr id="47" name="Shape 42"/>
          <p:cNvSpPr/>
          <p:nvPr/>
        </p:nvSpPr>
        <p:spPr>
          <a:xfrm>
            <a:off x="6398879" y="4449808"/>
            <a:ext cx="115865" cy="99822"/>
          </a:xfrm>
          <a:prstGeom prst="line">
            <a:avLst/>
          </a:prstGeom>
          <a:noFill/>
          <a:ln w="16510">
            <a:solidFill>
              <a:srgbClr val="7B1FA2"/>
            </a:solidFill>
            <a:prstDash val="solid"/>
          </a:ln>
        </p:spPr>
      </p:sp>
      <p:sp>
        <p:nvSpPr>
          <p:cNvPr id="48" name="Shape 43"/>
          <p:cNvSpPr/>
          <p:nvPr/>
        </p:nvSpPr>
        <p:spPr>
          <a:xfrm flipV="1">
            <a:off x="6514743" y="4449808"/>
            <a:ext cx="115865" cy="99822"/>
          </a:xfrm>
          <a:prstGeom prst="line">
            <a:avLst/>
          </a:prstGeom>
          <a:noFill/>
          <a:ln w="16510">
            <a:solidFill>
              <a:srgbClr val="7B1FA2"/>
            </a:solidFill>
            <a:prstDash val="solid"/>
          </a:ln>
        </p:spPr>
      </p:sp>
      <p:sp>
        <p:nvSpPr>
          <p:cNvPr id="49" name="Shape 44"/>
          <p:cNvSpPr/>
          <p:nvPr/>
        </p:nvSpPr>
        <p:spPr>
          <a:xfrm>
            <a:off x="6630608" y="4449808"/>
            <a:ext cx="115865" cy="99822"/>
          </a:xfrm>
          <a:prstGeom prst="line">
            <a:avLst/>
          </a:prstGeom>
          <a:noFill/>
          <a:ln w="16510">
            <a:solidFill>
              <a:srgbClr val="7B1FA2"/>
            </a:solidFill>
            <a:prstDash val="solid"/>
          </a:ln>
        </p:spPr>
      </p:sp>
      <p:sp>
        <p:nvSpPr>
          <p:cNvPr id="50" name="Shape 45"/>
          <p:cNvSpPr/>
          <p:nvPr/>
        </p:nvSpPr>
        <p:spPr>
          <a:xfrm flipV="1">
            <a:off x="6746473" y="4449808"/>
            <a:ext cx="115865" cy="99822"/>
          </a:xfrm>
          <a:prstGeom prst="line">
            <a:avLst/>
          </a:prstGeom>
          <a:noFill/>
          <a:ln w="16510">
            <a:solidFill>
              <a:srgbClr val="7B1FA2"/>
            </a:solidFill>
            <a:prstDash val="solid"/>
          </a:ln>
        </p:spPr>
      </p:sp>
      <p:sp>
        <p:nvSpPr>
          <p:cNvPr id="51" name="Shape 46"/>
          <p:cNvSpPr/>
          <p:nvPr/>
        </p:nvSpPr>
        <p:spPr>
          <a:xfrm>
            <a:off x="6862338" y="4449808"/>
            <a:ext cx="115865" cy="99822"/>
          </a:xfrm>
          <a:prstGeom prst="line">
            <a:avLst/>
          </a:prstGeom>
          <a:noFill/>
          <a:ln w="16510">
            <a:solidFill>
              <a:srgbClr val="7B1FA2"/>
            </a:solidFill>
            <a:prstDash val="solid"/>
          </a:ln>
        </p:spPr>
      </p:sp>
      <p:sp>
        <p:nvSpPr>
          <p:cNvPr id="52" name="Shape 47"/>
          <p:cNvSpPr/>
          <p:nvPr/>
        </p:nvSpPr>
        <p:spPr>
          <a:xfrm flipV="1">
            <a:off x="6978203" y="4449808"/>
            <a:ext cx="115865" cy="99822"/>
          </a:xfrm>
          <a:prstGeom prst="line">
            <a:avLst/>
          </a:prstGeom>
          <a:noFill/>
          <a:ln w="16510">
            <a:solidFill>
              <a:srgbClr val="7B1FA2"/>
            </a:solidFill>
            <a:prstDash val="solid"/>
          </a:ln>
        </p:spPr>
      </p:sp>
      <p:sp>
        <p:nvSpPr>
          <p:cNvPr id="53" name="Shape 48"/>
          <p:cNvSpPr/>
          <p:nvPr/>
        </p:nvSpPr>
        <p:spPr>
          <a:xfrm>
            <a:off x="6167149" y="4670842"/>
            <a:ext cx="115865" cy="49911"/>
          </a:xfrm>
          <a:prstGeom prst="line">
            <a:avLst/>
          </a:prstGeom>
          <a:noFill/>
          <a:ln w="16510">
            <a:solidFill>
              <a:srgbClr val="7B1FA2"/>
            </a:solidFill>
            <a:prstDash val="solid"/>
          </a:ln>
        </p:spPr>
      </p:sp>
      <p:sp>
        <p:nvSpPr>
          <p:cNvPr id="54" name="Shape 49"/>
          <p:cNvSpPr/>
          <p:nvPr/>
        </p:nvSpPr>
        <p:spPr>
          <a:xfrm flipV="1">
            <a:off x="6283014" y="4620931"/>
            <a:ext cx="115865" cy="99822"/>
          </a:xfrm>
          <a:prstGeom prst="line">
            <a:avLst/>
          </a:prstGeom>
          <a:noFill/>
          <a:ln w="16510">
            <a:solidFill>
              <a:srgbClr val="7B1FA2"/>
            </a:solidFill>
            <a:prstDash val="solid"/>
          </a:ln>
        </p:spPr>
      </p:sp>
      <p:sp>
        <p:nvSpPr>
          <p:cNvPr id="55" name="Shape 50"/>
          <p:cNvSpPr/>
          <p:nvPr/>
        </p:nvSpPr>
        <p:spPr>
          <a:xfrm>
            <a:off x="6398879" y="4620931"/>
            <a:ext cx="115865" cy="99822"/>
          </a:xfrm>
          <a:prstGeom prst="line">
            <a:avLst/>
          </a:prstGeom>
          <a:noFill/>
          <a:ln w="16510">
            <a:solidFill>
              <a:srgbClr val="7B1FA2"/>
            </a:solidFill>
            <a:prstDash val="solid"/>
          </a:ln>
        </p:spPr>
      </p:sp>
      <p:sp>
        <p:nvSpPr>
          <p:cNvPr id="56" name="Shape 51"/>
          <p:cNvSpPr/>
          <p:nvPr/>
        </p:nvSpPr>
        <p:spPr>
          <a:xfrm flipV="1">
            <a:off x="6514743" y="4620931"/>
            <a:ext cx="115865" cy="99822"/>
          </a:xfrm>
          <a:prstGeom prst="line">
            <a:avLst/>
          </a:prstGeom>
          <a:noFill/>
          <a:ln w="16510">
            <a:solidFill>
              <a:srgbClr val="7B1FA2"/>
            </a:solidFill>
            <a:prstDash val="solid"/>
          </a:ln>
        </p:spPr>
      </p:sp>
      <p:sp>
        <p:nvSpPr>
          <p:cNvPr id="57" name="Shape 52"/>
          <p:cNvSpPr/>
          <p:nvPr/>
        </p:nvSpPr>
        <p:spPr>
          <a:xfrm>
            <a:off x="6630608" y="4620931"/>
            <a:ext cx="115865" cy="99822"/>
          </a:xfrm>
          <a:prstGeom prst="line">
            <a:avLst/>
          </a:prstGeom>
          <a:noFill/>
          <a:ln w="16510">
            <a:solidFill>
              <a:srgbClr val="7B1FA2"/>
            </a:solidFill>
            <a:prstDash val="solid"/>
          </a:ln>
        </p:spPr>
      </p:sp>
      <p:sp>
        <p:nvSpPr>
          <p:cNvPr id="58" name="Shape 53"/>
          <p:cNvSpPr/>
          <p:nvPr/>
        </p:nvSpPr>
        <p:spPr>
          <a:xfrm flipV="1">
            <a:off x="6746473" y="4620931"/>
            <a:ext cx="115865" cy="99822"/>
          </a:xfrm>
          <a:prstGeom prst="line">
            <a:avLst/>
          </a:prstGeom>
          <a:noFill/>
          <a:ln w="16510">
            <a:solidFill>
              <a:srgbClr val="7B1FA2"/>
            </a:solidFill>
            <a:prstDash val="solid"/>
          </a:ln>
        </p:spPr>
      </p:sp>
      <p:sp>
        <p:nvSpPr>
          <p:cNvPr id="59" name="Shape 54"/>
          <p:cNvSpPr/>
          <p:nvPr/>
        </p:nvSpPr>
        <p:spPr>
          <a:xfrm>
            <a:off x="6862338" y="4620931"/>
            <a:ext cx="115865" cy="99822"/>
          </a:xfrm>
          <a:prstGeom prst="line">
            <a:avLst/>
          </a:prstGeom>
          <a:noFill/>
          <a:ln w="16510">
            <a:solidFill>
              <a:srgbClr val="7B1FA2"/>
            </a:solidFill>
            <a:prstDash val="solid"/>
          </a:ln>
        </p:spPr>
      </p:sp>
      <p:sp>
        <p:nvSpPr>
          <p:cNvPr id="60" name="Shape 55"/>
          <p:cNvSpPr/>
          <p:nvPr/>
        </p:nvSpPr>
        <p:spPr>
          <a:xfrm flipV="1">
            <a:off x="6978203" y="4620931"/>
            <a:ext cx="115865" cy="99822"/>
          </a:xfrm>
          <a:prstGeom prst="line">
            <a:avLst/>
          </a:prstGeom>
          <a:noFill/>
          <a:ln w="16510">
            <a:solidFill>
              <a:srgbClr val="7B1FA2"/>
            </a:solidFill>
            <a:prstDash val="solid"/>
          </a:ln>
        </p:spPr>
      </p:sp>
      <p:sp>
        <p:nvSpPr>
          <p:cNvPr id="61" name="Shape 56"/>
          <p:cNvSpPr/>
          <p:nvPr/>
        </p:nvSpPr>
        <p:spPr>
          <a:xfrm>
            <a:off x="6277666" y="4246599"/>
            <a:ext cx="64171" cy="64171"/>
          </a:xfrm>
          <a:prstGeom prst="ellipse">
            <a:avLst/>
          </a:prstGeom>
          <a:solidFill>
            <a:srgbClr val="222222"/>
          </a:solidFill>
          <a:ln w="3175">
            <a:solidFill>
              <a:srgbClr val="222222"/>
            </a:solidFill>
            <a:prstDash val="solid"/>
          </a:ln>
        </p:spPr>
      </p:sp>
      <p:sp>
        <p:nvSpPr>
          <p:cNvPr id="62" name="Shape 57"/>
          <p:cNvSpPr/>
          <p:nvPr/>
        </p:nvSpPr>
        <p:spPr>
          <a:xfrm>
            <a:off x="6491571" y="4246599"/>
            <a:ext cx="64171" cy="64171"/>
          </a:xfrm>
          <a:prstGeom prst="ellipse">
            <a:avLst/>
          </a:prstGeom>
          <a:solidFill>
            <a:srgbClr val="222222"/>
          </a:solidFill>
          <a:ln w="3175">
            <a:solidFill>
              <a:srgbClr val="222222"/>
            </a:solidFill>
            <a:prstDash val="solid"/>
          </a:ln>
        </p:spPr>
      </p:sp>
      <p:sp>
        <p:nvSpPr>
          <p:cNvPr id="63" name="Shape 58"/>
          <p:cNvSpPr/>
          <p:nvPr/>
        </p:nvSpPr>
        <p:spPr>
          <a:xfrm>
            <a:off x="6705475" y="4246599"/>
            <a:ext cx="64171" cy="64171"/>
          </a:xfrm>
          <a:prstGeom prst="ellipse">
            <a:avLst/>
          </a:prstGeom>
          <a:solidFill>
            <a:srgbClr val="222222"/>
          </a:solidFill>
          <a:ln w="3175">
            <a:solidFill>
              <a:srgbClr val="222222"/>
            </a:solidFill>
            <a:prstDash val="solid"/>
          </a:ln>
        </p:spPr>
      </p:sp>
      <p:sp>
        <p:nvSpPr>
          <p:cNvPr id="64" name="Shape 59"/>
          <p:cNvSpPr/>
          <p:nvPr/>
        </p:nvSpPr>
        <p:spPr>
          <a:xfrm>
            <a:off x="6919379" y="4246599"/>
            <a:ext cx="64171" cy="64171"/>
          </a:xfrm>
          <a:prstGeom prst="ellipse">
            <a:avLst/>
          </a:prstGeom>
          <a:solidFill>
            <a:srgbClr val="222222"/>
          </a:solidFill>
          <a:ln w="3175">
            <a:solidFill>
              <a:srgbClr val="222222"/>
            </a:solidFill>
            <a:prstDash val="solid"/>
          </a:ln>
        </p:spPr>
      </p:sp>
      <p:sp>
        <p:nvSpPr>
          <p:cNvPr id="65" name="Shape 60"/>
          <p:cNvSpPr/>
          <p:nvPr/>
        </p:nvSpPr>
        <p:spPr>
          <a:xfrm>
            <a:off x="6348968" y="4695798"/>
            <a:ext cx="64171" cy="64171"/>
          </a:xfrm>
          <a:prstGeom prst="ellipse">
            <a:avLst/>
          </a:prstGeom>
          <a:solidFill>
            <a:srgbClr val="222222"/>
          </a:solidFill>
          <a:ln w="3175">
            <a:solidFill>
              <a:srgbClr val="222222"/>
            </a:solidFill>
            <a:prstDash val="solid"/>
          </a:ln>
        </p:spPr>
      </p:sp>
      <p:sp>
        <p:nvSpPr>
          <p:cNvPr id="66" name="Shape 61"/>
          <p:cNvSpPr/>
          <p:nvPr/>
        </p:nvSpPr>
        <p:spPr>
          <a:xfrm>
            <a:off x="6634173" y="4695798"/>
            <a:ext cx="64171" cy="64171"/>
          </a:xfrm>
          <a:prstGeom prst="ellipse">
            <a:avLst/>
          </a:prstGeom>
          <a:solidFill>
            <a:srgbClr val="222222"/>
          </a:solidFill>
          <a:ln w="3175">
            <a:solidFill>
              <a:srgbClr val="222222"/>
            </a:solidFill>
            <a:prstDash val="solid"/>
          </a:ln>
        </p:spPr>
      </p:sp>
      <p:sp>
        <p:nvSpPr>
          <p:cNvPr id="67" name="Shape 62"/>
          <p:cNvSpPr/>
          <p:nvPr/>
        </p:nvSpPr>
        <p:spPr>
          <a:xfrm>
            <a:off x="6919379" y="4695798"/>
            <a:ext cx="64171" cy="64171"/>
          </a:xfrm>
          <a:prstGeom prst="ellipse">
            <a:avLst/>
          </a:prstGeom>
          <a:solidFill>
            <a:srgbClr val="222222"/>
          </a:solidFill>
          <a:ln w="3175">
            <a:solidFill>
              <a:srgbClr val="222222"/>
            </a:solidFill>
            <a:prstDash val="solid"/>
          </a:ln>
        </p:spPr>
      </p:sp>
      <p:sp>
        <p:nvSpPr>
          <p:cNvPr id="68" name="Shape 63"/>
          <p:cNvSpPr/>
          <p:nvPr/>
        </p:nvSpPr>
        <p:spPr>
          <a:xfrm>
            <a:off x="6773211" y="3401677"/>
            <a:ext cx="784316" cy="106952"/>
          </a:xfrm>
          <a:prstGeom prst="roundRect">
            <a:avLst>
              <a:gd name="adj" fmla="val 3571"/>
            </a:avLst>
          </a:prstGeom>
          <a:solidFill>
            <a:srgbClr val="FFE0B2"/>
          </a:solidFill>
          <a:ln w="10160">
            <a:solidFill>
              <a:srgbClr val="EF6C00"/>
            </a:solidFill>
            <a:prstDash val="solid"/>
          </a:ln>
        </p:spPr>
      </p:sp>
      <p:sp>
        <p:nvSpPr>
          <p:cNvPr id="69" name="Shape 64"/>
          <p:cNvSpPr/>
          <p:nvPr/>
        </p:nvSpPr>
        <p:spPr>
          <a:xfrm>
            <a:off x="6794602" y="3544280"/>
            <a:ext cx="741535" cy="106952"/>
          </a:xfrm>
          <a:prstGeom prst="roundRect">
            <a:avLst>
              <a:gd name="adj" fmla="val 3571"/>
            </a:avLst>
          </a:prstGeom>
          <a:solidFill>
            <a:srgbClr val="FFE0B2"/>
          </a:solidFill>
          <a:ln w="10160">
            <a:solidFill>
              <a:srgbClr val="EF6C00"/>
            </a:solidFill>
            <a:prstDash val="solid"/>
          </a:ln>
        </p:spPr>
      </p:sp>
      <p:sp>
        <p:nvSpPr>
          <p:cNvPr id="70" name="Shape 65"/>
          <p:cNvSpPr/>
          <p:nvPr/>
        </p:nvSpPr>
        <p:spPr>
          <a:xfrm>
            <a:off x="6815992" y="3686883"/>
            <a:ext cx="698754" cy="106952"/>
          </a:xfrm>
          <a:prstGeom prst="roundRect">
            <a:avLst>
              <a:gd name="adj" fmla="val 3571"/>
            </a:avLst>
          </a:prstGeom>
          <a:solidFill>
            <a:srgbClr val="FFE0B2"/>
          </a:solidFill>
          <a:ln w="10160">
            <a:solidFill>
              <a:srgbClr val="EF6C00"/>
            </a:solidFill>
            <a:prstDash val="solid"/>
          </a:ln>
        </p:spPr>
      </p:sp>
      <p:sp>
        <p:nvSpPr>
          <p:cNvPr id="71" name="Shape 66"/>
          <p:cNvSpPr/>
          <p:nvPr/>
        </p:nvSpPr>
        <p:spPr>
          <a:xfrm>
            <a:off x="6837382" y="3829485"/>
            <a:ext cx="655973" cy="106952"/>
          </a:xfrm>
          <a:prstGeom prst="roundRect">
            <a:avLst>
              <a:gd name="adj" fmla="val 3571"/>
            </a:avLst>
          </a:prstGeom>
          <a:solidFill>
            <a:srgbClr val="FFE0B2"/>
          </a:solidFill>
          <a:ln w="10160">
            <a:solidFill>
              <a:srgbClr val="EF6C00"/>
            </a:solidFill>
            <a:prstDash val="solid"/>
          </a:ln>
        </p:spPr>
      </p:sp>
      <p:sp>
        <p:nvSpPr>
          <p:cNvPr id="72" name="Shape 67"/>
          <p:cNvSpPr/>
          <p:nvPr/>
        </p:nvSpPr>
        <p:spPr>
          <a:xfrm>
            <a:off x="7365013" y="3886527"/>
            <a:ext cx="313726" cy="313726"/>
          </a:xfrm>
          <a:prstGeom prst="ellipse">
            <a:avLst/>
          </a:prstGeom>
          <a:solidFill>
            <a:srgbClr val="C8E6C9"/>
          </a:solidFill>
          <a:ln w="12700">
            <a:solidFill>
              <a:srgbClr val="2E7D32"/>
            </a:solidFill>
            <a:prstDash val="solid"/>
          </a:ln>
        </p:spPr>
      </p:sp>
      <p:sp>
        <p:nvSpPr>
          <p:cNvPr id="73" name="Shape 68"/>
          <p:cNvSpPr/>
          <p:nvPr/>
        </p:nvSpPr>
        <p:spPr>
          <a:xfrm>
            <a:off x="4883723" y="2517539"/>
            <a:ext cx="256685" cy="92692"/>
          </a:xfrm>
          <a:prstGeom prst="rect">
            <a:avLst/>
          </a:prstGeom>
          <a:solidFill>
            <a:srgbClr val="455A64"/>
          </a:solidFill>
          <a:ln w="6350">
            <a:solidFill>
              <a:srgbClr val="455A64"/>
            </a:solidFill>
            <a:prstDash val="solid"/>
          </a:ln>
        </p:spPr>
      </p:sp>
      <p:sp>
        <p:nvSpPr>
          <p:cNvPr id="74" name="Shape 69"/>
          <p:cNvSpPr/>
          <p:nvPr/>
        </p:nvSpPr>
        <p:spPr>
          <a:xfrm>
            <a:off x="4983545" y="2410587"/>
            <a:ext cx="92692" cy="256685"/>
          </a:xfrm>
          <a:prstGeom prst="rect">
            <a:avLst/>
          </a:prstGeom>
          <a:solidFill>
            <a:srgbClr val="455A64"/>
          </a:solidFill>
          <a:ln w="6350">
            <a:solidFill>
              <a:srgbClr val="455A64"/>
            </a:solidFill>
            <a:prstDash val="solid"/>
          </a:ln>
        </p:spPr>
      </p:sp>
      <p:sp>
        <p:nvSpPr>
          <p:cNvPr id="75" name="Shape 70"/>
          <p:cNvSpPr/>
          <p:nvPr/>
        </p:nvSpPr>
        <p:spPr>
          <a:xfrm>
            <a:off x="4709035" y="3726098"/>
            <a:ext cx="64171" cy="64171"/>
          </a:xfrm>
          <a:prstGeom prst="ellipse">
            <a:avLst/>
          </a:prstGeom>
          <a:solidFill>
            <a:srgbClr val="222222"/>
          </a:solidFill>
          <a:ln w="3175">
            <a:solidFill>
              <a:srgbClr val="222222"/>
            </a:solidFill>
            <a:prstDash val="solid"/>
          </a:ln>
        </p:spPr>
      </p:sp>
      <p:sp>
        <p:nvSpPr>
          <p:cNvPr id="76" name="Shape 71"/>
          <p:cNvSpPr/>
          <p:nvPr/>
        </p:nvSpPr>
        <p:spPr>
          <a:xfrm>
            <a:off x="6206365" y="3155687"/>
            <a:ext cx="64171" cy="64171"/>
          </a:xfrm>
          <a:prstGeom prst="ellipse">
            <a:avLst/>
          </a:prstGeom>
          <a:solidFill>
            <a:srgbClr val="222222"/>
          </a:solidFill>
          <a:ln w="3175">
            <a:solidFill>
              <a:srgbClr val="222222"/>
            </a:solidFill>
            <a:prstDash val="solid"/>
          </a:ln>
        </p:spPr>
      </p:sp>
      <p:sp>
        <p:nvSpPr>
          <p:cNvPr id="77" name="Shape 72"/>
          <p:cNvSpPr/>
          <p:nvPr/>
        </p:nvSpPr>
        <p:spPr>
          <a:xfrm>
            <a:off x="5778556" y="5080826"/>
            <a:ext cx="64171" cy="64171"/>
          </a:xfrm>
          <a:prstGeom prst="ellipse">
            <a:avLst/>
          </a:prstGeom>
          <a:solidFill>
            <a:srgbClr val="222222"/>
          </a:solidFill>
          <a:ln w="3175">
            <a:solidFill>
              <a:srgbClr val="222222"/>
            </a:solidFill>
            <a:prstDash val="solid"/>
          </a:ln>
        </p:spPr>
      </p:sp>
      <p:sp>
        <p:nvSpPr>
          <p:cNvPr id="78" name="Shape 73"/>
          <p:cNvSpPr/>
          <p:nvPr/>
        </p:nvSpPr>
        <p:spPr>
          <a:xfrm>
            <a:off x="5350748" y="5009524"/>
            <a:ext cx="64171" cy="64171"/>
          </a:xfrm>
          <a:prstGeom prst="ellipse">
            <a:avLst/>
          </a:prstGeom>
          <a:solidFill>
            <a:srgbClr val="222222"/>
          </a:solidFill>
          <a:ln w="3175">
            <a:solidFill>
              <a:srgbClr val="222222"/>
            </a:solidFill>
            <a:prstDash val="solid"/>
          </a:ln>
        </p:spPr>
      </p:sp>
      <p:sp>
        <p:nvSpPr>
          <p:cNvPr id="79" name="Shape 74"/>
          <p:cNvSpPr/>
          <p:nvPr/>
        </p:nvSpPr>
        <p:spPr>
          <a:xfrm>
            <a:off x="7489791" y="3298290"/>
            <a:ext cx="64171" cy="64171"/>
          </a:xfrm>
          <a:prstGeom prst="ellipse">
            <a:avLst/>
          </a:prstGeom>
          <a:solidFill>
            <a:srgbClr val="222222"/>
          </a:solidFill>
          <a:ln w="3175">
            <a:solidFill>
              <a:srgbClr val="222222"/>
            </a:solidFill>
            <a:prstDash val="solid"/>
          </a:ln>
        </p:spPr>
      </p:sp>
      <p:sp>
        <p:nvSpPr>
          <p:cNvPr id="80" name="Shape 75"/>
          <p:cNvSpPr/>
          <p:nvPr/>
        </p:nvSpPr>
        <p:spPr>
          <a:xfrm>
            <a:off x="4922939" y="3155687"/>
            <a:ext cx="64171" cy="64171"/>
          </a:xfrm>
          <a:prstGeom prst="ellipse">
            <a:avLst/>
          </a:prstGeom>
          <a:solidFill>
            <a:srgbClr val="222222"/>
          </a:solidFill>
          <a:ln w="3175">
            <a:solidFill>
              <a:srgbClr val="222222"/>
            </a:solidFill>
            <a:prstDash val="solid"/>
          </a:ln>
        </p:spPr>
      </p:sp>
      <p:sp>
        <p:nvSpPr>
          <p:cNvPr id="81" name="Shape 76"/>
          <p:cNvSpPr/>
          <p:nvPr/>
        </p:nvSpPr>
        <p:spPr>
          <a:xfrm>
            <a:off x="7418489" y="4724318"/>
            <a:ext cx="64171" cy="64171"/>
          </a:xfrm>
          <a:prstGeom prst="ellipse">
            <a:avLst/>
          </a:prstGeom>
          <a:solidFill>
            <a:srgbClr val="222222"/>
          </a:solidFill>
          <a:ln w="3175">
            <a:solidFill>
              <a:srgbClr val="222222"/>
            </a:solidFill>
            <a:prstDash val="solid"/>
          </a:ln>
        </p:spPr>
      </p:sp>
      <p:sp>
        <p:nvSpPr>
          <p:cNvPr id="82" name="Shape 77"/>
          <p:cNvSpPr/>
          <p:nvPr/>
        </p:nvSpPr>
        <p:spPr>
          <a:xfrm>
            <a:off x="4135058" y="2332155"/>
            <a:ext cx="221034" cy="998220"/>
          </a:xfrm>
          <a:prstGeom prst="line">
            <a:avLst/>
          </a:prstGeom>
          <a:noFill/>
          <a:ln w="11430">
            <a:solidFill>
              <a:srgbClr val="444444"/>
            </a:solidFill>
            <a:prstDash val="solid"/>
          </a:ln>
        </p:spPr>
      </p:sp>
      <p:sp>
        <p:nvSpPr>
          <p:cNvPr id="83" name="Shape 78"/>
          <p:cNvSpPr/>
          <p:nvPr/>
        </p:nvSpPr>
        <p:spPr>
          <a:xfrm>
            <a:off x="4324089" y="3298371"/>
            <a:ext cx="64008" cy="64008"/>
          </a:xfrm>
          <a:prstGeom prst="ellipse">
            <a:avLst/>
          </a:prstGeom>
          <a:solidFill>
            <a:srgbClr val="444444"/>
          </a:solidFill>
          <a:ln w="3175">
            <a:solidFill>
              <a:srgbClr val="444444"/>
            </a:solidFill>
            <a:prstDash val="solid"/>
          </a:ln>
        </p:spPr>
      </p:sp>
      <p:sp>
        <p:nvSpPr>
          <p:cNvPr id="84" name="Text 79"/>
          <p:cNvSpPr/>
          <p:nvPr/>
        </p:nvSpPr>
        <p:spPr>
          <a:xfrm>
            <a:off x="2602078" y="2176707"/>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cell membrane</a:t>
            </a:r>
            <a:endParaRPr lang="en-US" sz="1600" dirty="0"/>
          </a:p>
        </p:txBody>
      </p:sp>
      <p:sp>
        <p:nvSpPr>
          <p:cNvPr id="85" name="Shape 80"/>
          <p:cNvSpPr/>
          <p:nvPr/>
        </p:nvSpPr>
        <p:spPr>
          <a:xfrm>
            <a:off x="4135058" y="3686883"/>
            <a:ext cx="1033871" cy="0"/>
          </a:xfrm>
          <a:prstGeom prst="line">
            <a:avLst/>
          </a:prstGeom>
          <a:noFill/>
          <a:ln w="11430">
            <a:solidFill>
              <a:srgbClr val="444444"/>
            </a:solidFill>
            <a:prstDash val="solid"/>
          </a:ln>
        </p:spPr>
      </p:sp>
      <p:sp>
        <p:nvSpPr>
          <p:cNvPr id="86" name="Shape 81"/>
          <p:cNvSpPr/>
          <p:nvPr/>
        </p:nvSpPr>
        <p:spPr>
          <a:xfrm>
            <a:off x="5136925" y="3654879"/>
            <a:ext cx="64008" cy="64008"/>
          </a:xfrm>
          <a:prstGeom prst="ellipse">
            <a:avLst/>
          </a:prstGeom>
          <a:solidFill>
            <a:srgbClr val="444444"/>
          </a:solidFill>
          <a:ln w="3175">
            <a:solidFill>
              <a:srgbClr val="444444"/>
            </a:solidFill>
            <a:prstDash val="solid"/>
          </a:ln>
        </p:spPr>
      </p:sp>
      <p:sp>
        <p:nvSpPr>
          <p:cNvPr id="87" name="Text 82"/>
          <p:cNvSpPr/>
          <p:nvPr/>
        </p:nvSpPr>
        <p:spPr>
          <a:xfrm>
            <a:off x="2602078" y="3531435"/>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nucleus</a:t>
            </a:r>
            <a:endParaRPr lang="en-US" sz="1600" dirty="0"/>
          </a:p>
        </p:txBody>
      </p:sp>
      <p:sp>
        <p:nvSpPr>
          <p:cNvPr id="88" name="Shape 83"/>
          <p:cNvSpPr/>
          <p:nvPr/>
        </p:nvSpPr>
        <p:spPr>
          <a:xfrm flipV="1">
            <a:off x="4135058" y="5255514"/>
            <a:ext cx="1675584" cy="71301"/>
          </a:xfrm>
          <a:prstGeom prst="line">
            <a:avLst/>
          </a:prstGeom>
          <a:noFill/>
          <a:ln w="11430">
            <a:solidFill>
              <a:srgbClr val="444444"/>
            </a:solidFill>
            <a:prstDash val="solid"/>
          </a:ln>
        </p:spPr>
      </p:sp>
      <p:sp>
        <p:nvSpPr>
          <p:cNvPr id="89" name="Shape 84"/>
          <p:cNvSpPr/>
          <p:nvPr/>
        </p:nvSpPr>
        <p:spPr>
          <a:xfrm>
            <a:off x="5778638" y="5223510"/>
            <a:ext cx="64008" cy="64008"/>
          </a:xfrm>
          <a:prstGeom prst="ellipse">
            <a:avLst/>
          </a:prstGeom>
          <a:solidFill>
            <a:srgbClr val="444444"/>
          </a:solidFill>
          <a:ln w="3175">
            <a:solidFill>
              <a:srgbClr val="444444"/>
            </a:solidFill>
            <a:prstDash val="solid"/>
          </a:ln>
        </p:spPr>
      </p:sp>
      <p:sp>
        <p:nvSpPr>
          <p:cNvPr id="90" name="Text 85"/>
          <p:cNvSpPr/>
          <p:nvPr/>
        </p:nvSpPr>
        <p:spPr>
          <a:xfrm>
            <a:off x="2602078" y="5171367"/>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cytoplasm</a:t>
            </a:r>
            <a:endParaRPr lang="en-US" sz="1600" dirty="0"/>
          </a:p>
        </p:txBody>
      </p:sp>
      <p:sp>
        <p:nvSpPr>
          <p:cNvPr id="91" name="Shape 86"/>
          <p:cNvSpPr/>
          <p:nvPr/>
        </p:nvSpPr>
        <p:spPr>
          <a:xfrm>
            <a:off x="4135058" y="4613801"/>
            <a:ext cx="570411" cy="0"/>
          </a:xfrm>
          <a:prstGeom prst="line">
            <a:avLst/>
          </a:prstGeom>
          <a:noFill/>
          <a:ln w="11430">
            <a:solidFill>
              <a:srgbClr val="444444"/>
            </a:solidFill>
            <a:prstDash val="solid"/>
          </a:ln>
        </p:spPr>
      </p:sp>
      <p:sp>
        <p:nvSpPr>
          <p:cNvPr id="92" name="Shape 87"/>
          <p:cNvSpPr/>
          <p:nvPr/>
        </p:nvSpPr>
        <p:spPr>
          <a:xfrm>
            <a:off x="4673466" y="4581797"/>
            <a:ext cx="64008" cy="64008"/>
          </a:xfrm>
          <a:prstGeom prst="ellipse">
            <a:avLst/>
          </a:prstGeom>
          <a:solidFill>
            <a:srgbClr val="444444"/>
          </a:solidFill>
          <a:ln w="3175">
            <a:solidFill>
              <a:srgbClr val="444444"/>
            </a:solidFill>
            <a:prstDash val="solid"/>
          </a:ln>
        </p:spPr>
      </p:sp>
      <p:sp>
        <p:nvSpPr>
          <p:cNvPr id="93" name="Text 88"/>
          <p:cNvSpPr/>
          <p:nvPr/>
        </p:nvSpPr>
        <p:spPr>
          <a:xfrm>
            <a:off x="2602078" y="4458353"/>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mitochondrion</a:t>
            </a:r>
            <a:endParaRPr lang="en-US" sz="1600" dirty="0"/>
          </a:p>
        </p:txBody>
      </p:sp>
      <p:sp>
        <p:nvSpPr>
          <p:cNvPr id="94" name="Shape 89"/>
          <p:cNvSpPr/>
          <p:nvPr/>
        </p:nvSpPr>
        <p:spPr>
          <a:xfrm flipV="1">
            <a:off x="7521876" y="2332155"/>
            <a:ext cx="534761" cy="998220"/>
          </a:xfrm>
          <a:prstGeom prst="line">
            <a:avLst/>
          </a:prstGeom>
          <a:noFill/>
          <a:ln w="11430">
            <a:solidFill>
              <a:srgbClr val="444444"/>
            </a:solidFill>
            <a:prstDash val="solid"/>
          </a:ln>
        </p:spPr>
      </p:sp>
      <p:sp>
        <p:nvSpPr>
          <p:cNvPr id="95" name="Shape 90"/>
          <p:cNvSpPr/>
          <p:nvPr/>
        </p:nvSpPr>
        <p:spPr>
          <a:xfrm>
            <a:off x="7489872" y="3298371"/>
            <a:ext cx="64008" cy="64008"/>
          </a:xfrm>
          <a:prstGeom prst="ellipse">
            <a:avLst/>
          </a:prstGeom>
          <a:solidFill>
            <a:srgbClr val="444444"/>
          </a:solidFill>
          <a:ln w="3175">
            <a:solidFill>
              <a:srgbClr val="444444"/>
            </a:solidFill>
            <a:prstDash val="solid"/>
          </a:ln>
        </p:spPr>
      </p:sp>
      <p:sp>
        <p:nvSpPr>
          <p:cNvPr id="96" name="Text 91"/>
          <p:cNvSpPr/>
          <p:nvPr/>
        </p:nvSpPr>
        <p:spPr>
          <a:xfrm>
            <a:off x="8020986" y="2176707"/>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ribosomes</a:t>
            </a:r>
            <a:endParaRPr lang="en-US" sz="1600" dirty="0"/>
          </a:p>
        </p:txBody>
      </p:sp>
      <p:sp>
        <p:nvSpPr>
          <p:cNvPr id="97" name="Shape 92"/>
          <p:cNvSpPr/>
          <p:nvPr/>
        </p:nvSpPr>
        <p:spPr>
          <a:xfrm>
            <a:off x="7094068" y="4471198"/>
            <a:ext cx="962569" cy="0"/>
          </a:xfrm>
          <a:prstGeom prst="line">
            <a:avLst/>
          </a:prstGeom>
          <a:noFill/>
          <a:ln w="11430">
            <a:solidFill>
              <a:srgbClr val="444444"/>
            </a:solidFill>
            <a:prstDash val="solid"/>
          </a:ln>
        </p:spPr>
      </p:sp>
      <p:sp>
        <p:nvSpPr>
          <p:cNvPr id="98" name="Shape 93"/>
          <p:cNvSpPr/>
          <p:nvPr/>
        </p:nvSpPr>
        <p:spPr>
          <a:xfrm>
            <a:off x="7062064" y="4439194"/>
            <a:ext cx="64008" cy="64008"/>
          </a:xfrm>
          <a:prstGeom prst="ellipse">
            <a:avLst/>
          </a:prstGeom>
          <a:solidFill>
            <a:srgbClr val="444444"/>
          </a:solidFill>
          <a:ln w="3175">
            <a:solidFill>
              <a:srgbClr val="444444"/>
            </a:solidFill>
            <a:prstDash val="solid"/>
          </a:ln>
        </p:spPr>
      </p:sp>
      <p:sp>
        <p:nvSpPr>
          <p:cNvPr id="99" name="Text 94"/>
          <p:cNvSpPr/>
          <p:nvPr/>
        </p:nvSpPr>
        <p:spPr>
          <a:xfrm>
            <a:off x="8020986" y="4315750"/>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endoplasmic reticulum</a:t>
            </a:r>
            <a:endParaRPr lang="en-US" sz="1600" dirty="0"/>
          </a:p>
        </p:txBody>
      </p:sp>
      <p:sp>
        <p:nvSpPr>
          <p:cNvPr id="100" name="Text 95"/>
          <p:cNvSpPr/>
          <p:nvPr/>
        </p:nvSpPr>
        <p:spPr>
          <a:xfrm>
            <a:off x="502920" y="5791200"/>
            <a:ext cx="11185855" cy="316992"/>
          </a:xfrm>
          <a:prstGeom prst="rect">
            <a:avLst/>
          </a:prstGeom>
          <a:noFill/>
          <a:ln/>
        </p:spPr>
        <p:txBody>
          <a:bodyPr wrap="square" lIns="0" tIns="0" rIns="0" bIns="0" rtlCol="0" anchor="t"/>
          <a:lstStyle/>
          <a:p>
            <a:pPr algn="ctr" indent="0" marL="0">
              <a:buNone/>
            </a:pPr>
            <a:r>
              <a:rPr lang="en-US" sz="1600" i="1" dirty="0">
                <a:solidFill>
                  <a:srgbClr val="555555"/>
                </a:solidFill>
                <a:latin typeface="Calibri" pitchFamily="34" charset="0"/>
                <a:ea typeface="Calibri" pitchFamily="34" charset="-122"/>
                <a:cs typeface="Calibri" pitchFamily="34" charset="-120"/>
              </a:rPr>
              <a:t>This is a drawing, not a photograph.</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502920" y="713232"/>
            <a:ext cx="713232" cy="713232"/>
          </a:xfrm>
          <a:prstGeom prst="ellipse">
            <a:avLst/>
          </a:prstGeom>
          <a:solidFill>
            <a:srgbClr val="F7F9D3"/>
          </a:solidFill>
          <a:ln w="31750">
            <a:solidFill>
              <a:srgbClr val="D7DF23"/>
            </a:solidFill>
            <a:prstDash val="solid"/>
          </a:ln>
        </p:spPr>
      </p:sp>
      <p:pic>
        <p:nvPicPr>
          <p:cNvPr id="10"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Study: a plant cell</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What is the same as the animal cell? What is different?</a:t>
            </a:r>
            <a:endParaRPr lang="en-US" sz="2000" dirty="0"/>
          </a:p>
        </p:txBody>
      </p:sp>
      <p:sp>
        <p:nvSpPr>
          <p:cNvPr id="13" name="Shape 8"/>
          <p:cNvSpPr/>
          <p:nvPr/>
        </p:nvSpPr>
        <p:spPr>
          <a:xfrm>
            <a:off x="4313312" y="1904347"/>
            <a:ext cx="3565071" cy="3707674"/>
          </a:xfrm>
          <a:prstGeom prst="rect">
            <a:avLst/>
          </a:prstGeom>
          <a:solidFill>
            <a:srgbClr val="F1F8E9"/>
          </a:solidFill>
          <a:ln w="63500">
            <a:solidFill>
              <a:srgbClr val="2E7D32"/>
            </a:solidFill>
            <a:prstDash val="solid"/>
          </a:ln>
        </p:spPr>
      </p:sp>
      <p:sp>
        <p:nvSpPr>
          <p:cNvPr id="14" name="Shape 9"/>
          <p:cNvSpPr/>
          <p:nvPr/>
        </p:nvSpPr>
        <p:spPr>
          <a:xfrm>
            <a:off x="4427394" y="2018429"/>
            <a:ext cx="3336907" cy="3479510"/>
          </a:xfrm>
          <a:prstGeom prst="rect">
            <a:avLst/>
          </a:prstGeom>
          <a:solidFill>
            <a:srgbClr val="F1F8E9"/>
          </a:solidFill>
          <a:ln w="17780">
            <a:solidFill>
              <a:srgbClr val="AD1457"/>
            </a:solidFill>
            <a:prstDash val="solid"/>
          </a:ln>
        </p:spPr>
      </p:sp>
      <p:sp>
        <p:nvSpPr>
          <p:cNvPr id="15" name="Shape 10"/>
          <p:cNvSpPr/>
          <p:nvPr/>
        </p:nvSpPr>
        <p:spPr>
          <a:xfrm>
            <a:off x="5240230" y="2759964"/>
            <a:ext cx="1925139" cy="1996440"/>
          </a:xfrm>
          <a:prstGeom prst="roundRect">
            <a:avLst>
              <a:gd name="adj" fmla="val 10714"/>
            </a:avLst>
          </a:prstGeom>
          <a:solidFill>
            <a:srgbClr val="D6EEF8"/>
          </a:solidFill>
          <a:ln w="20320">
            <a:solidFill>
              <a:srgbClr val="5DADE2"/>
            </a:solidFill>
            <a:prstDash val="solid"/>
          </a:ln>
        </p:spPr>
      </p:sp>
      <p:sp>
        <p:nvSpPr>
          <p:cNvPr id="16" name="Shape 11"/>
          <p:cNvSpPr/>
          <p:nvPr/>
        </p:nvSpPr>
        <p:spPr>
          <a:xfrm>
            <a:off x="4527216" y="2225203"/>
            <a:ext cx="641713" cy="641713"/>
          </a:xfrm>
          <a:prstGeom prst="ellipse">
            <a:avLst/>
          </a:prstGeom>
          <a:solidFill>
            <a:srgbClr val="E8DDF5"/>
          </a:solidFill>
          <a:ln w="20320">
            <a:solidFill>
              <a:srgbClr val="6A3FA0"/>
            </a:solidFill>
            <a:prstDash val="solid"/>
          </a:ln>
        </p:spPr>
      </p:sp>
      <p:sp>
        <p:nvSpPr>
          <p:cNvPr id="17" name="Shape 12"/>
          <p:cNvSpPr/>
          <p:nvPr/>
        </p:nvSpPr>
        <p:spPr>
          <a:xfrm>
            <a:off x="4698340" y="2396327"/>
            <a:ext cx="228165" cy="228165"/>
          </a:xfrm>
          <a:prstGeom prst="ellipse">
            <a:avLst/>
          </a:prstGeom>
          <a:solidFill>
            <a:srgbClr val="8E5CC8"/>
          </a:solidFill>
          <a:ln w="6350">
            <a:solidFill>
              <a:srgbClr val="6A3FA0"/>
            </a:solidFill>
            <a:prstDash val="solid"/>
          </a:ln>
        </p:spPr>
      </p:sp>
      <p:sp>
        <p:nvSpPr>
          <p:cNvPr id="18" name="Shape 13"/>
          <p:cNvSpPr/>
          <p:nvPr/>
        </p:nvSpPr>
        <p:spPr>
          <a:xfrm>
            <a:off x="4473740" y="3465848"/>
            <a:ext cx="534761" cy="299466"/>
          </a:xfrm>
          <a:prstGeom prst="ellipse">
            <a:avLst/>
          </a:prstGeom>
          <a:solidFill>
            <a:srgbClr val="A5D6A7"/>
          </a:solidFill>
          <a:ln w="15240">
            <a:solidFill>
              <a:srgbClr val="2E7D32"/>
            </a:solidFill>
            <a:prstDash val="solid"/>
          </a:ln>
        </p:spPr>
      </p:sp>
      <p:sp>
        <p:nvSpPr>
          <p:cNvPr id="19" name="Shape 14"/>
          <p:cNvSpPr/>
          <p:nvPr/>
        </p:nvSpPr>
        <p:spPr>
          <a:xfrm>
            <a:off x="4586040" y="3555688"/>
            <a:ext cx="74867" cy="119786"/>
          </a:xfrm>
          <a:prstGeom prst="rect">
            <a:avLst/>
          </a:prstGeom>
          <a:solidFill>
            <a:srgbClr val="66BB6A"/>
          </a:solidFill>
          <a:ln w="6350">
            <a:solidFill>
              <a:srgbClr val="2E7D32"/>
            </a:solidFill>
            <a:prstDash val="solid"/>
          </a:ln>
        </p:spPr>
      </p:sp>
      <p:sp>
        <p:nvSpPr>
          <p:cNvPr id="20" name="Shape 15"/>
          <p:cNvSpPr/>
          <p:nvPr/>
        </p:nvSpPr>
        <p:spPr>
          <a:xfrm>
            <a:off x="4703687" y="3555688"/>
            <a:ext cx="74867" cy="119786"/>
          </a:xfrm>
          <a:prstGeom prst="rect">
            <a:avLst/>
          </a:prstGeom>
          <a:solidFill>
            <a:srgbClr val="66BB6A"/>
          </a:solidFill>
          <a:ln w="6350">
            <a:solidFill>
              <a:srgbClr val="2E7D32"/>
            </a:solidFill>
            <a:prstDash val="solid"/>
          </a:ln>
        </p:spPr>
      </p:sp>
      <p:sp>
        <p:nvSpPr>
          <p:cNvPr id="21" name="Shape 16"/>
          <p:cNvSpPr/>
          <p:nvPr/>
        </p:nvSpPr>
        <p:spPr>
          <a:xfrm>
            <a:off x="4821335" y="3555688"/>
            <a:ext cx="74867" cy="119786"/>
          </a:xfrm>
          <a:prstGeom prst="rect">
            <a:avLst/>
          </a:prstGeom>
          <a:solidFill>
            <a:srgbClr val="66BB6A"/>
          </a:solidFill>
          <a:ln w="6350">
            <a:solidFill>
              <a:srgbClr val="2E7D32"/>
            </a:solidFill>
            <a:prstDash val="solid"/>
          </a:ln>
        </p:spPr>
      </p:sp>
      <p:sp>
        <p:nvSpPr>
          <p:cNvPr id="22" name="Shape 17"/>
          <p:cNvSpPr/>
          <p:nvPr/>
        </p:nvSpPr>
        <p:spPr>
          <a:xfrm>
            <a:off x="4473740" y="4178862"/>
            <a:ext cx="534761" cy="299466"/>
          </a:xfrm>
          <a:prstGeom prst="ellipse">
            <a:avLst/>
          </a:prstGeom>
          <a:solidFill>
            <a:srgbClr val="A5D6A7"/>
          </a:solidFill>
          <a:ln w="15240">
            <a:solidFill>
              <a:srgbClr val="2E7D32"/>
            </a:solidFill>
            <a:prstDash val="solid"/>
          </a:ln>
        </p:spPr>
      </p:sp>
      <p:sp>
        <p:nvSpPr>
          <p:cNvPr id="23" name="Shape 18"/>
          <p:cNvSpPr/>
          <p:nvPr/>
        </p:nvSpPr>
        <p:spPr>
          <a:xfrm>
            <a:off x="4586040" y="4268702"/>
            <a:ext cx="74867" cy="119786"/>
          </a:xfrm>
          <a:prstGeom prst="rect">
            <a:avLst/>
          </a:prstGeom>
          <a:solidFill>
            <a:srgbClr val="66BB6A"/>
          </a:solidFill>
          <a:ln w="6350">
            <a:solidFill>
              <a:srgbClr val="2E7D32"/>
            </a:solidFill>
            <a:prstDash val="solid"/>
          </a:ln>
        </p:spPr>
      </p:sp>
      <p:sp>
        <p:nvSpPr>
          <p:cNvPr id="24" name="Shape 19"/>
          <p:cNvSpPr/>
          <p:nvPr/>
        </p:nvSpPr>
        <p:spPr>
          <a:xfrm>
            <a:off x="4703687" y="4268702"/>
            <a:ext cx="74867" cy="119786"/>
          </a:xfrm>
          <a:prstGeom prst="rect">
            <a:avLst/>
          </a:prstGeom>
          <a:solidFill>
            <a:srgbClr val="66BB6A"/>
          </a:solidFill>
          <a:ln w="6350">
            <a:solidFill>
              <a:srgbClr val="2E7D32"/>
            </a:solidFill>
            <a:prstDash val="solid"/>
          </a:ln>
        </p:spPr>
      </p:sp>
      <p:sp>
        <p:nvSpPr>
          <p:cNvPr id="25" name="Shape 20"/>
          <p:cNvSpPr/>
          <p:nvPr/>
        </p:nvSpPr>
        <p:spPr>
          <a:xfrm>
            <a:off x="4821335" y="4268702"/>
            <a:ext cx="74867" cy="119786"/>
          </a:xfrm>
          <a:prstGeom prst="rect">
            <a:avLst/>
          </a:prstGeom>
          <a:solidFill>
            <a:srgbClr val="66BB6A"/>
          </a:solidFill>
          <a:ln w="6350">
            <a:solidFill>
              <a:srgbClr val="2E7D32"/>
            </a:solidFill>
            <a:prstDash val="solid"/>
          </a:ln>
        </p:spPr>
      </p:sp>
      <p:sp>
        <p:nvSpPr>
          <p:cNvPr id="26" name="Shape 21"/>
          <p:cNvSpPr/>
          <p:nvPr/>
        </p:nvSpPr>
        <p:spPr>
          <a:xfrm>
            <a:off x="7183194" y="3180642"/>
            <a:ext cx="534761" cy="299466"/>
          </a:xfrm>
          <a:prstGeom prst="ellipse">
            <a:avLst/>
          </a:prstGeom>
          <a:solidFill>
            <a:srgbClr val="A5D6A7"/>
          </a:solidFill>
          <a:ln w="15240">
            <a:solidFill>
              <a:srgbClr val="2E7D32"/>
            </a:solidFill>
            <a:prstDash val="solid"/>
          </a:ln>
        </p:spPr>
      </p:sp>
      <p:sp>
        <p:nvSpPr>
          <p:cNvPr id="27" name="Shape 22"/>
          <p:cNvSpPr/>
          <p:nvPr/>
        </p:nvSpPr>
        <p:spPr>
          <a:xfrm>
            <a:off x="7295494" y="3270482"/>
            <a:ext cx="74867" cy="119786"/>
          </a:xfrm>
          <a:prstGeom prst="rect">
            <a:avLst/>
          </a:prstGeom>
          <a:solidFill>
            <a:srgbClr val="66BB6A"/>
          </a:solidFill>
          <a:ln w="6350">
            <a:solidFill>
              <a:srgbClr val="2E7D32"/>
            </a:solidFill>
            <a:prstDash val="solid"/>
          </a:ln>
        </p:spPr>
      </p:sp>
      <p:sp>
        <p:nvSpPr>
          <p:cNvPr id="28" name="Shape 23"/>
          <p:cNvSpPr/>
          <p:nvPr/>
        </p:nvSpPr>
        <p:spPr>
          <a:xfrm>
            <a:off x="7413141" y="3270482"/>
            <a:ext cx="74867" cy="119786"/>
          </a:xfrm>
          <a:prstGeom prst="rect">
            <a:avLst/>
          </a:prstGeom>
          <a:solidFill>
            <a:srgbClr val="66BB6A"/>
          </a:solidFill>
          <a:ln w="6350">
            <a:solidFill>
              <a:srgbClr val="2E7D32"/>
            </a:solidFill>
            <a:prstDash val="solid"/>
          </a:ln>
        </p:spPr>
      </p:sp>
      <p:sp>
        <p:nvSpPr>
          <p:cNvPr id="29" name="Shape 24"/>
          <p:cNvSpPr/>
          <p:nvPr/>
        </p:nvSpPr>
        <p:spPr>
          <a:xfrm>
            <a:off x="7530789" y="3270482"/>
            <a:ext cx="74867" cy="119786"/>
          </a:xfrm>
          <a:prstGeom prst="rect">
            <a:avLst/>
          </a:prstGeom>
          <a:solidFill>
            <a:srgbClr val="66BB6A"/>
          </a:solidFill>
          <a:ln w="6350">
            <a:solidFill>
              <a:srgbClr val="2E7D32"/>
            </a:solidFill>
            <a:prstDash val="solid"/>
          </a:ln>
        </p:spPr>
      </p:sp>
      <p:sp>
        <p:nvSpPr>
          <p:cNvPr id="30" name="Shape 25"/>
          <p:cNvSpPr/>
          <p:nvPr/>
        </p:nvSpPr>
        <p:spPr>
          <a:xfrm>
            <a:off x="7183194" y="4036260"/>
            <a:ext cx="534761" cy="299466"/>
          </a:xfrm>
          <a:prstGeom prst="ellipse">
            <a:avLst/>
          </a:prstGeom>
          <a:solidFill>
            <a:srgbClr val="A5D6A7"/>
          </a:solidFill>
          <a:ln w="15240">
            <a:solidFill>
              <a:srgbClr val="2E7D32"/>
            </a:solidFill>
            <a:prstDash val="solid"/>
          </a:ln>
        </p:spPr>
      </p:sp>
      <p:sp>
        <p:nvSpPr>
          <p:cNvPr id="31" name="Shape 26"/>
          <p:cNvSpPr/>
          <p:nvPr/>
        </p:nvSpPr>
        <p:spPr>
          <a:xfrm>
            <a:off x="7295494" y="4126099"/>
            <a:ext cx="74867" cy="119786"/>
          </a:xfrm>
          <a:prstGeom prst="rect">
            <a:avLst/>
          </a:prstGeom>
          <a:solidFill>
            <a:srgbClr val="66BB6A"/>
          </a:solidFill>
          <a:ln w="6350">
            <a:solidFill>
              <a:srgbClr val="2E7D32"/>
            </a:solidFill>
            <a:prstDash val="solid"/>
          </a:ln>
        </p:spPr>
      </p:sp>
      <p:sp>
        <p:nvSpPr>
          <p:cNvPr id="32" name="Shape 27"/>
          <p:cNvSpPr/>
          <p:nvPr/>
        </p:nvSpPr>
        <p:spPr>
          <a:xfrm>
            <a:off x="7413141" y="4126099"/>
            <a:ext cx="74867" cy="119786"/>
          </a:xfrm>
          <a:prstGeom prst="rect">
            <a:avLst/>
          </a:prstGeom>
          <a:solidFill>
            <a:srgbClr val="66BB6A"/>
          </a:solidFill>
          <a:ln w="6350">
            <a:solidFill>
              <a:srgbClr val="2E7D32"/>
            </a:solidFill>
            <a:prstDash val="solid"/>
          </a:ln>
        </p:spPr>
      </p:sp>
      <p:sp>
        <p:nvSpPr>
          <p:cNvPr id="33" name="Shape 28"/>
          <p:cNvSpPr/>
          <p:nvPr/>
        </p:nvSpPr>
        <p:spPr>
          <a:xfrm>
            <a:off x="7530789" y="4126099"/>
            <a:ext cx="74867" cy="119786"/>
          </a:xfrm>
          <a:prstGeom prst="rect">
            <a:avLst/>
          </a:prstGeom>
          <a:solidFill>
            <a:srgbClr val="66BB6A"/>
          </a:solidFill>
          <a:ln w="6350">
            <a:solidFill>
              <a:srgbClr val="2E7D32"/>
            </a:solidFill>
            <a:prstDash val="solid"/>
          </a:ln>
        </p:spPr>
      </p:sp>
      <p:sp>
        <p:nvSpPr>
          <p:cNvPr id="34" name="Shape 29"/>
          <p:cNvSpPr/>
          <p:nvPr/>
        </p:nvSpPr>
        <p:spPr>
          <a:xfrm>
            <a:off x="5454135" y="5005959"/>
            <a:ext cx="570411" cy="285206"/>
          </a:xfrm>
          <a:prstGeom prst="ellipse">
            <a:avLst/>
          </a:prstGeom>
          <a:solidFill>
            <a:srgbClr val="A5D6A7"/>
          </a:solidFill>
          <a:ln w="15240">
            <a:solidFill>
              <a:srgbClr val="2E7D32"/>
            </a:solidFill>
            <a:prstDash val="solid"/>
          </a:ln>
        </p:spPr>
      </p:sp>
      <p:sp>
        <p:nvSpPr>
          <p:cNvPr id="35" name="Shape 30"/>
          <p:cNvSpPr/>
          <p:nvPr/>
        </p:nvSpPr>
        <p:spPr>
          <a:xfrm>
            <a:off x="5573921" y="5091521"/>
            <a:ext cx="79858" cy="114082"/>
          </a:xfrm>
          <a:prstGeom prst="rect">
            <a:avLst/>
          </a:prstGeom>
          <a:solidFill>
            <a:srgbClr val="66BB6A"/>
          </a:solidFill>
          <a:ln w="6350">
            <a:solidFill>
              <a:srgbClr val="2E7D32"/>
            </a:solidFill>
            <a:prstDash val="solid"/>
          </a:ln>
        </p:spPr>
      </p:sp>
      <p:sp>
        <p:nvSpPr>
          <p:cNvPr id="36" name="Shape 31"/>
          <p:cNvSpPr/>
          <p:nvPr/>
        </p:nvSpPr>
        <p:spPr>
          <a:xfrm>
            <a:off x="5699412" y="5091521"/>
            <a:ext cx="79858" cy="114082"/>
          </a:xfrm>
          <a:prstGeom prst="rect">
            <a:avLst/>
          </a:prstGeom>
          <a:solidFill>
            <a:srgbClr val="66BB6A"/>
          </a:solidFill>
          <a:ln w="6350">
            <a:solidFill>
              <a:srgbClr val="2E7D32"/>
            </a:solidFill>
            <a:prstDash val="solid"/>
          </a:ln>
        </p:spPr>
      </p:sp>
      <p:sp>
        <p:nvSpPr>
          <p:cNvPr id="37" name="Shape 32"/>
          <p:cNvSpPr/>
          <p:nvPr/>
        </p:nvSpPr>
        <p:spPr>
          <a:xfrm>
            <a:off x="5824902" y="5091521"/>
            <a:ext cx="79858" cy="114082"/>
          </a:xfrm>
          <a:prstGeom prst="rect">
            <a:avLst/>
          </a:prstGeom>
          <a:solidFill>
            <a:srgbClr val="66BB6A"/>
          </a:solidFill>
          <a:ln w="6350">
            <a:solidFill>
              <a:srgbClr val="2E7D32"/>
            </a:solidFill>
            <a:prstDash val="solid"/>
          </a:ln>
        </p:spPr>
      </p:sp>
      <p:sp>
        <p:nvSpPr>
          <p:cNvPr id="38" name="Shape 33"/>
          <p:cNvSpPr/>
          <p:nvPr/>
        </p:nvSpPr>
        <p:spPr>
          <a:xfrm>
            <a:off x="6381053" y="2225203"/>
            <a:ext cx="570411" cy="285206"/>
          </a:xfrm>
          <a:prstGeom prst="ellipse">
            <a:avLst/>
          </a:prstGeom>
          <a:solidFill>
            <a:srgbClr val="A5D6A7"/>
          </a:solidFill>
          <a:ln w="15240">
            <a:solidFill>
              <a:srgbClr val="2E7D32"/>
            </a:solidFill>
            <a:prstDash val="solid"/>
          </a:ln>
        </p:spPr>
      </p:sp>
      <p:sp>
        <p:nvSpPr>
          <p:cNvPr id="39" name="Shape 34"/>
          <p:cNvSpPr/>
          <p:nvPr/>
        </p:nvSpPr>
        <p:spPr>
          <a:xfrm>
            <a:off x="6500840" y="2310765"/>
            <a:ext cx="79858" cy="114082"/>
          </a:xfrm>
          <a:prstGeom prst="rect">
            <a:avLst/>
          </a:prstGeom>
          <a:solidFill>
            <a:srgbClr val="66BB6A"/>
          </a:solidFill>
          <a:ln w="6350">
            <a:solidFill>
              <a:srgbClr val="2E7D32"/>
            </a:solidFill>
            <a:prstDash val="solid"/>
          </a:ln>
        </p:spPr>
      </p:sp>
      <p:sp>
        <p:nvSpPr>
          <p:cNvPr id="40" name="Shape 35"/>
          <p:cNvSpPr/>
          <p:nvPr/>
        </p:nvSpPr>
        <p:spPr>
          <a:xfrm>
            <a:off x="6626330" y="2310765"/>
            <a:ext cx="79858" cy="114082"/>
          </a:xfrm>
          <a:prstGeom prst="rect">
            <a:avLst/>
          </a:prstGeom>
          <a:solidFill>
            <a:srgbClr val="66BB6A"/>
          </a:solidFill>
          <a:ln w="6350">
            <a:solidFill>
              <a:srgbClr val="2E7D32"/>
            </a:solidFill>
            <a:prstDash val="solid"/>
          </a:ln>
        </p:spPr>
      </p:sp>
      <p:sp>
        <p:nvSpPr>
          <p:cNvPr id="41" name="Shape 36"/>
          <p:cNvSpPr/>
          <p:nvPr/>
        </p:nvSpPr>
        <p:spPr>
          <a:xfrm>
            <a:off x="6751821" y="2310765"/>
            <a:ext cx="79858" cy="114082"/>
          </a:xfrm>
          <a:prstGeom prst="rect">
            <a:avLst/>
          </a:prstGeom>
          <a:solidFill>
            <a:srgbClr val="66BB6A"/>
          </a:solidFill>
          <a:ln w="6350">
            <a:solidFill>
              <a:srgbClr val="2E7D32"/>
            </a:solidFill>
            <a:prstDash val="solid"/>
          </a:ln>
        </p:spPr>
      </p:sp>
      <p:sp>
        <p:nvSpPr>
          <p:cNvPr id="42" name="Shape 37"/>
          <p:cNvSpPr/>
          <p:nvPr/>
        </p:nvSpPr>
        <p:spPr>
          <a:xfrm>
            <a:off x="7094068" y="4813445"/>
            <a:ext cx="570411" cy="313726"/>
          </a:xfrm>
          <a:prstGeom prst="ellipse">
            <a:avLst/>
          </a:prstGeom>
          <a:solidFill>
            <a:srgbClr val="FBD6A5"/>
          </a:solidFill>
          <a:ln w="15240">
            <a:solidFill>
              <a:srgbClr val="E07B00"/>
            </a:solidFill>
            <a:prstDash val="solid"/>
          </a:ln>
        </p:spPr>
      </p:sp>
      <p:sp>
        <p:nvSpPr>
          <p:cNvPr id="43" name="Shape 38"/>
          <p:cNvSpPr/>
          <p:nvPr/>
        </p:nvSpPr>
        <p:spPr>
          <a:xfrm>
            <a:off x="7196742" y="4876190"/>
            <a:ext cx="57041" cy="109804"/>
          </a:xfrm>
          <a:prstGeom prst="line">
            <a:avLst/>
          </a:prstGeom>
          <a:noFill/>
          <a:ln w="10160">
            <a:solidFill>
              <a:srgbClr val="E07B00"/>
            </a:solidFill>
            <a:prstDash val="solid"/>
          </a:ln>
        </p:spPr>
      </p:sp>
      <p:sp>
        <p:nvSpPr>
          <p:cNvPr id="44" name="Shape 39"/>
          <p:cNvSpPr/>
          <p:nvPr/>
        </p:nvSpPr>
        <p:spPr>
          <a:xfrm flipV="1">
            <a:off x="7196742" y="4985995"/>
            <a:ext cx="57041" cy="78432"/>
          </a:xfrm>
          <a:prstGeom prst="line">
            <a:avLst/>
          </a:prstGeom>
          <a:noFill/>
          <a:ln w="10160">
            <a:solidFill>
              <a:srgbClr val="E07B00"/>
            </a:solidFill>
            <a:prstDash val="solid"/>
          </a:ln>
        </p:spPr>
      </p:sp>
      <p:sp>
        <p:nvSpPr>
          <p:cNvPr id="45" name="Shape 40"/>
          <p:cNvSpPr/>
          <p:nvPr/>
        </p:nvSpPr>
        <p:spPr>
          <a:xfrm>
            <a:off x="7379273" y="4876190"/>
            <a:ext cx="57041" cy="109804"/>
          </a:xfrm>
          <a:prstGeom prst="line">
            <a:avLst/>
          </a:prstGeom>
          <a:noFill/>
          <a:ln w="10160">
            <a:solidFill>
              <a:srgbClr val="E07B00"/>
            </a:solidFill>
            <a:prstDash val="solid"/>
          </a:ln>
        </p:spPr>
      </p:sp>
      <p:sp>
        <p:nvSpPr>
          <p:cNvPr id="46" name="Shape 41"/>
          <p:cNvSpPr/>
          <p:nvPr/>
        </p:nvSpPr>
        <p:spPr>
          <a:xfrm flipV="1">
            <a:off x="7379273" y="4985995"/>
            <a:ext cx="57041" cy="78432"/>
          </a:xfrm>
          <a:prstGeom prst="line">
            <a:avLst/>
          </a:prstGeom>
          <a:noFill/>
          <a:ln w="10160">
            <a:solidFill>
              <a:srgbClr val="E07B00"/>
            </a:solidFill>
            <a:prstDash val="solid"/>
          </a:ln>
        </p:spPr>
      </p:sp>
      <p:sp>
        <p:nvSpPr>
          <p:cNvPr id="47" name="Shape 42"/>
          <p:cNvSpPr/>
          <p:nvPr/>
        </p:nvSpPr>
        <p:spPr>
          <a:xfrm>
            <a:off x="7561805" y="4876190"/>
            <a:ext cx="57041" cy="109804"/>
          </a:xfrm>
          <a:prstGeom prst="line">
            <a:avLst/>
          </a:prstGeom>
          <a:noFill/>
          <a:ln w="10160">
            <a:solidFill>
              <a:srgbClr val="E07B00"/>
            </a:solidFill>
            <a:prstDash val="solid"/>
          </a:ln>
        </p:spPr>
      </p:sp>
      <p:sp>
        <p:nvSpPr>
          <p:cNvPr id="48" name="Shape 43"/>
          <p:cNvSpPr/>
          <p:nvPr/>
        </p:nvSpPr>
        <p:spPr>
          <a:xfrm flipV="1">
            <a:off x="7561805" y="4985995"/>
            <a:ext cx="57041" cy="78432"/>
          </a:xfrm>
          <a:prstGeom prst="line">
            <a:avLst/>
          </a:prstGeom>
          <a:noFill/>
          <a:ln w="10160">
            <a:solidFill>
              <a:srgbClr val="E07B00"/>
            </a:solidFill>
            <a:prstDash val="solid"/>
          </a:ln>
        </p:spPr>
      </p:sp>
      <p:sp>
        <p:nvSpPr>
          <p:cNvPr id="49" name="Shape 44"/>
          <p:cNvSpPr/>
          <p:nvPr/>
        </p:nvSpPr>
        <p:spPr>
          <a:xfrm>
            <a:off x="5097628" y="2175292"/>
            <a:ext cx="570411" cy="313726"/>
          </a:xfrm>
          <a:prstGeom prst="ellipse">
            <a:avLst/>
          </a:prstGeom>
          <a:solidFill>
            <a:srgbClr val="FBD6A5"/>
          </a:solidFill>
          <a:ln w="15240">
            <a:solidFill>
              <a:srgbClr val="E07B00"/>
            </a:solidFill>
            <a:prstDash val="solid"/>
          </a:ln>
        </p:spPr>
      </p:sp>
      <p:sp>
        <p:nvSpPr>
          <p:cNvPr id="50" name="Shape 45"/>
          <p:cNvSpPr/>
          <p:nvPr/>
        </p:nvSpPr>
        <p:spPr>
          <a:xfrm>
            <a:off x="5200302" y="2238038"/>
            <a:ext cx="57041" cy="109804"/>
          </a:xfrm>
          <a:prstGeom prst="line">
            <a:avLst/>
          </a:prstGeom>
          <a:noFill/>
          <a:ln w="10160">
            <a:solidFill>
              <a:srgbClr val="E07B00"/>
            </a:solidFill>
            <a:prstDash val="solid"/>
          </a:ln>
        </p:spPr>
      </p:sp>
      <p:sp>
        <p:nvSpPr>
          <p:cNvPr id="51" name="Shape 46"/>
          <p:cNvSpPr/>
          <p:nvPr/>
        </p:nvSpPr>
        <p:spPr>
          <a:xfrm flipV="1">
            <a:off x="5200302" y="2347842"/>
            <a:ext cx="57041" cy="78432"/>
          </a:xfrm>
          <a:prstGeom prst="line">
            <a:avLst/>
          </a:prstGeom>
          <a:noFill/>
          <a:ln w="10160">
            <a:solidFill>
              <a:srgbClr val="E07B00"/>
            </a:solidFill>
            <a:prstDash val="solid"/>
          </a:ln>
        </p:spPr>
      </p:sp>
      <p:sp>
        <p:nvSpPr>
          <p:cNvPr id="52" name="Shape 47"/>
          <p:cNvSpPr/>
          <p:nvPr/>
        </p:nvSpPr>
        <p:spPr>
          <a:xfrm>
            <a:off x="5382833" y="2238038"/>
            <a:ext cx="57041" cy="109804"/>
          </a:xfrm>
          <a:prstGeom prst="line">
            <a:avLst/>
          </a:prstGeom>
          <a:noFill/>
          <a:ln w="10160">
            <a:solidFill>
              <a:srgbClr val="E07B00"/>
            </a:solidFill>
            <a:prstDash val="solid"/>
          </a:ln>
        </p:spPr>
      </p:sp>
      <p:sp>
        <p:nvSpPr>
          <p:cNvPr id="53" name="Shape 48"/>
          <p:cNvSpPr/>
          <p:nvPr/>
        </p:nvSpPr>
        <p:spPr>
          <a:xfrm flipV="1">
            <a:off x="5382833" y="2347842"/>
            <a:ext cx="57041" cy="78432"/>
          </a:xfrm>
          <a:prstGeom prst="line">
            <a:avLst/>
          </a:prstGeom>
          <a:noFill/>
          <a:ln w="10160">
            <a:solidFill>
              <a:srgbClr val="E07B00"/>
            </a:solidFill>
            <a:prstDash val="solid"/>
          </a:ln>
        </p:spPr>
      </p:sp>
      <p:sp>
        <p:nvSpPr>
          <p:cNvPr id="54" name="Shape 49"/>
          <p:cNvSpPr/>
          <p:nvPr/>
        </p:nvSpPr>
        <p:spPr>
          <a:xfrm>
            <a:off x="5565365" y="2238038"/>
            <a:ext cx="57041" cy="109804"/>
          </a:xfrm>
          <a:prstGeom prst="line">
            <a:avLst/>
          </a:prstGeom>
          <a:noFill/>
          <a:ln w="10160">
            <a:solidFill>
              <a:srgbClr val="E07B00"/>
            </a:solidFill>
            <a:prstDash val="solid"/>
          </a:ln>
        </p:spPr>
      </p:sp>
      <p:sp>
        <p:nvSpPr>
          <p:cNvPr id="55" name="Shape 50"/>
          <p:cNvSpPr/>
          <p:nvPr/>
        </p:nvSpPr>
        <p:spPr>
          <a:xfrm flipV="1">
            <a:off x="5565365" y="2347842"/>
            <a:ext cx="57041" cy="78432"/>
          </a:xfrm>
          <a:prstGeom prst="line">
            <a:avLst/>
          </a:prstGeom>
          <a:noFill/>
          <a:ln w="10160">
            <a:solidFill>
              <a:srgbClr val="E07B00"/>
            </a:solidFill>
            <a:prstDash val="solid"/>
          </a:ln>
        </p:spPr>
      </p:sp>
      <p:sp>
        <p:nvSpPr>
          <p:cNvPr id="56" name="Shape 51"/>
          <p:cNvSpPr/>
          <p:nvPr/>
        </p:nvSpPr>
        <p:spPr>
          <a:xfrm>
            <a:off x="4669819" y="3045170"/>
            <a:ext cx="118836" cy="35651"/>
          </a:xfrm>
          <a:prstGeom prst="line">
            <a:avLst/>
          </a:prstGeom>
          <a:noFill/>
          <a:ln w="15240">
            <a:solidFill>
              <a:srgbClr val="7B1FA2"/>
            </a:solidFill>
            <a:prstDash val="solid"/>
          </a:ln>
        </p:spPr>
      </p:sp>
      <p:sp>
        <p:nvSpPr>
          <p:cNvPr id="57" name="Shape 52"/>
          <p:cNvSpPr/>
          <p:nvPr/>
        </p:nvSpPr>
        <p:spPr>
          <a:xfrm flipV="1">
            <a:off x="4788655" y="3009519"/>
            <a:ext cx="118836" cy="71301"/>
          </a:xfrm>
          <a:prstGeom prst="line">
            <a:avLst/>
          </a:prstGeom>
          <a:noFill/>
          <a:ln w="15240">
            <a:solidFill>
              <a:srgbClr val="7B1FA2"/>
            </a:solidFill>
            <a:prstDash val="solid"/>
          </a:ln>
        </p:spPr>
      </p:sp>
      <p:sp>
        <p:nvSpPr>
          <p:cNvPr id="58" name="Shape 53"/>
          <p:cNvSpPr/>
          <p:nvPr/>
        </p:nvSpPr>
        <p:spPr>
          <a:xfrm>
            <a:off x="4907490" y="3009519"/>
            <a:ext cx="118836" cy="71301"/>
          </a:xfrm>
          <a:prstGeom prst="line">
            <a:avLst/>
          </a:prstGeom>
          <a:noFill/>
          <a:ln w="15240">
            <a:solidFill>
              <a:srgbClr val="7B1FA2"/>
            </a:solidFill>
            <a:prstDash val="solid"/>
          </a:ln>
        </p:spPr>
      </p:sp>
      <p:sp>
        <p:nvSpPr>
          <p:cNvPr id="59" name="Shape 54"/>
          <p:cNvSpPr/>
          <p:nvPr/>
        </p:nvSpPr>
        <p:spPr>
          <a:xfrm flipV="1">
            <a:off x="5026326" y="3009519"/>
            <a:ext cx="118836" cy="71301"/>
          </a:xfrm>
          <a:prstGeom prst="line">
            <a:avLst/>
          </a:prstGeom>
          <a:noFill/>
          <a:ln w="15240">
            <a:solidFill>
              <a:srgbClr val="7B1FA2"/>
            </a:solidFill>
            <a:prstDash val="solid"/>
          </a:ln>
        </p:spPr>
      </p:sp>
      <p:sp>
        <p:nvSpPr>
          <p:cNvPr id="60" name="Shape 55"/>
          <p:cNvSpPr/>
          <p:nvPr/>
        </p:nvSpPr>
        <p:spPr>
          <a:xfrm>
            <a:off x="5145162" y="3009519"/>
            <a:ext cx="118836" cy="71301"/>
          </a:xfrm>
          <a:prstGeom prst="line">
            <a:avLst/>
          </a:prstGeom>
          <a:noFill/>
          <a:ln w="15240">
            <a:solidFill>
              <a:srgbClr val="7B1FA2"/>
            </a:solidFill>
            <a:prstDash val="solid"/>
          </a:ln>
        </p:spPr>
      </p:sp>
      <p:sp>
        <p:nvSpPr>
          <p:cNvPr id="61" name="Shape 56"/>
          <p:cNvSpPr/>
          <p:nvPr/>
        </p:nvSpPr>
        <p:spPr>
          <a:xfrm flipV="1">
            <a:off x="5263998" y="3009519"/>
            <a:ext cx="118836" cy="71301"/>
          </a:xfrm>
          <a:prstGeom prst="line">
            <a:avLst/>
          </a:prstGeom>
          <a:noFill/>
          <a:ln w="15240">
            <a:solidFill>
              <a:srgbClr val="7B1FA2"/>
            </a:solidFill>
            <a:prstDash val="solid"/>
          </a:ln>
        </p:spPr>
      </p:sp>
      <p:sp>
        <p:nvSpPr>
          <p:cNvPr id="62" name="Shape 57"/>
          <p:cNvSpPr/>
          <p:nvPr/>
        </p:nvSpPr>
        <p:spPr>
          <a:xfrm>
            <a:off x="4669819" y="3173512"/>
            <a:ext cx="118836" cy="35651"/>
          </a:xfrm>
          <a:prstGeom prst="line">
            <a:avLst/>
          </a:prstGeom>
          <a:noFill/>
          <a:ln w="15240">
            <a:solidFill>
              <a:srgbClr val="7B1FA2"/>
            </a:solidFill>
            <a:prstDash val="solid"/>
          </a:ln>
        </p:spPr>
      </p:sp>
      <p:sp>
        <p:nvSpPr>
          <p:cNvPr id="63" name="Shape 58"/>
          <p:cNvSpPr/>
          <p:nvPr/>
        </p:nvSpPr>
        <p:spPr>
          <a:xfrm flipV="1">
            <a:off x="4788655" y="3137862"/>
            <a:ext cx="118836" cy="71301"/>
          </a:xfrm>
          <a:prstGeom prst="line">
            <a:avLst/>
          </a:prstGeom>
          <a:noFill/>
          <a:ln w="15240">
            <a:solidFill>
              <a:srgbClr val="7B1FA2"/>
            </a:solidFill>
            <a:prstDash val="solid"/>
          </a:ln>
        </p:spPr>
      </p:sp>
      <p:sp>
        <p:nvSpPr>
          <p:cNvPr id="64" name="Shape 59"/>
          <p:cNvSpPr/>
          <p:nvPr/>
        </p:nvSpPr>
        <p:spPr>
          <a:xfrm>
            <a:off x="4907490" y="3137862"/>
            <a:ext cx="118836" cy="71301"/>
          </a:xfrm>
          <a:prstGeom prst="line">
            <a:avLst/>
          </a:prstGeom>
          <a:noFill/>
          <a:ln w="15240">
            <a:solidFill>
              <a:srgbClr val="7B1FA2"/>
            </a:solidFill>
            <a:prstDash val="solid"/>
          </a:ln>
        </p:spPr>
      </p:sp>
      <p:sp>
        <p:nvSpPr>
          <p:cNvPr id="65" name="Shape 60"/>
          <p:cNvSpPr/>
          <p:nvPr/>
        </p:nvSpPr>
        <p:spPr>
          <a:xfrm flipV="1">
            <a:off x="5026326" y="3137862"/>
            <a:ext cx="118836" cy="71301"/>
          </a:xfrm>
          <a:prstGeom prst="line">
            <a:avLst/>
          </a:prstGeom>
          <a:noFill/>
          <a:ln w="15240">
            <a:solidFill>
              <a:srgbClr val="7B1FA2"/>
            </a:solidFill>
            <a:prstDash val="solid"/>
          </a:ln>
        </p:spPr>
      </p:sp>
      <p:sp>
        <p:nvSpPr>
          <p:cNvPr id="66" name="Shape 61"/>
          <p:cNvSpPr/>
          <p:nvPr/>
        </p:nvSpPr>
        <p:spPr>
          <a:xfrm>
            <a:off x="5145162" y="3137862"/>
            <a:ext cx="118836" cy="71301"/>
          </a:xfrm>
          <a:prstGeom prst="line">
            <a:avLst/>
          </a:prstGeom>
          <a:noFill/>
          <a:ln w="15240">
            <a:solidFill>
              <a:srgbClr val="7B1FA2"/>
            </a:solidFill>
            <a:prstDash val="solid"/>
          </a:ln>
        </p:spPr>
      </p:sp>
      <p:sp>
        <p:nvSpPr>
          <p:cNvPr id="67" name="Shape 62"/>
          <p:cNvSpPr/>
          <p:nvPr/>
        </p:nvSpPr>
        <p:spPr>
          <a:xfrm flipV="1">
            <a:off x="5263998" y="3137862"/>
            <a:ext cx="118836" cy="71301"/>
          </a:xfrm>
          <a:prstGeom prst="line">
            <a:avLst/>
          </a:prstGeom>
          <a:noFill/>
          <a:ln w="15240">
            <a:solidFill>
              <a:srgbClr val="7B1FA2"/>
            </a:solidFill>
            <a:prstDash val="solid"/>
          </a:ln>
        </p:spPr>
      </p:sp>
      <p:sp>
        <p:nvSpPr>
          <p:cNvPr id="68" name="Shape 63"/>
          <p:cNvSpPr/>
          <p:nvPr/>
        </p:nvSpPr>
        <p:spPr>
          <a:xfrm>
            <a:off x="4780336" y="2963173"/>
            <a:ext cx="64171" cy="64171"/>
          </a:xfrm>
          <a:prstGeom prst="ellipse">
            <a:avLst/>
          </a:prstGeom>
          <a:solidFill>
            <a:srgbClr val="222222"/>
          </a:solidFill>
          <a:ln w="3175">
            <a:solidFill>
              <a:srgbClr val="222222"/>
            </a:solidFill>
            <a:prstDash val="solid"/>
          </a:ln>
        </p:spPr>
      </p:sp>
      <p:sp>
        <p:nvSpPr>
          <p:cNvPr id="69" name="Shape 64"/>
          <p:cNvSpPr/>
          <p:nvPr/>
        </p:nvSpPr>
        <p:spPr>
          <a:xfrm>
            <a:off x="4994241" y="2963173"/>
            <a:ext cx="64171" cy="64171"/>
          </a:xfrm>
          <a:prstGeom prst="ellipse">
            <a:avLst/>
          </a:prstGeom>
          <a:solidFill>
            <a:srgbClr val="222222"/>
          </a:solidFill>
          <a:ln w="3175">
            <a:solidFill>
              <a:srgbClr val="222222"/>
            </a:solidFill>
            <a:prstDash val="solid"/>
          </a:ln>
        </p:spPr>
      </p:sp>
      <p:sp>
        <p:nvSpPr>
          <p:cNvPr id="70" name="Shape 65"/>
          <p:cNvSpPr/>
          <p:nvPr/>
        </p:nvSpPr>
        <p:spPr>
          <a:xfrm>
            <a:off x="5208145" y="2963173"/>
            <a:ext cx="64171" cy="64171"/>
          </a:xfrm>
          <a:prstGeom prst="ellipse">
            <a:avLst/>
          </a:prstGeom>
          <a:solidFill>
            <a:srgbClr val="222222"/>
          </a:solidFill>
          <a:ln w="3175">
            <a:solidFill>
              <a:srgbClr val="222222"/>
            </a:solidFill>
            <a:prstDash val="solid"/>
          </a:ln>
        </p:spPr>
      </p:sp>
      <p:sp>
        <p:nvSpPr>
          <p:cNvPr id="71" name="Shape 66"/>
          <p:cNvSpPr/>
          <p:nvPr/>
        </p:nvSpPr>
        <p:spPr>
          <a:xfrm>
            <a:off x="6488005" y="4970308"/>
            <a:ext cx="641713" cy="106952"/>
          </a:xfrm>
          <a:prstGeom prst="roundRect">
            <a:avLst>
              <a:gd name="adj" fmla="val 3571"/>
            </a:avLst>
          </a:prstGeom>
          <a:solidFill>
            <a:srgbClr val="FFE0B2"/>
          </a:solidFill>
          <a:ln w="10160">
            <a:solidFill>
              <a:srgbClr val="EF6C00"/>
            </a:solidFill>
            <a:prstDash val="solid"/>
          </a:ln>
        </p:spPr>
      </p:sp>
      <p:sp>
        <p:nvSpPr>
          <p:cNvPr id="72" name="Shape 67"/>
          <p:cNvSpPr/>
          <p:nvPr/>
        </p:nvSpPr>
        <p:spPr>
          <a:xfrm>
            <a:off x="6509396" y="5112911"/>
            <a:ext cx="598932" cy="106952"/>
          </a:xfrm>
          <a:prstGeom prst="roundRect">
            <a:avLst>
              <a:gd name="adj" fmla="val 3571"/>
            </a:avLst>
          </a:prstGeom>
          <a:solidFill>
            <a:srgbClr val="FFE0B2"/>
          </a:solidFill>
          <a:ln w="10160">
            <a:solidFill>
              <a:srgbClr val="EF6C00"/>
            </a:solidFill>
            <a:prstDash val="solid"/>
          </a:ln>
        </p:spPr>
      </p:sp>
      <p:sp>
        <p:nvSpPr>
          <p:cNvPr id="73" name="Shape 68"/>
          <p:cNvSpPr/>
          <p:nvPr/>
        </p:nvSpPr>
        <p:spPr>
          <a:xfrm>
            <a:off x="6530786" y="5255514"/>
            <a:ext cx="556151" cy="106952"/>
          </a:xfrm>
          <a:prstGeom prst="roundRect">
            <a:avLst>
              <a:gd name="adj" fmla="val 3571"/>
            </a:avLst>
          </a:prstGeom>
          <a:solidFill>
            <a:srgbClr val="FFE0B2"/>
          </a:solidFill>
          <a:ln w="10160">
            <a:solidFill>
              <a:srgbClr val="EF6C00"/>
            </a:solidFill>
            <a:prstDash val="solid"/>
          </a:ln>
        </p:spPr>
      </p:sp>
      <p:sp>
        <p:nvSpPr>
          <p:cNvPr id="74" name="Shape 69"/>
          <p:cNvSpPr/>
          <p:nvPr/>
        </p:nvSpPr>
        <p:spPr>
          <a:xfrm>
            <a:off x="4637733" y="4938223"/>
            <a:ext cx="64171" cy="64171"/>
          </a:xfrm>
          <a:prstGeom prst="ellipse">
            <a:avLst/>
          </a:prstGeom>
          <a:solidFill>
            <a:srgbClr val="222222"/>
          </a:solidFill>
          <a:ln w="3175">
            <a:solidFill>
              <a:srgbClr val="222222"/>
            </a:solidFill>
            <a:prstDash val="solid"/>
          </a:ln>
        </p:spPr>
      </p:sp>
      <p:sp>
        <p:nvSpPr>
          <p:cNvPr id="75" name="Shape 70"/>
          <p:cNvSpPr/>
          <p:nvPr/>
        </p:nvSpPr>
        <p:spPr>
          <a:xfrm>
            <a:off x="5065542" y="4866921"/>
            <a:ext cx="64171" cy="64171"/>
          </a:xfrm>
          <a:prstGeom prst="ellipse">
            <a:avLst/>
          </a:prstGeom>
          <a:solidFill>
            <a:srgbClr val="222222"/>
          </a:solidFill>
          <a:ln w="3175">
            <a:solidFill>
              <a:srgbClr val="222222"/>
            </a:solidFill>
            <a:prstDash val="solid"/>
          </a:ln>
        </p:spPr>
      </p:sp>
      <p:sp>
        <p:nvSpPr>
          <p:cNvPr id="76" name="Shape 71"/>
          <p:cNvSpPr/>
          <p:nvPr/>
        </p:nvSpPr>
        <p:spPr>
          <a:xfrm>
            <a:off x="7204585" y="2585276"/>
            <a:ext cx="64171" cy="64171"/>
          </a:xfrm>
          <a:prstGeom prst="ellipse">
            <a:avLst/>
          </a:prstGeom>
          <a:solidFill>
            <a:srgbClr val="222222"/>
          </a:solidFill>
          <a:ln w="3175">
            <a:solidFill>
              <a:srgbClr val="222222"/>
            </a:solidFill>
            <a:prstDash val="solid"/>
          </a:ln>
        </p:spPr>
      </p:sp>
      <p:sp>
        <p:nvSpPr>
          <p:cNvPr id="77" name="Shape 72"/>
          <p:cNvSpPr/>
          <p:nvPr/>
        </p:nvSpPr>
        <p:spPr>
          <a:xfrm>
            <a:off x="7489791" y="3726098"/>
            <a:ext cx="64171" cy="64171"/>
          </a:xfrm>
          <a:prstGeom prst="ellipse">
            <a:avLst/>
          </a:prstGeom>
          <a:solidFill>
            <a:srgbClr val="222222"/>
          </a:solidFill>
          <a:ln w="3175">
            <a:solidFill>
              <a:srgbClr val="222222"/>
            </a:solidFill>
            <a:prstDash val="solid"/>
          </a:ln>
        </p:spPr>
      </p:sp>
      <p:sp>
        <p:nvSpPr>
          <p:cNvPr id="78" name="Shape 73"/>
          <p:cNvSpPr/>
          <p:nvPr/>
        </p:nvSpPr>
        <p:spPr>
          <a:xfrm>
            <a:off x="6206365" y="5009524"/>
            <a:ext cx="64171" cy="64171"/>
          </a:xfrm>
          <a:prstGeom prst="ellipse">
            <a:avLst/>
          </a:prstGeom>
          <a:solidFill>
            <a:srgbClr val="222222"/>
          </a:solidFill>
          <a:ln w="3175">
            <a:solidFill>
              <a:srgbClr val="222222"/>
            </a:solidFill>
            <a:prstDash val="solid"/>
          </a:ln>
        </p:spPr>
      </p:sp>
      <p:sp>
        <p:nvSpPr>
          <p:cNvPr id="79" name="Shape 74"/>
          <p:cNvSpPr/>
          <p:nvPr/>
        </p:nvSpPr>
        <p:spPr>
          <a:xfrm>
            <a:off x="4566432" y="3940003"/>
            <a:ext cx="64171" cy="64171"/>
          </a:xfrm>
          <a:prstGeom prst="ellipse">
            <a:avLst/>
          </a:prstGeom>
          <a:solidFill>
            <a:srgbClr val="222222"/>
          </a:solidFill>
          <a:ln w="3175">
            <a:solidFill>
              <a:srgbClr val="222222"/>
            </a:solidFill>
            <a:prstDash val="solid"/>
          </a:ln>
        </p:spPr>
      </p:sp>
      <p:sp>
        <p:nvSpPr>
          <p:cNvPr id="80" name="Shape 75"/>
          <p:cNvSpPr/>
          <p:nvPr/>
        </p:nvSpPr>
        <p:spPr>
          <a:xfrm>
            <a:off x="4135058" y="2189553"/>
            <a:ext cx="178254" cy="0"/>
          </a:xfrm>
          <a:prstGeom prst="line">
            <a:avLst/>
          </a:prstGeom>
          <a:noFill/>
          <a:ln w="11430">
            <a:solidFill>
              <a:srgbClr val="444444"/>
            </a:solidFill>
            <a:prstDash val="solid"/>
          </a:ln>
        </p:spPr>
      </p:sp>
      <p:sp>
        <p:nvSpPr>
          <p:cNvPr id="81" name="Shape 76"/>
          <p:cNvSpPr/>
          <p:nvPr/>
        </p:nvSpPr>
        <p:spPr>
          <a:xfrm>
            <a:off x="4281308" y="2157549"/>
            <a:ext cx="64008" cy="64008"/>
          </a:xfrm>
          <a:prstGeom prst="ellipse">
            <a:avLst/>
          </a:prstGeom>
          <a:solidFill>
            <a:srgbClr val="444444"/>
          </a:solidFill>
          <a:ln w="3175">
            <a:solidFill>
              <a:srgbClr val="444444"/>
            </a:solidFill>
            <a:prstDash val="solid"/>
          </a:ln>
        </p:spPr>
      </p:sp>
      <p:sp>
        <p:nvSpPr>
          <p:cNvPr id="82" name="Text 77"/>
          <p:cNvSpPr/>
          <p:nvPr/>
        </p:nvSpPr>
        <p:spPr>
          <a:xfrm>
            <a:off x="2602078" y="2034105"/>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cell wall</a:t>
            </a:r>
            <a:endParaRPr lang="en-US" sz="1600" dirty="0"/>
          </a:p>
        </p:txBody>
      </p:sp>
      <p:sp>
        <p:nvSpPr>
          <p:cNvPr id="83" name="Shape 78"/>
          <p:cNvSpPr/>
          <p:nvPr/>
        </p:nvSpPr>
        <p:spPr>
          <a:xfrm flipV="1">
            <a:off x="7764301" y="2189553"/>
            <a:ext cx="292336" cy="285206"/>
          </a:xfrm>
          <a:prstGeom prst="line">
            <a:avLst/>
          </a:prstGeom>
          <a:noFill/>
          <a:ln w="11430">
            <a:solidFill>
              <a:srgbClr val="444444"/>
            </a:solidFill>
            <a:prstDash val="solid"/>
          </a:ln>
        </p:spPr>
      </p:sp>
      <p:sp>
        <p:nvSpPr>
          <p:cNvPr id="84" name="Shape 79"/>
          <p:cNvSpPr/>
          <p:nvPr/>
        </p:nvSpPr>
        <p:spPr>
          <a:xfrm>
            <a:off x="7732297" y="2442754"/>
            <a:ext cx="64008" cy="64008"/>
          </a:xfrm>
          <a:prstGeom prst="ellipse">
            <a:avLst/>
          </a:prstGeom>
          <a:solidFill>
            <a:srgbClr val="444444"/>
          </a:solidFill>
          <a:ln w="3175">
            <a:solidFill>
              <a:srgbClr val="444444"/>
            </a:solidFill>
            <a:prstDash val="solid"/>
          </a:ln>
        </p:spPr>
      </p:sp>
      <p:sp>
        <p:nvSpPr>
          <p:cNvPr id="85" name="Text 80"/>
          <p:cNvSpPr/>
          <p:nvPr/>
        </p:nvSpPr>
        <p:spPr>
          <a:xfrm>
            <a:off x="8020986" y="2034105"/>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cell membrane</a:t>
            </a:r>
            <a:endParaRPr lang="en-US" sz="1600" dirty="0"/>
          </a:p>
        </p:txBody>
      </p:sp>
      <p:sp>
        <p:nvSpPr>
          <p:cNvPr id="86" name="Shape 81"/>
          <p:cNvSpPr/>
          <p:nvPr/>
        </p:nvSpPr>
        <p:spPr>
          <a:xfrm flipV="1">
            <a:off x="4135058" y="2617361"/>
            <a:ext cx="406418" cy="142603"/>
          </a:xfrm>
          <a:prstGeom prst="line">
            <a:avLst/>
          </a:prstGeom>
          <a:noFill/>
          <a:ln w="11430">
            <a:solidFill>
              <a:srgbClr val="444444"/>
            </a:solidFill>
            <a:prstDash val="solid"/>
          </a:ln>
        </p:spPr>
      </p:sp>
      <p:sp>
        <p:nvSpPr>
          <p:cNvPr id="87" name="Shape 82"/>
          <p:cNvSpPr/>
          <p:nvPr/>
        </p:nvSpPr>
        <p:spPr>
          <a:xfrm>
            <a:off x="4509472" y="2585357"/>
            <a:ext cx="64008" cy="64008"/>
          </a:xfrm>
          <a:prstGeom prst="ellipse">
            <a:avLst/>
          </a:prstGeom>
          <a:solidFill>
            <a:srgbClr val="444444"/>
          </a:solidFill>
          <a:ln w="3175">
            <a:solidFill>
              <a:srgbClr val="444444"/>
            </a:solidFill>
            <a:prstDash val="solid"/>
          </a:ln>
        </p:spPr>
      </p:sp>
      <p:sp>
        <p:nvSpPr>
          <p:cNvPr id="88" name="Text 83"/>
          <p:cNvSpPr/>
          <p:nvPr/>
        </p:nvSpPr>
        <p:spPr>
          <a:xfrm>
            <a:off x="2602078" y="2604516"/>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nucleus</a:t>
            </a:r>
            <a:endParaRPr lang="en-US" sz="1600" dirty="0"/>
          </a:p>
        </p:txBody>
      </p:sp>
      <p:sp>
        <p:nvSpPr>
          <p:cNvPr id="89" name="Shape 84"/>
          <p:cNvSpPr/>
          <p:nvPr/>
        </p:nvSpPr>
        <p:spPr>
          <a:xfrm flipV="1">
            <a:off x="4135058" y="4827705"/>
            <a:ext cx="463459" cy="142603"/>
          </a:xfrm>
          <a:prstGeom prst="line">
            <a:avLst/>
          </a:prstGeom>
          <a:noFill/>
          <a:ln w="11430">
            <a:solidFill>
              <a:srgbClr val="444444"/>
            </a:solidFill>
            <a:prstDash val="solid"/>
          </a:ln>
        </p:spPr>
      </p:sp>
      <p:sp>
        <p:nvSpPr>
          <p:cNvPr id="90" name="Shape 85"/>
          <p:cNvSpPr/>
          <p:nvPr/>
        </p:nvSpPr>
        <p:spPr>
          <a:xfrm>
            <a:off x="4566514" y="4795701"/>
            <a:ext cx="64008" cy="64008"/>
          </a:xfrm>
          <a:prstGeom prst="ellipse">
            <a:avLst/>
          </a:prstGeom>
          <a:solidFill>
            <a:srgbClr val="444444"/>
          </a:solidFill>
          <a:ln w="3175">
            <a:solidFill>
              <a:srgbClr val="444444"/>
            </a:solidFill>
            <a:prstDash val="solid"/>
          </a:ln>
        </p:spPr>
      </p:sp>
      <p:sp>
        <p:nvSpPr>
          <p:cNvPr id="91" name="Text 86"/>
          <p:cNvSpPr/>
          <p:nvPr/>
        </p:nvSpPr>
        <p:spPr>
          <a:xfrm>
            <a:off x="2602078" y="4814860"/>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cytoplasm</a:t>
            </a:r>
            <a:endParaRPr lang="en-US" sz="1600" dirty="0"/>
          </a:p>
        </p:txBody>
      </p:sp>
      <p:sp>
        <p:nvSpPr>
          <p:cNvPr id="92" name="Shape 87"/>
          <p:cNvSpPr/>
          <p:nvPr/>
        </p:nvSpPr>
        <p:spPr>
          <a:xfrm flipV="1">
            <a:off x="7094068" y="3045170"/>
            <a:ext cx="962569" cy="285206"/>
          </a:xfrm>
          <a:prstGeom prst="line">
            <a:avLst/>
          </a:prstGeom>
          <a:noFill/>
          <a:ln w="11430">
            <a:solidFill>
              <a:srgbClr val="444444"/>
            </a:solidFill>
            <a:prstDash val="solid"/>
          </a:ln>
        </p:spPr>
      </p:sp>
      <p:sp>
        <p:nvSpPr>
          <p:cNvPr id="93" name="Shape 88"/>
          <p:cNvSpPr/>
          <p:nvPr/>
        </p:nvSpPr>
        <p:spPr>
          <a:xfrm>
            <a:off x="7062064" y="3298371"/>
            <a:ext cx="64008" cy="64008"/>
          </a:xfrm>
          <a:prstGeom prst="ellipse">
            <a:avLst/>
          </a:prstGeom>
          <a:solidFill>
            <a:srgbClr val="444444"/>
          </a:solidFill>
          <a:ln w="3175">
            <a:solidFill>
              <a:srgbClr val="444444"/>
            </a:solidFill>
            <a:prstDash val="solid"/>
          </a:ln>
        </p:spPr>
      </p:sp>
      <p:sp>
        <p:nvSpPr>
          <p:cNvPr id="94" name="Text 89"/>
          <p:cNvSpPr/>
          <p:nvPr/>
        </p:nvSpPr>
        <p:spPr>
          <a:xfrm>
            <a:off x="8020986" y="2889722"/>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vacuole</a:t>
            </a:r>
            <a:endParaRPr lang="en-US" sz="1600" dirty="0"/>
          </a:p>
        </p:txBody>
      </p:sp>
      <p:sp>
        <p:nvSpPr>
          <p:cNvPr id="95" name="Shape 90"/>
          <p:cNvSpPr/>
          <p:nvPr/>
        </p:nvSpPr>
        <p:spPr>
          <a:xfrm flipV="1">
            <a:off x="7664479" y="4756404"/>
            <a:ext cx="392158" cy="213904"/>
          </a:xfrm>
          <a:prstGeom prst="line">
            <a:avLst/>
          </a:prstGeom>
          <a:noFill/>
          <a:ln w="11430">
            <a:solidFill>
              <a:srgbClr val="444444"/>
            </a:solidFill>
            <a:prstDash val="solid"/>
          </a:ln>
        </p:spPr>
      </p:sp>
      <p:sp>
        <p:nvSpPr>
          <p:cNvPr id="96" name="Shape 91"/>
          <p:cNvSpPr/>
          <p:nvPr/>
        </p:nvSpPr>
        <p:spPr>
          <a:xfrm>
            <a:off x="7632475" y="4938304"/>
            <a:ext cx="64008" cy="64008"/>
          </a:xfrm>
          <a:prstGeom prst="ellipse">
            <a:avLst/>
          </a:prstGeom>
          <a:solidFill>
            <a:srgbClr val="444444"/>
          </a:solidFill>
          <a:ln w="3175">
            <a:solidFill>
              <a:srgbClr val="444444"/>
            </a:solidFill>
            <a:prstDash val="solid"/>
          </a:ln>
        </p:spPr>
      </p:sp>
      <p:sp>
        <p:nvSpPr>
          <p:cNvPr id="97" name="Text 92"/>
          <p:cNvSpPr/>
          <p:nvPr/>
        </p:nvSpPr>
        <p:spPr>
          <a:xfrm>
            <a:off x="8020986" y="4600956"/>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mitochondrion</a:t>
            </a:r>
            <a:endParaRPr lang="en-US" sz="1600" dirty="0"/>
          </a:p>
        </p:txBody>
      </p:sp>
      <p:sp>
        <p:nvSpPr>
          <p:cNvPr id="98" name="Shape 93"/>
          <p:cNvSpPr/>
          <p:nvPr/>
        </p:nvSpPr>
        <p:spPr>
          <a:xfrm>
            <a:off x="7521876" y="3758184"/>
            <a:ext cx="534761" cy="213904"/>
          </a:xfrm>
          <a:prstGeom prst="line">
            <a:avLst/>
          </a:prstGeom>
          <a:noFill/>
          <a:ln w="11430">
            <a:solidFill>
              <a:srgbClr val="444444"/>
            </a:solidFill>
            <a:prstDash val="solid"/>
          </a:ln>
        </p:spPr>
      </p:sp>
      <p:sp>
        <p:nvSpPr>
          <p:cNvPr id="99" name="Shape 94"/>
          <p:cNvSpPr/>
          <p:nvPr/>
        </p:nvSpPr>
        <p:spPr>
          <a:xfrm>
            <a:off x="7489872" y="3726180"/>
            <a:ext cx="64008" cy="64008"/>
          </a:xfrm>
          <a:prstGeom prst="ellipse">
            <a:avLst/>
          </a:prstGeom>
          <a:solidFill>
            <a:srgbClr val="444444"/>
          </a:solidFill>
          <a:ln w="3175">
            <a:solidFill>
              <a:srgbClr val="444444"/>
            </a:solidFill>
            <a:prstDash val="solid"/>
          </a:ln>
        </p:spPr>
      </p:sp>
      <p:sp>
        <p:nvSpPr>
          <p:cNvPr id="100" name="Text 95"/>
          <p:cNvSpPr/>
          <p:nvPr/>
        </p:nvSpPr>
        <p:spPr>
          <a:xfrm>
            <a:off x="8020986" y="3816640"/>
            <a:ext cx="1568631"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ribosomes</a:t>
            </a:r>
            <a:endParaRPr lang="en-US" sz="1600" dirty="0"/>
          </a:p>
        </p:txBody>
      </p:sp>
      <p:sp>
        <p:nvSpPr>
          <p:cNvPr id="101" name="Shape 96"/>
          <p:cNvSpPr/>
          <p:nvPr/>
        </p:nvSpPr>
        <p:spPr>
          <a:xfrm flipV="1">
            <a:off x="4135058" y="3116471"/>
            <a:ext cx="534761" cy="213904"/>
          </a:xfrm>
          <a:prstGeom prst="line">
            <a:avLst/>
          </a:prstGeom>
          <a:noFill/>
          <a:ln w="11430">
            <a:solidFill>
              <a:srgbClr val="444444"/>
            </a:solidFill>
            <a:prstDash val="solid"/>
          </a:ln>
        </p:spPr>
      </p:sp>
      <p:sp>
        <p:nvSpPr>
          <p:cNvPr id="102" name="Shape 97"/>
          <p:cNvSpPr/>
          <p:nvPr/>
        </p:nvSpPr>
        <p:spPr>
          <a:xfrm>
            <a:off x="4637815" y="3084467"/>
            <a:ext cx="64008" cy="64008"/>
          </a:xfrm>
          <a:prstGeom prst="ellipse">
            <a:avLst/>
          </a:prstGeom>
          <a:solidFill>
            <a:srgbClr val="444444"/>
          </a:solidFill>
          <a:ln w="3175">
            <a:solidFill>
              <a:srgbClr val="444444"/>
            </a:solidFill>
            <a:prstDash val="solid"/>
          </a:ln>
        </p:spPr>
      </p:sp>
      <p:sp>
        <p:nvSpPr>
          <p:cNvPr id="103" name="Text 98"/>
          <p:cNvSpPr/>
          <p:nvPr/>
        </p:nvSpPr>
        <p:spPr>
          <a:xfrm>
            <a:off x="2602078" y="3174927"/>
            <a:ext cx="1568631"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endoplasmic reticulum</a:t>
            </a:r>
            <a:endParaRPr lang="en-US" sz="1600" dirty="0"/>
          </a:p>
        </p:txBody>
      </p:sp>
      <p:sp>
        <p:nvSpPr>
          <p:cNvPr id="104" name="Text 99"/>
          <p:cNvSpPr/>
          <p:nvPr/>
        </p:nvSpPr>
        <p:spPr>
          <a:xfrm>
            <a:off x="502920" y="5791200"/>
            <a:ext cx="11185855" cy="316992"/>
          </a:xfrm>
          <a:prstGeom prst="rect">
            <a:avLst/>
          </a:prstGeom>
          <a:noFill/>
          <a:ln/>
        </p:spPr>
        <p:txBody>
          <a:bodyPr wrap="square" lIns="0" tIns="0" rIns="0" bIns="0" rtlCol="0" anchor="t"/>
          <a:lstStyle/>
          <a:p>
            <a:pPr algn="ctr" indent="0" marL="0">
              <a:buNone/>
            </a:pPr>
            <a:r>
              <a:rPr lang="en-US" sz="1600" i="1" dirty="0">
                <a:solidFill>
                  <a:srgbClr val="555555"/>
                </a:solidFill>
                <a:latin typeface="Calibri" pitchFamily="34" charset="0"/>
                <a:ea typeface="Calibri" pitchFamily="34" charset="-122"/>
                <a:cs typeface="Calibri" pitchFamily="34" charset="-120"/>
              </a:rPr>
              <a:t>This is a drawing, not a photograph.</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502920" y="713232"/>
            <a:ext cx="713232" cy="713232"/>
          </a:xfrm>
          <a:prstGeom prst="ellipse">
            <a:avLst/>
          </a:prstGeom>
          <a:solidFill>
            <a:srgbClr val="F7F9D3"/>
          </a:solidFill>
          <a:ln w="31750">
            <a:solidFill>
              <a:srgbClr val="D7DF23"/>
            </a:solidFill>
            <a:prstDash val="solid"/>
          </a:ln>
        </p:spPr>
      </p:sp>
      <p:pic>
        <p:nvPicPr>
          <p:cNvPr id="10"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Study: a prokaryotic cell</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This is a bacterium such as E. coli.</a:t>
            </a:r>
            <a:endParaRPr lang="en-US" sz="2000" dirty="0"/>
          </a:p>
        </p:txBody>
      </p:sp>
      <p:sp>
        <p:nvSpPr>
          <p:cNvPr id="13" name="Shape 8"/>
          <p:cNvSpPr/>
          <p:nvPr/>
        </p:nvSpPr>
        <p:spPr>
          <a:xfrm>
            <a:off x="3925804" y="2803365"/>
            <a:ext cx="4513690" cy="2430449"/>
          </a:xfrm>
          <a:prstGeom prst="roundRect">
            <a:avLst>
              <a:gd name="adj" fmla="val 50000"/>
            </a:avLst>
          </a:prstGeom>
          <a:solidFill>
            <a:srgbClr val="FFF8E1"/>
          </a:solidFill>
          <a:ln w="57150">
            <a:solidFill>
              <a:srgbClr val="A0522D"/>
            </a:solidFill>
            <a:prstDash val="solid"/>
          </a:ln>
        </p:spPr>
      </p:sp>
      <p:sp>
        <p:nvSpPr>
          <p:cNvPr id="14" name="Shape 9"/>
          <p:cNvSpPr/>
          <p:nvPr/>
        </p:nvSpPr>
        <p:spPr>
          <a:xfrm>
            <a:off x="4082047" y="2959608"/>
            <a:ext cx="4201204" cy="2117962"/>
          </a:xfrm>
          <a:prstGeom prst="roundRect">
            <a:avLst>
              <a:gd name="adj" fmla="val 42857"/>
            </a:avLst>
          </a:prstGeom>
          <a:solidFill>
            <a:srgbClr val="FFFDF5"/>
          </a:solidFill>
          <a:ln w="15240">
            <a:solidFill>
              <a:srgbClr val="5D4037"/>
            </a:solidFill>
            <a:prstDash val="solid"/>
          </a:ln>
        </p:spPr>
      </p:sp>
      <p:sp>
        <p:nvSpPr>
          <p:cNvPr id="15" name="Shape 10"/>
          <p:cNvSpPr/>
          <p:nvPr/>
        </p:nvSpPr>
        <p:spPr>
          <a:xfrm>
            <a:off x="6066187" y="3949148"/>
            <a:ext cx="226112" cy="51705"/>
          </a:xfrm>
          <a:prstGeom prst="line">
            <a:avLst/>
          </a:prstGeom>
          <a:noFill/>
          <a:ln w="17780">
            <a:solidFill>
              <a:srgbClr val="1565C0"/>
            </a:solidFill>
            <a:prstDash val="solid"/>
          </a:ln>
        </p:spPr>
      </p:sp>
      <p:sp>
        <p:nvSpPr>
          <p:cNvPr id="16" name="Shape 11"/>
          <p:cNvSpPr/>
          <p:nvPr/>
        </p:nvSpPr>
        <p:spPr>
          <a:xfrm>
            <a:off x="6292300" y="4000852"/>
            <a:ext cx="177221" cy="38770"/>
          </a:xfrm>
          <a:prstGeom prst="line">
            <a:avLst/>
          </a:prstGeom>
          <a:noFill/>
          <a:ln w="17780">
            <a:solidFill>
              <a:srgbClr val="1565C0"/>
            </a:solidFill>
            <a:prstDash val="solid"/>
          </a:ln>
        </p:spPr>
      </p:sp>
      <p:sp>
        <p:nvSpPr>
          <p:cNvPr id="17" name="Shape 12"/>
          <p:cNvSpPr/>
          <p:nvPr/>
        </p:nvSpPr>
        <p:spPr>
          <a:xfrm>
            <a:off x="6469520" y="4039622"/>
            <a:ext cx="104242" cy="26911"/>
          </a:xfrm>
          <a:prstGeom prst="line">
            <a:avLst/>
          </a:prstGeom>
          <a:noFill/>
          <a:ln w="17780">
            <a:solidFill>
              <a:srgbClr val="1565C0"/>
            </a:solidFill>
            <a:prstDash val="solid"/>
          </a:ln>
        </p:spPr>
      </p:sp>
      <p:sp>
        <p:nvSpPr>
          <p:cNvPr id="18" name="Shape 13"/>
          <p:cNvSpPr/>
          <p:nvPr/>
        </p:nvSpPr>
        <p:spPr>
          <a:xfrm>
            <a:off x="6573762" y="4066533"/>
            <a:ext cx="19186" cy="17330"/>
          </a:xfrm>
          <a:prstGeom prst="line">
            <a:avLst/>
          </a:prstGeom>
          <a:noFill/>
          <a:ln w="17780">
            <a:solidFill>
              <a:srgbClr val="1565C0"/>
            </a:solidFill>
            <a:prstDash val="solid"/>
          </a:ln>
        </p:spPr>
      </p:sp>
      <p:sp>
        <p:nvSpPr>
          <p:cNvPr id="19" name="Shape 14"/>
          <p:cNvSpPr/>
          <p:nvPr/>
        </p:nvSpPr>
        <p:spPr>
          <a:xfrm flipV="1">
            <a:off x="6529301" y="4083863"/>
            <a:ext cx="63648" cy="10851"/>
          </a:xfrm>
          <a:prstGeom prst="line">
            <a:avLst/>
          </a:prstGeom>
          <a:noFill/>
          <a:ln w="17780">
            <a:solidFill>
              <a:srgbClr val="1565C0"/>
            </a:solidFill>
            <a:prstDash val="solid"/>
          </a:ln>
        </p:spPr>
      </p:sp>
      <p:sp>
        <p:nvSpPr>
          <p:cNvPr id="20" name="Shape 15"/>
          <p:cNvSpPr/>
          <p:nvPr/>
        </p:nvSpPr>
        <p:spPr>
          <a:xfrm flipV="1">
            <a:off x="6398526" y="4094715"/>
            <a:ext cx="130774" cy="7820"/>
          </a:xfrm>
          <a:prstGeom prst="line">
            <a:avLst/>
          </a:prstGeom>
          <a:noFill/>
          <a:ln w="17780">
            <a:solidFill>
              <a:srgbClr val="1565C0"/>
            </a:solidFill>
            <a:prstDash val="solid"/>
          </a:ln>
        </p:spPr>
      </p:sp>
      <p:sp>
        <p:nvSpPr>
          <p:cNvPr id="21" name="Shape 16"/>
          <p:cNvSpPr/>
          <p:nvPr/>
        </p:nvSpPr>
        <p:spPr>
          <a:xfrm flipV="1">
            <a:off x="6226106" y="4102535"/>
            <a:ext cx="172421" cy="8075"/>
          </a:xfrm>
          <a:prstGeom prst="line">
            <a:avLst/>
          </a:prstGeom>
          <a:noFill/>
          <a:ln w="17780">
            <a:solidFill>
              <a:srgbClr val="1565C0"/>
            </a:solidFill>
            <a:prstDash val="solid"/>
          </a:ln>
        </p:spPr>
      </p:sp>
      <p:sp>
        <p:nvSpPr>
          <p:cNvPr id="22" name="Shape 17"/>
          <p:cNvSpPr/>
          <p:nvPr/>
        </p:nvSpPr>
        <p:spPr>
          <a:xfrm flipV="1">
            <a:off x="6041552" y="4110610"/>
            <a:ext cx="184554" cy="10976"/>
          </a:xfrm>
          <a:prstGeom prst="line">
            <a:avLst/>
          </a:prstGeom>
          <a:noFill/>
          <a:ln w="17780">
            <a:solidFill>
              <a:srgbClr val="1565C0"/>
            </a:solidFill>
            <a:prstDash val="solid"/>
          </a:ln>
        </p:spPr>
      </p:sp>
      <p:sp>
        <p:nvSpPr>
          <p:cNvPr id="23" name="Shape 18"/>
          <p:cNvSpPr/>
          <p:nvPr/>
        </p:nvSpPr>
        <p:spPr>
          <a:xfrm flipV="1">
            <a:off x="5871974" y="4121586"/>
            <a:ext cx="169578" cy="15493"/>
          </a:xfrm>
          <a:prstGeom prst="line">
            <a:avLst/>
          </a:prstGeom>
          <a:noFill/>
          <a:ln w="17780">
            <a:solidFill>
              <a:srgbClr val="1565C0"/>
            </a:solidFill>
            <a:prstDash val="solid"/>
          </a:ln>
        </p:spPr>
      </p:sp>
      <p:sp>
        <p:nvSpPr>
          <p:cNvPr id="24" name="Shape 19"/>
          <p:cNvSpPr/>
          <p:nvPr/>
        </p:nvSpPr>
        <p:spPr>
          <a:xfrm flipV="1">
            <a:off x="5736437" y="4137080"/>
            <a:ext cx="135537" cy="20344"/>
          </a:xfrm>
          <a:prstGeom prst="line">
            <a:avLst/>
          </a:prstGeom>
          <a:noFill/>
          <a:ln w="17780">
            <a:solidFill>
              <a:srgbClr val="1565C0"/>
            </a:solidFill>
            <a:prstDash val="solid"/>
          </a:ln>
        </p:spPr>
      </p:sp>
      <p:sp>
        <p:nvSpPr>
          <p:cNvPr id="25" name="Shape 20"/>
          <p:cNvSpPr/>
          <p:nvPr/>
        </p:nvSpPr>
        <p:spPr>
          <a:xfrm flipV="1">
            <a:off x="5642399" y="4157424"/>
            <a:ext cx="94038" cy="24164"/>
          </a:xfrm>
          <a:prstGeom prst="line">
            <a:avLst/>
          </a:prstGeom>
          <a:noFill/>
          <a:ln w="17780">
            <a:solidFill>
              <a:srgbClr val="1565C0"/>
            </a:solidFill>
            <a:prstDash val="solid"/>
          </a:ln>
        </p:spPr>
      </p:sp>
      <p:sp>
        <p:nvSpPr>
          <p:cNvPr id="26" name="Shape 21"/>
          <p:cNvSpPr/>
          <p:nvPr/>
        </p:nvSpPr>
        <p:spPr>
          <a:xfrm flipV="1">
            <a:off x="5585026" y="4181587"/>
            <a:ext cx="57374" cy="25683"/>
          </a:xfrm>
          <a:prstGeom prst="line">
            <a:avLst/>
          </a:prstGeom>
          <a:noFill/>
          <a:ln w="17780">
            <a:solidFill>
              <a:srgbClr val="1565C0"/>
            </a:solidFill>
            <a:prstDash val="solid"/>
          </a:ln>
        </p:spPr>
      </p:sp>
      <p:sp>
        <p:nvSpPr>
          <p:cNvPr id="27" name="Shape 22"/>
          <p:cNvSpPr/>
          <p:nvPr/>
        </p:nvSpPr>
        <p:spPr>
          <a:xfrm flipV="1">
            <a:off x="5549495" y="4207271"/>
            <a:ext cx="35531" cy="23900"/>
          </a:xfrm>
          <a:prstGeom prst="line">
            <a:avLst/>
          </a:prstGeom>
          <a:noFill/>
          <a:ln w="17780">
            <a:solidFill>
              <a:srgbClr val="1565C0"/>
            </a:solidFill>
            <a:prstDash val="solid"/>
          </a:ln>
        </p:spPr>
      </p:sp>
      <p:sp>
        <p:nvSpPr>
          <p:cNvPr id="28" name="Shape 23"/>
          <p:cNvSpPr/>
          <p:nvPr/>
        </p:nvSpPr>
        <p:spPr>
          <a:xfrm flipV="1">
            <a:off x="5515704" y="4231170"/>
            <a:ext cx="33791" cy="18213"/>
          </a:xfrm>
          <a:prstGeom prst="line">
            <a:avLst/>
          </a:prstGeom>
          <a:noFill/>
          <a:ln w="17780">
            <a:solidFill>
              <a:srgbClr val="1565C0"/>
            </a:solidFill>
            <a:prstDash val="solid"/>
          </a:ln>
        </p:spPr>
      </p:sp>
      <p:sp>
        <p:nvSpPr>
          <p:cNvPr id="29" name="Shape 24"/>
          <p:cNvSpPr/>
          <p:nvPr/>
        </p:nvSpPr>
        <p:spPr>
          <a:xfrm flipV="1">
            <a:off x="5464215" y="4249383"/>
            <a:ext cx="51489" cy="8512"/>
          </a:xfrm>
          <a:prstGeom prst="line">
            <a:avLst/>
          </a:prstGeom>
          <a:noFill/>
          <a:ln w="17780">
            <a:solidFill>
              <a:srgbClr val="1565C0"/>
            </a:solidFill>
            <a:prstDash val="solid"/>
          </a:ln>
        </p:spPr>
      </p:sp>
      <p:sp>
        <p:nvSpPr>
          <p:cNvPr id="30" name="Shape 25"/>
          <p:cNvSpPr/>
          <p:nvPr/>
        </p:nvSpPr>
        <p:spPr>
          <a:xfrm>
            <a:off x="5382003" y="4253102"/>
            <a:ext cx="82212" cy="4793"/>
          </a:xfrm>
          <a:prstGeom prst="line">
            <a:avLst/>
          </a:prstGeom>
          <a:noFill/>
          <a:ln w="17780">
            <a:solidFill>
              <a:srgbClr val="1565C0"/>
            </a:solidFill>
            <a:prstDash val="solid"/>
          </a:ln>
        </p:spPr>
      </p:sp>
      <p:sp>
        <p:nvSpPr>
          <p:cNvPr id="31" name="Shape 26"/>
          <p:cNvSpPr/>
          <p:nvPr/>
        </p:nvSpPr>
        <p:spPr>
          <a:xfrm>
            <a:off x="5266599" y="4232294"/>
            <a:ext cx="115404" cy="20808"/>
          </a:xfrm>
          <a:prstGeom prst="line">
            <a:avLst/>
          </a:prstGeom>
          <a:noFill/>
          <a:ln w="17780">
            <a:solidFill>
              <a:srgbClr val="1565C0"/>
            </a:solidFill>
            <a:prstDash val="solid"/>
          </a:ln>
        </p:spPr>
      </p:sp>
      <p:sp>
        <p:nvSpPr>
          <p:cNvPr id="32" name="Shape 27"/>
          <p:cNvSpPr/>
          <p:nvPr/>
        </p:nvSpPr>
        <p:spPr>
          <a:xfrm>
            <a:off x="5127620" y="4194048"/>
            <a:ext cx="138979" cy="38247"/>
          </a:xfrm>
          <a:prstGeom prst="line">
            <a:avLst/>
          </a:prstGeom>
          <a:noFill/>
          <a:ln w="17780">
            <a:solidFill>
              <a:srgbClr val="1565C0"/>
            </a:solidFill>
            <a:prstDash val="solid"/>
          </a:ln>
        </p:spPr>
      </p:sp>
      <p:sp>
        <p:nvSpPr>
          <p:cNvPr id="33" name="Shape 28"/>
          <p:cNvSpPr/>
          <p:nvPr/>
        </p:nvSpPr>
        <p:spPr>
          <a:xfrm>
            <a:off x="4985274" y="4138471"/>
            <a:ext cx="142346" cy="55577"/>
          </a:xfrm>
          <a:prstGeom prst="line">
            <a:avLst/>
          </a:prstGeom>
          <a:noFill/>
          <a:ln w="17780">
            <a:solidFill>
              <a:srgbClr val="1565C0"/>
            </a:solidFill>
            <a:prstDash val="solid"/>
          </a:ln>
        </p:spPr>
      </p:sp>
      <p:sp>
        <p:nvSpPr>
          <p:cNvPr id="34" name="Shape 29"/>
          <p:cNvSpPr/>
          <p:nvPr/>
        </p:nvSpPr>
        <p:spPr>
          <a:xfrm>
            <a:off x="4866172" y="4067281"/>
            <a:ext cx="119102" cy="71190"/>
          </a:xfrm>
          <a:prstGeom prst="line">
            <a:avLst/>
          </a:prstGeom>
          <a:noFill/>
          <a:ln w="17780">
            <a:solidFill>
              <a:srgbClr val="1565C0"/>
            </a:solidFill>
            <a:prstDash val="solid"/>
          </a:ln>
        </p:spPr>
      </p:sp>
      <p:sp>
        <p:nvSpPr>
          <p:cNvPr id="35" name="Shape 30"/>
          <p:cNvSpPr/>
          <p:nvPr/>
        </p:nvSpPr>
        <p:spPr>
          <a:xfrm>
            <a:off x="4797389" y="3983693"/>
            <a:ext cx="68783" cy="83588"/>
          </a:xfrm>
          <a:prstGeom prst="line">
            <a:avLst/>
          </a:prstGeom>
          <a:noFill/>
          <a:ln w="17780">
            <a:solidFill>
              <a:srgbClr val="1565C0"/>
            </a:solidFill>
            <a:prstDash val="solid"/>
          </a:ln>
        </p:spPr>
      </p:sp>
      <p:sp>
        <p:nvSpPr>
          <p:cNvPr id="36" name="Shape 31"/>
          <p:cNvSpPr/>
          <p:nvPr/>
        </p:nvSpPr>
        <p:spPr>
          <a:xfrm flipV="1">
            <a:off x="4797389" y="3892137"/>
            <a:ext cx="2773" cy="91556"/>
          </a:xfrm>
          <a:prstGeom prst="line">
            <a:avLst/>
          </a:prstGeom>
          <a:noFill/>
          <a:ln w="17780">
            <a:solidFill>
              <a:srgbClr val="1565C0"/>
            </a:solidFill>
            <a:prstDash val="solid"/>
          </a:ln>
        </p:spPr>
      </p:sp>
      <p:sp>
        <p:nvSpPr>
          <p:cNvPr id="37" name="Shape 32"/>
          <p:cNvSpPr/>
          <p:nvPr/>
        </p:nvSpPr>
        <p:spPr>
          <a:xfrm flipV="1">
            <a:off x="4800162" y="3797834"/>
            <a:ext cx="84532" cy="94303"/>
          </a:xfrm>
          <a:prstGeom prst="line">
            <a:avLst/>
          </a:prstGeom>
          <a:noFill/>
          <a:ln w="17780">
            <a:solidFill>
              <a:srgbClr val="1565C0"/>
            </a:solidFill>
            <a:prstDash val="solid"/>
          </a:ln>
        </p:spPr>
      </p:sp>
      <p:sp>
        <p:nvSpPr>
          <p:cNvPr id="38" name="Shape 33"/>
          <p:cNvSpPr/>
          <p:nvPr/>
        </p:nvSpPr>
        <p:spPr>
          <a:xfrm flipV="1">
            <a:off x="4884694" y="3706279"/>
            <a:ext cx="162596" cy="91556"/>
          </a:xfrm>
          <a:prstGeom prst="line">
            <a:avLst/>
          </a:prstGeom>
          <a:noFill/>
          <a:ln w="17780">
            <a:solidFill>
              <a:srgbClr val="1565C0"/>
            </a:solidFill>
            <a:prstDash val="solid"/>
          </a:ln>
        </p:spPr>
      </p:sp>
      <p:sp>
        <p:nvSpPr>
          <p:cNvPr id="39" name="Shape 34"/>
          <p:cNvSpPr/>
          <p:nvPr/>
        </p:nvSpPr>
        <p:spPr>
          <a:xfrm flipV="1">
            <a:off x="5047290" y="3622691"/>
            <a:ext cx="223230" cy="83588"/>
          </a:xfrm>
          <a:prstGeom prst="line">
            <a:avLst/>
          </a:prstGeom>
          <a:noFill/>
          <a:ln w="17780">
            <a:solidFill>
              <a:srgbClr val="1565C0"/>
            </a:solidFill>
            <a:prstDash val="solid"/>
          </a:ln>
        </p:spPr>
      </p:sp>
      <p:sp>
        <p:nvSpPr>
          <p:cNvPr id="40" name="Shape 35"/>
          <p:cNvSpPr/>
          <p:nvPr/>
        </p:nvSpPr>
        <p:spPr>
          <a:xfrm flipV="1">
            <a:off x="5270520" y="3551501"/>
            <a:ext cx="255878" cy="71190"/>
          </a:xfrm>
          <a:prstGeom prst="line">
            <a:avLst/>
          </a:prstGeom>
          <a:noFill/>
          <a:ln w="17780">
            <a:solidFill>
              <a:srgbClr val="1565C0"/>
            </a:solidFill>
            <a:prstDash val="solid"/>
          </a:ln>
        </p:spPr>
      </p:sp>
      <p:sp>
        <p:nvSpPr>
          <p:cNvPr id="41" name="Shape 36"/>
          <p:cNvSpPr/>
          <p:nvPr/>
        </p:nvSpPr>
        <p:spPr>
          <a:xfrm flipV="1">
            <a:off x="5526398" y="3495924"/>
            <a:ext cx="255472" cy="55577"/>
          </a:xfrm>
          <a:prstGeom prst="line">
            <a:avLst/>
          </a:prstGeom>
          <a:noFill/>
          <a:ln w="17780">
            <a:solidFill>
              <a:srgbClr val="1565C0"/>
            </a:solidFill>
            <a:prstDash val="solid"/>
          </a:ln>
        </p:spPr>
      </p:sp>
      <p:sp>
        <p:nvSpPr>
          <p:cNvPr id="42" name="Shape 37"/>
          <p:cNvSpPr/>
          <p:nvPr/>
        </p:nvSpPr>
        <p:spPr>
          <a:xfrm flipV="1">
            <a:off x="5781869" y="3457677"/>
            <a:ext cx="223511" cy="38247"/>
          </a:xfrm>
          <a:prstGeom prst="line">
            <a:avLst/>
          </a:prstGeom>
          <a:noFill/>
          <a:ln w="17780">
            <a:solidFill>
              <a:srgbClr val="1565C0"/>
            </a:solidFill>
            <a:prstDash val="solid"/>
          </a:ln>
        </p:spPr>
      </p:sp>
      <p:sp>
        <p:nvSpPr>
          <p:cNvPr id="43" name="Shape 38"/>
          <p:cNvSpPr/>
          <p:nvPr/>
        </p:nvSpPr>
        <p:spPr>
          <a:xfrm flipV="1">
            <a:off x="6005381" y="3436870"/>
            <a:ext cx="167647" cy="20808"/>
          </a:xfrm>
          <a:prstGeom prst="line">
            <a:avLst/>
          </a:prstGeom>
          <a:noFill/>
          <a:ln w="17780">
            <a:solidFill>
              <a:srgbClr val="1565C0"/>
            </a:solidFill>
            <a:prstDash val="solid"/>
          </a:ln>
        </p:spPr>
      </p:sp>
      <p:sp>
        <p:nvSpPr>
          <p:cNvPr id="44" name="Shape 39"/>
          <p:cNvSpPr/>
          <p:nvPr/>
        </p:nvSpPr>
        <p:spPr>
          <a:xfrm flipV="1">
            <a:off x="6173028" y="3432077"/>
            <a:ext cx="99884" cy="4793"/>
          </a:xfrm>
          <a:prstGeom prst="line">
            <a:avLst/>
          </a:prstGeom>
          <a:noFill/>
          <a:ln w="17780">
            <a:solidFill>
              <a:srgbClr val="1565C0"/>
            </a:solidFill>
            <a:prstDash val="solid"/>
          </a:ln>
        </p:spPr>
      </p:sp>
      <p:sp>
        <p:nvSpPr>
          <p:cNvPr id="45" name="Shape 40"/>
          <p:cNvSpPr/>
          <p:nvPr/>
        </p:nvSpPr>
        <p:spPr>
          <a:xfrm>
            <a:off x="6272912" y="3432077"/>
            <a:ext cx="33817" cy="8512"/>
          </a:xfrm>
          <a:prstGeom prst="line">
            <a:avLst/>
          </a:prstGeom>
          <a:noFill/>
          <a:ln w="17780">
            <a:solidFill>
              <a:srgbClr val="1565C0"/>
            </a:solidFill>
            <a:prstDash val="solid"/>
          </a:ln>
        </p:spPr>
      </p:sp>
      <p:sp>
        <p:nvSpPr>
          <p:cNvPr id="46" name="Shape 41"/>
          <p:cNvSpPr/>
          <p:nvPr/>
        </p:nvSpPr>
        <p:spPr>
          <a:xfrm flipV="1">
            <a:off x="6288276" y="3440589"/>
            <a:ext cx="18452" cy="18213"/>
          </a:xfrm>
          <a:prstGeom prst="line">
            <a:avLst/>
          </a:prstGeom>
          <a:noFill/>
          <a:ln w="17780">
            <a:solidFill>
              <a:srgbClr val="1565C0"/>
            </a:solidFill>
            <a:prstDash val="solid"/>
          </a:ln>
        </p:spPr>
      </p:sp>
      <p:sp>
        <p:nvSpPr>
          <p:cNvPr id="47" name="Shape 42"/>
          <p:cNvSpPr/>
          <p:nvPr/>
        </p:nvSpPr>
        <p:spPr>
          <a:xfrm flipV="1">
            <a:off x="6239275" y="3458801"/>
            <a:ext cx="49001" cy="23900"/>
          </a:xfrm>
          <a:prstGeom prst="line">
            <a:avLst/>
          </a:prstGeom>
          <a:noFill/>
          <a:ln w="17780">
            <a:solidFill>
              <a:srgbClr val="1565C0"/>
            </a:solidFill>
            <a:prstDash val="solid"/>
          </a:ln>
        </p:spPr>
      </p:sp>
      <p:sp>
        <p:nvSpPr>
          <p:cNvPr id="48" name="Shape 43"/>
          <p:cNvSpPr/>
          <p:nvPr/>
        </p:nvSpPr>
        <p:spPr>
          <a:xfrm flipV="1">
            <a:off x="6183523" y="3482701"/>
            <a:ext cx="55752" cy="25683"/>
          </a:xfrm>
          <a:prstGeom prst="line">
            <a:avLst/>
          </a:prstGeom>
          <a:noFill/>
          <a:ln w="17780">
            <a:solidFill>
              <a:srgbClr val="1565C0"/>
            </a:solidFill>
            <a:prstDash val="solid"/>
          </a:ln>
        </p:spPr>
      </p:sp>
      <p:sp>
        <p:nvSpPr>
          <p:cNvPr id="49" name="Shape 44"/>
          <p:cNvSpPr/>
          <p:nvPr/>
        </p:nvSpPr>
        <p:spPr>
          <a:xfrm flipV="1">
            <a:off x="6140786" y="3508384"/>
            <a:ext cx="42737" cy="24164"/>
          </a:xfrm>
          <a:prstGeom prst="line">
            <a:avLst/>
          </a:prstGeom>
          <a:noFill/>
          <a:ln w="17780">
            <a:solidFill>
              <a:srgbClr val="1565C0"/>
            </a:solidFill>
            <a:prstDash val="solid"/>
          </a:ln>
        </p:spPr>
      </p:sp>
      <p:sp>
        <p:nvSpPr>
          <p:cNvPr id="50" name="Shape 45"/>
          <p:cNvSpPr/>
          <p:nvPr/>
        </p:nvSpPr>
        <p:spPr>
          <a:xfrm flipV="1">
            <a:off x="6121875" y="3532548"/>
            <a:ext cx="18911" cy="20344"/>
          </a:xfrm>
          <a:prstGeom prst="line">
            <a:avLst/>
          </a:prstGeom>
          <a:noFill/>
          <a:ln w="17780">
            <a:solidFill>
              <a:srgbClr val="1565C0"/>
            </a:solidFill>
            <a:prstDash val="solid"/>
          </a:ln>
        </p:spPr>
      </p:sp>
      <p:sp>
        <p:nvSpPr>
          <p:cNvPr id="51" name="Shape 46"/>
          <p:cNvSpPr/>
          <p:nvPr/>
        </p:nvSpPr>
        <p:spPr>
          <a:xfrm>
            <a:off x="6121875" y="3552892"/>
            <a:ext cx="4208" cy="15493"/>
          </a:xfrm>
          <a:prstGeom prst="line">
            <a:avLst/>
          </a:prstGeom>
          <a:noFill/>
          <a:ln w="17780">
            <a:solidFill>
              <a:srgbClr val="1565C0"/>
            </a:solidFill>
            <a:prstDash val="solid"/>
          </a:ln>
        </p:spPr>
      </p:sp>
      <p:sp>
        <p:nvSpPr>
          <p:cNvPr id="52" name="Shape 47"/>
          <p:cNvSpPr/>
          <p:nvPr/>
        </p:nvSpPr>
        <p:spPr>
          <a:xfrm>
            <a:off x="6126083" y="3568385"/>
            <a:ext cx="15490" cy="10976"/>
          </a:xfrm>
          <a:prstGeom prst="line">
            <a:avLst/>
          </a:prstGeom>
          <a:noFill/>
          <a:ln w="17780">
            <a:solidFill>
              <a:srgbClr val="1565C0"/>
            </a:solidFill>
            <a:prstDash val="solid"/>
          </a:ln>
        </p:spPr>
      </p:sp>
      <p:sp>
        <p:nvSpPr>
          <p:cNvPr id="53" name="Shape 48"/>
          <p:cNvSpPr/>
          <p:nvPr/>
        </p:nvSpPr>
        <p:spPr>
          <a:xfrm>
            <a:off x="6141574" y="3579361"/>
            <a:ext cx="7051" cy="8075"/>
          </a:xfrm>
          <a:prstGeom prst="line">
            <a:avLst/>
          </a:prstGeom>
          <a:noFill/>
          <a:ln w="17780">
            <a:solidFill>
              <a:srgbClr val="1565C0"/>
            </a:solidFill>
            <a:prstDash val="solid"/>
          </a:ln>
        </p:spPr>
      </p:sp>
      <p:sp>
        <p:nvSpPr>
          <p:cNvPr id="54" name="Shape 49"/>
          <p:cNvSpPr/>
          <p:nvPr/>
        </p:nvSpPr>
        <p:spPr>
          <a:xfrm flipV="1">
            <a:off x="6124952" y="3587437"/>
            <a:ext cx="23673" cy="7820"/>
          </a:xfrm>
          <a:prstGeom prst="line">
            <a:avLst/>
          </a:prstGeom>
          <a:noFill/>
          <a:ln w="17780">
            <a:solidFill>
              <a:srgbClr val="1565C0"/>
            </a:solidFill>
            <a:prstDash val="solid"/>
          </a:ln>
        </p:spPr>
      </p:sp>
      <p:sp>
        <p:nvSpPr>
          <p:cNvPr id="55" name="Shape 50"/>
          <p:cNvSpPr/>
          <p:nvPr/>
        </p:nvSpPr>
        <p:spPr>
          <a:xfrm flipV="1">
            <a:off x="6051824" y="3595257"/>
            <a:ext cx="73128" cy="10851"/>
          </a:xfrm>
          <a:prstGeom prst="line">
            <a:avLst/>
          </a:prstGeom>
          <a:noFill/>
          <a:ln w="17780">
            <a:solidFill>
              <a:srgbClr val="1565C0"/>
            </a:solidFill>
            <a:prstDash val="solid"/>
          </a:ln>
        </p:spPr>
      </p:sp>
      <p:sp>
        <p:nvSpPr>
          <p:cNvPr id="56" name="Shape 51"/>
          <p:cNvSpPr/>
          <p:nvPr/>
        </p:nvSpPr>
        <p:spPr>
          <a:xfrm flipV="1">
            <a:off x="5919513" y="3606108"/>
            <a:ext cx="132312" cy="17330"/>
          </a:xfrm>
          <a:prstGeom prst="line">
            <a:avLst/>
          </a:prstGeom>
          <a:noFill/>
          <a:ln w="17780">
            <a:solidFill>
              <a:srgbClr val="1565C0"/>
            </a:solidFill>
            <a:prstDash val="solid"/>
          </a:ln>
        </p:spPr>
      </p:sp>
      <p:sp>
        <p:nvSpPr>
          <p:cNvPr id="57" name="Shape 52"/>
          <p:cNvSpPr/>
          <p:nvPr/>
        </p:nvSpPr>
        <p:spPr>
          <a:xfrm flipV="1">
            <a:off x="5730739" y="3623439"/>
            <a:ext cx="188774" cy="26911"/>
          </a:xfrm>
          <a:prstGeom prst="line">
            <a:avLst/>
          </a:prstGeom>
          <a:noFill/>
          <a:ln w="17780">
            <a:solidFill>
              <a:srgbClr val="1565C0"/>
            </a:solidFill>
            <a:prstDash val="solid"/>
          </a:ln>
        </p:spPr>
      </p:sp>
      <p:sp>
        <p:nvSpPr>
          <p:cNvPr id="58" name="Shape 53"/>
          <p:cNvSpPr/>
          <p:nvPr/>
        </p:nvSpPr>
        <p:spPr>
          <a:xfrm flipV="1">
            <a:off x="5501274" y="3650349"/>
            <a:ext cx="229464" cy="38770"/>
          </a:xfrm>
          <a:prstGeom prst="line">
            <a:avLst/>
          </a:prstGeom>
          <a:noFill/>
          <a:ln w="17780">
            <a:solidFill>
              <a:srgbClr val="1565C0"/>
            </a:solidFill>
            <a:prstDash val="solid"/>
          </a:ln>
        </p:spPr>
      </p:sp>
      <p:sp>
        <p:nvSpPr>
          <p:cNvPr id="59" name="Shape 54"/>
          <p:cNvSpPr/>
          <p:nvPr/>
        </p:nvSpPr>
        <p:spPr>
          <a:xfrm flipV="1">
            <a:off x="5257490" y="3689119"/>
            <a:ext cx="243784" cy="51705"/>
          </a:xfrm>
          <a:prstGeom prst="line">
            <a:avLst/>
          </a:prstGeom>
          <a:noFill/>
          <a:ln w="17780">
            <a:solidFill>
              <a:srgbClr val="1565C0"/>
            </a:solidFill>
            <a:prstDash val="solid"/>
          </a:ln>
        </p:spPr>
      </p:sp>
      <p:sp>
        <p:nvSpPr>
          <p:cNvPr id="60" name="Shape 55"/>
          <p:cNvSpPr/>
          <p:nvPr/>
        </p:nvSpPr>
        <p:spPr>
          <a:xfrm flipV="1">
            <a:off x="5031378" y="3740824"/>
            <a:ext cx="226112" cy="64268"/>
          </a:xfrm>
          <a:prstGeom prst="line">
            <a:avLst/>
          </a:prstGeom>
          <a:noFill/>
          <a:ln w="17780">
            <a:solidFill>
              <a:srgbClr val="1565C0"/>
            </a:solidFill>
            <a:prstDash val="solid"/>
          </a:ln>
        </p:spPr>
      </p:sp>
      <p:sp>
        <p:nvSpPr>
          <p:cNvPr id="61" name="Shape 56"/>
          <p:cNvSpPr/>
          <p:nvPr/>
        </p:nvSpPr>
        <p:spPr>
          <a:xfrm flipV="1">
            <a:off x="4854157" y="3805092"/>
            <a:ext cx="177221" cy="74945"/>
          </a:xfrm>
          <a:prstGeom prst="line">
            <a:avLst/>
          </a:prstGeom>
          <a:noFill/>
          <a:ln w="17780">
            <a:solidFill>
              <a:srgbClr val="1565C0"/>
            </a:solidFill>
            <a:prstDash val="solid"/>
          </a:ln>
        </p:spPr>
      </p:sp>
      <p:sp>
        <p:nvSpPr>
          <p:cNvPr id="62" name="Shape 57"/>
          <p:cNvSpPr/>
          <p:nvPr/>
        </p:nvSpPr>
        <p:spPr>
          <a:xfrm flipV="1">
            <a:off x="4749915" y="3880037"/>
            <a:ext cx="104242" cy="82334"/>
          </a:xfrm>
          <a:prstGeom prst="line">
            <a:avLst/>
          </a:prstGeom>
          <a:noFill/>
          <a:ln w="17780">
            <a:solidFill>
              <a:srgbClr val="1565C0"/>
            </a:solidFill>
            <a:prstDash val="solid"/>
          </a:ln>
        </p:spPr>
      </p:sp>
      <p:sp>
        <p:nvSpPr>
          <p:cNvPr id="63" name="Shape 58"/>
          <p:cNvSpPr/>
          <p:nvPr/>
        </p:nvSpPr>
        <p:spPr>
          <a:xfrm flipV="1">
            <a:off x="4730729" y="3962371"/>
            <a:ext cx="19186" cy="85317"/>
          </a:xfrm>
          <a:prstGeom prst="line">
            <a:avLst/>
          </a:prstGeom>
          <a:noFill/>
          <a:ln w="17780">
            <a:solidFill>
              <a:srgbClr val="1565C0"/>
            </a:solidFill>
            <a:prstDash val="solid"/>
          </a:ln>
        </p:spPr>
      </p:sp>
      <p:sp>
        <p:nvSpPr>
          <p:cNvPr id="64" name="Shape 59"/>
          <p:cNvSpPr/>
          <p:nvPr/>
        </p:nvSpPr>
        <p:spPr>
          <a:xfrm>
            <a:off x="4730729" y="4047688"/>
            <a:ext cx="63648" cy="83202"/>
          </a:xfrm>
          <a:prstGeom prst="line">
            <a:avLst/>
          </a:prstGeom>
          <a:noFill/>
          <a:ln w="17780">
            <a:solidFill>
              <a:srgbClr val="1565C0"/>
            </a:solidFill>
            <a:prstDash val="solid"/>
          </a:ln>
        </p:spPr>
      </p:sp>
      <p:sp>
        <p:nvSpPr>
          <p:cNvPr id="65" name="Shape 60"/>
          <p:cNvSpPr/>
          <p:nvPr/>
        </p:nvSpPr>
        <p:spPr>
          <a:xfrm>
            <a:off x="4794377" y="4130890"/>
            <a:ext cx="130774" cy="75807"/>
          </a:xfrm>
          <a:prstGeom prst="line">
            <a:avLst/>
          </a:prstGeom>
          <a:noFill/>
          <a:ln w="17780">
            <a:solidFill>
              <a:srgbClr val="1565C0"/>
            </a:solidFill>
            <a:prstDash val="solid"/>
          </a:ln>
        </p:spPr>
      </p:sp>
      <p:sp>
        <p:nvSpPr>
          <p:cNvPr id="66" name="Shape 61"/>
          <p:cNvSpPr/>
          <p:nvPr/>
        </p:nvSpPr>
        <p:spPr>
          <a:xfrm>
            <a:off x="4925151" y="4206697"/>
            <a:ext cx="172421" cy="63499"/>
          </a:xfrm>
          <a:prstGeom prst="line">
            <a:avLst/>
          </a:prstGeom>
          <a:noFill/>
          <a:ln w="17780">
            <a:solidFill>
              <a:srgbClr val="1565C0"/>
            </a:solidFill>
            <a:prstDash val="solid"/>
          </a:ln>
        </p:spPr>
      </p:sp>
      <p:sp>
        <p:nvSpPr>
          <p:cNvPr id="67" name="Shape 62"/>
          <p:cNvSpPr/>
          <p:nvPr/>
        </p:nvSpPr>
        <p:spPr>
          <a:xfrm>
            <a:off x="5097572" y="4270196"/>
            <a:ext cx="184554" cy="47151"/>
          </a:xfrm>
          <a:prstGeom prst="line">
            <a:avLst/>
          </a:prstGeom>
          <a:noFill/>
          <a:ln w="17780">
            <a:solidFill>
              <a:srgbClr val="1565C0"/>
            </a:solidFill>
            <a:prstDash val="solid"/>
          </a:ln>
        </p:spPr>
      </p:sp>
      <p:sp>
        <p:nvSpPr>
          <p:cNvPr id="68" name="Shape 63"/>
          <p:cNvSpPr/>
          <p:nvPr/>
        </p:nvSpPr>
        <p:spPr>
          <a:xfrm>
            <a:off x="5282126" y="4317347"/>
            <a:ext cx="169578" cy="28057"/>
          </a:xfrm>
          <a:prstGeom prst="line">
            <a:avLst/>
          </a:prstGeom>
          <a:noFill/>
          <a:ln w="17780">
            <a:solidFill>
              <a:srgbClr val="1565C0"/>
            </a:solidFill>
            <a:prstDash val="solid"/>
          </a:ln>
        </p:spPr>
      </p:sp>
      <p:sp>
        <p:nvSpPr>
          <p:cNvPr id="69" name="Shape 64"/>
          <p:cNvSpPr/>
          <p:nvPr/>
        </p:nvSpPr>
        <p:spPr>
          <a:xfrm>
            <a:off x="5451704" y="4345404"/>
            <a:ext cx="135537" cy="7781"/>
          </a:xfrm>
          <a:prstGeom prst="line">
            <a:avLst/>
          </a:prstGeom>
          <a:noFill/>
          <a:ln w="17780">
            <a:solidFill>
              <a:srgbClr val="1565C0"/>
            </a:solidFill>
            <a:prstDash val="solid"/>
          </a:ln>
        </p:spPr>
      </p:sp>
      <p:sp>
        <p:nvSpPr>
          <p:cNvPr id="70" name="Shape 65"/>
          <p:cNvSpPr/>
          <p:nvPr/>
        </p:nvSpPr>
        <p:spPr>
          <a:xfrm flipV="1">
            <a:off x="5587240" y="4341173"/>
            <a:ext cx="94038" cy="12012"/>
          </a:xfrm>
          <a:prstGeom prst="line">
            <a:avLst/>
          </a:prstGeom>
          <a:noFill/>
          <a:ln w="17780">
            <a:solidFill>
              <a:srgbClr val="1565C0"/>
            </a:solidFill>
            <a:prstDash val="solid"/>
          </a:ln>
        </p:spPr>
      </p:sp>
      <p:sp>
        <p:nvSpPr>
          <p:cNvPr id="71" name="Shape 66"/>
          <p:cNvSpPr/>
          <p:nvPr/>
        </p:nvSpPr>
        <p:spPr>
          <a:xfrm flipV="1">
            <a:off x="5681278" y="4311433"/>
            <a:ext cx="57374" cy="29740"/>
          </a:xfrm>
          <a:prstGeom prst="line">
            <a:avLst/>
          </a:prstGeom>
          <a:noFill/>
          <a:ln w="17780">
            <a:solidFill>
              <a:srgbClr val="1565C0"/>
            </a:solidFill>
            <a:prstDash val="solid"/>
          </a:ln>
        </p:spPr>
      </p:sp>
      <p:sp>
        <p:nvSpPr>
          <p:cNvPr id="72" name="Shape 67"/>
          <p:cNvSpPr/>
          <p:nvPr/>
        </p:nvSpPr>
        <p:spPr>
          <a:xfrm flipV="1">
            <a:off x="5738652" y="4267345"/>
            <a:ext cx="35531" cy="44087"/>
          </a:xfrm>
          <a:prstGeom prst="line">
            <a:avLst/>
          </a:prstGeom>
          <a:noFill/>
          <a:ln w="17780">
            <a:solidFill>
              <a:srgbClr val="1565C0"/>
            </a:solidFill>
            <a:prstDash val="solid"/>
          </a:ln>
        </p:spPr>
      </p:sp>
      <p:sp>
        <p:nvSpPr>
          <p:cNvPr id="73" name="Shape 68"/>
          <p:cNvSpPr/>
          <p:nvPr/>
        </p:nvSpPr>
        <p:spPr>
          <a:xfrm flipV="1">
            <a:off x="5774183" y="4213208"/>
            <a:ext cx="33791" cy="54138"/>
          </a:xfrm>
          <a:prstGeom prst="line">
            <a:avLst/>
          </a:prstGeom>
          <a:noFill/>
          <a:ln w="17780">
            <a:solidFill>
              <a:srgbClr val="1565C0"/>
            </a:solidFill>
            <a:prstDash val="solid"/>
          </a:ln>
        </p:spPr>
      </p:sp>
      <p:sp>
        <p:nvSpPr>
          <p:cNvPr id="74" name="Shape 69"/>
          <p:cNvSpPr/>
          <p:nvPr/>
        </p:nvSpPr>
        <p:spPr>
          <a:xfrm flipV="1">
            <a:off x="5807974" y="4153733"/>
            <a:ext cx="51489" cy="59475"/>
          </a:xfrm>
          <a:prstGeom prst="line">
            <a:avLst/>
          </a:prstGeom>
          <a:noFill/>
          <a:ln w="17780">
            <a:solidFill>
              <a:srgbClr val="1565C0"/>
            </a:solidFill>
            <a:prstDash val="solid"/>
          </a:ln>
        </p:spPr>
      </p:sp>
      <p:sp>
        <p:nvSpPr>
          <p:cNvPr id="75" name="Shape 70"/>
          <p:cNvSpPr/>
          <p:nvPr/>
        </p:nvSpPr>
        <p:spPr>
          <a:xfrm flipV="1">
            <a:off x="5859463" y="4093516"/>
            <a:ext cx="82212" cy="60216"/>
          </a:xfrm>
          <a:prstGeom prst="line">
            <a:avLst/>
          </a:prstGeom>
          <a:noFill/>
          <a:ln w="17780">
            <a:solidFill>
              <a:srgbClr val="1565C0"/>
            </a:solidFill>
            <a:prstDash val="solid"/>
          </a:ln>
        </p:spPr>
      </p:sp>
      <p:sp>
        <p:nvSpPr>
          <p:cNvPr id="76" name="Shape 71"/>
          <p:cNvSpPr/>
          <p:nvPr/>
        </p:nvSpPr>
        <p:spPr>
          <a:xfrm flipV="1">
            <a:off x="5941675" y="4036534"/>
            <a:ext cx="115404" cy="56983"/>
          </a:xfrm>
          <a:prstGeom prst="line">
            <a:avLst/>
          </a:prstGeom>
          <a:noFill/>
          <a:ln w="17780">
            <a:solidFill>
              <a:srgbClr val="1565C0"/>
            </a:solidFill>
            <a:prstDash val="solid"/>
          </a:ln>
        </p:spPr>
      </p:sp>
      <p:sp>
        <p:nvSpPr>
          <p:cNvPr id="77" name="Shape 72"/>
          <p:cNvSpPr/>
          <p:nvPr/>
        </p:nvSpPr>
        <p:spPr>
          <a:xfrm flipV="1">
            <a:off x="6057079" y="3985723"/>
            <a:ext cx="138979" cy="50810"/>
          </a:xfrm>
          <a:prstGeom prst="line">
            <a:avLst/>
          </a:prstGeom>
          <a:noFill/>
          <a:ln w="17780">
            <a:solidFill>
              <a:srgbClr val="1565C0"/>
            </a:solidFill>
            <a:prstDash val="solid"/>
          </a:ln>
        </p:spPr>
      </p:sp>
      <p:sp>
        <p:nvSpPr>
          <p:cNvPr id="78" name="Shape 73"/>
          <p:cNvSpPr/>
          <p:nvPr/>
        </p:nvSpPr>
        <p:spPr>
          <a:xfrm flipV="1">
            <a:off x="6196058" y="3942710"/>
            <a:ext cx="142346" cy="43013"/>
          </a:xfrm>
          <a:prstGeom prst="line">
            <a:avLst/>
          </a:prstGeom>
          <a:noFill/>
          <a:ln w="17780">
            <a:solidFill>
              <a:srgbClr val="1565C0"/>
            </a:solidFill>
            <a:prstDash val="solid"/>
          </a:ln>
        </p:spPr>
      </p:sp>
      <p:sp>
        <p:nvSpPr>
          <p:cNvPr id="79" name="Shape 74"/>
          <p:cNvSpPr/>
          <p:nvPr/>
        </p:nvSpPr>
        <p:spPr>
          <a:xfrm flipV="1">
            <a:off x="6338404" y="3907695"/>
            <a:ext cx="119102" cy="35015"/>
          </a:xfrm>
          <a:prstGeom prst="line">
            <a:avLst/>
          </a:prstGeom>
          <a:noFill/>
          <a:ln w="17780">
            <a:solidFill>
              <a:srgbClr val="1565C0"/>
            </a:solidFill>
            <a:prstDash val="solid"/>
          </a:ln>
        </p:spPr>
      </p:sp>
      <p:sp>
        <p:nvSpPr>
          <p:cNvPr id="80" name="Shape 75"/>
          <p:cNvSpPr/>
          <p:nvPr/>
        </p:nvSpPr>
        <p:spPr>
          <a:xfrm flipV="1">
            <a:off x="6457506" y="3879531"/>
            <a:ext cx="68783" cy="28164"/>
          </a:xfrm>
          <a:prstGeom prst="line">
            <a:avLst/>
          </a:prstGeom>
          <a:noFill/>
          <a:ln w="17780">
            <a:solidFill>
              <a:srgbClr val="1565C0"/>
            </a:solidFill>
            <a:prstDash val="solid"/>
          </a:ln>
        </p:spPr>
      </p:sp>
      <p:sp>
        <p:nvSpPr>
          <p:cNvPr id="81" name="Shape 76"/>
          <p:cNvSpPr/>
          <p:nvPr/>
        </p:nvSpPr>
        <p:spPr>
          <a:xfrm>
            <a:off x="6523516" y="3855962"/>
            <a:ext cx="2773" cy="23569"/>
          </a:xfrm>
          <a:prstGeom prst="line">
            <a:avLst/>
          </a:prstGeom>
          <a:noFill/>
          <a:ln w="17780">
            <a:solidFill>
              <a:srgbClr val="1565C0"/>
            </a:solidFill>
            <a:prstDash val="solid"/>
          </a:ln>
        </p:spPr>
      </p:sp>
      <p:sp>
        <p:nvSpPr>
          <p:cNvPr id="82" name="Shape 77"/>
          <p:cNvSpPr/>
          <p:nvPr/>
        </p:nvSpPr>
        <p:spPr>
          <a:xfrm>
            <a:off x="6438984" y="3834009"/>
            <a:ext cx="84532" cy="21953"/>
          </a:xfrm>
          <a:prstGeom prst="line">
            <a:avLst/>
          </a:prstGeom>
          <a:noFill/>
          <a:ln w="17780">
            <a:solidFill>
              <a:srgbClr val="1565C0"/>
            </a:solidFill>
            <a:prstDash val="solid"/>
          </a:ln>
        </p:spPr>
      </p:sp>
      <p:sp>
        <p:nvSpPr>
          <p:cNvPr id="83" name="Shape 78"/>
          <p:cNvSpPr/>
          <p:nvPr/>
        </p:nvSpPr>
        <p:spPr>
          <a:xfrm>
            <a:off x="6276388" y="3810441"/>
            <a:ext cx="162596" cy="23569"/>
          </a:xfrm>
          <a:prstGeom prst="line">
            <a:avLst/>
          </a:prstGeom>
          <a:noFill/>
          <a:ln w="17780">
            <a:solidFill>
              <a:srgbClr val="1565C0"/>
            </a:solidFill>
            <a:prstDash val="solid"/>
          </a:ln>
        </p:spPr>
      </p:sp>
      <p:sp>
        <p:nvSpPr>
          <p:cNvPr id="84" name="Shape 79"/>
          <p:cNvSpPr/>
          <p:nvPr/>
        </p:nvSpPr>
        <p:spPr>
          <a:xfrm>
            <a:off x="6053158" y="3782276"/>
            <a:ext cx="223230" cy="28164"/>
          </a:xfrm>
          <a:prstGeom prst="line">
            <a:avLst/>
          </a:prstGeom>
          <a:noFill/>
          <a:ln w="17780">
            <a:solidFill>
              <a:srgbClr val="1565C0"/>
            </a:solidFill>
            <a:prstDash val="solid"/>
          </a:ln>
        </p:spPr>
      </p:sp>
      <p:sp>
        <p:nvSpPr>
          <p:cNvPr id="85" name="Shape 80"/>
          <p:cNvSpPr/>
          <p:nvPr/>
        </p:nvSpPr>
        <p:spPr>
          <a:xfrm>
            <a:off x="5797280" y="3747262"/>
            <a:ext cx="255878" cy="35015"/>
          </a:xfrm>
          <a:prstGeom prst="line">
            <a:avLst/>
          </a:prstGeom>
          <a:noFill/>
          <a:ln w="17780">
            <a:solidFill>
              <a:srgbClr val="1565C0"/>
            </a:solidFill>
            <a:prstDash val="solid"/>
          </a:ln>
        </p:spPr>
      </p:sp>
      <p:sp>
        <p:nvSpPr>
          <p:cNvPr id="86" name="Shape 81"/>
          <p:cNvSpPr/>
          <p:nvPr/>
        </p:nvSpPr>
        <p:spPr>
          <a:xfrm>
            <a:off x="5541808" y="3704248"/>
            <a:ext cx="255472" cy="43013"/>
          </a:xfrm>
          <a:prstGeom prst="line">
            <a:avLst/>
          </a:prstGeom>
          <a:noFill/>
          <a:ln w="17780">
            <a:solidFill>
              <a:srgbClr val="1565C0"/>
            </a:solidFill>
            <a:prstDash val="solid"/>
          </a:ln>
        </p:spPr>
      </p:sp>
      <p:sp>
        <p:nvSpPr>
          <p:cNvPr id="87" name="Shape 82"/>
          <p:cNvSpPr/>
          <p:nvPr/>
        </p:nvSpPr>
        <p:spPr>
          <a:xfrm>
            <a:off x="5318297" y="3653438"/>
            <a:ext cx="223511" cy="50810"/>
          </a:xfrm>
          <a:prstGeom prst="line">
            <a:avLst/>
          </a:prstGeom>
          <a:noFill/>
          <a:ln w="17780">
            <a:solidFill>
              <a:srgbClr val="1565C0"/>
            </a:solidFill>
            <a:prstDash val="solid"/>
          </a:ln>
        </p:spPr>
      </p:sp>
      <p:sp>
        <p:nvSpPr>
          <p:cNvPr id="88" name="Shape 83"/>
          <p:cNvSpPr/>
          <p:nvPr/>
        </p:nvSpPr>
        <p:spPr>
          <a:xfrm>
            <a:off x="5150650" y="3596455"/>
            <a:ext cx="167647" cy="56983"/>
          </a:xfrm>
          <a:prstGeom prst="line">
            <a:avLst/>
          </a:prstGeom>
          <a:noFill/>
          <a:ln w="17780">
            <a:solidFill>
              <a:srgbClr val="1565C0"/>
            </a:solidFill>
            <a:prstDash val="solid"/>
          </a:ln>
        </p:spPr>
      </p:sp>
      <p:sp>
        <p:nvSpPr>
          <p:cNvPr id="89" name="Shape 84"/>
          <p:cNvSpPr/>
          <p:nvPr/>
        </p:nvSpPr>
        <p:spPr>
          <a:xfrm>
            <a:off x="5050766" y="3536239"/>
            <a:ext cx="99884" cy="60216"/>
          </a:xfrm>
          <a:prstGeom prst="line">
            <a:avLst/>
          </a:prstGeom>
          <a:noFill/>
          <a:ln w="17780">
            <a:solidFill>
              <a:srgbClr val="1565C0"/>
            </a:solidFill>
            <a:prstDash val="solid"/>
          </a:ln>
        </p:spPr>
      </p:sp>
      <p:sp>
        <p:nvSpPr>
          <p:cNvPr id="90" name="Shape 85"/>
          <p:cNvSpPr/>
          <p:nvPr/>
        </p:nvSpPr>
        <p:spPr>
          <a:xfrm>
            <a:off x="5016949" y="3476764"/>
            <a:ext cx="33817" cy="59475"/>
          </a:xfrm>
          <a:prstGeom prst="line">
            <a:avLst/>
          </a:prstGeom>
          <a:noFill/>
          <a:ln w="17780">
            <a:solidFill>
              <a:srgbClr val="1565C0"/>
            </a:solidFill>
            <a:prstDash val="solid"/>
          </a:ln>
        </p:spPr>
      </p:sp>
      <p:sp>
        <p:nvSpPr>
          <p:cNvPr id="91" name="Shape 86"/>
          <p:cNvSpPr/>
          <p:nvPr/>
        </p:nvSpPr>
        <p:spPr>
          <a:xfrm flipV="1">
            <a:off x="5016949" y="3422626"/>
            <a:ext cx="18452" cy="54138"/>
          </a:xfrm>
          <a:prstGeom prst="line">
            <a:avLst/>
          </a:prstGeom>
          <a:noFill/>
          <a:ln w="17780">
            <a:solidFill>
              <a:srgbClr val="1565C0"/>
            </a:solidFill>
            <a:prstDash val="solid"/>
          </a:ln>
        </p:spPr>
      </p:sp>
      <p:sp>
        <p:nvSpPr>
          <p:cNvPr id="92" name="Shape 87"/>
          <p:cNvSpPr/>
          <p:nvPr/>
        </p:nvSpPr>
        <p:spPr>
          <a:xfrm flipV="1">
            <a:off x="5035401" y="3378539"/>
            <a:ext cx="49001" cy="44087"/>
          </a:xfrm>
          <a:prstGeom prst="line">
            <a:avLst/>
          </a:prstGeom>
          <a:noFill/>
          <a:ln w="17780">
            <a:solidFill>
              <a:srgbClr val="1565C0"/>
            </a:solidFill>
            <a:prstDash val="solid"/>
          </a:ln>
        </p:spPr>
      </p:sp>
      <p:sp>
        <p:nvSpPr>
          <p:cNvPr id="93" name="Shape 88"/>
          <p:cNvSpPr/>
          <p:nvPr/>
        </p:nvSpPr>
        <p:spPr>
          <a:xfrm flipV="1">
            <a:off x="5084403" y="3348798"/>
            <a:ext cx="55752" cy="29740"/>
          </a:xfrm>
          <a:prstGeom prst="line">
            <a:avLst/>
          </a:prstGeom>
          <a:noFill/>
          <a:ln w="17780">
            <a:solidFill>
              <a:srgbClr val="1565C0"/>
            </a:solidFill>
            <a:prstDash val="solid"/>
          </a:ln>
        </p:spPr>
      </p:sp>
      <p:sp>
        <p:nvSpPr>
          <p:cNvPr id="94" name="Shape 89"/>
          <p:cNvSpPr/>
          <p:nvPr/>
        </p:nvSpPr>
        <p:spPr>
          <a:xfrm flipV="1">
            <a:off x="5140154" y="3336787"/>
            <a:ext cx="42737" cy="12012"/>
          </a:xfrm>
          <a:prstGeom prst="line">
            <a:avLst/>
          </a:prstGeom>
          <a:noFill/>
          <a:ln w="17780">
            <a:solidFill>
              <a:srgbClr val="1565C0"/>
            </a:solidFill>
            <a:prstDash val="solid"/>
          </a:ln>
        </p:spPr>
      </p:sp>
      <p:sp>
        <p:nvSpPr>
          <p:cNvPr id="95" name="Shape 90"/>
          <p:cNvSpPr/>
          <p:nvPr/>
        </p:nvSpPr>
        <p:spPr>
          <a:xfrm>
            <a:off x="5182892" y="3336787"/>
            <a:ext cx="18911" cy="7781"/>
          </a:xfrm>
          <a:prstGeom prst="line">
            <a:avLst/>
          </a:prstGeom>
          <a:noFill/>
          <a:ln w="17780">
            <a:solidFill>
              <a:srgbClr val="1565C0"/>
            </a:solidFill>
            <a:prstDash val="solid"/>
          </a:ln>
        </p:spPr>
      </p:sp>
      <p:sp>
        <p:nvSpPr>
          <p:cNvPr id="96" name="Shape 91"/>
          <p:cNvSpPr/>
          <p:nvPr/>
        </p:nvSpPr>
        <p:spPr>
          <a:xfrm flipV="1">
            <a:off x="5197594" y="3344568"/>
            <a:ext cx="4208" cy="28057"/>
          </a:xfrm>
          <a:prstGeom prst="line">
            <a:avLst/>
          </a:prstGeom>
          <a:noFill/>
          <a:ln w="17780">
            <a:solidFill>
              <a:srgbClr val="1565C0"/>
            </a:solidFill>
            <a:prstDash val="solid"/>
          </a:ln>
        </p:spPr>
      </p:sp>
      <p:sp>
        <p:nvSpPr>
          <p:cNvPr id="97" name="Shape 92"/>
          <p:cNvSpPr/>
          <p:nvPr/>
        </p:nvSpPr>
        <p:spPr>
          <a:xfrm flipV="1">
            <a:off x="5182104" y="3372624"/>
            <a:ext cx="15490" cy="47151"/>
          </a:xfrm>
          <a:prstGeom prst="line">
            <a:avLst/>
          </a:prstGeom>
          <a:noFill/>
          <a:ln w="17780">
            <a:solidFill>
              <a:srgbClr val="1565C0"/>
            </a:solidFill>
            <a:prstDash val="solid"/>
          </a:ln>
        </p:spPr>
      </p:sp>
      <p:sp>
        <p:nvSpPr>
          <p:cNvPr id="98" name="Shape 93"/>
          <p:cNvSpPr/>
          <p:nvPr/>
        </p:nvSpPr>
        <p:spPr>
          <a:xfrm flipV="1">
            <a:off x="5175053" y="3419776"/>
            <a:ext cx="7051" cy="63499"/>
          </a:xfrm>
          <a:prstGeom prst="line">
            <a:avLst/>
          </a:prstGeom>
          <a:noFill/>
          <a:ln w="17780">
            <a:solidFill>
              <a:srgbClr val="1565C0"/>
            </a:solidFill>
            <a:prstDash val="solid"/>
          </a:ln>
        </p:spPr>
      </p:sp>
      <p:sp>
        <p:nvSpPr>
          <p:cNvPr id="99" name="Shape 94"/>
          <p:cNvSpPr/>
          <p:nvPr/>
        </p:nvSpPr>
        <p:spPr>
          <a:xfrm>
            <a:off x="5175053" y="3483275"/>
            <a:ext cx="23673" cy="75807"/>
          </a:xfrm>
          <a:prstGeom prst="line">
            <a:avLst/>
          </a:prstGeom>
          <a:noFill/>
          <a:ln w="17780">
            <a:solidFill>
              <a:srgbClr val="1565C0"/>
            </a:solidFill>
            <a:prstDash val="solid"/>
          </a:ln>
        </p:spPr>
      </p:sp>
      <p:sp>
        <p:nvSpPr>
          <p:cNvPr id="100" name="Shape 95"/>
          <p:cNvSpPr/>
          <p:nvPr/>
        </p:nvSpPr>
        <p:spPr>
          <a:xfrm>
            <a:off x="5198726" y="3559082"/>
            <a:ext cx="73128" cy="83202"/>
          </a:xfrm>
          <a:prstGeom prst="line">
            <a:avLst/>
          </a:prstGeom>
          <a:noFill/>
          <a:ln w="17780">
            <a:solidFill>
              <a:srgbClr val="1565C0"/>
            </a:solidFill>
            <a:prstDash val="solid"/>
          </a:ln>
        </p:spPr>
      </p:sp>
      <p:sp>
        <p:nvSpPr>
          <p:cNvPr id="101" name="Shape 96"/>
          <p:cNvSpPr/>
          <p:nvPr/>
        </p:nvSpPr>
        <p:spPr>
          <a:xfrm>
            <a:off x="5271853" y="3642283"/>
            <a:ext cx="132312" cy="85317"/>
          </a:xfrm>
          <a:prstGeom prst="line">
            <a:avLst/>
          </a:prstGeom>
          <a:noFill/>
          <a:ln w="17780">
            <a:solidFill>
              <a:srgbClr val="1565C0"/>
            </a:solidFill>
            <a:prstDash val="solid"/>
          </a:ln>
        </p:spPr>
      </p:sp>
      <p:sp>
        <p:nvSpPr>
          <p:cNvPr id="102" name="Shape 97"/>
          <p:cNvSpPr/>
          <p:nvPr/>
        </p:nvSpPr>
        <p:spPr>
          <a:xfrm>
            <a:off x="5404165" y="3727601"/>
            <a:ext cx="188774" cy="82334"/>
          </a:xfrm>
          <a:prstGeom prst="line">
            <a:avLst/>
          </a:prstGeom>
          <a:noFill/>
          <a:ln w="17780">
            <a:solidFill>
              <a:srgbClr val="1565C0"/>
            </a:solidFill>
            <a:prstDash val="solid"/>
          </a:ln>
        </p:spPr>
      </p:sp>
      <p:sp>
        <p:nvSpPr>
          <p:cNvPr id="103" name="Shape 98"/>
          <p:cNvSpPr/>
          <p:nvPr/>
        </p:nvSpPr>
        <p:spPr>
          <a:xfrm>
            <a:off x="5592939" y="3809935"/>
            <a:ext cx="229464" cy="74945"/>
          </a:xfrm>
          <a:prstGeom prst="line">
            <a:avLst/>
          </a:prstGeom>
          <a:noFill/>
          <a:ln w="17780">
            <a:solidFill>
              <a:srgbClr val="1565C0"/>
            </a:solidFill>
            <a:prstDash val="solid"/>
          </a:ln>
        </p:spPr>
      </p:sp>
      <p:sp>
        <p:nvSpPr>
          <p:cNvPr id="104" name="Shape 99"/>
          <p:cNvSpPr/>
          <p:nvPr/>
        </p:nvSpPr>
        <p:spPr>
          <a:xfrm>
            <a:off x="5822403" y="3884880"/>
            <a:ext cx="243784" cy="64268"/>
          </a:xfrm>
          <a:prstGeom prst="line">
            <a:avLst/>
          </a:prstGeom>
          <a:noFill/>
          <a:ln w="17780">
            <a:solidFill>
              <a:srgbClr val="1565C0"/>
            </a:solidFill>
            <a:prstDash val="solid"/>
          </a:ln>
        </p:spPr>
      </p:sp>
      <p:sp>
        <p:nvSpPr>
          <p:cNvPr id="105" name="Shape 100"/>
          <p:cNvSpPr/>
          <p:nvPr/>
        </p:nvSpPr>
        <p:spPr>
          <a:xfrm>
            <a:off x="7115768" y="3736484"/>
            <a:ext cx="564211" cy="564211"/>
          </a:xfrm>
          <a:prstGeom prst="ellipse">
            <a:avLst/>
          </a:prstGeom>
          <a:solidFill>
            <a:srgbClr val="FFFDF5"/>
          </a:solidFill>
          <a:ln w="22860">
            <a:solidFill>
              <a:srgbClr val="1565C0"/>
            </a:solidFill>
            <a:prstDash val="solid"/>
          </a:ln>
        </p:spPr>
      </p:sp>
      <p:sp>
        <p:nvSpPr>
          <p:cNvPr id="106" name="Shape 101"/>
          <p:cNvSpPr/>
          <p:nvPr/>
        </p:nvSpPr>
        <p:spPr>
          <a:xfrm>
            <a:off x="8439495" y="4018589"/>
            <a:ext cx="173603" cy="190964"/>
          </a:xfrm>
          <a:prstGeom prst="line">
            <a:avLst/>
          </a:prstGeom>
          <a:noFill/>
          <a:ln w="25400">
            <a:solidFill>
              <a:srgbClr val="6D4C41"/>
            </a:solidFill>
            <a:prstDash val="solid"/>
          </a:ln>
        </p:spPr>
      </p:sp>
      <p:sp>
        <p:nvSpPr>
          <p:cNvPr id="107" name="Shape 102"/>
          <p:cNvSpPr/>
          <p:nvPr/>
        </p:nvSpPr>
        <p:spPr>
          <a:xfrm flipV="1">
            <a:off x="8613098" y="3827625"/>
            <a:ext cx="173603" cy="381928"/>
          </a:xfrm>
          <a:prstGeom prst="line">
            <a:avLst/>
          </a:prstGeom>
          <a:noFill/>
          <a:ln w="25400">
            <a:solidFill>
              <a:srgbClr val="6D4C41"/>
            </a:solidFill>
            <a:prstDash val="solid"/>
          </a:ln>
        </p:spPr>
      </p:sp>
      <p:sp>
        <p:nvSpPr>
          <p:cNvPr id="108" name="Shape 103"/>
          <p:cNvSpPr/>
          <p:nvPr/>
        </p:nvSpPr>
        <p:spPr>
          <a:xfrm>
            <a:off x="8786702" y="3827625"/>
            <a:ext cx="173603" cy="381928"/>
          </a:xfrm>
          <a:prstGeom prst="line">
            <a:avLst/>
          </a:prstGeom>
          <a:noFill/>
          <a:ln w="25400">
            <a:solidFill>
              <a:srgbClr val="6D4C41"/>
            </a:solidFill>
            <a:prstDash val="solid"/>
          </a:ln>
        </p:spPr>
      </p:sp>
      <p:sp>
        <p:nvSpPr>
          <p:cNvPr id="109" name="Shape 104"/>
          <p:cNvSpPr/>
          <p:nvPr/>
        </p:nvSpPr>
        <p:spPr>
          <a:xfrm flipV="1">
            <a:off x="8960305" y="3827625"/>
            <a:ext cx="173603" cy="381928"/>
          </a:xfrm>
          <a:prstGeom prst="line">
            <a:avLst/>
          </a:prstGeom>
          <a:noFill/>
          <a:ln w="25400">
            <a:solidFill>
              <a:srgbClr val="6D4C41"/>
            </a:solidFill>
            <a:prstDash val="solid"/>
          </a:ln>
        </p:spPr>
      </p:sp>
      <p:sp>
        <p:nvSpPr>
          <p:cNvPr id="110" name="Shape 105"/>
          <p:cNvSpPr/>
          <p:nvPr/>
        </p:nvSpPr>
        <p:spPr>
          <a:xfrm>
            <a:off x="9133908" y="3827625"/>
            <a:ext cx="173603" cy="381928"/>
          </a:xfrm>
          <a:prstGeom prst="line">
            <a:avLst/>
          </a:prstGeom>
          <a:noFill/>
          <a:ln w="25400">
            <a:solidFill>
              <a:srgbClr val="6D4C41"/>
            </a:solidFill>
            <a:prstDash val="solid"/>
          </a:ln>
        </p:spPr>
      </p:sp>
      <p:sp>
        <p:nvSpPr>
          <p:cNvPr id="111" name="Shape 106"/>
          <p:cNvSpPr/>
          <p:nvPr/>
        </p:nvSpPr>
        <p:spPr>
          <a:xfrm flipV="1">
            <a:off x="9307512" y="3827625"/>
            <a:ext cx="173603" cy="381928"/>
          </a:xfrm>
          <a:prstGeom prst="line">
            <a:avLst/>
          </a:prstGeom>
          <a:noFill/>
          <a:ln w="25400">
            <a:solidFill>
              <a:srgbClr val="6D4C41"/>
            </a:solidFill>
            <a:prstDash val="solid"/>
          </a:ln>
        </p:spPr>
      </p:sp>
      <p:sp>
        <p:nvSpPr>
          <p:cNvPr id="112" name="Shape 107"/>
          <p:cNvSpPr/>
          <p:nvPr/>
        </p:nvSpPr>
        <p:spPr>
          <a:xfrm>
            <a:off x="9481115" y="3827625"/>
            <a:ext cx="173603" cy="381928"/>
          </a:xfrm>
          <a:prstGeom prst="line">
            <a:avLst/>
          </a:prstGeom>
          <a:noFill/>
          <a:ln w="25400">
            <a:solidFill>
              <a:srgbClr val="6D4C41"/>
            </a:solidFill>
            <a:prstDash val="solid"/>
          </a:ln>
        </p:spPr>
      </p:sp>
      <p:sp>
        <p:nvSpPr>
          <p:cNvPr id="113" name="Shape 108"/>
          <p:cNvSpPr/>
          <p:nvPr/>
        </p:nvSpPr>
        <p:spPr>
          <a:xfrm flipV="1">
            <a:off x="9654719" y="3827625"/>
            <a:ext cx="173603" cy="381928"/>
          </a:xfrm>
          <a:prstGeom prst="line">
            <a:avLst/>
          </a:prstGeom>
          <a:noFill/>
          <a:ln w="25400">
            <a:solidFill>
              <a:srgbClr val="6D4C41"/>
            </a:solidFill>
            <a:prstDash val="solid"/>
          </a:ln>
        </p:spPr>
      </p:sp>
      <p:sp>
        <p:nvSpPr>
          <p:cNvPr id="114" name="Shape 109"/>
          <p:cNvSpPr/>
          <p:nvPr/>
        </p:nvSpPr>
        <p:spPr>
          <a:xfrm>
            <a:off x="9828322" y="3827625"/>
            <a:ext cx="173603" cy="381928"/>
          </a:xfrm>
          <a:prstGeom prst="line">
            <a:avLst/>
          </a:prstGeom>
          <a:noFill/>
          <a:ln w="25400">
            <a:solidFill>
              <a:srgbClr val="6D4C41"/>
            </a:solidFill>
            <a:prstDash val="solid"/>
          </a:ln>
        </p:spPr>
      </p:sp>
      <p:sp>
        <p:nvSpPr>
          <p:cNvPr id="115" name="Shape 110"/>
          <p:cNvSpPr/>
          <p:nvPr/>
        </p:nvSpPr>
        <p:spPr>
          <a:xfrm flipV="1">
            <a:off x="10001926" y="3827625"/>
            <a:ext cx="173603" cy="381928"/>
          </a:xfrm>
          <a:prstGeom prst="line">
            <a:avLst/>
          </a:prstGeom>
          <a:noFill/>
          <a:ln w="25400">
            <a:solidFill>
              <a:srgbClr val="6D4C41"/>
            </a:solidFill>
            <a:prstDash val="solid"/>
          </a:ln>
        </p:spPr>
      </p:sp>
      <p:sp>
        <p:nvSpPr>
          <p:cNvPr id="116" name="Shape 111"/>
          <p:cNvSpPr/>
          <p:nvPr/>
        </p:nvSpPr>
        <p:spPr>
          <a:xfrm>
            <a:off x="4407554" y="3198313"/>
            <a:ext cx="78122" cy="78122"/>
          </a:xfrm>
          <a:prstGeom prst="ellipse">
            <a:avLst/>
          </a:prstGeom>
          <a:solidFill>
            <a:srgbClr val="222222"/>
          </a:solidFill>
          <a:ln w="3175">
            <a:solidFill>
              <a:srgbClr val="222222"/>
            </a:solidFill>
            <a:prstDash val="solid"/>
          </a:ln>
        </p:spPr>
      </p:sp>
      <p:sp>
        <p:nvSpPr>
          <p:cNvPr id="117" name="Shape 112"/>
          <p:cNvSpPr/>
          <p:nvPr/>
        </p:nvSpPr>
        <p:spPr>
          <a:xfrm>
            <a:off x="4407554" y="4673942"/>
            <a:ext cx="78122" cy="78122"/>
          </a:xfrm>
          <a:prstGeom prst="ellipse">
            <a:avLst/>
          </a:prstGeom>
          <a:solidFill>
            <a:srgbClr val="222222"/>
          </a:solidFill>
          <a:ln w="3175">
            <a:solidFill>
              <a:srgbClr val="222222"/>
            </a:solidFill>
            <a:prstDash val="solid"/>
          </a:ln>
        </p:spPr>
      </p:sp>
      <p:sp>
        <p:nvSpPr>
          <p:cNvPr id="118" name="Shape 113"/>
          <p:cNvSpPr/>
          <p:nvPr/>
        </p:nvSpPr>
        <p:spPr>
          <a:xfrm>
            <a:off x="5535976" y="3111511"/>
            <a:ext cx="78122" cy="78122"/>
          </a:xfrm>
          <a:prstGeom prst="ellipse">
            <a:avLst/>
          </a:prstGeom>
          <a:solidFill>
            <a:srgbClr val="222222"/>
          </a:solidFill>
          <a:ln w="3175">
            <a:solidFill>
              <a:srgbClr val="222222"/>
            </a:solidFill>
            <a:prstDash val="solid"/>
          </a:ln>
        </p:spPr>
      </p:sp>
      <p:sp>
        <p:nvSpPr>
          <p:cNvPr id="119" name="Shape 114"/>
          <p:cNvSpPr/>
          <p:nvPr/>
        </p:nvSpPr>
        <p:spPr>
          <a:xfrm>
            <a:off x="5883183" y="4760744"/>
            <a:ext cx="78122" cy="78122"/>
          </a:xfrm>
          <a:prstGeom prst="ellipse">
            <a:avLst/>
          </a:prstGeom>
          <a:solidFill>
            <a:srgbClr val="222222"/>
          </a:solidFill>
          <a:ln w="3175">
            <a:solidFill>
              <a:srgbClr val="222222"/>
            </a:solidFill>
            <a:prstDash val="solid"/>
          </a:ln>
        </p:spPr>
      </p:sp>
      <p:sp>
        <p:nvSpPr>
          <p:cNvPr id="120" name="Shape 115"/>
          <p:cNvSpPr/>
          <p:nvPr/>
        </p:nvSpPr>
        <p:spPr>
          <a:xfrm>
            <a:off x="6751201" y="3198313"/>
            <a:ext cx="78122" cy="78122"/>
          </a:xfrm>
          <a:prstGeom prst="ellipse">
            <a:avLst/>
          </a:prstGeom>
          <a:solidFill>
            <a:srgbClr val="222222"/>
          </a:solidFill>
          <a:ln w="3175">
            <a:solidFill>
              <a:srgbClr val="222222"/>
            </a:solidFill>
            <a:prstDash val="solid"/>
          </a:ln>
        </p:spPr>
      </p:sp>
      <p:sp>
        <p:nvSpPr>
          <p:cNvPr id="121" name="Shape 116"/>
          <p:cNvSpPr/>
          <p:nvPr/>
        </p:nvSpPr>
        <p:spPr>
          <a:xfrm>
            <a:off x="6924804" y="4847546"/>
            <a:ext cx="78122" cy="78122"/>
          </a:xfrm>
          <a:prstGeom prst="ellipse">
            <a:avLst/>
          </a:prstGeom>
          <a:solidFill>
            <a:srgbClr val="222222"/>
          </a:solidFill>
          <a:ln w="3175">
            <a:solidFill>
              <a:srgbClr val="222222"/>
            </a:solidFill>
            <a:prstDash val="solid"/>
          </a:ln>
        </p:spPr>
      </p:sp>
      <p:sp>
        <p:nvSpPr>
          <p:cNvPr id="122" name="Shape 117"/>
          <p:cNvSpPr/>
          <p:nvPr/>
        </p:nvSpPr>
        <p:spPr>
          <a:xfrm>
            <a:off x="7792822" y="3198313"/>
            <a:ext cx="78122" cy="78122"/>
          </a:xfrm>
          <a:prstGeom prst="ellipse">
            <a:avLst/>
          </a:prstGeom>
          <a:solidFill>
            <a:srgbClr val="222222"/>
          </a:solidFill>
          <a:ln w="3175">
            <a:solidFill>
              <a:srgbClr val="222222"/>
            </a:solidFill>
            <a:prstDash val="solid"/>
          </a:ln>
        </p:spPr>
      </p:sp>
      <p:sp>
        <p:nvSpPr>
          <p:cNvPr id="123" name="Shape 118"/>
          <p:cNvSpPr/>
          <p:nvPr/>
        </p:nvSpPr>
        <p:spPr>
          <a:xfrm>
            <a:off x="7792822" y="4760744"/>
            <a:ext cx="78122" cy="78122"/>
          </a:xfrm>
          <a:prstGeom prst="ellipse">
            <a:avLst/>
          </a:prstGeom>
          <a:solidFill>
            <a:srgbClr val="222222"/>
          </a:solidFill>
          <a:ln w="3175">
            <a:solidFill>
              <a:srgbClr val="222222"/>
            </a:solidFill>
            <a:prstDash val="solid"/>
          </a:ln>
        </p:spPr>
      </p:sp>
      <p:sp>
        <p:nvSpPr>
          <p:cNvPr id="124" name="Shape 119"/>
          <p:cNvSpPr/>
          <p:nvPr/>
        </p:nvSpPr>
        <p:spPr>
          <a:xfrm>
            <a:off x="5188769" y="4847546"/>
            <a:ext cx="78122" cy="78122"/>
          </a:xfrm>
          <a:prstGeom prst="ellipse">
            <a:avLst/>
          </a:prstGeom>
          <a:solidFill>
            <a:srgbClr val="222222"/>
          </a:solidFill>
          <a:ln w="3175">
            <a:solidFill>
              <a:srgbClr val="222222"/>
            </a:solidFill>
            <a:prstDash val="solid"/>
          </a:ln>
        </p:spPr>
      </p:sp>
      <p:sp>
        <p:nvSpPr>
          <p:cNvPr id="125" name="Shape 120"/>
          <p:cNvSpPr/>
          <p:nvPr/>
        </p:nvSpPr>
        <p:spPr>
          <a:xfrm>
            <a:off x="7098408" y="3719123"/>
            <a:ext cx="78122" cy="78122"/>
          </a:xfrm>
          <a:prstGeom prst="ellipse">
            <a:avLst/>
          </a:prstGeom>
          <a:solidFill>
            <a:srgbClr val="222222"/>
          </a:solidFill>
          <a:ln w="3175">
            <a:solidFill>
              <a:srgbClr val="222222"/>
            </a:solidFill>
            <a:prstDash val="solid"/>
          </a:ln>
        </p:spPr>
      </p:sp>
      <p:sp>
        <p:nvSpPr>
          <p:cNvPr id="126" name="Shape 121"/>
          <p:cNvSpPr/>
          <p:nvPr/>
        </p:nvSpPr>
        <p:spPr>
          <a:xfrm>
            <a:off x="6664399" y="4413537"/>
            <a:ext cx="78122" cy="78122"/>
          </a:xfrm>
          <a:prstGeom prst="ellipse">
            <a:avLst/>
          </a:prstGeom>
          <a:solidFill>
            <a:srgbClr val="222222"/>
          </a:solidFill>
          <a:ln w="3175">
            <a:solidFill>
              <a:srgbClr val="222222"/>
            </a:solidFill>
            <a:prstDash val="solid"/>
          </a:ln>
        </p:spPr>
      </p:sp>
      <p:sp>
        <p:nvSpPr>
          <p:cNvPr id="127" name="Shape 122"/>
          <p:cNvSpPr/>
          <p:nvPr/>
        </p:nvSpPr>
        <p:spPr>
          <a:xfrm>
            <a:off x="4581157" y="4066330"/>
            <a:ext cx="78122" cy="78122"/>
          </a:xfrm>
          <a:prstGeom prst="ellipse">
            <a:avLst/>
          </a:prstGeom>
          <a:solidFill>
            <a:srgbClr val="222222"/>
          </a:solidFill>
          <a:ln w="3175">
            <a:solidFill>
              <a:srgbClr val="222222"/>
            </a:solidFill>
            <a:prstDash val="solid"/>
          </a:ln>
        </p:spPr>
      </p:sp>
      <p:sp>
        <p:nvSpPr>
          <p:cNvPr id="128" name="Shape 123"/>
          <p:cNvSpPr/>
          <p:nvPr/>
        </p:nvSpPr>
        <p:spPr>
          <a:xfrm>
            <a:off x="6230390" y="3154912"/>
            <a:ext cx="78122" cy="78122"/>
          </a:xfrm>
          <a:prstGeom prst="ellipse">
            <a:avLst/>
          </a:prstGeom>
          <a:solidFill>
            <a:srgbClr val="222222"/>
          </a:solidFill>
          <a:ln w="3175">
            <a:solidFill>
              <a:srgbClr val="222222"/>
            </a:solidFill>
            <a:prstDash val="solid"/>
          </a:ln>
        </p:spPr>
      </p:sp>
      <p:sp>
        <p:nvSpPr>
          <p:cNvPr id="129" name="Shape 124"/>
          <p:cNvSpPr/>
          <p:nvPr/>
        </p:nvSpPr>
        <p:spPr>
          <a:xfrm>
            <a:off x="3708800" y="2108951"/>
            <a:ext cx="2387048" cy="729135"/>
          </a:xfrm>
          <a:prstGeom prst="line">
            <a:avLst/>
          </a:prstGeom>
          <a:noFill/>
          <a:ln w="11430">
            <a:solidFill>
              <a:srgbClr val="444444"/>
            </a:solidFill>
            <a:prstDash val="solid"/>
          </a:ln>
        </p:spPr>
      </p:sp>
      <p:sp>
        <p:nvSpPr>
          <p:cNvPr id="130" name="Shape 125"/>
          <p:cNvSpPr/>
          <p:nvPr/>
        </p:nvSpPr>
        <p:spPr>
          <a:xfrm>
            <a:off x="6063844" y="2806082"/>
            <a:ext cx="64008" cy="64008"/>
          </a:xfrm>
          <a:prstGeom prst="ellipse">
            <a:avLst/>
          </a:prstGeom>
          <a:solidFill>
            <a:srgbClr val="444444"/>
          </a:solidFill>
          <a:ln w="3175">
            <a:solidFill>
              <a:srgbClr val="444444"/>
            </a:solidFill>
            <a:prstDash val="solid"/>
          </a:ln>
        </p:spPr>
      </p:sp>
      <p:sp>
        <p:nvSpPr>
          <p:cNvPr id="131" name="Text 126"/>
          <p:cNvSpPr/>
          <p:nvPr/>
        </p:nvSpPr>
        <p:spPr>
          <a:xfrm>
            <a:off x="1842562" y="1953503"/>
            <a:ext cx="1909638"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cell wall</a:t>
            </a:r>
            <a:endParaRPr lang="en-US" sz="1600" dirty="0"/>
          </a:p>
        </p:txBody>
      </p:sp>
      <p:sp>
        <p:nvSpPr>
          <p:cNvPr id="132" name="Shape 127"/>
          <p:cNvSpPr/>
          <p:nvPr/>
        </p:nvSpPr>
        <p:spPr>
          <a:xfrm>
            <a:off x="3708800" y="3237374"/>
            <a:ext cx="373247" cy="607612"/>
          </a:xfrm>
          <a:prstGeom prst="line">
            <a:avLst/>
          </a:prstGeom>
          <a:noFill/>
          <a:ln w="11430">
            <a:solidFill>
              <a:srgbClr val="444444"/>
            </a:solidFill>
            <a:prstDash val="solid"/>
          </a:ln>
        </p:spPr>
      </p:sp>
      <p:sp>
        <p:nvSpPr>
          <p:cNvPr id="133" name="Shape 128"/>
          <p:cNvSpPr/>
          <p:nvPr/>
        </p:nvSpPr>
        <p:spPr>
          <a:xfrm>
            <a:off x="4050043" y="3812982"/>
            <a:ext cx="64008" cy="64008"/>
          </a:xfrm>
          <a:prstGeom prst="ellipse">
            <a:avLst/>
          </a:prstGeom>
          <a:solidFill>
            <a:srgbClr val="444444"/>
          </a:solidFill>
          <a:ln w="3175">
            <a:solidFill>
              <a:srgbClr val="444444"/>
            </a:solidFill>
            <a:prstDash val="solid"/>
          </a:ln>
        </p:spPr>
      </p:sp>
      <p:sp>
        <p:nvSpPr>
          <p:cNvPr id="134" name="Text 129"/>
          <p:cNvSpPr/>
          <p:nvPr/>
        </p:nvSpPr>
        <p:spPr>
          <a:xfrm>
            <a:off x="1842562" y="3081926"/>
            <a:ext cx="1909638"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cell membrane</a:t>
            </a:r>
            <a:endParaRPr lang="en-US" sz="1600" dirty="0"/>
          </a:p>
        </p:txBody>
      </p:sp>
      <p:sp>
        <p:nvSpPr>
          <p:cNvPr id="135" name="Shape 130"/>
          <p:cNvSpPr/>
          <p:nvPr/>
        </p:nvSpPr>
        <p:spPr>
          <a:xfrm flipV="1">
            <a:off x="3708800" y="3931787"/>
            <a:ext cx="1085022" cy="520810"/>
          </a:xfrm>
          <a:prstGeom prst="line">
            <a:avLst/>
          </a:prstGeom>
          <a:noFill/>
          <a:ln w="11430">
            <a:solidFill>
              <a:srgbClr val="444444"/>
            </a:solidFill>
            <a:prstDash val="solid"/>
          </a:ln>
        </p:spPr>
      </p:sp>
      <p:sp>
        <p:nvSpPr>
          <p:cNvPr id="136" name="Shape 131"/>
          <p:cNvSpPr/>
          <p:nvPr/>
        </p:nvSpPr>
        <p:spPr>
          <a:xfrm>
            <a:off x="4761818" y="3899783"/>
            <a:ext cx="64008" cy="64008"/>
          </a:xfrm>
          <a:prstGeom prst="ellipse">
            <a:avLst/>
          </a:prstGeom>
          <a:solidFill>
            <a:srgbClr val="444444"/>
          </a:solidFill>
          <a:ln w="3175">
            <a:solidFill>
              <a:srgbClr val="444444"/>
            </a:solidFill>
            <a:prstDash val="solid"/>
          </a:ln>
        </p:spPr>
      </p:sp>
      <p:sp>
        <p:nvSpPr>
          <p:cNvPr id="137" name="Text 132"/>
          <p:cNvSpPr/>
          <p:nvPr/>
        </p:nvSpPr>
        <p:spPr>
          <a:xfrm>
            <a:off x="1842562" y="4297150"/>
            <a:ext cx="1909638"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DNA (free in cytoplasm)</a:t>
            </a:r>
            <a:endParaRPr lang="en-US" sz="1600" dirty="0"/>
          </a:p>
        </p:txBody>
      </p:sp>
      <p:sp>
        <p:nvSpPr>
          <p:cNvPr id="138" name="Shape 133"/>
          <p:cNvSpPr/>
          <p:nvPr/>
        </p:nvSpPr>
        <p:spPr>
          <a:xfrm flipV="1">
            <a:off x="3708800" y="4756404"/>
            <a:ext cx="2387048" cy="824617"/>
          </a:xfrm>
          <a:prstGeom prst="line">
            <a:avLst/>
          </a:prstGeom>
          <a:noFill/>
          <a:ln w="11430">
            <a:solidFill>
              <a:srgbClr val="444444"/>
            </a:solidFill>
            <a:prstDash val="solid"/>
          </a:ln>
        </p:spPr>
      </p:sp>
      <p:sp>
        <p:nvSpPr>
          <p:cNvPr id="139" name="Shape 134"/>
          <p:cNvSpPr/>
          <p:nvPr/>
        </p:nvSpPr>
        <p:spPr>
          <a:xfrm>
            <a:off x="6063844" y="4724400"/>
            <a:ext cx="64008" cy="64008"/>
          </a:xfrm>
          <a:prstGeom prst="ellipse">
            <a:avLst/>
          </a:prstGeom>
          <a:solidFill>
            <a:srgbClr val="444444"/>
          </a:solidFill>
          <a:ln w="3175">
            <a:solidFill>
              <a:srgbClr val="444444"/>
            </a:solidFill>
            <a:prstDash val="solid"/>
          </a:ln>
        </p:spPr>
      </p:sp>
      <p:sp>
        <p:nvSpPr>
          <p:cNvPr id="140" name="Text 135"/>
          <p:cNvSpPr/>
          <p:nvPr/>
        </p:nvSpPr>
        <p:spPr>
          <a:xfrm>
            <a:off x="1842562" y="5425573"/>
            <a:ext cx="1909638" cy="310896"/>
          </a:xfrm>
          <a:prstGeom prst="rect">
            <a:avLst/>
          </a:prstGeom>
          <a:noFill/>
          <a:ln/>
        </p:spPr>
        <p:txBody>
          <a:bodyPr wrap="square" lIns="0" tIns="0" rIns="0" bIns="0" rtlCol="0" anchor="ctr"/>
          <a:lstStyle/>
          <a:p>
            <a:pPr algn="r" indent="0" marL="0">
              <a:buNone/>
            </a:pPr>
            <a:r>
              <a:rPr lang="en-US" sz="1600" dirty="0">
                <a:solidFill>
                  <a:srgbClr val="1A1A1A"/>
                </a:solidFill>
                <a:latin typeface="Calibri" pitchFamily="34" charset="0"/>
                <a:ea typeface="Calibri" pitchFamily="34" charset="-122"/>
                <a:cs typeface="Calibri" pitchFamily="34" charset="-120"/>
              </a:rPr>
              <a:t>cytoplasm</a:t>
            </a:r>
            <a:endParaRPr lang="en-US" sz="1600" dirty="0"/>
          </a:p>
        </p:txBody>
      </p:sp>
      <p:sp>
        <p:nvSpPr>
          <p:cNvPr id="141" name="Shape 136"/>
          <p:cNvSpPr/>
          <p:nvPr/>
        </p:nvSpPr>
        <p:spPr>
          <a:xfrm flipV="1">
            <a:off x="6790262" y="2282554"/>
            <a:ext cx="1692634" cy="954819"/>
          </a:xfrm>
          <a:prstGeom prst="line">
            <a:avLst/>
          </a:prstGeom>
          <a:noFill/>
          <a:ln w="11430">
            <a:solidFill>
              <a:srgbClr val="444444"/>
            </a:solidFill>
            <a:prstDash val="solid"/>
          </a:ln>
        </p:spPr>
      </p:sp>
      <p:sp>
        <p:nvSpPr>
          <p:cNvPr id="142" name="Shape 137"/>
          <p:cNvSpPr/>
          <p:nvPr/>
        </p:nvSpPr>
        <p:spPr>
          <a:xfrm>
            <a:off x="6758258" y="3205370"/>
            <a:ext cx="64008" cy="64008"/>
          </a:xfrm>
          <a:prstGeom prst="ellipse">
            <a:avLst/>
          </a:prstGeom>
          <a:solidFill>
            <a:srgbClr val="444444"/>
          </a:solidFill>
          <a:ln w="3175">
            <a:solidFill>
              <a:srgbClr val="444444"/>
            </a:solidFill>
            <a:prstDash val="solid"/>
          </a:ln>
        </p:spPr>
      </p:sp>
      <p:sp>
        <p:nvSpPr>
          <p:cNvPr id="143" name="Text 138"/>
          <p:cNvSpPr/>
          <p:nvPr/>
        </p:nvSpPr>
        <p:spPr>
          <a:xfrm>
            <a:off x="8439495" y="2127106"/>
            <a:ext cx="1909638" cy="310896"/>
          </a:xfrm>
          <a:prstGeom prst="rect">
            <a:avLst/>
          </a:prstGeom>
          <a:noFill/>
          <a:ln/>
        </p:spPr>
        <p:txBody>
          <a:bodyPr wrap="square" lIns="0" tIns="0" rIns="0" bIns="0" rtlCol="0" anchor="ctr"/>
          <a:lstStyle/>
          <a:p>
            <a:pPr algn="l" indent="0" marL="0">
              <a:buNone/>
            </a:pPr>
            <a:r>
              <a:rPr lang="en-US" sz="1600" dirty="0">
                <a:solidFill>
                  <a:srgbClr val="1A1A1A"/>
                </a:solidFill>
                <a:latin typeface="Calibri" pitchFamily="34" charset="0"/>
                <a:ea typeface="Calibri" pitchFamily="34" charset="-122"/>
                <a:cs typeface="Calibri" pitchFamily="34" charset="-120"/>
              </a:rPr>
              <a:t>ribosomes</a:t>
            </a:r>
            <a:endParaRPr lang="en-US" sz="1600" dirty="0"/>
          </a:p>
        </p:txBody>
      </p:sp>
      <p:sp>
        <p:nvSpPr>
          <p:cNvPr id="144" name="Text 139"/>
          <p:cNvSpPr/>
          <p:nvPr/>
        </p:nvSpPr>
        <p:spPr>
          <a:xfrm>
            <a:off x="502920" y="5791200"/>
            <a:ext cx="11185855" cy="316992"/>
          </a:xfrm>
          <a:prstGeom prst="rect">
            <a:avLst/>
          </a:prstGeom>
          <a:noFill/>
          <a:ln/>
        </p:spPr>
        <p:txBody>
          <a:bodyPr wrap="square" lIns="0" tIns="0" rIns="0" bIns="0" rtlCol="0" anchor="t"/>
          <a:lstStyle/>
          <a:p>
            <a:pPr algn="ctr" indent="0" marL="0">
              <a:buNone/>
            </a:pPr>
            <a:r>
              <a:rPr lang="en-US" sz="1600" i="1" dirty="0">
                <a:solidFill>
                  <a:srgbClr val="555555"/>
                </a:solidFill>
                <a:latin typeface="Calibri" pitchFamily="34" charset="0"/>
                <a:ea typeface="Calibri" pitchFamily="34" charset="-122"/>
                <a:cs typeface="Calibri" pitchFamily="34" charset="-120"/>
              </a:rPr>
              <a:t>This is a drawing, not a photograph.</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7F9D3"/>
          </a:solidFill>
          <a:ln w="31750">
            <a:solidFill>
              <a:srgbClr val="D7DF23"/>
            </a:solidFill>
            <a:prstDash val="solid"/>
          </a:ln>
        </p:spPr>
      </p:sp>
      <p:pic>
        <p:nvPicPr>
          <p:cNvPr id="12"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Cell theory: three scientists</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Read. Then fill in the table.</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761744"/>
          <a:ext cx="11185855" cy="914400"/>
        </p:xfrm>
        <a:graphic>
          <a:graphicData uri="http://schemas.openxmlformats.org/drawingml/2006/table">
            <a:tbl>
              <a:tblPr/>
              <a:tblGrid>
                <a:gridCol w="2024773"/>
                <a:gridCol w="2903526"/>
                <a:gridCol w="2351042"/>
                <a:gridCol w="3906515"/>
              </a:tblGrid>
              <a:tr h="414528">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Scientist</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Country and period</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Contribution</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How it connects to Amina's healing</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52550D"/>
                    </a:solidFill>
                  </a:tcPr>
                </a:tc>
              </a:tr>
              <a:tr h="640080">
                <a:tc>
                  <a:txBody>
                    <a:bodyPr/>
                    <a:lstStyle/>
                    <a:p>
                      <a:pPr indent="0" marL="0">
                        <a:buNone/>
                      </a:pPr>
                      <a:r>
                        <a:rPr lang="en-US" sz="2000" b="1" dirty="0">
                          <a:solidFill>
                            <a:srgbClr val="1A1A1A"/>
                          </a:solidFill>
                          <a:latin typeface="Calibri" pitchFamily="34" charset="0"/>
                          <a:ea typeface="Calibri" pitchFamily="34" charset="-122"/>
                          <a:cs typeface="Calibri" pitchFamily="34" charset="-120"/>
                        </a:rPr>
                        <a:t>Schleiden</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000" b="1" dirty="0">
                          <a:solidFill>
                            <a:srgbClr val="1A1A1A"/>
                          </a:solidFill>
                          <a:latin typeface="Calibri" pitchFamily="34" charset="0"/>
                          <a:ea typeface="Calibri" pitchFamily="34" charset="-122"/>
                          <a:cs typeface="Calibri" pitchFamily="34" charset="-120"/>
                        </a:rPr>
                        <a:t>Schwann</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r h="640080">
                <a:tc>
                  <a:txBody>
                    <a:bodyPr/>
                    <a:lstStyle/>
                    <a:p>
                      <a:pPr indent="0" marL="0">
                        <a:buNone/>
                      </a:pPr>
                      <a:r>
                        <a:rPr lang="en-US" sz="2000" b="1" dirty="0">
                          <a:solidFill>
                            <a:srgbClr val="1A1A1A"/>
                          </a:solidFill>
                          <a:latin typeface="Calibri" pitchFamily="34" charset="0"/>
                          <a:ea typeface="Calibri" pitchFamily="34" charset="-122"/>
                          <a:cs typeface="Calibri" pitchFamily="34" charset="-120"/>
                        </a:rPr>
                        <a:t>Virchow</a:t>
                      </a: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8F9D7"/>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c>
                  <a:txBody>
                    <a:bodyPr/>
                    <a:lstStyle/>
                    <a:p>
                      <a:pPr indent="0" marL="0">
                        <a:buNone/>
                      </a:pPr>
                      <a:endParaRPr lang="en-US" sz="2000" dirty="0">
                        <a:latin typeface="Calibri" charset="0"/>
                        <a:ea typeface="Calibri" charset="0"/>
                        <a:cs typeface="Calibri" charset="0"/>
                      </a:endParaRPr>
                    </a:p>
                  </a:txBody>
                  <a:tcPr marL="91440" marR="91440" marT="45720" marB="45720" anchor="ctr">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FFFFFF"/>
                    </a:solidFill>
                  </a:tcPr>
                </a:tc>
              </a:tr>
            </a:tbl>
          </a:graphicData>
        </a:graphic>
      </p:graphicFrame>
      <p:sp>
        <p:nvSpPr>
          <p:cNvPr id="16" name="Shape 10"/>
          <p:cNvSpPr/>
          <p:nvPr/>
        </p:nvSpPr>
        <p:spPr>
          <a:xfrm>
            <a:off x="502920" y="4279392"/>
            <a:ext cx="11185855" cy="789432"/>
          </a:xfrm>
          <a:prstGeom prst="roundRect">
            <a:avLst>
              <a:gd name="adj" fmla="val 16216"/>
            </a:avLst>
          </a:prstGeom>
          <a:solidFill>
            <a:srgbClr val="F7F9D3"/>
          </a:solidFill>
          <a:ln w="15875">
            <a:solidFill>
              <a:srgbClr val="E5EA70"/>
            </a:solidFill>
            <a:prstDash val="solid"/>
          </a:ln>
        </p:spPr>
      </p:sp>
      <p:sp>
        <p:nvSpPr>
          <p:cNvPr id="17" name="Shape 11"/>
          <p:cNvSpPr/>
          <p:nvPr/>
        </p:nvSpPr>
        <p:spPr>
          <a:xfrm>
            <a:off x="521208" y="4443984"/>
            <a:ext cx="91440" cy="460248"/>
          </a:xfrm>
          <a:prstGeom prst="rect">
            <a:avLst/>
          </a:prstGeom>
          <a:solidFill>
            <a:srgbClr val="D7DF23"/>
          </a:solidFill>
          <a:ln w="12700">
            <a:solidFill>
              <a:srgbClr val="D7DF23"/>
            </a:solidFill>
            <a:prstDash val="solid"/>
          </a:ln>
        </p:spPr>
      </p:sp>
      <p:sp>
        <p:nvSpPr>
          <p:cNvPr id="18" name="Text 12"/>
          <p:cNvSpPr/>
          <p:nvPr/>
        </p:nvSpPr>
        <p:spPr>
          <a:xfrm>
            <a:off x="868680" y="4416552"/>
            <a:ext cx="10545775" cy="515112"/>
          </a:xfrm>
          <a:prstGeom prst="rect">
            <a:avLst/>
          </a:prstGeom>
          <a:noFill/>
          <a:ln/>
        </p:spPr>
        <p:txBody>
          <a:bodyPr wrap="square" lIns="0" tIns="0" rIns="0" bIns="0" rtlCol="0" anchor="ctr"/>
          <a:lstStyle/>
          <a:p>
            <a:pPr indent="0" marL="0">
              <a:spcAft>
                <a:spcPts val="600"/>
              </a:spcAft>
              <a:buNone/>
            </a:pPr>
            <a:r>
              <a:rPr lang="en-US" sz="2900" b="1" dirty="0">
                <a:solidFill>
                  <a:srgbClr val="1A1A1A"/>
                </a:solidFill>
                <a:latin typeface="Calibri" pitchFamily="34" charset="0"/>
                <a:ea typeface="Calibri" pitchFamily="34" charset="-122"/>
                <a:cs typeface="Calibri" pitchFamily="34" charset="-120"/>
              </a:rPr>
              <a:t>Write one sentence for each scientist about Amina's finger.</a:t>
            </a:r>
            <a:endParaRPr lang="en-US" sz="2900" dirty="0"/>
          </a:p>
        </p:txBody>
      </p:sp>
      <p:pic>
        <p:nvPicPr>
          <p:cNvPr id="19" name="Image 3" descr="The Cell Theory Practice (exercise) - opens an ARES resource">
            <a:hlinkClick r:id="rId5" tooltip="The Cell Theory Practice"/>
          </p:cNvPr>
          <p:cNvPicPr>
            <a:picLocks noChangeAspect="1"/>
          </p:cNvPicPr>
          <p:nvPr/>
        </p:nvPicPr>
        <p:blipFill>
          <a:blip r:embed="rId4"/>
          <a:stretch>
            <a:fillRect/>
          </a:stretch>
        </p:blipFill>
        <p:spPr>
          <a:xfrm>
            <a:off x="502920" y="5297424"/>
            <a:ext cx="457200" cy="457200"/>
          </a:xfrm>
          <a:prstGeom prst="rect">
            <a:avLst/>
          </a:prstGeom>
        </p:spPr>
      </p:pic>
      <p:sp>
        <p:nvSpPr>
          <p:cNvPr id="20" name="Text 13">
            <a:hlinkClick r:id="rId6" tooltip="The Cell Theory Practice"/>
          </p:cNvPr>
          <p:cNvSpPr/>
          <p:nvPr/>
        </p:nvSpPr>
        <p:spPr>
          <a:xfrm>
            <a:off x="1033272" y="5297424"/>
            <a:ext cx="2071878" cy="457200"/>
          </a:xfrm>
          <a:prstGeom prst="rect">
            <a:avLst/>
          </a:prstGeom>
          <a:noFill/>
          <a:ln/>
        </p:spPr>
        <p:txBody>
          <a:bodyPr wrap="square" lIns="0" tIns="0" rIns="0" bIns="0" rtlCol="0" anchor="ctr"/>
          <a:lstStyle/>
          <a:p>
            <a:pPr indent="0" marL="0">
              <a:buNone/>
            </a:pPr>
            <a:r>
              <a:rPr lang="en-US" sz="1600" u="sng" dirty="0">
                <a:solidFill>
                  <a:srgbClr val="1F4E79"/>
                </a:solidFill>
                <a:latin typeface="Calibri" pitchFamily="34" charset="0"/>
                <a:ea typeface="Calibri" pitchFamily="34" charset="-122"/>
                <a:cs typeface="Calibri" pitchFamily="34" charset="-120"/>
                <a:hlinkClick r:id="rId6" invalidUrl="" action="" tgtFrame="" tooltip="The Cell Theory Practice" history="1" highlightClick="0" endSnd="0">
                  <a:extLst>
                    <a:ext uri="{A12FA001-AC4F-418D-AE19-62706E023703}">
                      <ahyp:hlinkClr xmlns:ahyp="http://schemas.microsoft.com/office/drawing/2018/hyperlinkcolor" val="tx"/>
                    </a:ext>
                  </a:extLst>
                </a:hlinkClick>
              </a:rPr>
              <a:t>The Cell Theory Practice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BFCE9"/>
          </a:solidFill>
          <a:ln w="12700">
            <a:solidFill>
              <a:srgbClr val="FBFCE9"/>
            </a:solidFill>
            <a:prstDash val="solid"/>
          </a:ln>
        </p:spPr>
      </p:sp>
      <p:sp>
        <p:nvSpPr>
          <p:cNvPr id="3" name="Shape 1"/>
          <p:cNvSpPr/>
          <p:nvPr/>
        </p:nvSpPr>
        <p:spPr>
          <a:xfrm>
            <a:off x="10637215" y="-1005840"/>
            <a:ext cx="2377440" cy="2377440"/>
          </a:xfrm>
          <a:prstGeom prst="ellipse">
            <a:avLst/>
          </a:prstGeom>
          <a:solidFill>
            <a:srgbClr val="FCFDF0"/>
          </a:solidFill>
          <a:ln w="12700">
            <a:solidFill>
              <a:srgbClr val="FCFDF0"/>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037590" cy="292608"/>
          </a:xfrm>
          <a:prstGeom prst="roundRect">
            <a:avLst>
              <a:gd name="adj" fmla="val 50000"/>
            </a:avLst>
          </a:prstGeom>
          <a:solidFill>
            <a:srgbClr val="D7DF23"/>
          </a:solidFill>
          <a:ln w="12700">
            <a:solidFill>
              <a:srgbClr val="D7DF23"/>
            </a:solidFill>
            <a:prstDash val="solid"/>
          </a:ln>
        </p:spPr>
      </p:sp>
      <p:sp>
        <p:nvSpPr>
          <p:cNvPr id="8" name="Text 4"/>
          <p:cNvSpPr/>
          <p:nvPr/>
        </p:nvSpPr>
        <p:spPr>
          <a:xfrm>
            <a:off x="502920" y="292608"/>
            <a:ext cx="1037590"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OBSERVE</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7F9D3"/>
          </a:solidFill>
          <a:ln w="31750">
            <a:solidFill>
              <a:srgbClr val="D7DF23"/>
            </a:solidFill>
            <a:prstDash val="solid"/>
          </a:ln>
        </p:spPr>
      </p:sp>
      <p:pic>
        <p:nvPicPr>
          <p:cNvPr id="12" name="Image 2" descr="/home/markk/ares/cbe-presentations/generators/presentations/assets/emoji/magnifier.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Sort: prokaryote or eukaryote?</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Work in your group. Be ready to say why.</a:t>
            </a:r>
            <a:endParaRPr lang="en-US" sz="2000" dirty="0"/>
          </a:p>
        </p:txBody>
      </p:sp>
      <p:sp>
        <p:nvSpPr>
          <p:cNvPr id="15" name="Shape 10"/>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6"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7" name="Text 11"/>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6:00</a:t>
            </a:r>
            <a:endParaRPr lang="en-US" sz="3000" dirty="0"/>
          </a:p>
        </p:txBody>
      </p:sp>
      <p:sp>
        <p:nvSpPr>
          <p:cNvPr id="18" name="Text 12"/>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Card sort</a:t>
            </a:r>
            <a:endParaRPr lang="en-US" sz="1200" dirty="0"/>
          </a:p>
        </p:txBody>
      </p:sp>
      <p:sp>
        <p:nvSpPr>
          <p:cNvPr id="19" name="Shape 13"/>
          <p:cNvSpPr/>
          <p:nvPr/>
        </p:nvSpPr>
        <p:spPr>
          <a:xfrm>
            <a:off x="502920" y="1761744"/>
            <a:ext cx="2122094" cy="548640"/>
          </a:xfrm>
          <a:prstGeom prst="roundRect">
            <a:avLst>
              <a:gd name="adj" fmla="val 16667"/>
            </a:avLst>
          </a:prstGeom>
          <a:solidFill>
            <a:srgbClr val="FFFFFF"/>
          </a:solidFill>
          <a:ln w="19050">
            <a:solidFill>
              <a:srgbClr val="777777"/>
            </a:solidFill>
            <a:prstDash val="dash"/>
          </a:ln>
        </p:spPr>
      </p:sp>
      <p:sp>
        <p:nvSpPr>
          <p:cNvPr id="20" name="Text 14"/>
          <p:cNvSpPr/>
          <p:nvPr/>
        </p:nvSpPr>
        <p:spPr>
          <a:xfrm>
            <a:off x="640080" y="1761744"/>
            <a:ext cx="1847774" cy="54864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a nucleus</a:t>
            </a:r>
            <a:endParaRPr lang="en-US" sz="1800" dirty="0"/>
          </a:p>
        </p:txBody>
      </p:sp>
      <p:sp>
        <p:nvSpPr>
          <p:cNvPr id="21" name="Shape 15"/>
          <p:cNvSpPr/>
          <p:nvPr/>
        </p:nvSpPr>
        <p:spPr>
          <a:xfrm>
            <a:off x="2762174" y="1761744"/>
            <a:ext cx="2122094" cy="548640"/>
          </a:xfrm>
          <a:prstGeom prst="roundRect">
            <a:avLst>
              <a:gd name="adj" fmla="val 16667"/>
            </a:avLst>
          </a:prstGeom>
          <a:solidFill>
            <a:srgbClr val="FFFFFF"/>
          </a:solidFill>
          <a:ln w="19050">
            <a:solidFill>
              <a:srgbClr val="777777"/>
            </a:solidFill>
            <a:prstDash val="dash"/>
          </a:ln>
        </p:spPr>
      </p:sp>
      <p:sp>
        <p:nvSpPr>
          <p:cNvPr id="22" name="Text 16"/>
          <p:cNvSpPr/>
          <p:nvPr/>
        </p:nvSpPr>
        <p:spPr>
          <a:xfrm>
            <a:off x="2899334" y="1761744"/>
            <a:ext cx="1847774" cy="54864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DNA floats freely</a:t>
            </a:r>
            <a:endParaRPr lang="en-US" sz="1800" dirty="0"/>
          </a:p>
        </p:txBody>
      </p:sp>
      <p:sp>
        <p:nvSpPr>
          <p:cNvPr id="23" name="Shape 17"/>
          <p:cNvSpPr/>
          <p:nvPr/>
        </p:nvSpPr>
        <p:spPr>
          <a:xfrm>
            <a:off x="5021428" y="1761744"/>
            <a:ext cx="2122094" cy="548640"/>
          </a:xfrm>
          <a:prstGeom prst="roundRect">
            <a:avLst>
              <a:gd name="adj" fmla="val 16667"/>
            </a:avLst>
          </a:prstGeom>
          <a:solidFill>
            <a:srgbClr val="FFFFFF"/>
          </a:solidFill>
          <a:ln w="19050">
            <a:solidFill>
              <a:srgbClr val="777777"/>
            </a:solidFill>
            <a:prstDash val="dash"/>
          </a:ln>
        </p:spPr>
      </p:sp>
      <p:sp>
        <p:nvSpPr>
          <p:cNvPr id="24" name="Text 18"/>
          <p:cNvSpPr/>
          <p:nvPr/>
        </p:nvSpPr>
        <p:spPr>
          <a:xfrm>
            <a:off x="5158588" y="1761744"/>
            <a:ext cx="1847774" cy="54864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mitochondria</a:t>
            </a:r>
            <a:endParaRPr lang="en-US" sz="1800" dirty="0"/>
          </a:p>
        </p:txBody>
      </p:sp>
      <p:sp>
        <p:nvSpPr>
          <p:cNvPr id="25" name="Shape 19"/>
          <p:cNvSpPr/>
          <p:nvPr/>
        </p:nvSpPr>
        <p:spPr>
          <a:xfrm>
            <a:off x="7280681" y="1761744"/>
            <a:ext cx="2122094" cy="548640"/>
          </a:xfrm>
          <a:prstGeom prst="roundRect">
            <a:avLst>
              <a:gd name="adj" fmla="val 16667"/>
            </a:avLst>
          </a:prstGeom>
          <a:solidFill>
            <a:srgbClr val="FFFFFF"/>
          </a:solidFill>
          <a:ln w="19050">
            <a:solidFill>
              <a:srgbClr val="777777"/>
            </a:solidFill>
            <a:prstDash val="dash"/>
          </a:ln>
        </p:spPr>
      </p:sp>
      <p:sp>
        <p:nvSpPr>
          <p:cNvPr id="26" name="Text 20"/>
          <p:cNvSpPr/>
          <p:nvPr/>
        </p:nvSpPr>
        <p:spPr>
          <a:xfrm>
            <a:off x="7417841" y="1761744"/>
            <a:ext cx="1847774" cy="54864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Found in bacteria</a:t>
            </a:r>
            <a:endParaRPr lang="en-US" sz="1800" dirty="0"/>
          </a:p>
        </p:txBody>
      </p:sp>
      <p:sp>
        <p:nvSpPr>
          <p:cNvPr id="27" name="Shape 21"/>
          <p:cNvSpPr/>
          <p:nvPr/>
        </p:nvSpPr>
        <p:spPr>
          <a:xfrm>
            <a:off x="502920" y="2447544"/>
            <a:ext cx="2122094" cy="1051560"/>
          </a:xfrm>
          <a:prstGeom prst="roundRect">
            <a:avLst>
              <a:gd name="adj" fmla="val 8696"/>
            </a:avLst>
          </a:prstGeom>
          <a:solidFill>
            <a:srgbClr val="FFFFFF"/>
          </a:solidFill>
          <a:ln w="19050">
            <a:solidFill>
              <a:srgbClr val="777777"/>
            </a:solidFill>
            <a:prstDash val="dash"/>
          </a:ln>
        </p:spPr>
      </p:sp>
      <p:sp>
        <p:nvSpPr>
          <p:cNvPr id="28" name="Text 22"/>
          <p:cNvSpPr/>
          <p:nvPr/>
        </p:nvSpPr>
        <p:spPr>
          <a:xfrm>
            <a:off x="640080" y="244754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no membrane-bound nucleus</a:t>
            </a:r>
            <a:endParaRPr lang="en-US" sz="1800" dirty="0"/>
          </a:p>
        </p:txBody>
      </p:sp>
      <p:sp>
        <p:nvSpPr>
          <p:cNvPr id="29" name="Shape 23"/>
          <p:cNvSpPr/>
          <p:nvPr/>
        </p:nvSpPr>
        <p:spPr>
          <a:xfrm>
            <a:off x="2762174" y="2447544"/>
            <a:ext cx="2122094" cy="1051560"/>
          </a:xfrm>
          <a:prstGeom prst="roundRect">
            <a:avLst>
              <a:gd name="adj" fmla="val 8696"/>
            </a:avLst>
          </a:prstGeom>
          <a:solidFill>
            <a:srgbClr val="FFFFFF"/>
          </a:solidFill>
          <a:ln w="19050">
            <a:solidFill>
              <a:srgbClr val="777777"/>
            </a:solidFill>
            <a:prstDash val="dash"/>
          </a:ln>
        </p:spPr>
      </p:sp>
      <p:sp>
        <p:nvSpPr>
          <p:cNvPr id="30" name="Text 24"/>
          <p:cNvSpPr/>
          <p:nvPr/>
        </p:nvSpPr>
        <p:spPr>
          <a:xfrm>
            <a:off x="2899334" y="244754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ribosomes</a:t>
            </a:r>
            <a:endParaRPr lang="en-US" sz="1800" dirty="0"/>
          </a:p>
        </p:txBody>
      </p:sp>
      <p:sp>
        <p:nvSpPr>
          <p:cNvPr id="31" name="Shape 25"/>
          <p:cNvSpPr/>
          <p:nvPr/>
        </p:nvSpPr>
        <p:spPr>
          <a:xfrm>
            <a:off x="5021428" y="2447544"/>
            <a:ext cx="2122094" cy="1051560"/>
          </a:xfrm>
          <a:prstGeom prst="roundRect">
            <a:avLst>
              <a:gd name="adj" fmla="val 8696"/>
            </a:avLst>
          </a:prstGeom>
          <a:solidFill>
            <a:srgbClr val="FFFFFF"/>
          </a:solidFill>
          <a:ln w="19050">
            <a:solidFill>
              <a:srgbClr val="777777"/>
            </a:solidFill>
            <a:prstDash val="dash"/>
          </a:ln>
        </p:spPr>
      </p:sp>
      <p:sp>
        <p:nvSpPr>
          <p:cNvPr id="32" name="Text 26"/>
          <p:cNvSpPr/>
          <p:nvPr/>
        </p:nvSpPr>
        <p:spPr>
          <a:xfrm>
            <a:off x="5158588" y="244754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DNA is inside a nucleus</a:t>
            </a:r>
            <a:endParaRPr lang="en-US" sz="1800" dirty="0"/>
          </a:p>
        </p:txBody>
      </p:sp>
      <p:sp>
        <p:nvSpPr>
          <p:cNvPr id="33" name="Shape 27"/>
          <p:cNvSpPr/>
          <p:nvPr/>
        </p:nvSpPr>
        <p:spPr>
          <a:xfrm>
            <a:off x="7280681" y="2447544"/>
            <a:ext cx="2122094" cy="1051560"/>
          </a:xfrm>
          <a:prstGeom prst="roundRect">
            <a:avLst>
              <a:gd name="adj" fmla="val 8696"/>
            </a:avLst>
          </a:prstGeom>
          <a:solidFill>
            <a:srgbClr val="FFFFFF"/>
          </a:solidFill>
          <a:ln w="19050">
            <a:solidFill>
              <a:srgbClr val="777777"/>
            </a:solidFill>
            <a:prstDash val="dash"/>
          </a:ln>
        </p:spPr>
      </p:sp>
      <p:sp>
        <p:nvSpPr>
          <p:cNvPr id="34" name="Text 28"/>
          <p:cNvSpPr/>
          <p:nvPr/>
        </p:nvSpPr>
        <p:spPr>
          <a:xfrm>
            <a:off x="7417841" y="244754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an endoplasmic reticulum</a:t>
            </a:r>
            <a:endParaRPr lang="en-US" sz="1800" dirty="0"/>
          </a:p>
        </p:txBody>
      </p:sp>
      <p:sp>
        <p:nvSpPr>
          <p:cNvPr id="35" name="Shape 29"/>
          <p:cNvSpPr/>
          <p:nvPr/>
        </p:nvSpPr>
        <p:spPr>
          <a:xfrm>
            <a:off x="502920" y="3636264"/>
            <a:ext cx="2122094" cy="1051560"/>
          </a:xfrm>
          <a:prstGeom prst="roundRect">
            <a:avLst>
              <a:gd name="adj" fmla="val 8696"/>
            </a:avLst>
          </a:prstGeom>
          <a:solidFill>
            <a:srgbClr val="FFFFFF"/>
          </a:solidFill>
          <a:ln w="19050">
            <a:solidFill>
              <a:srgbClr val="777777"/>
            </a:solidFill>
            <a:prstDash val="dash"/>
          </a:ln>
        </p:spPr>
      </p:sp>
      <p:sp>
        <p:nvSpPr>
          <p:cNvPr id="36" name="Text 30"/>
          <p:cNvSpPr/>
          <p:nvPr/>
        </p:nvSpPr>
        <p:spPr>
          <a:xfrm>
            <a:off x="640080" y="363626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Found in animal cells</a:t>
            </a:r>
            <a:endParaRPr lang="en-US" sz="1800" dirty="0"/>
          </a:p>
        </p:txBody>
      </p:sp>
      <p:sp>
        <p:nvSpPr>
          <p:cNvPr id="37" name="Shape 31"/>
          <p:cNvSpPr/>
          <p:nvPr/>
        </p:nvSpPr>
        <p:spPr>
          <a:xfrm>
            <a:off x="2762174" y="3636264"/>
            <a:ext cx="2122094" cy="1051560"/>
          </a:xfrm>
          <a:prstGeom prst="roundRect">
            <a:avLst>
              <a:gd name="adj" fmla="val 8696"/>
            </a:avLst>
          </a:prstGeom>
          <a:solidFill>
            <a:srgbClr val="FFFFFF"/>
          </a:solidFill>
          <a:ln w="19050">
            <a:solidFill>
              <a:srgbClr val="777777"/>
            </a:solidFill>
            <a:prstDash val="dash"/>
          </a:ln>
        </p:spPr>
      </p:sp>
      <p:sp>
        <p:nvSpPr>
          <p:cNvPr id="38" name="Text 32"/>
          <p:cNvSpPr/>
          <p:nvPr/>
        </p:nvSpPr>
        <p:spPr>
          <a:xfrm>
            <a:off x="2899334" y="363626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Found in plant cells</a:t>
            </a:r>
            <a:endParaRPr lang="en-US" sz="1800" dirty="0"/>
          </a:p>
        </p:txBody>
      </p:sp>
      <p:sp>
        <p:nvSpPr>
          <p:cNvPr id="39" name="Shape 33"/>
          <p:cNvSpPr/>
          <p:nvPr/>
        </p:nvSpPr>
        <p:spPr>
          <a:xfrm>
            <a:off x="5021428" y="3636264"/>
            <a:ext cx="2122094" cy="1051560"/>
          </a:xfrm>
          <a:prstGeom prst="roundRect">
            <a:avLst>
              <a:gd name="adj" fmla="val 8696"/>
            </a:avLst>
          </a:prstGeom>
          <a:solidFill>
            <a:srgbClr val="FFFFFF"/>
          </a:solidFill>
          <a:ln w="19050">
            <a:solidFill>
              <a:srgbClr val="777777"/>
            </a:solidFill>
            <a:prstDash val="dash"/>
          </a:ln>
        </p:spPr>
      </p:sp>
      <p:sp>
        <p:nvSpPr>
          <p:cNvPr id="40" name="Text 34"/>
          <p:cNvSpPr/>
          <p:nvPr/>
        </p:nvSpPr>
        <p:spPr>
          <a:xfrm>
            <a:off x="5158588" y="363626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no membrane-bound organelles</a:t>
            </a:r>
            <a:endParaRPr lang="en-US" sz="1800" dirty="0"/>
          </a:p>
        </p:txBody>
      </p:sp>
      <p:sp>
        <p:nvSpPr>
          <p:cNvPr id="41" name="Shape 35"/>
          <p:cNvSpPr/>
          <p:nvPr/>
        </p:nvSpPr>
        <p:spPr>
          <a:xfrm>
            <a:off x="7280681" y="3636264"/>
            <a:ext cx="2122094" cy="1051560"/>
          </a:xfrm>
          <a:prstGeom prst="roundRect">
            <a:avLst>
              <a:gd name="adj" fmla="val 8696"/>
            </a:avLst>
          </a:prstGeom>
          <a:solidFill>
            <a:srgbClr val="FFFFFF"/>
          </a:solidFill>
          <a:ln w="19050">
            <a:solidFill>
              <a:srgbClr val="777777"/>
            </a:solidFill>
            <a:prstDash val="dash"/>
          </a:ln>
        </p:spPr>
      </p:sp>
      <p:sp>
        <p:nvSpPr>
          <p:cNvPr id="42" name="Text 36"/>
          <p:cNvSpPr/>
          <p:nvPr/>
        </p:nvSpPr>
        <p:spPr>
          <a:xfrm>
            <a:off x="7417841" y="3636264"/>
            <a:ext cx="1847774" cy="10515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Has membrane-bound organelles</a:t>
            </a:r>
            <a:endParaRPr lang="en-US" sz="1800" dirty="0"/>
          </a:p>
        </p:txBody>
      </p:sp>
      <p:sp>
        <p:nvSpPr>
          <p:cNvPr id="43" name="Shape 37"/>
          <p:cNvSpPr/>
          <p:nvPr/>
        </p:nvSpPr>
        <p:spPr>
          <a:xfrm>
            <a:off x="502920" y="4870704"/>
            <a:ext cx="8899855" cy="1182624"/>
          </a:xfrm>
          <a:prstGeom prst="roundRect">
            <a:avLst>
              <a:gd name="adj" fmla="val 10825"/>
            </a:avLst>
          </a:prstGeom>
          <a:solidFill>
            <a:srgbClr val="F7F9D3"/>
          </a:solidFill>
          <a:ln w="15875">
            <a:solidFill>
              <a:srgbClr val="E5EA70"/>
            </a:solidFill>
            <a:prstDash val="solid"/>
          </a:ln>
        </p:spPr>
      </p:sp>
      <p:sp>
        <p:nvSpPr>
          <p:cNvPr id="44" name="Shape 38"/>
          <p:cNvSpPr/>
          <p:nvPr/>
        </p:nvSpPr>
        <p:spPr>
          <a:xfrm>
            <a:off x="521208" y="5035296"/>
            <a:ext cx="91440" cy="853440"/>
          </a:xfrm>
          <a:prstGeom prst="rect">
            <a:avLst/>
          </a:prstGeom>
          <a:solidFill>
            <a:srgbClr val="D7DF23"/>
          </a:solidFill>
          <a:ln w="12700">
            <a:solidFill>
              <a:srgbClr val="D7DF23"/>
            </a:solidFill>
            <a:prstDash val="solid"/>
          </a:ln>
        </p:spPr>
      </p:sp>
      <p:sp>
        <p:nvSpPr>
          <p:cNvPr id="45" name="Text 39"/>
          <p:cNvSpPr/>
          <p:nvPr/>
        </p:nvSpPr>
        <p:spPr>
          <a:xfrm>
            <a:off x="868680" y="5007864"/>
            <a:ext cx="8259775" cy="908304"/>
          </a:xfrm>
          <a:prstGeom prst="rect">
            <a:avLst/>
          </a:prstGeom>
          <a:noFill/>
          <a:ln/>
        </p:spPr>
        <p:txBody>
          <a:bodyPr wrap="square" lIns="0" tIns="0" rIns="0" bIns="0" rtlCol="0" anchor="ctr"/>
          <a:lstStyle/>
          <a:p>
            <a:pPr indent="0" marL="0">
              <a:spcAft>
                <a:spcPts val="600"/>
              </a:spcAft>
              <a:buNone/>
            </a:pPr>
            <a:r>
              <a:rPr lang="en-US" sz="2500" b="1" dirty="0">
                <a:solidFill>
                  <a:srgbClr val="1A1A1A"/>
                </a:solidFill>
                <a:latin typeface="Calibri" pitchFamily="34" charset="0"/>
                <a:ea typeface="Calibri" pitchFamily="34" charset="-122"/>
                <a:cs typeface="Calibri" pitchFamily="34" charset="-120"/>
              </a:rPr>
              <a:t>Sort into two columns: PROKARYOTE and EUKARYOTE.</a:t>
            </a:r>
            <a:endParaRPr lang="en-US" sz="2500" dirty="0"/>
          </a:p>
          <a:p>
            <a:pPr indent="0" marL="0">
              <a:spcAft>
                <a:spcPts val="600"/>
              </a:spcAft>
              <a:buNone/>
            </a:pPr>
            <a:r>
              <a:rPr lang="en-US" sz="2500" b="1" dirty="0">
                <a:solidFill>
                  <a:srgbClr val="1A1A1A"/>
                </a:solidFill>
                <a:latin typeface="Calibri" pitchFamily="34" charset="0"/>
                <a:ea typeface="Calibri" pitchFamily="34" charset="-122"/>
                <a:cs typeface="Calibri" pitchFamily="34" charset="-120"/>
              </a:rPr>
              <a:t>Photograph or sketch your sorted table.</a:t>
            </a:r>
            <a:endParaRPr lang="en-US" sz="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502920" y="713232"/>
            <a:ext cx="713232" cy="713232"/>
          </a:xfrm>
          <a:prstGeom prst="ellipse">
            <a:avLst/>
          </a:prstGeom>
          <a:solidFill>
            <a:srgbClr val="F5D0E8"/>
          </a:solidFill>
          <a:ln w="31750">
            <a:solidFill>
              <a:srgbClr val="CF128C"/>
            </a:solidFill>
            <a:prstDash val="solid"/>
          </a:ln>
        </p:spPr>
      </p:sp>
      <p:pic>
        <p:nvPicPr>
          <p:cNvPr id="10"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What the card sort showed</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Look at the diagrams with me.</a:t>
            </a:r>
            <a:endParaRPr lang="en-US" sz="2000" dirty="0"/>
          </a:p>
        </p:txBody>
      </p:sp>
      <p:sp>
        <p:nvSpPr>
          <p:cNvPr id="13" name="Shape 8"/>
          <p:cNvSpPr/>
          <p:nvPr/>
        </p:nvSpPr>
        <p:spPr>
          <a:xfrm>
            <a:off x="502920" y="1761744"/>
            <a:ext cx="11185855" cy="1389888"/>
          </a:xfrm>
          <a:prstGeom prst="roundRect">
            <a:avLst>
              <a:gd name="adj" fmla="val 14474"/>
            </a:avLst>
          </a:prstGeom>
          <a:solidFill>
            <a:srgbClr val="F8DEEF"/>
          </a:solidFill>
          <a:ln w="28575">
            <a:solidFill>
              <a:srgbClr val="CF128C"/>
            </a:solidFill>
            <a:prstDash val="solid"/>
          </a:ln>
        </p:spPr>
      </p:sp>
      <p:sp>
        <p:nvSpPr>
          <p:cNvPr id="14" name="Shape 9"/>
          <p:cNvSpPr/>
          <p:nvPr/>
        </p:nvSpPr>
        <p:spPr>
          <a:xfrm>
            <a:off x="704088" y="2100072"/>
            <a:ext cx="713232" cy="713232"/>
          </a:xfrm>
          <a:prstGeom prst="ellipse">
            <a:avLst/>
          </a:prstGeom>
          <a:solidFill>
            <a:srgbClr val="CF128C"/>
          </a:solidFill>
          <a:ln w="12700">
            <a:solidFill>
              <a:srgbClr val="CF128C"/>
            </a:solidFill>
            <a:prstDash val="solid"/>
          </a:ln>
        </p:spPr>
      </p:sp>
      <p:sp>
        <p:nvSpPr>
          <p:cNvPr id="15" name="Text 10"/>
          <p:cNvSpPr/>
          <p:nvPr/>
        </p:nvSpPr>
        <p:spPr>
          <a:xfrm>
            <a:off x="704088" y="2100072"/>
            <a:ext cx="713232" cy="713232"/>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16" name="Text 11"/>
          <p:cNvSpPr/>
          <p:nvPr/>
        </p:nvSpPr>
        <p:spPr>
          <a:xfrm>
            <a:off x="1645920" y="1807464"/>
            <a:ext cx="9832543" cy="1298448"/>
          </a:xfrm>
          <a:prstGeom prst="rect">
            <a:avLst/>
          </a:prstGeom>
          <a:noFill/>
          <a:ln/>
        </p:spPr>
        <p:txBody>
          <a:bodyPr wrap="square" lIns="0" tIns="0" rIns="0" bIns="0" rtlCol="0" anchor="ctr"/>
          <a:lstStyle/>
          <a:p>
            <a:pPr indent="0" marL="0">
              <a:buNone/>
            </a:pPr>
            <a:r>
              <a:rPr lang="en-US" sz="3300" b="1" dirty="0">
                <a:solidFill>
                  <a:srgbClr val="1A1A1A"/>
                </a:solidFill>
                <a:latin typeface="Calibri" pitchFamily="34" charset="0"/>
                <a:ea typeface="Calibri" pitchFamily="34" charset="-122"/>
                <a:cs typeface="Calibri" pitchFamily="34" charset="-120"/>
              </a:rPr>
              <a:t>Where did your group put 'Has ribosomes'? Look at the bacterium. Is it there too?</a:t>
            </a:r>
            <a:endParaRPr lang="en-US" sz="3300" dirty="0"/>
          </a:p>
        </p:txBody>
      </p:sp>
      <p:sp>
        <p:nvSpPr>
          <p:cNvPr id="17" name="Shape 12"/>
          <p:cNvSpPr/>
          <p:nvPr/>
        </p:nvSpPr>
        <p:spPr>
          <a:xfrm>
            <a:off x="502920" y="3334512"/>
            <a:ext cx="3606698" cy="1950720"/>
          </a:xfrm>
          <a:prstGeom prst="roundRect">
            <a:avLst>
              <a:gd name="adj" fmla="val 5625"/>
            </a:avLst>
          </a:prstGeom>
          <a:solidFill>
            <a:srgbClr val="F6D4EA"/>
          </a:solidFill>
          <a:ln w="15875">
            <a:solidFill>
              <a:srgbClr val="E271BA"/>
            </a:solidFill>
            <a:prstDash val="solid"/>
          </a:ln>
        </p:spPr>
      </p:sp>
      <p:sp>
        <p:nvSpPr>
          <p:cNvPr id="18" name="Text 13"/>
          <p:cNvSpPr/>
          <p:nvPr/>
        </p:nvSpPr>
        <p:spPr>
          <a:xfrm>
            <a:off x="685800" y="3499104"/>
            <a:ext cx="3240938" cy="457200"/>
          </a:xfrm>
          <a:prstGeom prst="rect">
            <a:avLst/>
          </a:prstGeom>
          <a:noFill/>
          <a:ln/>
        </p:spPr>
        <p:txBody>
          <a:bodyPr wrap="square" lIns="0" tIns="0" rIns="0" bIns="0" rtlCol="0" anchor="t"/>
          <a:lstStyle/>
          <a:p>
            <a:pPr indent="0" marL="0">
              <a:buNone/>
            </a:pPr>
            <a:r>
              <a:rPr lang="en-US" sz="2600" b="1" dirty="0">
                <a:solidFill>
                  <a:srgbClr val="680946"/>
                </a:solidFill>
                <a:latin typeface="Calibri" pitchFamily="34" charset="0"/>
                <a:ea typeface="Calibri" pitchFamily="34" charset="-122"/>
                <a:cs typeface="Calibri" pitchFamily="34" charset="-120"/>
              </a:rPr>
              <a:t>Prokaryote</a:t>
            </a:r>
            <a:endParaRPr lang="en-US" sz="2600" dirty="0"/>
          </a:p>
        </p:txBody>
      </p:sp>
      <p:sp>
        <p:nvSpPr>
          <p:cNvPr id="19" name="Text 14"/>
          <p:cNvSpPr/>
          <p:nvPr/>
        </p:nvSpPr>
        <p:spPr>
          <a:xfrm>
            <a:off x="685800" y="3986784"/>
            <a:ext cx="3240938" cy="1207008"/>
          </a:xfrm>
          <a:prstGeom prst="rect">
            <a:avLst/>
          </a:prstGeom>
          <a:noFill/>
          <a:ln/>
        </p:spPr>
        <p:txBody>
          <a:bodyPr wrap="square" lIns="0" tIns="0" rIns="0" bIns="0" rtlCol="0" anchor="t"/>
          <a:lstStyle/>
          <a:p>
            <a:pPr indent="0" marL="0">
              <a:spcAft>
                <a:spcPts val="500"/>
              </a:spcAft>
              <a:buNone/>
            </a:pPr>
            <a:r>
              <a:rPr lang="en-US" sz="2300" dirty="0">
                <a:solidFill>
                  <a:srgbClr val="1A1A1A"/>
                </a:solidFill>
                <a:latin typeface="Calibri" pitchFamily="34" charset="0"/>
                <a:ea typeface="Calibri" pitchFamily="34" charset="-122"/>
                <a:cs typeface="Calibri" pitchFamily="34" charset="-120"/>
              </a:rPr>
              <a:t>No membrane-bound nucleus. DNA floats freely.</a:t>
            </a:r>
            <a:endParaRPr lang="en-US" sz="2300" dirty="0"/>
          </a:p>
        </p:txBody>
      </p:sp>
      <p:sp>
        <p:nvSpPr>
          <p:cNvPr id="20" name="Shape 15"/>
          <p:cNvSpPr/>
          <p:nvPr/>
        </p:nvSpPr>
        <p:spPr>
          <a:xfrm>
            <a:off x="4292498" y="3334512"/>
            <a:ext cx="3606698" cy="1950720"/>
          </a:xfrm>
          <a:prstGeom prst="roundRect">
            <a:avLst>
              <a:gd name="adj" fmla="val 5625"/>
            </a:avLst>
          </a:prstGeom>
          <a:solidFill>
            <a:srgbClr val="F6D4EA"/>
          </a:solidFill>
          <a:ln w="15875">
            <a:solidFill>
              <a:srgbClr val="E271BA"/>
            </a:solidFill>
            <a:prstDash val="solid"/>
          </a:ln>
        </p:spPr>
      </p:sp>
      <p:sp>
        <p:nvSpPr>
          <p:cNvPr id="21" name="Text 16"/>
          <p:cNvSpPr/>
          <p:nvPr/>
        </p:nvSpPr>
        <p:spPr>
          <a:xfrm>
            <a:off x="4475378" y="3499104"/>
            <a:ext cx="3240938" cy="457200"/>
          </a:xfrm>
          <a:prstGeom prst="rect">
            <a:avLst/>
          </a:prstGeom>
          <a:noFill/>
          <a:ln/>
        </p:spPr>
        <p:txBody>
          <a:bodyPr wrap="square" lIns="0" tIns="0" rIns="0" bIns="0" rtlCol="0" anchor="t"/>
          <a:lstStyle/>
          <a:p>
            <a:pPr indent="0" marL="0">
              <a:buNone/>
            </a:pPr>
            <a:r>
              <a:rPr lang="en-US" sz="2600" b="1" dirty="0">
                <a:solidFill>
                  <a:srgbClr val="680946"/>
                </a:solidFill>
                <a:latin typeface="Calibri" pitchFamily="34" charset="0"/>
                <a:ea typeface="Calibri" pitchFamily="34" charset="-122"/>
                <a:cs typeface="Calibri" pitchFamily="34" charset="-120"/>
              </a:rPr>
              <a:t>Eukaryote</a:t>
            </a:r>
            <a:endParaRPr lang="en-US" sz="2600" dirty="0"/>
          </a:p>
        </p:txBody>
      </p:sp>
      <p:sp>
        <p:nvSpPr>
          <p:cNvPr id="22" name="Text 17"/>
          <p:cNvSpPr/>
          <p:nvPr/>
        </p:nvSpPr>
        <p:spPr>
          <a:xfrm>
            <a:off x="4475378" y="3986784"/>
            <a:ext cx="3240938" cy="1207008"/>
          </a:xfrm>
          <a:prstGeom prst="rect">
            <a:avLst/>
          </a:prstGeom>
          <a:noFill/>
          <a:ln/>
        </p:spPr>
        <p:txBody>
          <a:bodyPr wrap="square" lIns="0" tIns="0" rIns="0" bIns="0" rtlCol="0" anchor="t"/>
          <a:lstStyle/>
          <a:p>
            <a:pPr indent="0" marL="0">
              <a:spcAft>
                <a:spcPts val="500"/>
              </a:spcAft>
              <a:buNone/>
            </a:pPr>
            <a:r>
              <a:rPr lang="en-US" sz="2300" dirty="0">
                <a:solidFill>
                  <a:srgbClr val="1A1A1A"/>
                </a:solidFill>
                <a:latin typeface="Calibri" pitchFamily="34" charset="0"/>
                <a:ea typeface="Calibri" pitchFamily="34" charset="-122"/>
                <a:cs typeface="Calibri" pitchFamily="34" charset="-120"/>
              </a:rPr>
              <a:t>DNA inside a nucleus. Membrane-bound organelles.</a:t>
            </a:r>
            <a:endParaRPr lang="en-US" sz="2300" dirty="0"/>
          </a:p>
        </p:txBody>
      </p:sp>
      <p:sp>
        <p:nvSpPr>
          <p:cNvPr id="23" name="Shape 18"/>
          <p:cNvSpPr/>
          <p:nvPr/>
        </p:nvSpPr>
        <p:spPr>
          <a:xfrm>
            <a:off x="8082077" y="3334512"/>
            <a:ext cx="3606698" cy="1950720"/>
          </a:xfrm>
          <a:prstGeom prst="roundRect">
            <a:avLst>
              <a:gd name="adj" fmla="val 5625"/>
            </a:avLst>
          </a:prstGeom>
          <a:solidFill>
            <a:srgbClr val="F6D4EA"/>
          </a:solidFill>
          <a:ln w="15875">
            <a:solidFill>
              <a:srgbClr val="E271BA"/>
            </a:solidFill>
            <a:prstDash val="solid"/>
          </a:ln>
        </p:spPr>
      </p:sp>
      <p:sp>
        <p:nvSpPr>
          <p:cNvPr id="24" name="Text 19"/>
          <p:cNvSpPr/>
          <p:nvPr/>
        </p:nvSpPr>
        <p:spPr>
          <a:xfrm>
            <a:off x="8264957" y="3499104"/>
            <a:ext cx="3240938" cy="457200"/>
          </a:xfrm>
          <a:prstGeom prst="rect">
            <a:avLst/>
          </a:prstGeom>
          <a:noFill/>
          <a:ln/>
        </p:spPr>
        <p:txBody>
          <a:bodyPr wrap="square" lIns="0" tIns="0" rIns="0" bIns="0" rtlCol="0" anchor="t"/>
          <a:lstStyle/>
          <a:p>
            <a:pPr indent="0" marL="0">
              <a:buNone/>
            </a:pPr>
            <a:r>
              <a:rPr lang="en-US" sz="2600" b="1" dirty="0">
                <a:solidFill>
                  <a:srgbClr val="680946"/>
                </a:solidFill>
                <a:latin typeface="Calibri" pitchFamily="34" charset="0"/>
                <a:ea typeface="Calibri" pitchFamily="34" charset="-122"/>
                <a:cs typeface="Calibri" pitchFamily="34" charset="-120"/>
              </a:rPr>
              <a:t>Both</a:t>
            </a:r>
            <a:endParaRPr lang="en-US" sz="2600" dirty="0"/>
          </a:p>
        </p:txBody>
      </p:sp>
      <p:sp>
        <p:nvSpPr>
          <p:cNvPr id="25" name="Text 20"/>
          <p:cNvSpPr/>
          <p:nvPr/>
        </p:nvSpPr>
        <p:spPr>
          <a:xfrm>
            <a:off x="8264957" y="3986784"/>
            <a:ext cx="3240938" cy="1207008"/>
          </a:xfrm>
          <a:prstGeom prst="rect">
            <a:avLst/>
          </a:prstGeom>
          <a:noFill/>
          <a:ln/>
        </p:spPr>
        <p:txBody>
          <a:bodyPr wrap="square" lIns="0" tIns="0" rIns="0" bIns="0" rtlCol="0" anchor="t"/>
          <a:lstStyle/>
          <a:p>
            <a:pPr indent="0" marL="0">
              <a:spcAft>
                <a:spcPts val="500"/>
              </a:spcAft>
              <a:buNone/>
            </a:pPr>
            <a:r>
              <a:rPr lang="en-US" sz="2300" dirty="0">
                <a:solidFill>
                  <a:srgbClr val="1A1A1A"/>
                </a:solidFill>
                <a:latin typeface="Calibri" pitchFamily="34" charset="0"/>
                <a:ea typeface="Calibri" pitchFamily="34" charset="-122"/>
                <a:cs typeface="Calibri" pitchFamily="34" charset="-120"/>
              </a:rPr>
              <a:t>Cell membrane. Ribosomes.</a:t>
            </a:r>
            <a:endParaRPr lang="en-US" sz="2300" dirty="0"/>
          </a:p>
        </p:txBody>
      </p:sp>
      <p:pic>
        <p:nvPicPr>
          <p:cNvPr id="26" name="Image 3" descr="Prokaryotic and eukaryotic cells (exercise) - opens an ARES resource">
            <a:hlinkClick r:id="rId5" tooltip="Prokaryotic and eukaryotic cells"/>
          </p:cNvPr>
          <p:cNvPicPr>
            <a:picLocks noChangeAspect="1"/>
          </p:cNvPicPr>
          <p:nvPr/>
        </p:nvPicPr>
        <p:blipFill>
          <a:blip r:embed="rId4"/>
          <a:stretch>
            <a:fillRect/>
          </a:stretch>
        </p:blipFill>
        <p:spPr>
          <a:xfrm>
            <a:off x="502920" y="5513832"/>
            <a:ext cx="457200" cy="457200"/>
          </a:xfrm>
          <a:prstGeom prst="rect">
            <a:avLst/>
          </a:prstGeom>
        </p:spPr>
      </p:pic>
      <p:sp>
        <p:nvSpPr>
          <p:cNvPr id="27" name="Text 21">
            <a:hlinkClick r:id="rId6" tooltip="Prokaryotic and eukaryotic cells"/>
          </p:cNvPr>
          <p:cNvSpPr/>
          <p:nvPr/>
        </p:nvSpPr>
        <p:spPr>
          <a:xfrm>
            <a:off x="1033272" y="5513832"/>
            <a:ext cx="2695321" cy="457200"/>
          </a:xfrm>
          <a:prstGeom prst="rect">
            <a:avLst/>
          </a:prstGeom>
          <a:noFill/>
          <a:ln/>
        </p:spPr>
        <p:txBody>
          <a:bodyPr wrap="square" lIns="0" tIns="0" rIns="0" bIns="0" rtlCol="0" anchor="ctr"/>
          <a:lstStyle/>
          <a:p>
            <a:pPr indent="0" marL="0">
              <a:buNone/>
            </a:pPr>
            <a:r>
              <a:rPr lang="en-US" sz="1600" u="sng" dirty="0">
                <a:solidFill>
                  <a:srgbClr val="1F4E79"/>
                </a:solidFill>
                <a:latin typeface="Calibri" pitchFamily="34" charset="0"/>
                <a:ea typeface="Calibri" pitchFamily="34" charset="-122"/>
                <a:cs typeface="Calibri" pitchFamily="34" charset="-120"/>
                <a:hlinkClick r:id="rId6" invalidUrl="" action="" tgtFrame="" tooltip="Prokaryotic and eukaryotic cells" history="1" highlightClick="0" endSnd="0">
                  <a:extLst>
                    <a:ext uri="{A12FA001-AC4F-418D-AE19-62706E023703}">
                      <ahyp:hlinkClr xmlns:ahyp="http://schemas.microsoft.com/office/drawing/2018/hyperlinkcolor" val="tx"/>
                    </a:ext>
                  </a:extLst>
                </a:hlinkClick>
              </a:rPr>
              <a:t>Prokaryotic and eukaryotic cells</a:t>
            </a:r>
            <a:endParaRPr lang="en-US" sz="1600" dirty="0"/>
          </a:p>
        </p:txBody>
      </p:sp>
      <p:pic>
        <p:nvPicPr>
          <p:cNvPr id="28" name="Image 4" descr="Prokaryotic and eukaryotic cells (video) - opens an ARES resource">
            <a:hlinkClick r:id="rId8" tooltip="Prokaryotic and eukaryotic cells"/>
          </p:cNvPr>
          <p:cNvPicPr>
            <a:picLocks noChangeAspect="1"/>
          </p:cNvPicPr>
          <p:nvPr/>
        </p:nvPicPr>
        <p:blipFill>
          <a:blip r:embed="rId7"/>
          <a:stretch>
            <a:fillRect/>
          </a:stretch>
        </p:blipFill>
        <p:spPr>
          <a:xfrm>
            <a:off x="4048633" y="5513832"/>
            <a:ext cx="457200" cy="457200"/>
          </a:xfrm>
          <a:prstGeom prst="rect">
            <a:avLst/>
          </a:prstGeom>
        </p:spPr>
      </p:pic>
      <p:sp>
        <p:nvSpPr>
          <p:cNvPr id="29" name="Text 22">
            <a:hlinkClick r:id="rId9" tooltip="Prokaryotic and eukaryotic cells"/>
          </p:cNvPr>
          <p:cNvSpPr/>
          <p:nvPr/>
        </p:nvSpPr>
        <p:spPr>
          <a:xfrm>
            <a:off x="4578985" y="5513832"/>
            <a:ext cx="2695321" cy="457200"/>
          </a:xfrm>
          <a:prstGeom prst="rect">
            <a:avLst/>
          </a:prstGeom>
          <a:noFill/>
          <a:ln/>
        </p:spPr>
        <p:txBody>
          <a:bodyPr wrap="square" lIns="0" tIns="0" rIns="0" bIns="0" rtlCol="0" anchor="ctr"/>
          <a:lstStyle/>
          <a:p>
            <a:pPr indent="0" marL="0">
              <a:buNone/>
            </a:pPr>
            <a:r>
              <a:rPr lang="en-US" sz="1600" u="sng" dirty="0">
                <a:solidFill>
                  <a:srgbClr val="1F4E79"/>
                </a:solidFill>
                <a:latin typeface="Calibri" pitchFamily="34" charset="0"/>
                <a:ea typeface="Calibri" pitchFamily="34" charset="-122"/>
                <a:cs typeface="Calibri" pitchFamily="34" charset="-120"/>
                <a:hlinkClick r:id="rId9" invalidUrl="" action="" tgtFrame="" tooltip="Prokaryotic and eukaryotic cells" history="1" highlightClick="0" endSnd="0">
                  <a:extLst>
                    <a:ext uri="{A12FA001-AC4F-418D-AE19-62706E023703}">
                      <ahyp:hlinkClr xmlns:ahyp="http://schemas.microsoft.com/office/drawing/2018/hyperlinkcolor" val="tx"/>
                    </a:ext>
                  </a:extLst>
                </a:hlinkClick>
              </a:rPr>
              <a:t>Prokaryotic and eukaryotic cells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502920" y="713232"/>
            <a:ext cx="713232" cy="713232"/>
          </a:xfrm>
          <a:prstGeom prst="ellipse">
            <a:avLst/>
          </a:prstGeom>
          <a:solidFill>
            <a:srgbClr val="F5D0E8"/>
          </a:solidFill>
          <a:ln w="31750">
            <a:solidFill>
              <a:srgbClr val="CF128C"/>
            </a:solidFill>
            <a:prstDash val="solid"/>
          </a:ln>
        </p:spPr>
      </p:sp>
      <p:pic>
        <p:nvPicPr>
          <p:cNvPr id="10"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Cell theory: three ideas</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Schleiden, Schwann and Virchow each added a piece.</a:t>
            </a:r>
            <a:endParaRPr lang="en-US" sz="2000" dirty="0"/>
          </a:p>
        </p:txBody>
      </p:sp>
      <p:pic>
        <p:nvPicPr>
          <p:cNvPr id="13" name="Image 3" descr="/home/markk/ares/cbe-presentations/generators/presentations/assets/emoji/microscope.png">    </p:cNvPr>
          <p:cNvPicPr>
            <a:picLocks noChangeAspect="1"/>
          </p:cNvPicPr>
          <p:nvPr/>
        </p:nvPicPr>
        <p:blipFill>
          <a:blip r:embed="rId4"/>
          <a:stretch>
            <a:fillRect/>
          </a:stretch>
        </p:blipFill>
        <p:spPr>
          <a:xfrm>
            <a:off x="502920" y="1825752"/>
            <a:ext cx="475488" cy="475488"/>
          </a:xfrm>
          <a:prstGeom prst="rect">
            <a:avLst/>
          </a:prstGeom>
        </p:spPr>
      </p:pic>
      <p:sp>
        <p:nvSpPr>
          <p:cNvPr id="14" name="Text 8"/>
          <p:cNvSpPr/>
          <p:nvPr/>
        </p:nvSpPr>
        <p:spPr>
          <a:xfrm>
            <a:off x="1161288" y="1761744"/>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All living things are made of cells.</a:t>
            </a:r>
            <a:endParaRPr lang="en-US" sz="3000" dirty="0"/>
          </a:p>
        </p:txBody>
      </p:sp>
      <p:pic>
        <p:nvPicPr>
          <p:cNvPr id="15" name="Image 4" descr="/home/markk/ares/cbe-presentations/generators/presentations/assets/emoji/puzzle.png">    </p:cNvPr>
          <p:cNvPicPr>
            <a:picLocks noChangeAspect="1"/>
          </p:cNvPicPr>
          <p:nvPr/>
        </p:nvPicPr>
        <p:blipFill>
          <a:blip r:embed="rId5"/>
          <a:stretch>
            <a:fillRect/>
          </a:stretch>
        </p:blipFill>
        <p:spPr>
          <a:xfrm>
            <a:off x="502920" y="2520696"/>
            <a:ext cx="475488" cy="475488"/>
          </a:xfrm>
          <a:prstGeom prst="rect">
            <a:avLst/>
          </a:prstGeom>
        </p:spPr>
      </p:pic>
      <p:sp>
        <p:nvSpPr>
          <p:cNvPr id="16" name="Text 9"/>
          <p:cNvSpPr/>
          <p:nvPr/>
        </p:nvSpPr>
        <p:spPr>
          <a:xfrm>
            <a:off x="1161288" y="2456688"/>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The cell is the basic unit of life.</a:t>
            </a:r>
            <a:endParaRPr lang="en-US" sz="3000" dirty="0"/>
          </a:p>
        </p:txBody>
      </p:sp>
      <p:pic>
        <p:nvPicPr>
          <p:cNvPr id="17" name="Image 5" descr="/home/markk/ares/cbe-presentations/generators/presentations/assets/emoji/arrows_cycle.png">    </p:cNvPr>
          <p:cNvPicPr>
            <a:picLocks noChangeAspect="1"/>
          </p:cNvPicPr>
          <p:nvPr/>
        </p:nvPicPr>
        <p:blipFill>
          <a:blip r:embed="rId6"/>
          <a:stretch>
            <a:fillRect/>
          </a:stretch>
        </p:blipFill>
        <p:spPr>
          <a:xfrm>
            <a:off x="502920" y="3215640"/>
            <a:ext cx="475488" cy="475488"/>
          </a:xfrm>
          <a:prstGeom prst="rect">
            <a:avLst/>
          </a:prstGeom>
        </p:spPr>
      </p:pic>
      <p:sp>
        <p:nvSpPr>
          <p:cNvPr id="18" name="Text 10"/>
          <p:cNvSpPr/>
          <p:nvPr/>
        </p:nvSpPr>
        <p:spPr>
          <a:xfrm>
            <a:off x="1161288" y="3151632"/>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All cells arise from pre-existing cells.</a:t>
            </a:r>
            <a:endParaRPr lang="en-US" sz="3000" dirty="0"/>
          </a:p>
        </p:txBody>
      </p:sp>
      <p:sp>
        <p:nvSpPr>
          <p:cNvPr id="19" name="Text 11"/>
          <p:cNvSpPr/>
          <p:nvPr/>
        </p:nvSpPr>
        <p:spPr>
          <a:xfrm>
            <a:off x="502920" y="4029456"/>
            <a:ext cx="11185855" cy="493776"/>
          </a:xfrm>
          <a:prstGeom prst="rect">
            <a:avLst/>
          </a:prstGeom>
          <a:noFill/>
          <a:ln/>
        </p:spPr>
        <p:txBody>
          <a:bodyPr wrap="square" lIns="0" tIns="0" rIns="0" bIns="0" rtlCol="0" anchor="t"/>
          <a:lstStyle/>
          <a:p>
            <a:pPr indent="0" marL="0">
              <a:buNone/>
            </a:pPr>
            <a:r>
              <a:rPr lang="en-US" sz="3000" b="1" dirty="0">
                <a:solidFill>
                  <a:srgbClr val="680946"/>
                </a:solidFill>
                <a:latin typeface="Calibri" pitchFamily="34" charset="0"/>
                <a:ea typeface="Calibri" pitchFamily="34" charset="-122"/>
                <a:cs typeface="Calibri" pitchFamily="34" charset="-120"/>
              </a:rPr>
              <a:t>Schleiden: plants. Schwann: animals. Virchow: all cells from cells.</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5D0E8"/>
          </a:solidFill>
          <a:ln w="31750">
            <a:solidFill>
              <a:srgbClr val="CF128C"/>
            </a:solidFill>
            <a:prstDash val="solid"/>
          </a:ln>
        </p:spPr>
      </p:sp>
      <p:pic>
        <p:nvPicPr>
          <p:cNvPr id="12"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Colour-code your diagrams</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Use the three colours.</a:t>
            </a:r>
            <a:endParaRPr lang="en-US" sz="2000" dirty="0"/>
          </a:p>
        </p:txBody>
      </p:sp>
      <p:sp>
        <p:nvSpPr>
          <p:cNvPr id="15" name="Shape 10"/>
          <p:cNvSpPr/>
          <p:nvPr/>
        </p:nvSpPr>
        <p:spPr>
          <a:xfrm>
            <a:off x="502920" y="1761744"/>
            <a:ext cx="3606698" cy="2011680"/>
          </a:xfrm>
          <a:prstGeom prst="roundRect">
            <a:avLst>
              <a:gd name="adj" fmla="val 5455"/>
            </a:avLst>
          </a:prstGeom>
          <a:solidFill>
            <a:srgbClr val="F6D4EA"/>
          </a:solidFill>
          <a:ln w="15875">
            <a:solidFill>
              <a:srgbClr val="E271BA"/>
            </a:solidFill>
            <a:prstDash val="solid"/>
          </a:ln>
        </p:spPr>
      </p:sp>
      <p:sp>
        <p:nvSpPr>
          <p:cNvPr id="16" name="Text 11"/>
          <p:cNvSpPr/>
          <p:nvPr/>
        </p:nvSpPr>
        <p:spPr>
          <a:xfrm>
            <a:off x="685800" y="1926336"/>
            <a:ext cx="3240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GREEN</a:t>
            </a:r>
            <a:endParaRPr lang="en-US" sz="2700" dirty="0"/>
          </a:p>
        </p:txBody>
      </p:sp>
      <p:sp>
        <p:nvSpPr>
          <p:cNvPr id="17" name="Text 12"/>
          <p:cNvSpPr/>
          <p:nvPr/>
        </p:nvSpPr>
        <p:spPr>
          <a:xfrm>
            <a:off x="685800" y="2429256"/>
            <a:ext cx="3240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Present in both prokaryotes and eukaryotes</a:t>
            </a:r>
            <a:endParaRPr lang="en-US" sz="2400" dirty="0"/>
          </a:p>
        </p:txBody>
      </p:sp>
      <p:sp>
        <p:nvSpPr>
          <p:cNvPr id="18" name="Shape 13"/>
          <p:cNvSpPr/>
          <p:nvPr/>
        </p:nvSpPr>
        <p:spPr>
          <a:xfrm>
            <a:off x="4292498" y="1761744"/>
            <a:ext cx="3606698" cy="2011680"/>
          </a:xfrm>
          <a:prstGeom prst="roundRect">
            <a:avLst>
              <a:gd name="adj" fmla="val 5455"/>
            </a:avLst>
          </a:prstGeom>
          <a:solidFill>
            <a:srgbClr val="F6D4EA"/>
          </a:solidFill>
          <a:ln w="15875">
            <a:solidFill>
              <a:srgbClr val="E271BA"/>
            </a:solidFill>
            <a:prstDash val="solid"/>
          </a:ln>
        </p:spPr>
      </p:sp>
      <p:sp>
        <p:nvSpPr>
          <p:cNvPr id="19" name="Text 14"/>
          <p:cNvSpPr/>
          <p:nvPr/>
        </p:nvSpPr>
        <p:spPr>
          <a:xfrm>
            <a:off x="4475378" y="1926336"/>
            <a:ext cx="3240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BLUE</a:t>
            </a:r>
            <a:endParaRPr lang="en-US" sz="2700" dirty="0"/>
          </a:p>
        </p:txBody>
      </p:sp>
      <p:sp>
        <p:nvSpPr>
          <p:cNvPr id="20" name="Text 15"/>
          <p:cNvSpPr/>
          <p:nvPr/>
        </p:nvSpPr>
        <p:spPr>
          <a:xfrm>
            <a:off x="4475378" y="2429256"/>
            <a:ext cx="3240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Eukaryotes only</a:t>
            </a:r>
            <a:endParaRPr lang="en-US" sz="2400" dirty="0"/>
          </a:p>
        </p:txBody>
      </p:sp>
      <p:sp>
        <p:nvSpPr>
          <p:cNvPr id="21" name="Shape 16"/>
          <p:cNvSpPr/>
          <p:nvPr/>
        </p:nvSpPr>
        <p:spPr>
          <a:xfrm>
            <a:off x="8082077" y="1761744"/>
            <a:ext cx="3606698" cy="2011680"/>
          </a:xfrm>
          <a:prstGeom prst="roundRect">
            <a:avLst>
              <a:gd name="adj" fmla="val 5455"/>
            </a:avLst>
          </a:prstGeom>
          <a:solidFill>
            <a:srgbClr val="F6D4EA"/>
          </a:solidFill>
          <a:ln w="15875">
            <a:solidFill>
              <a:srgbClr val="E271BA"/>
            </a:solidFill>
            <a:prstDash val="solid"/>
          </a:ln>
        </p:spPr>
      </p:sp>
      <p:sp>
        <p:nvSpPr>
          <p:cNvPr id="22" name="Text 17"/>
          <p:cNvSpPr/>
          <p:nvPr/>
        </p:nvSpPr>
        <p:spPr>
          <a:xfrm>
            <a:off x="8264957" y="1926336"/>
            <a:ext cx="3240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RED</a:t>
            </a:r>
            <a:endParaRPr lang="en-US" sz="2700" dirty="0"/>
          </a:p>
        </p:txBody>
      </p:sp>
      <p:sp>
        <p:nvSpPr>
          <p:cNvPr id="23" name="Text 18"/>
          <p:cNvSpPr/>
          <p:nvPr/>
        </p:nvSpPr>
        <p:spPr>
          <a:xfrm>
            <a:off x="8264957" y="2429256"/>
            <a:ext cx="3240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Plant eukaryotes only</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502920" y="713232"/>
            <a:ext cx="713232" cy="713232"/>
          </a:xfrm>
          <a:prstGeom prst="ellipse">
            <a:avLst/>
          </a:prstGeom>
          <a:solidFill>
            <a:srgbClr val="F5D0E8"/>
          </a:solidFill>
          <a:ln w="31750">
            <a:solidFill>
              <a:srgbClr val="CF128C"/>
            </a:solidFill>
            <a:prstDash val="solid"/>
          </a:ln>
        </p:spPr>
      </p:sp>
      <p:pic>
        <p:nvPicPr>
          <p:cNvPr id="10"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Back to our predictions</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Mark your ideas in a different colour.</a:t>
            </a:r>
            <a:endParaRPr lang="en-US" sz="2000" dirty="0"/>
          </a:p>
        </p:txBody>
      </p:sp>
      <p:pic>
        <p:nvPicPr>
          <p:cNvPr id="13" name="Image 3" descr="/home/markk/ares/cbe-presentations/generators/presentations/assets/emoji/pencil.png">    </p:cNvPr>
          <p:cNvPicPr>
            <a:picLocks noChangeAspect="1"/>
          </p:cNvPicPr>
          <p:nvPr/>
        </p:nvPicPr>
        <p:blipFill>
          <a:blip r:embed="rId4"/>
          <a:stretch>
            <a:fillRect/>
          </a:stretch>
        </p:blipFill>
        <p:spPr>
          <a:xfrm>
            <a:off x="502920" y="1825752"/>
            <a:ext cx="475488" cy="475488"/>
          </a:xfrm>
          <a:prstGeom prst="rect">
            <a:avLst/>
          </a:prstGeom>
        </p:spPr>
      </p:pic>
      <p:sp>
        <p:nvSpPr>
          <p:cNvPr id="14" name="Text 8"/>
          <p:cNvSpPr/>
          <p:nvPr/>
        </p:nvSpPr>
        <p:spPr>
          <a:xfrm>
            <a:off x="1161288" y="1761744"/>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Read your 'I think all cells share…' sentences.</a:t>
            </a:r>
            <a:endParaRPr lang="en-US" sz="3000" dirty="0"/>
          </a:p>
        </p:txBody>
      </p:sp>
      <p:pic>
        <p:nvPicPr>
          <p:cNvPr id="15" name="Image 4" descr="/home/markk/ares/cbe-presentations/generators/presentations/assets/emoji/check.png">    </p:cNvPr>
          <p:cNvPicPr>
            <a:picLocks noChangeAspect="1"/>
          </p:cNvPicPr>
          <p:nvPr/>
        </p:nvPicPr>
        <p:blipFill>
          <a:blip r:embed="rId5"/>
          <a:stretch>
            <a:fillRect/>
          </a:stretch>
        </p:blipFill>
        <p:spPr>
          <a:xfrm>
            <a:off x="502920" y="2520696"/>
            <a:ext cx="475488" cy="475488"/>
          </a:xfrm>
          <a:prstGeom prst="rect">
            <a:avLst/>
          </a:prstGeom>
        </p:spPr>
      </p:pic>
      <p:sp>
        <p:nvSpPr>
          <p:cNvPr id="16" name="Text 9"/>
          <p:cNvSpPr/>
          <p:nvPr/>
        </p:nvSpPr>
        <p:spPr>
          <a:xfrm>
            <a:off x="1161288" y="2456688"/>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Mark ideas that fit today's evidence.</a:t>
            </a:r>
            <a:endParaRPr lang="en-US" sz="3000" dirty="0"/>
          </a:p>
        </p:txBody>
      </p:sp>
      <p:pic>
        <p:nvPicPr>
          <p:cNvPr id="17" name="Image 5" descr="/home/markk/ares/cbe-presentations/generators/presentations/assets/emoji/cross.png">    </p:cNvPr>
          <p:cNvPicPr>
            <a:picLocks noChangeAspect="1"/>
          </p:cNvPicPr>
          <p:nvPr/>
        </p:nvPicPr>
        <p:blipFill>
          <a:blip r:embed="rId6"/>
          <a:stretch>
            <a:fillRect/>
          </a:stretch>
        </p:blipFill>
        <p:spPr>
          <a:xfrm>
            <a:off x="502920" y="3215640"/>
            <a:ext cx="475488" cy="475488"/>
          </a:xfrm>
          <a:prstGeom prst="rect">
            <a:avLst/>
          </a:prstGeom>
        </p:spPr>
      </p:pic>
      <p:sp>
        <p:nvSpPr>
          <p:cNvPr id="18" name="Text 10"/>
          <p:cNvSpPr/>
          <p:nvPr/>
        </p:nvSpPr>
        <p:spPr>
          <a:xfrm>
            <a:off x="1161288" y="3151632"/>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Mark ideas that do not fit.</a:t>
            </a:r>
            <a:endParaRPr lang="en-US" sz="3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5D0E8"/>
          </a:solidFill>
          <a:ln w="31750">
            <a:solidFill>
              <a:srgbClr val="CF128C"/>
            </a:solidFill>
            <a:prstDash val="solid"/>
          </a:ln>
        </p:spPr>
      </p:sp>
      <p:pic>
        <p:nvPicPr>
          <p:cNvPr id="12"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Explain how Amina's body made new skin cells</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Write four sentences: Claim, Evidence, Reasoning.</a:t>
            </a:r>
            <a:endParaRPr lang="en-US" sz="2000" dirty="0"/>
          </a:p>
        </p:txBody>
      </p:sp>
      <p:sp>
        <p:nvSpPr>
          <p:cNvPr id="15" name="Shape 10"/>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6"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7" name="Text 11"/>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6:00</a:t>
            </a:r>
            <a:endParaRPr lang="en-US" sz="3000" dirty="0"/>
          </a:p>
        </p:txBody>
      </p:sp>
      <p:sp>
        <p:nvSpPr>
          <p:cNvPr id="18" name="Text 12"/>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CER writing</a:t>
            </a:r>
            <a:endParaRPr lang="en-US" sz="1200" dirty="0"/>
          </a:p>
        </p:txBody>
      </p:sp>
      <p:sp>
        <p:nvSpPr>
          <p:cNvPr id="19" name="Shape 13"/>
          <p:cNvSpPr/>
          <p:nvPr/>
        </p:nvSpPr>
        <p:spPr>
          <a:xfrm>
            <a:off x="502920" y="1761744"/>
            <a:ext cx="8899855" cy="1322832"/>
          </a:xfrm>
          <a:prstGeom prst="roundRect">
            <a:avLst>
              <a:gd name="adj" fmla="val 9677"/>
            </a:avLst>
          </a:prstGeom>
          <a:solidFill>
            <a:srgbClr val="F5D0E8"/>
          </a:solidFill>
          <a:ln w="15875">
            <a:solidFill>
              <a:srgbClr val="E065B4"/>
            </a:solidFill>
            <a:prstDash val="solid"/>
          </a:ln>
        </p:spPr>
      </p:sp>
      <p:sp>
        <p:nvSpPr>
          <p:cNvPr id="20" name="Shape 14"/>
          <p:cNvSpPr/>
          <p:nvPr/>
        </p:nvSpPr>
        <p:spPr>
          <a:xfrm>
            <a:off x="521208" y="1926336"/>
            <a:ext cx="91440" cy="993648"/>
          </a:xfrm>
          <a:prstGeom prst="rect">
            <a:avLst/>
          </a:prstGeom>
          <a:solidFill>
            <a:srgbClr val="CF128C"/>
          </a:solidFill>
          <a:ln w="12700">
            <a:solidFill>
              <a:srgbClr val="CF128C"/>
            </a:solidFill>
            <a:prstDash val="solid"/>
          </a:ln>
        </p:spPr>
      </p:sp>
      <p:sp>
        <p:nvSpPr>
          <p:cNvPr id="21" name="Text 15"/>
          <p:cNvSpPr/>
          <p:nvPr/>
        </p:nvSpPr>
        <p:spPr>
          <a:xfrm>
            <a:off x="868680" y="1898904"/>
            <a:ext cx="8259775" cy="1048512"/>
          </a:xfrm>
          <a:prstGeom prst="rect">
            <a:avLst/>
          </a:prstGeom>
          <a:noFill/>
          <a:ln/>
        </p:spPr>
        <p:txBody>
          <a:bodyPr wrap="square" lIns="0" tIns="0" rIns="0" bIns="0" rtlCol="0" anchor="ctr"/>
          <a:lstStyle/>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Use cell theory to explain how Amina's body made new skin cells to close the wound.</a:t>
            </a:r>
            <a:endParaRPr lang="en-US" sz="3200" dirty="0"/>
          </a:p>
        </p:txBody>
      </p:sp>
      <p:sp>
        <p:nvSpPr>
          <p:cNvPr id="22" name="Shape 16"/>
          <p:cNvSpPr/>
          <p:nvPr/>
        </p:nvSpPr>
        <p:spPr>
          <a:xfrm>
            <a:off x="502920" y="3267456"/>
            <a:ext cx="2844698" cy="2011680"/>
          </a:xfrm>
          <a:prstGeom prst="roundRect">
            <a:avLst>
              <a:gd name="adj" fmla="val 5455"/>
            </a:avLst>
          </a:prstGeom>
          <a:solidFill>
            <a:srgbClr val="F6D4EA"/>
          </a:solidFill>
          <a:ln w="15875">
            <a:solidFill>
              <a:srgbClr val="E271BA"/>
            </a:solidFill>
            <a:prstDash val="solid"/>
          </a:ln>
        </p:spPr>
      </p:sp>
      <p:sp>
        <p:nvSpPr>
          <p:cNvPr id="23" name="Text 17"/>
          <p:cNvSpPr/>
          <p:nvPr/>
        </p:nvSpPr>
        <p:spPr>
          <a:xfrm>
            <a:off x="685800" y="3432048"/>
            <a:ext cx="2478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Claim</a:t>
            </a:r>
            <a:endParaRPr lang="en-US" sz="2700" dirty="0"/>
          </a:p>
        </p:txBody>
      </p:sp>
      <p:sp>
        <p:nvSpPr>
          <p:cNvPr id="24" name="Text 18"/>
          <p:cNvSpPr/>
          <p:nvPr/>
        </p:nvSpPr>
        <p:spPr>
          <a:xfrm>
            <a:off x="685800" y="3934968"/>
            <a:ext cx="2478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How did Amina's body make new skin cells?</a:t>
            </a:r>
            <a:endParaRPr lang="en-US" sz="2400" dirty="0"/>
          </a:p>
        </p:txBody>
      </p:sp>
      <p:sp>
        <p:nvSpPr>
          <p:cNvPr id="25" name="Shape 19"/>
          <p:cNvSpPr/>
          <p:nvPr/>
        </p:nvSpPr>
        <p:spPr>
          <a:xfrm>
            <a:off x="3530498" y="3267456"/>
            <a:ext cx="2844698" cy="2011680"/>
          </a:xfrm>
          <a:prstGeom prst="roundRect">
            <a:avLst>
              <a:gd name="adj" fmla="val 5455"/>
            </a:avLst>
          </a:prstGeom>
          <a:solidFill>
            <a:srgbClr val="F6D4EA"/>
          </a:solidFill>
          <a:ln w="15875">
            <a:solidFill>
              <a:srgbClr val="E271BA"/>
            </a:solidFill>
            <a:prstDash val="solid"/>
          </a:ln>
        </p:spPr>
      </p:sp>
      <p:sp>
        <p:nvSpPr>
          <p:cNvPr id="26" name="Text 20"/>
          <p:cNvSpPr/>
          <p:nvPr/>
        </p:nvSpPr>
        <p:spPr>
          <a:xfrm>
            <a:off x="3713378" y="3432048"/>
            <a:ext cx="2478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Evidence</a:t>
            </a:r>
            <a:endParaRPr lang="en-US" sz="2700" dirty="0"/>
          </a:p>
        </p:txBody>
      </p:sp>
      <p:sp>
        <p:nvSpPr>
          <p:cNvPr id="27" name="Text 21"/>
          <p:cNvSpPr/>
          <p:nvPr/>
        </p:nvSpPr>
        <p:spPr>
          <a:xfrm>
            <a:off x="3713378" y="3934968"/>
            <a:ext cx="2478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Name a scientist or an idea from cell theory.</a:t>
            </a:r>
            <a:endParaRPr lang="en-US" sz="2400" dirty="0"/>
          </a:p>
        </p:txBody>
      </p:sp>
      <p:sp>
        <p:nvSpPr>
          <p:cNvPr id="28" name="Shape 22"/>
          <p:cNvSpPr/>
          <p:nvPr/>
        </p:nvSpPr>
        <p:spPr>
          <a:xfrm>
            <a:off x="6558077" y="3267456"/>
            <a:ext cx="2844698" cy="2011680"/>
          </a:xfrm>
          <a:prstGeom prst="roundRect">
            <a:avLst>
              <a:gd name="adj" fmla="val 5455"/>
            </a:avLst>
          </a:prstGeom>
          <a:solidFill>
            <a:srgbClr val="F6D4EA"/>
          </a:solidFill>
          <a:ln w="15875">
            <a:solidFill>
              <a:srgbClr val="E271BA"/>
            </a:solidFill>
            <a:prstDash val="solid"/>
          </a:ln>
        </p:spPr>
      </p:sp>
      <p:sp>
        <p:nvSpPr>
          <p:cNvPr id="29" name="Text 23"/>
          <p:cNvSpPr/>
          <p:nvPr/>
        </p:nvSpPr>
        <p:spPr>
          <a:xfrm>
            <a:off x="6740957" y="3432048"/>
            <a:ext cx="2478938" cy="457200"/>
          </a:xfrm>
          <a:prstGeom prst="rect">
            <a:avLst/>
          </a:prstGeom>
          <a:noFill/>
          <a:ln/>
        </p:spPr>
        <p:txBody>
          <a:bodyPr wrap="square" lIns="0" tIns="0" rIns="0" bIns="0" rtlCol="0" anchor="t"/>
          <a:lstStyle/>
          <a:p>
            <a:pPr indent="0" marL="0">
              <a:buNone/>
            </a:pPr>
            <a:r>
              <a:rPr lang="en-US" sz="2700" b="1" dirty="0">
                <a:solidFill>
                  <a:srgbClr val="680946"/>
                </a:solidFill>
                <a:latin typeface="Calibri" pitchFamily="34" charset="0"/>
                <a:ea typeface="Calibri" pitchFamily="34" charset="-122"/>
                <a:cs typeface="Calibri" pitchFamily="34" charset="-120"/>
              </a:rPr>
              <a:t>Reasoning</a:t>
            </a:r>
            <a:endParaRPr lang="en-US" sz="2700" dirty="0"/>
          </a:p>
        </p:txBody>
      </p:sp>
      <p:sp>
        <p:nvSpPr>
          <p:cNvPr id="30" name="Text 24"/>
          <p:cNvSpPr/>
          <p:nvPr/>
        </p:nvSpPr>
        <p:spPr>
          <a:xfrm>
            <a:off x="6740957" y="3934968"/>
            <a:ext cx="2478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Explain why. Use 'because' or 'therefore'.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AE7F4"/>
          </a:solidFill>
          <a:ln w="12700">
            <a:solidFill>
              <a:srgbClr val="FAE7F4"/>
            </a:solidFill>
            <a:prstDash val="solid"/>
          </a:ln>
        </p:spPr>
      </p:sp>
      <p:sp>
        <p:nvSpPr>
          <p:cNvPr id="3" name="Shape 1"/>
          <p:cNvSpPr/>
          <p:nvPr/>
        </p:nvSpPr>
        <p:spPr>
          <a:xfrm>
            <a:off x="10637215" y="-1005840"/>
            <a:ext cx="2377440" cy="2377440"/>
          </a:xfrm>
          <a:prstGeom prst="ellipse">
            <a:avLst/>
          </a:prstGeom>
          <a:solidFill>
            <a:srgbClr val="FCEEF7"/>
          </a:solidFill>
          <a:ln w="12700">
            <a:solidFill>
              <a:srgbClr val="FCEEF7"/>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995299" cy="292608"/>
          </a:xfrm>
          <a:prstGeom prst="roundRect">
            <a:avLst>
              <a:gd name="adj" fmla="val 50000"/>
            </a:avLst>
          </a:prstGeom>
          <a:solidFill>
            <a:srgbClr val="CF128C"/>
          </a:solidFill>
          <a:ln w="12700">
            <a:solidFill>
              <a:srgbClr val="CF128C"/>
            </a:solidFill>
            <a:prstDash val="solid"/>
          </a:ln>
        </p:spPr>
      </p:sp>
      <p:sp>
        <p:nvSpPr>
          <p:cNvPr id="8" name="Text 4"/>
          <p:cNvSpPr/>
          <p:nvPr/>
        </p:nvSpPr>
        <p:spPr>
          <a:xfrm>
            <a:off x="502920" y="292608"/>
            <a:ext cx="995299"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EXPLAIN</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5D0E8"/>
          </a:solidFill>
          <a:ln w="31750">
            <a:solidFill>
              <a:srgbClr val="CF128C"/>
            </a:solidFill>
            <a:prstDash val="solid"/>
          </a:ln>
        </p:spPr>
      </p:sp>
      <p:pic>
        <p:nvPicPr>
          <p:cNvPr id="12" name="Image 2" descr="/home/markk/ares/cbe-presentations/generators/presentations/assets/emoji/speech.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Share your reasoning</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Listen. Show a thumb.</a:t>
            </a:r>
            <a:endParaRPr lang="en-US" sz="2000" dirty="0"/>
          </a:p>
        </p:txBody>
      </p:sp>
      <p:sp>
        <p:nvSpPr>
          <p:cNvPr id="15" name="Shape 10"/>
          <p:cNvSpPr/>
          <p:nvPr/>
        </p:nvSpPr>
        <p:spPr>
          <a:xfrm>
            <a:off x="502920" y="1761744"/>
            <a:ext cx="11185855" cy="1481328"/>
          </a:xfrm>
          <a:prstGeom prst="roundRect">
            <a:avLst>
              <a:gd name="adj" fmla="val 13580"/>
            </a:avLst>
          </a:prstGeom>
          <a:solidFill>
            <a:srgbClr val="F8DEEF"/>
          </a:solidFill>
          <a:ln w="28575">
            <a:solidFill>
              <a:srgbClr val="CF128C"/>
            </a:solidFill>
            <a:prstDash val="solid"/>
          </a:ln>
        </p:spPr>
      </p:sp>
      <p:sp>
        <p:nvSpPr>
          <p:cNvPr id="16" name="Shape 11"/>
          <p:cNvSpPr/>
          <p:nvPr/>
        </p:nvSpPr>
        <p:spPr>
          <a:xfrm>
            <a:off x="704088" y="2145792"/>
            <a:ext cx="713232" cy="713232"/>
          </a:xfrm>
          <a:prstGeom prst="ellipse">
            <a:avLst/>
          </a:prstGeom>
          <a:solidFill>
            <a:srgbClr val="CF128C"/>
          </a:solidFill>
          <a:ln w="12700">
            <a:solidFill>
              <a:srgbClr val="CF128C"/>
            </a:solidFill>
            <a:prstDash val="solid"/>
          </a:ln>
        </p:spPr>
      </p:sp>
      <p:sp>
        <p:nvSpPr>
          <p:cNvPr id="17" name="Text 12"/>
          <p:cNvSpPr/>
          <p:nvPr/>
        </p:nvSpPr>
        <p:spPr>
          <a:xfrm>
            <a:off x="704088" y="2145792"/>
            <a:ext cx="713232" cy="713232"/>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18" name="Text 13"/>
          <p:cNvSpPr/>
          <p:nvPr/>
        </p:nvSpPr>
        <p:spPr>
          <a:xfrm>
            <a:off x="1645920" y="1807464"/>
            <a:ext cx="9832543" cy="1389888"/>
          </a:xfrm>
          <a:prstGeom prst="rect">
            <a:avLst/>
          </a:prstGeom>
          <a:noFill/>
          <a:ln/>
        </p:spPr>
        <p:txBody>
          <a:bodyPr wrap="square" lIns="0" tIns="0" rIns="0" bIns="0"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Does the Reasoning clearly connect cell theory to Amina's healing?</a:t>
            </a:r>
            <a:endParaRPr lang="en-US" sz="3600" dirty="0"/>
          </a:p>
        </p:txBody>
      </p:sp>
      <p:pic>
        <p:nvPicPr>
          <p:cNvPr id="19" name="Image 3" descr="/home/markk/ares/cbe-presentations/generators/presentations/assets/emoji/thinking.png">    </p:cNvPr>
          <p:cNvPicPr>
            <a:picLocks noChangeAspect="1"/>
          </p:cNvPicPr>
          <p:nvPr/>
        </p:nvPicPr>
        <p:blipFill>
          <a:blip r:embed="rId4"/>
          <a:stretch>
            <a:fillRect/>
          </a:stretch>
        </p:blipFill>
        <p:spPr>
          <a:xfrm>
            <a:off x="502920" y="3489960"/>
            <a:ext cx="475488" cy="475488"/>
          </a:xfrm>
          <a:prstGeom prst="rect">
            <a:avLst/>
          </a:prstGeom>
        </p:spPr>
      </p:pic>
      <p:sp>
        <p:nvSpPr>
          <p:cNvPr id="20" name="Text 14"/>
          <p:cNvSpPr/>
          <p:nvPr/>
        </p:nvSpPr>
        <p:spPr>
          <a:xfrm>
            <a:off x="1161288" y="3425952"/>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Listen for the Claim, the Evidence and the Reasoning.</a:t>
            </a:r>
            <a:endParaRPr lang="en-US" sz="3000" dirty="0"/>
          </a:p>
        </p:txBody>
      </p:sp>
      <p:pic>
        <p:nvPicPr>
          <p:cNvPr id="21" name="Image 4" descr="/home/markk/ares/cbe-presentations/generators/presentations/assets/emoji/raised_hand.png">    </p:cNvPr>
          <p:cNvPicPr>
            <a:picLocks noChangeAspect="1"/>
          </p:cNvPicPr>
          <p:nvPr/>
        </p:nvPicPr>
        <p:blipFill>
          <a:blip r:embed="rId5"/>
          <a:stretch>
            <a:fillRect/>
          </a:stretch>
        </p:blipFill>
        <p:spPr>
          <a:xfrm>
            <a:off x="502920" y="4184904"/>
            <a:ext cx="475488" cy="475488"/>
          </a:xfrm>
          <a:prstGeom prst="rect">
            <a:avLst/>
          </a:prstGeom>
        </p:spPr>
      </p:pic>
      <p:sp>
        <p:nvSpPr>
          <p:cNvPr id="22" name="Text 15"/>
          <p:cNvSpPr/>
          <p:nvPr/>
        </p:nvSpPr>
        <p:spPr>
          <a:xfrm>
            <a:off x="1161288" y="4120896"/>
            <a:ext cx="10454335" cy="603504"/>
          </a:xfrm>
          <a:prstGeom prst="rect">
            <a:avLst/>
          </a:prstGeom>
          <a:noFill/>
          <a:ln/>
        </p:spPr>
        <p:txBody>
          <a:bodyPr wrap="square" lIns="0" tIns="0" rIns="0" bIns="0" rtlCol="0" anchor="ctr"/>
          <a:lstStyle/>
          <a:p>
            <a:pPr indent="0" marL="0">
              <a:buNone/>
            </a:pPr>
            <a:r>
              <a:rPr lang="en-US" sz="3000" dirty="0">
                <a:solidFill>
                  <a:srgbClr val="1A1A1A"/>
                </a:solidFill>
                <a:latin typeface="Calibri" pitchFamily="34" charset="0"/>
                <a:ea typeface="Calibri" pitchFamily="34" charset="-122"/>
                <a:cs typeface="Calibri" pitchFamily="34" charset="-120"/>
              </a:rPr>
              <a:t>Thumbs up if the Reasoning clearly links to Amina.</a:t>
            </a:r>
            <a:endParaRPr lang="en-US" sz="3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FF8EF"/>
          </a:solidFill>
          <a:ln w="12700">
            <a:solidFill>
              <a:srgbClr val="FFF8EF"/>
            </a:solidFill>
            <a:prstDash val="solid"/>
          </a:ln>
        </p:spPr>
      </p:sp>
      <p:sp>
        <p:nvSpPr>
          <p:cNvPr id="3" name="Shape 1"/>
          <p:cNvSpPr/>
          <p:nvPr/>
        </p:nvSpPr>
        <p:spPr>
          <a:xfrm>
            <a:off x="10637215" y="-1005840"/>
            <a:ext cx="2377440" cy="2377440"/>
          </a:xfrm>
          <a:prstGeom prst="ellipse">
            <a:avLst/>
          </a:prstGeom>
          <a:solidFill>
            <a:srgbClr val="FFFAF4"/>
          </a:solidFill>
          <a:ln w="12700">
            <a:solidFill>
              <a:srgbClr val="FFFAF4"/>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2104517" cy="292608"/>
          </a:xfrm>
          <a:prstGeom prst="roundRect">
            <a:avLst>
              <a:gd name="adj" fmla="val 50000"/>
            </a:avLst>
          </a:prstGeom>
          <a:solidFill>
            <a:srgbClr val="FCBA63"/>
          </a:solidFill>
          <a:ln w="12700">
            <a:solidFill>
              <a:srgbClr val="FCBA63"/>
            </a:solidFill>
            <a:prstDash val="solid"/>
          </a:ln>
        </p:spPr>
      </p:sp>
      <p:sp>
        <p:nvSpPr>
          <p:cNvPr id="8" name="Text 4"/>
          <p:cNvSpPr/>
          <p:nvPr/>
        </p:nvSpPr>
        <p:spPr>
          <a:xfrm>
            <a:off x="502920" y="292608"/>
            <a:ext cx="2104517"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DRIVING QUESTION BOARD</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EF1E0"/>
          </a:solidFill>
          <a:ln w="31750">
            <a:solidFill>
              <a:srgbClr val="FCBA63"/>
            </a:solidFill>
            <a:prstDash val="solid"/>
          </a:ln>
        </p:spPr>
      </p:sp>
      <p:pic>
        <p:nvPicPr>
          <p:cNvPr id="12" name="Image 2" descr="/home/markk/ares/cbe-presentations/generators/presentations/assets/emoji/pushpin.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Driving Question Board</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Add a note. Add a star.</a:t>
            </a:r>
            <a:endParaRPr lang="en-US" sz="2000" dirty="0"/>
          </a:p>
        </p:txBody>
      </p:sp>
      <p:sp>
        <p:nvSpPr>
          <p:cNvPr id="15" name="Shape 10"/>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6"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7" name="Text 11"/>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4:00</a:t>
            </a:r>
            <a:endParaRPr lang="en-US" sz="3000" dirty="0"/>
          </a:p>
        </p:txBody>
      </p:sp>
      <p:sp>
        <p:nvSpPr>
          <p:cNvPr id="18" name="Text 12"/>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Silent note writing</a:t>
            </a:r>
            <a:endParaRPr lang="en-US" sz="1200" dirty="0"/>
          </a:p>
        </p:txBody>
      </p:sp>
      <p:sp>
        <p:nvSpPr>
          <p:cNvPr id="19" name="Text 13"/>
          <p:cNvSpPr/>
          <p:nvPr/>
        </p:nvSpPr>
        <p:spPr>
          <a:xfrm>
            <a:off x="502920" y="1761744"/>
            <a:ext cx="8899855" cy="859536"/>
          </a:xfrm>
          <a:prstGeom prst="rect">
            <a:avLst/>
          </a:prstGeom>
          <a:noFill/>
          <a:ln/>
        </p:spPr>
        <p:txBody>
          <a:bodyPr wrap="square" lIns="0" tIns="0" rIns="0" bIns="0" rtlCol="0" anchor="t"/>
          <a:lstStyle/>
          <a:p>
            <a:pPr indent="0" marL="0">
              <a:buNone/>
            </a:pPr>
            <a:r>
              <a:rPr lang="en-US" sz="2700" b="1" dirty="0">
                <a:solidFill>
                  <a:srgbClr val="7E5D32"/>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2700" dirty="0"/>
          </a:p>
        </p:txBody>
      </p:sp>
      <p:sp>
        <p:nvSpPr>
          <p:cNvPr id="20" name="Shape 14"/>
          <p:cNvSpPr/>
          <p:nvPr/>
        </p:nvSpPr>
        <p:spPr>
          <a:xfrm>
            <a:off x="502920" y="2804160"/>
            <a:ext cx="2844698" cy="2468880"/>
          </a:xfrm>
          <a:prstGeom prst="roundRect">
            <a:avLst>
              <a:gd name="adj" fmla="val 5926"/>
            </a:avLst>
          </a:prstGeom>
          <a:solidFill>
            <a:srgbClr val="D7F2F9"/>
          </a:solidFill>
          <a:ln w="25400">
            <a:solidFill>
              <a:srgbClr val="47C6E4"/>
            </a:solidFill>
            <a:prstDash val="solid"/>
          </a:ln>
        </p:spPr>
      </p:sp>
      <p:pic>
        <p:nvPicPr>
          <p:cNvPr id="21" name="Image 4" descr="Yellow note: a NEW question from today">    </p:cNvPr>
          <p:cNvPicPr>
            <a:picLocks noChangeAspect="1"/>
          </p:cNvPicPr>
          <p:nvPr/>
        </p:nvPicPr>
        <p:blipFill>
          <a:blip r:embed="rId5"/>
          <a:stretch>
            <a:fillRect/>
          </a:stretch>
        </p:blipFill>
        <p:spPr>
          <a:xfrm>
            <a:off x="1490929" y="2941320"/>
            <a:ext cx="868680" cy="868680"/>
          </a:xfrm>
          <a:prstGeom prst="rect">
            <a:avLst/>
          </a:prstGeom>
        </p:spPr>
      </p:pic>
      <p:sp>
        <p:nvSpPr>
          <p:cNvPr id="22" name="Text 15"/>
          <p:cNvSpPr/>
          <p:nvPr/>
        </p:nvSpPr>
        <p:spPr>
          <a:xfrm>
            <a:off x="640080" y="3855720"/>
            <a:ext cx="2570378" cy="1325880"/>
          </a:xfrm>
          <a:prstGeom prst="rect">
            <a:avLst/>
          </a:prstGeom>
          <a:noFill/>
          <a:ln/>
        </p:spPr>
        <p:txBody>
          <a:bodyPr wrap="square" lIns="0" tIns="0" rIns="0" bIns="0" rtlCol="0" anchor="ctr"/>
          <a:lstStyle/>
          <a:p>
            <a:pPr algn="ctr" indent="0" marL="0">
              <a:buNone/>
            </a:pPr>
            <a:r>
              <a:rPr lang="en-US" sz="2500" b="1" dirty="0">
                <a:solidFill>
                  <a:srgbClr val="1A1A1A"/>
                </a:solidFill>
                <a:latin typeface="Calibri" pitchFamily="34" charset="0"/>
                <a:ea typeface="Calibri" pitchFamily="34" charset="-122"/>
                <a:cs typeface="Calibri" pitchFamily="34" charset="-120"/>
              </a:rPr>
              <a:t>Yellow note: a NEW question from today</a:t>
            </a:r>
            <a:endParaRPr lang="en-US" sz="2500" dirty="0"/>
          </a:p>
        </p:txBody>
      </p:sp>
      <p:sp>
        <p:nvSpPr>
          <p:cNvPr id="23" name="Shape 16"/>
          <p:cNvSpPr/>
          <p:nvPr/>
        </p:nvSpPr>
        <p:spPr>
          <a:xfrm>
            <a:off x="3530498" y="2804160"/>
            <a:ext cx="2844698" cy="2468880"/>
          </a:xfrm>
          <a:prstGeom prst="roundRect">
            <a:avLst>
              <a:gd name="adj" fmla="val 5926"/>
            </a:avLst>
          </a:prstGeom>
          <a:solidFill>
            <a:srgbClr val="F6F8CF"/>
          </a:solidFill>
          <a:ln w="25400">
            <a:solidFill>
              <a:srgbClr val="D7DF23"/>
            </a:solidFill>
            <a:prstDash val="solid"/>
          </a:ln>
        </p:spPr>
      </p:sp>
      <p:pic>
        <p:nvPicPr>
          <p:cNvPr id="24" name="Image 5" descr="Green note: something you saw today that helps">    </p:cNvPr>
          <p:cNvPicPr>
            <a:picLocks noChangeAspect="1"/>
          </p:cNvPicPr>
          <p:nvPr/>
        </p:nvPicPr>
        <p:blipFill>
          <a:blip r:embed="rId6"/>
          <a:stretch>
            <a:fillRect/>
          </a:stretch>
        </p:blipFill>
        <p:spPr>
          <a:xfrm>
            <a:off x="4518508" y="2941320"/>
            <a:ext cx="868680" cy="868680"/>
          </a:xfrm>
          <a:prstGeom prst="rect">
            <a:avLst/>
          </a:prstGeom>
        </p:spPr>
      </p:pic>
      <p:sp>
        <p:nvSpPr>
          <p:cNvPr id="25" name="Text 17"/>
          <p:cNvSpPr/>
          <p:nvPr/>
        </p:nvSpPr>
        <p:spPr>
          <a:xfrm>
            <a:off x="3667658" y="3855720"/>
            <a:ext cx="2570378" cy="1325880"/>
          </a:xfrm>
          <a:prstGeom prst="rect">
            <a:avLst/>
          </a:prstGeom>
          <a:noFill/>
          <a:ln/>
        </p:spPr>
        <p:txBody>
          <a:bodyPr wrap="square" lIns="0" tIns="0" rIns="0" bIns="0" rtlCol="0" anchor="ctr"/>
          <a:lstStyle/>
          <a:p>
            <a:pPr algn="ctr" indent="0" marL="0">
              <a:buNone/>
            </a:pPr>
            <a:r>
              <a:rPr lang="en-US" sz="2500" b="1" dirty="0">
                <a:solidFill>
                  <a:srgbClr val="1A1A1A"/>
                </a:solidFill>
                <a:latin typeface="Calibri" pitchFamily="34" charset="0"/>
                <a:ea typeface="Calibri" pitchFamily="34" charset="-122"/>
                <a:cs typeface="Calibri" pitchFamily="34" charset="-120"/>
              </a:rPr>
              <a:t>Green note: something you saw today that helps</a:t>
            </a:r>
            <a:endParaRPr lang="en-US" sz="2500" dirty="0"/>
          </a:p>
        </p:txBody>
      </p:sp>
      <p:sp>
        <p:nvSpPr>
          <p:cNvPr id="26" name="Shape 18"/>
          <p:cNvSpPr/>
          <p:nvPr/>
        </p:nvSpPr>
        <p:spPr>
          <a:xfrm>
            <a:off x="6558077" y="2804160"/>
            <a:ext cx="2844698" cy="2468880"/>
          </a:xfrm>
          <a:prstGeom prst="roundRect">
            <a:avLst>
              <a:gd name="adj" fmla="val 5926"/>
            </a:avLst>
          </a:prstGeom>
          <a:solidFill>
            <a:srgbClr val="F4CBE6"/>
          </a:solidFill>
          <a:ln w="25400">
            <a:solidFill>
              <a:srgbClr val="CF128C"/>
            </a:solidFill>
            <a:prstDash val="solid"/>
          </a:ln>
        </p:spPr>
      </p:sp>
      <p:pic>
        <p:nvPicPr>
          <p:cNvPr id="27" name="Image 6" descr="Star: a Lesson 1 question we have started to answer">    </p:cNvPr>
          <p:cNvPicPr>
            <a:picLocks noChangeAspect="1"/>
          </p:cNvPicPr>
          <p:nvPr/>
        </p:nvPicPr>
        <p:blipFill>
          <a:blip r:embed="rId7"/>
          <a:stretch>
            <a:fillRect/>
          </a:stretch>
        </p:blipFill>
        <p:spPr>
          <a:xfrm>
            <a:off x="7546086" y="2941320"/>
            <a:ext cx="868680" cy="868680"/>
          </a:xfrm>
          <a:prstGeom prst="rect">
            <a:avLst/>
          </a:prstGeom>
        </p:spPr>
      </p:pic>
      <p:sp>
        <p:nvSpPr>
          <p:cNvPr id="28" name="Text 19"/>
          <p:cNvSpPr/>
          <p:nvPr/>
        </p:nvSpPr>
        <p:spPr>
          <a:xfrm>
            <a:off x="6695237" y="3855720"/>
            <a:ext cx="2570378" cy="1325880"/>
          </a:xfrm>
          <a:prstGeom prst="rect">
            <a:avLst/>
          </a:prstGeom>
          <a:noFill/>
          <a:ln/>
        </p:spPr>
        <p:txBody>
          <a:bodyPr wrap="square" lIns="0" tIns="0" rIns="0" bIns="0" rtlCol="0" anchor="ctr"/>
          <a:lstStyle/>
          <a:p>
            <a:pPr algn="ctr" indent="0" marL="0">
              <a:buNone/>
            </a:pPr>
            <a:r>
              <a:rPr lang="en-US" sz="2500" b="1" dirty="0">
                <a:solidFill>
                  <a:srgbClr val="1A1A1A"/>
                </a:solidFill>
                <a:latin typeface="Calibri" pitchFamily="34" charset="0"/>
                <a:ea typeface="Calibri" pitchFamily="34" charset="-122"/>
                <a:cs typeface="Calibri" pitchFamily="34" charset="-120"/>
              </a:rPr>
              <a:t>Star: a Lesson 1 question we have started to answer</a:t>
            </a:r>
            <a:endParaRPr lang="en-US"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FF8EF"/>
          </a:solidFill>
          <a:ln w="12700">
            <a:solidFill>
              <a:srgbClr val="FFF8EF"/>
            </a:solidFill>
            <a:prstDash val="solid"/>
          </a:ln>
        </p:spPr>
      </p:sp>
      <p:sp>
        <p:nvSpPr>
          <p:cNvPr id="3" name="Shape 1"/>
          <p:cNvSpPr/>
          <p:nvPr/>
        </p:nvSpPr>
        <p:spPr>
          <a:xfrm>
            <a:off x="10637215" y="-1005840"/>
            <a:ext cx="2377440" cy="2377440"/>
          </a:xfrm>
          <a:prstGeom prst="ellipse">
            <a:avLst/>
          </a:prstGeom>
          <a:solidFill>
            <a:srgbClr val="FFFAF4"/>
          </a:solidFill>
          <a:ln w="12700">
            <a:solidFill>
              <a:srgbClr val="FFFAF4"/>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2104517" cy="292608"/>
          </a:xfrm>
          <a:prstGeom prst="roundRect">
            <a:avLst>
              <a:gd name="adj" fmla="val 50000"/>
            </a:avLst>
          </a:prstGeom>
          <a:solidFill>
            <a:srgbClr val="FCBA63"/>
          </a:solidFill>
          <a:ln w="12700">
            <a:solidFill>
              <a:srgbClr val="FCBA63"/>
            </a:solidFill>
            <a:prstDash val="solid"/>
          </a:ln>
        </p:spPr>
      </p:sp>
      <p:sp>
        <p:nvSpPr>
          <p:cNvPr id="8" name="Text 4"/>
          <p:cNvSpPr/>
          <p:nvPr/>
        </p:nvSpPr>
        <p:spPr>
          <a:xfrm>
            <a:off x="502920" y="292608"/>
            <a:ext cx="2104517" cy="292608"/>
          </a:xfrm>
          <a:prstGeom prst="rect">
            <a:avLst/>
          </a:prstGeom>
          <a:noFill/>
          <a:ln/>
        </p:spPr>
        <p:txBody>
          <a:bodyPr wrap="square" lIns="0" tIns="0" rIns="0" bIns="0" rtlCol="0" anchor="ctr"/>
          <a:lstStyle/>
          <a:p>
            <a:pPr algn="ctr" indent="0" marL="0">
              <a:buNone/>
            </a:pPr>
            <a:r>
              <a:rPr lang="en-US" sz="1100" b="1" spc="150" kern="0" dirty="0">
                <a:solidFill>
                  <a:srgbClr val="1A1A1A"/>
                </a:solidFill>
                <a:latin typeface="Calibri" pitchFamily="34" charset="0"/>
                <a:ea typeface="Calibri" pitchFamily="34" charset="-122"/>
                <a:cs typeface="Calibri" pitchFamily="34" charset="-120"/>
              </a:rPr>
              <a:t>DRIVING QUESTION BOARD</a:t>
            </a:r>
            <a:endParaRPr lang="en-US" sz="1100" dirty="0"/>
          </a:p>
        </p:txBody>
      </p:sp>
      <p:sp>
        <p:nvSpPr>
          <p:cNvPr id="9" name="Shape 5"/>
          <p:cNvSpPr/>
          <p:nvPr/>
        </p:nvSpPr>
        <p:spPr>
          <a:xfrm>
            <a:off x="502920" y="713232"/>
            <a:ext cx="713232" cy="713232"/>
          </a:xfrm>
          <a:prstGeom prst="ellipse">
            <a:avLst/>
          </a:prstGeom>
          <a:solidFill>
            <a:srgbClr val="FEF1E0"/>
          </a:solidFill>
          <a:ln w="31750">
            <a:solidFill>
              <a:srgbClr val="FCBA63"/>
            </a:solidFill>
            <a:prstDash val="solid"/>
          </a:ln>
        </p:spPr>
      </p:sp>
      <p:pic>
        <p:nvPicPr>
          <p:cNvPr id="10" name="Image 2" descr="/home/markk/ares/cbe-presentations/generators/presentations/assets/emoji/pushpin.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Does our evidence answer it yet?</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Listen to some notes. Then vote.</a:t>
            </a:r>
            <a:endParaRPr lang="en-US" sz="2000" dirty="0"/>
          </a:p>
        </p:txBody>
      </p:sp>
      <p:pic>
        <p:nvPicPr>
          <p:cNvPr id="13" name="Image 3" descr="A classroom wall covered in blank yellow and green sticky notes with small gold stars beside some of them.">    </p:cNvPr>
          <p:cNvPicPr>
            <a:picLocks noChangeAspect="1"/>
          </p:cNvPicPr>
          <p:nvPr/>
        </p:nvPicPr>
        <p:blipFill>
          <a:blip r:embed="rId4"/>
          <a:stretch>
            <a:fillRect/>
          </a:stretch>
        </p:blipFill>
        <p:spPr>
          <a:xfrm>
            <a:off x="7482535" y="1813560"/>
            <a:ext cx="4206240" cy="4206240"/>
          </a:xfrm>
          <a:prstGeom prst="rect">
            <a:avLst/>
          </a:prstGeom>
        </p:spPr>
      </p:pic>
      <p:sp>
        <p:nvSpPr>
          <p:cNvPr id="14" name="Text 8"/>
          <p:cNvSpPr/>
          <p:nvPr/>
        </p:nvSpPr>
        <p:spPr>
          <a:xfrm>
            <a:off x="502920" y="1761744"/>
            <a:ext cx="6613855" cy="493776"/>
          </a:xfrm>
          <a:prstGeom prst="rect">
            <a:avLst/>
          </a:prstGeom>
          <a:noFill/>
          <a:ln/>
        </p:spPr>
        <p:txBody>
          <a:bodyPr wrap="square" lIns="0" tIns="0" rIns="0" bIns="0" rtlCol="0" anchor="t"/>
          <a:lstStyle/>
          <a:p>
            <a:pPr indent="0" marL="0">
              <a:buNone/>
            </a:pPr>
            <a:r>
              <a:rPr lang="en-US" sz="3000" b="1" dirty="0">
                <a:solidFill>
                  <a:srgbClr val="7E5D32"/>
                </a:solidFill>
                <a:latin typeface="Calibri" pitchFamily="34" charset="0"/>
                <a:ea typeface="Calibri" pitchFamily="34" charset="-122"/>
                <a:cs typeface="Calibri" pitchFamily="34" charset="-120"/>
              </a:rPr>
              <a:t>Hands up: Yes, or Not yet?</a:t>
            </a:r>
            <a:endParaRPr 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CECEC"/>
          </a:solidFill>
          <a:ln w="12700">
            <a:solidFill>
              <a:srgbClr val="FCECEC"/>
            </a:solidFill>
            <a:prstDash val="solid"/>
          </a:ln>
        </p:spPr>
      </p:sp>
      <p:sp>
        <p:nvSpPr>
          <p:cNvPr id="3" name="Shape 1"/>
          <p:cNvSpPr/>
          <p:nvPr/>
        </p:nvSpPr>
        <p:spPr>
          <a:xfrm>
            <a:off x="10637215" y="-1005840"/>
            <a:ext cx="2377440" cy="2377440"/>
          </a:xfrm>
          <a:prstGeom prst="ellipse">
            <a:avLst/>
          </a:prstGeom>
          <a:solidFill>
            <a:srgbClr val="FDF2F2"/>
          </a:solidFill>
          <a:ln w="12700">
            <a:solidFill>
              <a:srgbClr val="FDF2F2"/>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538478" cy="292608"/>
          </a:xfrm>
          <a:prstGeom prst="roundRect">
            <a:avLst>
              <a:gd name="adj" fmla="val 50000"/>
            </a:avLst>
          </a:prstGeom>
          <a:solidFill>
            <a:srgbClr val="E44145"/>
          </a:solidFill>
          <a:ln w="12700">
            <a:solidFill>
              <a:srgbClr val="E44145"/>
            </a:solidFill>
            <a:prstDash val="solid"/>
          </a:ln>
        </p:spPr>
      </p:sp>
      <p:sp>
        <p:nvSpPr>
          <p:cNvPr id="8" name="Text 4"/>
          <p:cNvSpPr/>
          <p:nvPr/>
        </p:nvSpPr>
        <p:spPr>
          <a:xfrm>
            <a:off x="502920" y="292608"/>
            <a:ext cx="1538478"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9" name="Shape 5"/>
          <p:cNvSpPr/>
          <p:nvPr/>
        </p:nvSpPr>
        <p:spPr>
          <a:xfrm>
            <a:off x="502920" y="713232"/>
            <a:ext cx="713232" cy="713232"/>
          </a:xfrm>
          <a:prstGeom prst="ellipse">
            <a:avLst/>
          </a:prstGeom>
          <a:solidFill>
            <a:srgbClr val="FAD9DA"/>
          </a:solidFill>
          <a:ln w="31750">
            <a:solidFill>
              <a:srgbClr val="E44145"/>
            </a:solidFill>
            <a:prstDash val="solid"/>
          </a:ln>
        </p:spPr>
      </p:sp>
      <p:pic>
        <p:nvPicPr>
          <p:cNvPr id="10" name="Image 2" descr="/home/markk/ares/cbe-presentations/generators/presentations/assets/emoji/pencil.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Your cell model: Version 1</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Scientists use models. Models are never perfect.</a:t>
            </a:r>
            <a:endParaRPr lang="en-US" sz="2000" dirty="0"/>
          </a:p>
        </p:txBody>
      </p:sp>
      <p:sp>
        <p:nvSpPr>
          <p:cNvPr id="13" name="Shape 8"/>
          <p:cNvSpPr/>
          <p:nvPr/>
        </p:nvSpPr>
        <p:spPr>
          <a:xfrm>
            <a:off x="502920" y="1761744"/>
            <a:ext cx="2659304" cy="2514600"/>
          </a:xfrm>
          <a:prstGeom prst="roundRect">
            <a:avLst>
              <a:gd name="adj" fmla="val 5818"/>
            </a:avLst>
          </a:prstGeom>
          <a:solidFill>
            <a:srgbClr val="D7F2F9"/>
          </a:solidFill>
          <a:ln w="25400">
            <a:solidFill>
              <a:srgbClr val="47C6E4"/>
            </a:solidFill>
            <a:prstDash val="solid"/>
          </a:ln>
        </p:spPr>
      </p:sp>
      <p:pic>
        <p:nvPicPr>
          <p:cNvPr id="14" name="Image 3" descr="Heading: VERSION 1 and the date">    </p:cNvPr>
          <p:cNvPicPr>
            <a:picLocks noChangeAspect="1"/>
          </p:cNvPicPr>
          <p:nvPr/>
        </p:nvPicPr>
        <p:blipFill>
          <a:blip r:embed="rId4"/>
          <a:stretch>
            <a:fillRect/>
          </a:stretch>
        </p:blipFill>
        <p:spPr>
          <a:xfrm>
            <a:off x="1398232" y="1898904"/>
            <a:ext cx="868680" cy="868680"/>
          </a:xfrm>
          <a:prstGeom prst="rect">
            <a:avLst/>
          </a:prstGeom>
        </p:spPr>
      </p:pic>
      <p:sp>
        <p:nvSpPr>
          <p:cNvPr id="15" name="Text 9"/>
          <p:cNvSpPr/>
          <p:nvPr/>
        </p:nvSpPr>
        <p:spPr>
          <a:xfrm>
            <a:off x="640080" y="2813304"/>
            <a:ext cx="2384984" cy="137160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Heading: VERSION 1 and the date</a:t>
            </a:r>
            <a:endParaRPr lang="en-US" sz="2600" dirty="0"/>
          </a:p>
        </p:txBody>
      </p:sp>
      <p:sp>
        <p:nvSpPr>
          <p:cNvPr id="16" name="Shape 10"/>
          <p:cNvSpPr/>
          <p:nvPr/>
        </p:nvSpPr>
        <p:spPr>
          <a:xfrm>
            <a:off x="3345104" y="1761744"/>
            <a:ext cx="2659304" cy="2514600"/>
          </a:xfrm>
          <a:prstGeom prst="roundRect">
            <a:avLst>
              <a:gd name="adj" fmla="val 5818"/>
            </a:avLst>
          </a:prstGeom>
          <a:solidFill>
            <a:srgbClr val="F6F8CF"/>
          </a:solidFill>
          <a:ln w="25400">
            <a:solidFill>
              <a:srgbClr val="D7DF23"/>
            </a:solidFill>
            <a:prstDash val="solid"/>
          </a:ln>
        </p:spPr>
      </p:sp>
      <p:pic>
        <p:nvPicPr>
          <p:cNvPr id="17" name="Image 4" descr="Sketch and label 8 parts">    </p:cNvPr>
          <p:cNvPicPr>
            <a:picLocks noChangeAspect="1"/>
          </p:cNvPicPr>
          <p:nvPr/>
        </p:nvPicPr>
        <p:blipFill>
          <a:blip r:embed="rId5"/>
          <a:stretch>
            <a:fillRect/>
          </a:stretch>
        </p:blipFill>
        <p:spPr>
          <a:xfrm>
            <a:off x="4240416" y="1898904"/>
            <a:ext cx="868680" cy="868680"/>
          </a:xfrm>
          <a:prstGeom prst="rect">
            <a:avLst/>
          </a:prstGeom>
        </p:spPr>
      </p:pic>
      <p:sp>
        <p:nvSpPr>
          <p:cNvPr id="18" name="Text 11"/>
          <p:cNvSpPr/>
          <p:nvPr/>
        </p:nvSpPr>
        <p:spPr>
          <a:xfrm>
            <a:off x="3482264" y="2813304"/>
            <a:ext cx="2384984" cy="137160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Sketch and label 8 parts</a:t>
            </a:r>
            <a:endParaRPr lang="en-US" sz="2600" dirty="0"/>
          </a:p>
        </p:txBody>
      </p:sp>
      <p:sp>
        <p:nvSpPr>
          <p:cNvPr id="19" name="Shape 12"/>
          <p:cNvSpPr/>
          <p:nvPr/>
        </p:nvSpPr>
        <p:spPr>
          <a:xfrm>
            <a:off x="6187288" y="1761744"/>
            <a:ext cx="2659304" cy="2514600"/>
          </a:xfrm>
          <a:prstGeom prst="roundRect">
            <a:avLst>
              <a:gd name="adj" fmla="val 5818"/>
            </a:avLst>
          </a:prstGeom>
          <a:solidFill>
            <a:srgbClr val="F4CBE6"/>
          </a:solidFill>
          <a:ln w="25400">
            <a:solidFill>
              <a:srgbClr val="CF128C"/>
            </a:solidFill>
            <a:prstDash val="solid"/>
          </a:ln>
        </p:spPr>
      </p:sp>
      <p:pic>
        <p:nvPicPr>
          <p:cNvPr id="20" name="Image 5" descr="Model Key: one sentence for each label">    </p:cNvPr>
          <p:cNvPicPr>
            <a:picLocks noChangeAspect="1"/>
          </p:cNvPicPr>
          <p:nvPr/>
        </p:nvPicPr>
        <p:blipFill>
          <a:blip r:embed="rId6"/>
          <a:stretch>
            <a:fillRect/>
          </a:stretch>
        </p:blipFill>
        <p:spPr>
          <a:xfrm>
            <a:off x="7082600" y="1898904"/>
            <a:ext cx="868680" cy="868680"/>
          </a:xfrm>
          <a:prstGeom prst="rect">
            <a:avLst/>
          </a:prstGeom>
        </p:spPr>
      </p:pic>
      <p:sp>
        <p:nvSpPr>
          <p:cNvPr id="21" name="Text 13"/>
          <p:cNvSpPr/>
          <p:nvPr/>
        </p:nvSpPr>
        <p:spPr>
          <a:xfrm>
            <a:off x="6324448" y="2813304"/>
            <a:ext cx="2384984" cy="137160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Model Key: one sentence for each label</a:t>
            </a:r>
            <a:endParaRPr lang="en-US" sz="2600" dirty="0"/>
          </a:p>
        </p:txBody>
      </p:sp>
      <p:sp>
        <p:nvSpPr>
          <p:cNvPr id="22" name="Shape 14"/>
          <p:cNvSpPr/>
          <p:nvPr/>
        </p:nvSpPr>
        <p:spPr>
          <a:xfrm>
            <a:off x="9029471" y="1761744"/>
            <a:ext cx="2659304" cy="2514600"/>
          </a:xfrm>
          <a:prstGeom prst="roundRect">
            <a:avLst>
              <a:gd name="adj" fmla="val 5818"/>
            </a:avLst>
          </a:prstGeom>
          <a:solidFill>
            <a:srgbClr val="FEF0DD"/>
          </a:solidFill>
          <a:ln w="25400">
            <a:solidFill>
              <a:srgbClr val="FCBA63"/>
            </a:solidFill>
            <a:prstDash val="solid"/>
          </a:ln>
        </p:spPr>
      </p:sp>
      <p:pic>
        <p:nvPicPr>
          <p:cNvPr id="23" name="Image 6" descr="Limitation Statement: 2 gaps">    </p:cNvPr>
          <p:cNvPicPr>
            <a:picLocks noChangeAspect="1"/>
          </p:cNvPicPr>
          <p:nvPr/>
        </p:nvPicPr>
        <p:blipFill>
          <a:blip r:embed="rId7"/>
          <a:stretch>
            <a:fillRect/>
          </a:stretch>
        </p:blipFill>
        <p:spPr>
          <a:xfrm>
            <a:off x="9924783" y="1898904"/>
            <a:ext cx="868680" cy="868680"/>
          </a:xfrm>
          <a:prstGeom prst="rect">
            <a:avLst/>
          </a:prstGeom>
        </p:spPr>
      </p:pic>
      <p:sp>
        <p:nvSpPr>
          <p:cNvPr id="24" name="Text 15"/>
          <p:cNvSpPr/>
          <p:nvPr/>
        </p:nvSpPr>
        <p:spPr>
          <a:xfrm>
            <a:off x="9166631" y="2813304"/>
            <a:ext cx="2384984" cy="137160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Limitation Statement: 2 gaps</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CECEC"/>
          </a:solidFill>
          <a:ln w="12700">
            <a:solidFill>
              <a:srgbClr val="FCECEC"/>
            </a:solidFill>
            <a:prstDash val="solid"/>
          </a:ln>
        </p:spPr>
      </p:sp>
      <p:sp>
        <p:nvSpPr>
          <p:cNvPr id="3" name="Shape 1"/>
          <p:cNvSpPr/>
          <p:nvPr/>
        </p:nvSpPr>
        <p:spPr>
          <a:xfrm>
            <a:off x="10637215" y="-1005840"/>
            <a:ext cx="2377440" cy="2377440"/>
          </a:xfrm>
          <a:prstGeom prst="ellipse">
            <a:avLst/>
          </a:prstGeom>
          <a:solidFill>
            <a:srgbClr val="FDF2F2"/>
          </a:solidFill>
          <a:ln w="12700">
            <a:solidFill>
              <a:srgbClr val="FDF2F2"/>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538478" cy="292608"/>
          </a:xfrm>
          <a:prstGeom prst="roundRect">
            <a:avLst>
              <a:gd name="adj" fmla="val 50000"/>
            </a:avLst>
          </a:prstGeom>
          <a:solidFill>
            <a:srgbClr val="E44145"/>
          </a:solidFill>
          <a:ln w="12700">
            <a:solidFill>
              <a:srgbClr val="E44145"/>
            </a:solidFill>
            <a:prstDash val="solid"/>
          </a:ln>
        </p:spPr>
      </p:sp>
      <p:sp>
        <p:nvSpPr>
          <p:cNvPr id="8" name="Text 4"/>
          <p:cNvSpPr/>
          <p:nvPr/>
        </p:nvSpPr>
        <p:spPr>
          <a:xfrm>
            <a:off x="502920" y="292608"/>
            <a:ext cx="1538478"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AD9DA"/>
          </a:solidFill>
          <a:ln w="31750">
            <a:solidFill>
              <a:srgbClr val="E44145"/>
            </a:solidFill>
            <a:prstDash val="solid"/>
          </a:ln>
        </p:spPr>
      </p:sp>
      <p:pic>
        <p:nvPicPr>
          <p:cNvPr id="12" name="Image 2" descr="/home/markk/ares/cbe-presentations/generators/presentations/assets/emoji/pencil.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Draw Version 1 of your cell model</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Work silently. Use a pen, because you will add a new colour later.</a:t>
            </a:r>
            <a:endParaRPr lang="en-US" sz="2000" dirty="0"/>
          </a:p>
        </p:txBody>
      </p:sp>
      <p:sp>
        <p:nvSpPr>
          <p:cNvPr id="15" name="Shape 10"/>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6"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7" name="Text 11"/>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9:00</a:t>
            </a:r>
            <a:endParaRPr lang="en-US" sz="3000" dirty="0"/>
          </a:p>
        </p:txBody>
      </p:sp>
      <p:sp>
        <p:nvSpPr>
          <p:cNvPr id="18" name="Text 12"/>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Sketch and Key</a:t>
            </a:r>
            <a:endParaRPr lang="en-US" sz="1200" dirty="0"/>
          </a:p>
        </p:txBody>
      </p:sp>
      <p:sp>
        <p:nvSpPr>
          <p:cNvPr id="19" name="Shape 13"/>
          <p:cNvSpPr/>
          <p:nvPr/>
        </p:nvSpPr>
        <p:spPr>
          <a:xfrm>
            <a:off x="502920" y="1761744"/>
            <a:ext cx="8899855" cy="2249424"/>
          </a:xfrm>
          <a:prstGeom prst="roundRect">
            <a:avLst>
              <a:gd name="adj" fmla="val 5691"/>
            </a:avLst>
          </a:prstGeom>
          <a:solidFill>
            <a:srgbClr val="FAD9DA"/>
          </a:solidFill>
          <a:ln w="15875">
            <a:solidFill>
              <a:srgbClr val="ED8486"/>
            </a:solidFill>
            <a:prstDash val="solid"/>
          </a:ln>
        </p:spPr>
      </p:sp>
      <p:sp>
        <p:nvSpPr>
          <p:cNvPr id="20" name="Shape 14"/>
          <p:cNvSpPr/>
          <p:nvPr/>
        </p:nvSpPr>
        <p:spPr>
          <a:xfrm>
            <a:off x="521208" y="1926336"/>
            <a:ext cx="91440" cy="1920240"/>
          </a:xfrm>
          <a:prstGeom prst="rect">
            <a:avLst/>
          </a:prstGeom>
          <a:solidFill>
            <a:srgbClr val="E44145"/>
          </a:solidFill>
          <a:ln w="12700">
            <a:solidFill>
              <a:srgbClr val="E44145"/>
            </a:solidFill>
            <a:prstDash val="solid"/>
          </a:ln>
        </p:spPr>
      </p:sp>
      <p:sp>
        <p:nvSpPr>
          <p:cNvPr id="21" name="Text 15"/>
          <p:cNvSpPr/>
          <p:nvPr/>
        </p:nvSpPr>
        <p:spPr>
          <a:xfrm>
            <a:off x="868680" y="1898904"/>
            <a:ext cx="8259775" cy="1975104"/>
          </a:xfrm>
          <a:prstGeom prst="rect">
            <a:avLst/>
          </a:prstGeom>
          <a:noFill/>
          <a:ln/>
        </p:spPr>
        <p:txBody>
          <a:bodyPr wrap="square" lIns="0" tIns="0" rIns="0" bIns="0" rtlCol="0" anchor="ctr"/>
          <a:lstStyle/>
          <a:p>
            <a:pPr indent="0" marL="0">
              <a:spcAft>
                <a:spcPts val="600"/>
              </a:spcAft>
              <a:buNone/>
            </a:pPr>
            <a:r>
              <a:rPr lang="en-US" sz="2400" b="1" dirty="0">
                <a:solidFill>
                  <a:srgbClr val="1A1A1A"/>
                </a:solidFill>
                <a:latin typeface="Calibri" pitchFamily="34" charset="0"/>
                <a:ea typeface="Calibri" pitchFamily="34" charset="-122"/>
                <a:cs typeface="Calibri" pitchFamily="34" charset="-120"/>
              </a:rPr>
              <a:t>Sketch and label a generalised eukaryotic cell. You may choose plant or animal.</a:t>
            </a:r>
            <a:endParaRPr lang="en-US" sz="2400" dirty="0"/>
          </a:p>
          <a:p>
            <a:pPr indent="0" marL="0">
              <a:spcAft>
                <a:spcPts val="600"/>
              </a:spcAft>
              <a:buNone/>
            </a:pPr>
            <a:r>
              <a:rPr lang="en-US" sz="2400" b="1" dirty="0">
                <a:solidFill>
                  <a:srgbClr val="1A1A1A"/>
                </a:solidFill>
                <a:latin typeface="Calibri" pitchFamily="34" charset="0"/>
                <a:ea typeface="Calibri" pitchFamily="34" charset="-122"/>
                <a:cs typeface="Calibri" pitchFamily="34" charset="-120"/>
              </a:rPr>
              <a:t>Labels: cell membrane · cell wall (if plant) · nucleus · cytoplasm · mitochondria · ribosomes · vacuole (if plant) · endoplasmic reticulum</a:t>
            </a:r>
            <a:endParaRPr lang="en-US" sz="2400" dirty="0"/>
          </a:p>
        </p:txBody>
      </p:sp>
      <p:pic>
        <p:nvPicPr>
          <p:cNvPr id="22" name="Image 4" descr="/home/markk/ares/cbe-presentations/generators/presentations/assets/emoji/pencil.png">    </p:cNvPr>
          <p:cNvPicPr>
            <a:picLocks noChangeAspect="1"/>
          </p:cNvPicPr>
          <p:nvPr/>
        </p:nvPicPr>
        <p:blipFill>
          <a:blip r:embed="rId5"/>
          <a:stretch>
            <a:fillRect/>
          </a:stretch>
        </p:blipFill>
        <p:spPr>
          <a:xfrm>
            <a:off x="502920" y="4212336"/>
            <a:ext cx="475488" cy="475488"/>
          </a:xfrm>
          <a:prstGeom prst="rect">
            <a:avLst/>
          </a:prstGeom>
        </p:spPr>
      </p:pic>
      <p:sp>
        <p:nvSpPr>
          <p:cNvPr id="23" name="Text 16"/>
          <p:cNvSpPr/>
          <p:nvPr/>
        </p:nvSpPr>
        <p:spPr>
          <a:xfrm>
            <a:off x="1161288" y="4194048"/>
            <a:ext cx="8168335" cy="512064"/>
          </a:xfrm>
          <a:prstGeom prst="rect">
            <a:avLst/>
          </a:prstGeom>
          <a:noFill/>
          <a:ln/>
        </p:spPr>
        <p:txBody>
          <a:bodyPr wrap="square" lIns="0" tIns="0" rIns="0" bIns="0" rtlCol="0" anchor="ctr"/>
          <a:lstStyle/>
          <a:p>
            <a:pPr indent="0" marL="0">
              <a:buNone/>
            </a:pPr>
            <a:r>
              <a:rPr lang="en-US" sz="2100" dirty="0">
                <a:solidFill>
                  <a:srgbClr val="1A1A1A"/>
                </a:solidFill>
                <a:latin typeface="Calibri" pitchFamily="34" charset="0"/>
                <a:ea typeface="Calibri" pitchFamily="34" charset="-122"/>
                <a:cs typeface="Calibri" pitchFamily="34" charset="-120"/>
              </a:rPr>
              <a:t>Draw the cell on a full page.</a:t>
            </a:r>
            <a:endParaRPr lang="en-US" sz="2100" dirty="0"/>
          </a:p>
        </p:txBody>
      </p:sp>
      <p:pic>
        <p:nvPicPr>
          <p:cNvPr id="24" name="Image 5" descr="/home/markk/ares/cbe-presentations/generators/presentations/assets/emoji/memo.png">    </p:cNvPr>
          <p:cNvPicPr>
            <a:picLocks noChangeAspect="1"/>
          </p:cNvPicPr>
          <p:nvPr/>
        </p:nvPicPr>
        <p:blipFill>
          <a:blip r:embed="rId6"/>
          <a:stretch>
            <a:fillRect/>
          </a:stretch>
        </p:blipFill>
        <p:spPr>
          <a:xfrm>
            <a:off x="502920" y="4815840"/>
            <a:ext cx="475488" cy="475488"/>
          </a:xfrm>
          <a:prstGeom prst="rect">
            <a:avLst/>
          </a:prstGeom>
        </p:spPr>
      </p:pic>
      <p:sp>
        <p:nvSpPr>
          <p:cNvPr id="25" name="Text 17"/>
          <p:cNvSpPr/>
          <p:nvPr/>
        </p:nvSpPr>
        <p:spPr>
          <a:xfrm>
            <a:off x="1161288" y="4797552"/>
            <a:ext cx="8168335" cy="512064"/>
          </a:xfrm>
          <a:prstGeom prst="rect">
            <a:avLst/>
          </a:prstGeom>
          <a:noFill/>
          <a:ln/>
        </p:spPr>
        <p:txBody>
          <a:bodyPr wrap="square" lIns="0" tIns="0" rIns="0" bIns="0" rtlCol="0" anchor="ctr"/>
          <a:lstStyle/>
          <a:p>
            <a:pPr indent="0" marL="0">
              <a:buNone/>
            </a:pPr>
            <a:r>
              <a:rPr lang="en-US" sz="2100" dirty="0">
                <a:solidFill>
                  <a:srgbClr val="1A1A1A"/>
                </a:solidFill>
                <a:latin typeface="Calibri" pitchFamily="34" charset="0"/>
                <a:ea typeface="Calibri" pitchFamily="34" charset="-122"/>
                <a:cs typeface="Calibri" pitchFamily="34" charset="-120"/>
              </a:rPr>
              <a:t>Write the Model Key under your sketch.</a:t>
            </a:r>
            <a:endParaRPr lang="en-US" sz="2100" dirty="0"/>
          </a:p>
        </p:txBody>
      </p:sp>
      <p:pic>
        <p:nvPicPr>
          <p:cNvPr id="26" name="Image 6" descr="/home/markk/ares/cbe-presentations/generators/presentations/assets/emoji/book.png">    </p:cNvPr>
          <p:cNvPicPr>
            <a:picLocks noChangeAspect="1"/>
          </p:cNvPicPr>
          <p:nvPr/>
        </p:nvPicPr>
        <p:blipFill>
          <a:blip r:embed="rId7"/>
          <a:stretch>
            <a:fillRect/>
          </a:stretch>
        </p:blipFill>
        <p:spPr>
          <a:xfrm>
            <a:off x="502920" y="5419344"/>
            <a:ext cx="475488" cy="475488"/>
          </a:xfrm>
          <a:prstGeom prst="rect">
            <a:avLst/>
          </a:prstGeom>
        </p:spPr>
      </p:pic>
      <p:sp>
        <p:nvSpPr>
          <p:cNvPr id="27" name="Text 18"/>
          <p:cNvSpPr/>
          <p:nvPr/>
        </p:nvSpPr>
        <p:spPr>
          <a:xfrm>
            <a:off x="1161288" y="5401056"/>
            <a:ext cx="8168335" cy="512064"/>
          </a:xfrm>
          <a:prstGeom prst="rect">
            <a:avLst/>
          </a:prstGeom>
          <a:noFill/>
          <a:ln/>
        </p:spPr>
        <p:txBody>
          <a:bodyPr wrap="square" lIns="0" tIns="0" rIns="0" bIns="0" rtlCol="0" anchor="ctr"/>
          <a:lstStyle/>
          <a:p>
            <a:pPr indent="0" marL="0">
              <a:buNone/>
            </a:pPr>
            <a:r>
              <a:rPr lang="en-US" sz="2100" dirty="0">
                <a:solidFill>
                  <a:srgbClr val="1A1A1A"/>
                </a:solidFill>
                <a:latin typeface="Calibri" pitchFamily="34" charset="0"/>
                <a:ea typeface="Calibri" pitchFamily="34" charset="-122"/>
                <a:cs typeface="Calibri" pitchFamily="34" charset="-120"/>
              </a:rPr>
              <a:t>One sentence for each label: its role.</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CECEC"/>
          </a:solidFill>
          <a:ln w="12700">
            <a:solidFill>
              <a:srgbClr val="FCECEC"/>
            </a:solidFill>
            <a:prstDash val="solid"/>
          </a:ln>
        </p:spPr>
      </p:sp>
      <p:sp>
        <p:nvSpPr>
          <p:cNvPr id="3" name="Shape 1"/>
          <p:cNvSpPr/>
          <p:nvPr/>
        </p:nvSpPr>
        <p:spPr>
          <a:xfrm>
            <a:off x="10637215" y="-1005840"/>
            <a:ext cx="2377440" cy="2377440"/>
          </a:xfrm>
          <a:prstGeom prst="ellipse">
            <a:avLst/>
          </a:prstGeom>
          <a:solidFill>
            <a:srgbClr val="FDF2F2"/>
          </a:solidFill>
          <a:ln w="12700">
            <a:solidFill>
              <a:srgbClr val="FDF2F2"/>
            </a:solidFill>
            <a:prstDash val="solid"/>
          </a:ln>
        </p:spPr>
      </p:sp>
      <p:sp>
        <p:nvSpPr>
          <p:cNvPr id="4" name="Text 2"/>
          <p:cNvSpPr/>
          <p:nvPr/>
        </p:nvSpPr>
        <p:spPr>
          <a:xfrm>
            <a:off x="502920" y="6541008"/>
            <a:ext cx="7326125" cy="1524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 CC BY-NC 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538478" cy="292608"/>
          </a:xfrm>
          <a:prstGeom prst="roundRect">
            <a:avLst>
              <a:gd name="adj" fmla="val 50000"/>
            </a:avLst>
          </a:prstGeom>
          <a:solidFill>
            <a:srgbClr val="E44145"/>
          </a:solidFill>
          <a:ln w="12700">
            <a:solidFill>
              <a:srgbClr val="E44145"/>
            </a:solidFill>
            <a:prstDash val="solid"/>
          </a:ln>
        </p:spPr>
      </p:sp>
      <p:sp>
        <p:nvSpPr>
          <p:cNvPr id="8" name="Text 4"/>
          <p:cNvSpPr/>
          <p:nvPr/>
        </p:nvSpPr>
        <p:spPr>
          <a:xfrm>
            <a:off x="502920" y="292608"/>
            <a:ext cx="1538478"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9" name="Shape 5"/>
          <p:cNvSpPr/>
          <p:nvPr/>
        </p:nvSpPr>
        <p:spPr>
          <a:xfrm>
            <a:off x="9485325" y="292608"/>
            <a:ext cx="2203450" cy="292608"/>
          </a:xfrm>
          <a:prstGeom prst="roundRect">
            <a:avLst>
              <a:gd name="adj" fmla="val 50000"/>
            </a:avLst>
          </a:prstGeom>
          <a:solidFill>
            <a:srgbClr val="FFFFFF"/>
          </a:solidFill>
          <a:ln w="22225">
            <a:solidFill>
              <a:srgbClr val="1A1A1A"/>
            </a:solidFill>
            <a:prstDash val="solid"/>
          </a:ln>
        </p:spPr>
      </p:sp>
      <p:sp>
        <p:nvSpPr>
          <p:cNvPr id="10" name="Text 6"/>
          <p:cNvSpPr/>
          <p:nvPr/>
        </p:nvSpPr>
        <p:spPr>
          <a:xfrm>
            <a:off x="9485325" y="292608"/>
            <a:ext cx="2203450" cy="292608"/>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Calibri" pitchFamily="34" charset="0"/>
                <a:ea typeface="Calibri" pitchFamily="34" charset="-122"/>
                <a:cs typeface="Calibri" pitchFamily="34" charset="-120"/>
              </a:rPr>
              <a:t>CHECK FOR UNDERSTANDING</a:t>
            </a:r>
            <a:endParaRPr lang="en-US" sz="1100" dirty="0"/>
          </a:p>
        </p:txBody>
      </p:sp>
      <p:sp>
        <p:nvSpPr>
          <p:cNvPr id="11" name="Shape 7"/>
          <p:cNvSpPr/>
          <p:nvPr/>
        </p:nvSpPr>
        <p:spPr>
          <a:xfrm>
            <a:off x="502920" y="713232"/>
            <a:ext cx="713232" cy="713232"/>
          </a:xfrm>
          <a:prstGeom prst="ellipse">
            <a:avLst/>
          </a:prstGeom>
          <a:solidFill>
            <a:srgbClr val="FAD9DA"/>
          </a:solidFill>
          <a:ln w="31750">
            <a:solidFill>
              <a:srgbClr val="E44145"/>
            </a:solidFill>
            <a:prstDash val="solid"/>
          </a:ln>
        </p:spPr>
      </p:sp>
      <p:pic>
        <p:nvPicPr>
          <p:cNvPr id="12" name="Image 2" descr="/home/markk/ares/cbe-presentations/generators/presentations/assets/emoji/pencil.png">    </p:cNvPr>
          <p:cNvPicPr>
            <a:picLocks noChangeAspect="1"/>
          </p:cNvPicPr>
          <p:nvPr/>
        </p:nvPicPr>
        <p:blipFill>
          <a:blip r:embed="rId3"/>
          <a:stretch>
            <a:fillRect/>
          </a:stretch>
        </p:blipFill>
        <p:spPr>
          <a:xfrm>
            <a:off x="630936" y="841248"/>
            <a:ext cx="457200" cy="457200"/>
          </a:xfrm>
          <a:prstGeom prst="rect">
            <a:avLst/>
          </a:prstGeom>
        </p:spPr>
      </p:pic>
      <p:sp>
        <p:nvSpPr>
          <p:cNvPr id="13" name="Text 8"/>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The limits of my model</a:t>
            </a:r>
            <a:endParaRPr lang="en-US" sz="3200" dirty="0"/>
          </a:p>
        </p:txBody>
      </p:sp>
      <p:sp>
        <p:nvSpPr>
          <p:cNvPr id="14" name="Text 9"/>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Scientists say what they do not know yet.</a:t>
            </a:r>
            <a:endParaRPr lang="en-US" sz="2000" dirty="0"/>
          </a:p>
        </p:txBody>
      </p:sp>
      <p:sp>
        <p:nvSpPr>
          <p:cNvPr id="15" name="Shape 10"/>
          <p:cNvSpPr/>
          <p:nvPr/>
        </p:nvSpPr>
        <p:spPr>
          <a:xfrm>
            <a:off x="9585655" y="1761744"/>
            <a:ext cx="2103120" cy="868680"/>
          </a:xfrm>
          <a:prstGeom prst="roundRect">
            <a:avLst>
              <a:gd name="adj" fmla="val 21053"/>
            </a:avLst>
          </a:prstGeom>
          <a:solidFill>
            <a:srgbClr val="111111"/>
          </a:solidFill>
          <a:ln w="12700">
            <a:solidFill>
              <a:srgbClr val="111111"/>
            </a:solidFill>
            <a:prstDash val="solid"/>
          </a:ln>
        </p:spPr>
      </p:sp>
      <p:pic>
        <p:nvPicPr>
          <p:cNvPr id="16" name="Image 3" descr="/home/markk/ares/cbe-presentations/generators/presentations/assets/emoji/stopwatch.png">    </p:cNvPr>
          <p:cNvPicPr>
            <a:picLocks noChangeAspect="1"/>
          </p:cNvPicPr>
          <p:nvPr/>
        </p:nvPicPr>
        <p:blipFill>
          <a:blip r:embed="rId4"/>
          <a:stretch>
            <a:fillRect/>
          </a:stretch>
        </p:blipFill>
        <p:spPr>
          <a:xfrm>
            <a:off x="9722815" y="1871472"/>
            <a:ext cx="457200" cy="457200"/>
          </a:xfrm>
          <a:prstGeom prst="rect">
            <a:avLst/>
          </a:prstGeom>
        </p:spPr>
      </p:pic>
      <p:sp>
        <p:nvSpPr>
          <p:cNvPr id="17" name="Text 11"/>
          <p:cNvSpPr/>
          <p:nvPr/>
        </p:nvSpPr>
        <p:spPr>
          <a:xfrm>
            <a:off x="10134295" y="1798320"/>
            <a:ext cx="14630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1:00</a:t>
            </a:r>
            <a:endParaRPr lang="en-US" sz="3000" dirty="0"/>
          </a:p>
        </p:txBody>
      </p:sp>
      <p:sp>
        <p:nvSpPr>
          <p:cNvPr id="18" name="Text 12"/>
          <p:cNvSpPr/>
          <p:nvPr/>
        </p:nvSpPr>
        <p:spPr>
          <a:xfrm>
            <a:off x="9677095" y="2337816"/>
            <a:ext cx="1920240" cy="256032"/>
          </a:xfrm>
          <a:prstGeom prst="rect">
            <a:avLst/>
          </a:prstGeom>
          <a:noFill/>
          <a:ln/>
        </p:spPr>
        <p:txBody>
          <a:bodyPr wrap="square" lIns="0" tIns="0" rIns="0" bIns="0" rtlCol="0" anchor="ctr"/>
          <a:lstStyle/>
          <a:p>
            <a:pPr algn="ctr" indent="0" marL="0">
              <a:buNone/>
            </a:pPr>
            <a:r>
              <a:rPr lang="en-US" sz="1200" dirty="0">
                <a:solidFill>
                  <a:srgbClr val="DDDDDD"/>
                </a:solidFill>
                <a:latin typeface="Calibri" pitchFamily="34" charset="0"/>
                <a:ea typeface="Calibri" pitchFamily="34" charset="-122"/>
                <a:cs typeface="Calibri" pitchFamily="34" charset="-120"/>
              </a:rPr>
              <a:t>Partner share</a:t>
            </a:r>
            <a:endParaRPr lang="en-US" sz="1200" dirty="0"/>
          </a:p>
        </p:txBody>
      </p:sp>
      <p:sp>
        <p:nvSpPr>
          <p:cNvPr id="19" name="Shape 13"/>
          <p:cNvSpPr/>
          <p:nvPr/>
        </p:nvSpPr>
        <p:spPr>
          <a:xfrm>
            <a:off x="502920" y="1761744"/>
            <a:ext cx="8899855" cy="3005328"/>
          </a:xfrm>
          <a:prstGeom prst="roundRect">
            <a:avLst>
              <a:gd name="adj" fmla="val 4260"/>
            </a:avLst>
          </a:prstGeom>
          <a:solidFill>
            <a:srgbClr val="FAD9DA"/>
          </a:solidFill>
          <a:ln w="15875">
            <a:solidFill>
              <a:srgbClr val="ED8486"/>
            </a:solidFill>
            <a:prstDash val="solid"/>
          </a:ln>
        </p:spPr>
      </p:sp>
      <p:sp>
        <p:nvSpPr>
          <p:cNvPr id="20" name="Shape 14"/>
          <p:cNvSpPr/>
          <p:nvPr/>
        </p:nvSpPr>
        <p:spPr>
          <a:xfrm>
            <a:off x="521208" y="1926336"/>
            <a:ext cx="91440" cy="2676144"/>
          </a:xfrm>
          <a:prstGeom prst="rect">
            <a:avLst/>
          </a:prstGeom>
          <a:solidFill>
            <a:srgbClr val="E44145"/>
          </a:solidFill>
          <a:ln w="12700">
            <a:solidFill>
              <a:srgbClr val="E44145"/>
            </a:solidFill>
            <a:prstDash val="solid"/>
          </a:ln>
        </p:spPr>
      </p:sp>
      <p:sp>
        <p:nvSpPr>
          <p:cNvPr id="21" name="Text 15"/>
          <p:cNvSpPr/>
          <p:nvPr/>
        </p:nvSpPr>
        <p:spPr>
          <a:xfrm>
            <a:off x="868680" y="1898904"/>
            <a:ext cx="8259775" cy="2731008"/>
          </a:xfrm>
          <a:prstGeom prst="rect">
            <a:avLst/>
          </a:prstGeom>
          <a:noFill/>
          <a:ln/>
        </p:spPr>
        <p:txBody>
          <a:bodyPr wrap="square" lIns="0" tIns="0" rIns="0" bIns="0" rtlCol="0" anchor="ctr"/>
          <a:lstStyle/>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At the bottom of your page write: This model does not yet show…</a:t>
            </a:r>
            <a:endParaRPr lang="en-US" sz="3200" dirty="0"/>
          </a:p>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List at least 2 gaps.</a:t>
            </a:r>
            <a:endParaRPr lang="en-US" sz="3200" dirty="0"/>
          </a:p>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Share with your partner. Add one of their gaps.</a:t>
            </a:r>
            <a:endParaRPr lang="en-US" sz="3200" dirty="0"/>
          </a:p>
          <a:p>
            <a:pPr indent="0" marL="0">
              <a:spcAft>
                <a:spcPts val="600"/>
              </a:spcAft>
              <a:buNone/>
            </a:pPr>
            <a:r>
              <a:rPr lang="en-US" sz="3200" b="1" dirty="0">
                <a:solidFill>
                  <a:srgbClr val="1A1A1A"/>
                </a:solidFill>
                <a:latin typeface="Calibri" pitchFamily="34" charset="0"/>
                <a:ea typeface="Calibri" pitchFamily="34" charset="-122"/>
                <a:cs typeface="Calibri" pitchFamily="34" charset="-120"/>
              </a:rPr>
              <a:t>Last, write: Next lesson, I predict… because…</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8991295" y="3931920"/>
            <a:ext cx="4937760" cy="4937760"/>
          </a:xfrm>
          <a:prstGeom prst="ellipse">
            <a:avLst/>
          </a:prstGeom>
          <a:solidFill>
            <a:srgbClr val="FCECEC"/>
          </a:solidFill>
          <a:ln w="12700">
            <a:solidFill>
              <a:srgbClr val="FCECEC"/>
            </a:solidFill>
            <a:prstDash val="solid"/>
          </a:ln>
        </p:spPr>
      </p:sp>
      <p:sp>
        <p:nvSpPr>
          <p:cNvPr id="3" name="Shape 1"/>
          <p:cNvSpPr/>
          <p:nvPr/>
        </p:nvSpPr>
        <p:spPr>
          <a:xfrm>
            <a:off x="10637215" y="-1005840"/>
            <a:ext cx="2377440" cy="2377440"/>
          </a:xfrm>
          <a:prstGeom prst="ellipse">
            <a:avLst/>
          </a:prstGeom>
          <a:solidFill>
            <a:srgbClr val="FDF2F2"/>
          </a:solidFill>
          <a:ln w="12700">
            <a:solidFill>
              <a:srgbClr val="FDF2F2"/>
            </a:solidFill>
            <a:prstDash val="solid"/>
          </a:ln>
        </p:spPr>
      </p:sp>
      <p:sp>
        <p:nvSpPr>
          <p:cNvPr id="4" name="Text 2"/>
          <p:cNvSpPr/>
          <p:nvPr/>
        </p:nvSpPr>
        <p:spPr>
          <a:xfrm>
            <a:off x="502920" y="6236208"/>
            <a:ext cx="7326125" cy="457200"/>
          </a:xfrm>
          <a:prstGeom prst="rect">
            <a:avLst/>
          </a:prstGeom>
          <a:noFill/>
          <a:ln/>
        </p:spPr>
        <p:txBody>
          <a:bodyPr wrap="square" lIns="0" tIns="0" rIns="0" bIns="0" rtlCol="0" anchor="b"/>
          <a:lstStyle/>
          <a:p>
            <a:pPr indent="0" marL="0">
              <a:buNone/>
            </a:pPr>
            <a:r>
              <a:rPr lang="en-US" sz="1000" dirty="0">
                <a:solidFill>
                  <a:srgbClr val="666666"/>
                </a:solidFill>
                <a:latin typeface="Calibri" pitchFamily="34" charset="0"/>
                <a:ea typeface="Calibri" pitchFamily="34" charset="-122"/>
                <a:cs typeface="Calibri" pitchFamily="34" charset="-120"/>
              </a:rPr>
              <a:t>© 2026 SeaVuria and ARES Education. Aligned with KICD objectives. Developed by SeaVuria; technical implementation by ARES (with AI assistance from Claude). Licensed under CC BY-NC 4.0 (https://creativecommons.org/licenses/by-nc/4.0/). · Biology G10 · Cell Structure · Lesson 2</a:t>
            </a:r>
            <a:endParaRPr lang="en-US" sz="1000" dirty="0"/>
          </a:p>
        </p:txBody>
      </p:sp>
      <p:pic>
        <p:nvPicPr>
          <p:cNvPr id="5" name="Image 0" descr="ARES Education logo">    </p:cNvPr>
          <p:cNvPicPr>
            <a:picLocks noChangeAspect="1"/>
          </p:cNvPicPr>
          <p:nvPr/>
        </p:nvPicPr>
        <p:blipFill>
          <a:blip r:embed="rId1"/>
          <a:stretch>
            <a:fillRect/>
          </a:stretch>
        </p:blipFill>
        <p:spPr>
          <a:xfrm>
            <a:off x="8240525" y="6236208"/>
            <a:ext cx="842211" cy="457200"/>
          </a:xfrm>
          <a:prstGeom prst="rect">
            <a:avLst/>
          </a:prstGeom>
        </p:spPr>
      </p:pic>
      <p:pic>
        <p:nvPicPr>
          <p:cNvPr id="6" name="Image 1" descr="SeaVuria logo">    </p:cNvPr>
          <p:cNvPicPr>
            <a:picLocks noChangeAspect="1"/>
          </p:cNvPicPr>
          <p:nvPr/>
        </p:nvPicPr>
        <p:blipFill>
          <a:blip r:embed="rId2"/>
          <a:stretch>
            <a:fillRect/>
          </a:stretch>
        </p:blipFill>
        <p:spPr>
          <a:xfrm>
            <a:off x="9265615" y="6236208"/>
            <a:ext cx="2286000" cy="457200"/>
          </a:xfrm>
          <a:prstGeom prst="rect">
            <a:avLst/>
          </a:prstGeom>
        </p:spPr>
      </p:pic>
      <p:sp>
        <p:nvSpPr>
          <p:cNvPr id="7" name="Shape 3"/>
          <p:cNvSpPr/>
          <p:nvPr/>
        </p:nvSpPr>
        <p:spPr>
          <a:xfrm>
            <a:off x="502920" y="292608"/>
            <a:ext cx="1517650" cy="292608"/>
          </a:xfrm>
          <a:prstGeom prst="roundRect">
            <a:avLst>
              <a:gd name="adj" fmla="val 50000"/>
            </a:avLst>
          </a:prstGeom>
          <a:solidFill>
            <a:srgbClr val="E44145"/>
          </a:solidFill>
          <a:ln w="12700">
            <a:solidFill>
              <a:srgbClr val="E44145"/>
            </a:solidFill>
            <a:prstDash val="solid"/>
          </a:ln>
        </p:spPr>
      </p:sp>
      <p:sp>
        <p:nvSpPr>
          <p:cNvPr id="8" name="Text 4"/>
          <p:cNvSpPr/>
          <p:nvPr/>
        </p:nvSpPr>
        <p:spPr>
          <a:xfrm>
            <a:off x="502920" y="292608"/>
            <a:ext cx="1517650" cy="29260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SUMMARY TABLE</a:t>
            </a:r>
            <a:endParaRPr lang="en-US" sz="1100" dirty="0"/>
          </a:p>
        </p:txBody>
      </p:sp>
      <p:sp>
        <p:nvSpPr>
          <p:cNvPr id="9" name="Shape 5"/>
          <p:cNvSpPr/>
          <p:nvPr/>
        </p:nvSpPr>
        <p:spPr>
          <a:xfrm>
            <a:off x="502920" y="713232"/>
            <a:ext cx="713232" cy="713232"/>
          </a:xfrm>
          <a:prstGeom prst="ellipse">
            <a:avLst/>
          </a:prstGeom>
          <a:solidFill>
            <a:srgbClr val="FAD9DA"/>
          </a:solidFill>
          <a:ln w="31750">
            <a:solidFill>
              <a:srgbClr val="E44145"/>
            </a:solidFill>
            <a:prstDash val="solid"/>
          </a:ln>
        </p:spPr>
      </p:sp>
      <p:pic>
        <p:nvPicPr>
          <p:cNvPr id="10" name="Image 2" descr="/home/markk/ares/cbe-presentations/generators/presentations/assets/emoji/memo.png">    </p:cNvPr>
          <p:cNvPicPr>
            <a:picLocks noChangeAspect="1"/>
          </p:cNvPicPr>
          <p:nvPr/>
        </p:nvPicPr>
        <p:blipFill>
          <a:blip r:embed="rId3"/>
          <a:stretch>
            <a:fillRect/>
          </a:stretch>
        </p:blipFill>
        <p:spPr>
          <a:xfrm>
            <a:off x="630936" y="841248"/>
            <a:ext cx="457200" cy="457200"/>
          </a:xfrm>
          <a:prstGeom prst="rect">
            <a:avLst/>
          </a:prstGeom>
        </p:spPr>
      </p:pic>
      <p:sp>
        <p:nvSpPr>
          <p:cNvPr id="11" name="Text 6"/>
          <p:cNvSpPr/>
          <p:nvPr/>
        </p:nvSpPr>
        <p:spPr>
          <a:xfrm>
            <a:off x="1371600" y="713232"/>
            <a:ext cx="10317175" cy="487680"/>
          </a:xfrm>
          <a:prstGeom prst="rect">
            <a:avLst/>
          </a:prstGeom>
          <a:noFill/>
          <a:ln/>
        </p:spPr>
        <p:txBody>
          <a:bodyPr wrap="square" lIns="0" tIns="0" rIns="0" bIns="0" rtlCol="0" anchor="t"/>
          <a:lstStyle/>
          <a:p>
            <a:pPr indent="0" marL="0">
              <a:buNone/>
            </a:pPr>
            <a:r>
              <a:rPr lang="en-US" sz="3200" b="1" dirty="0">
                <a:solidFill>
                  <a:srgbClr val="1A1A1A"/>
                </a:solidFill>
                <a:latin typeface="Calibri" pitchFamily="34" charset="0"/>
                <a:ea typeface="Calibri" pitchFamily="34" charset="-122"/>
                <a:cs typeface="Calibri" pitchFamily="34" charset="-120"/>
              </a:rPr>
              <a:t>Summary Table: Lesson 2</a:t>
            </a:r>
            <a:endParaRPr lang="en-US" sz="3200" dirty="0"/>
          </a:p>
        </p:txBody>
      </p:sp>
      <p:sp>
        <p:nvSpPr>
          <p:cNvPr id="12" name="Text 7"/>
          <p:cNvSpPr/>
          <p:nvPr/>
        </p:nvSpPr>
        <p:spPr>
          <a:xfrm>
            <a:off x="1371600" y="1274064"/>
            <a:ext cx="10317175" cy="304800"/>
          </a:xfrm>
          <a:prstGeom prst="rect">
            <a:avLst/>
          </a:prstGeom>
          <a:noFill/>
          <a:ln/>
        </p:spPr>
        <p:txBody>
          <a:bodyPr wrap="square" lIns="0" tIns="0" rIns="0" bIns="0" rtlCol="0" anchor="t"/>
          <a:lstStyle/>
          <a:p>
            <a:pPr indent="0" marL="0">
              <a:buNone/>
            </a:pPr>
            <a:r>
              <a:rPr lang="en-US" sz="2000" dirty="0">
                <a:solidFill>
                  <a:srgbClr val="555555"/>
                </a:solidFill>
                <a:latin typeface="Calibri" pitchFamily="34" charset="0"/>
                <a:ea typeface="Calibri" pitchFamily="34" charset="-122"/>
                <a:cs typeface="Calibri" pitchFamily="34" charset="-120"/>
              </a:rPr>
              <a:t>Fill in the Lesson 2 row of your Summary Table.</a:t>
            </a:r>
            <a:endParaRPr lang="en-US" sz="2000" dirty="0"/>
          </a:p>
        </p:txBody>
      </p:sp>
      <p:sp>
        <p:nvSpPr>
          <p:cNvPr id="13" name="Shape 8"/>
          <p:cNvSpPr/>
          <p:nvPr/>
        </p:nvSpPr>
        <p:spPr>
          <a:xfrm>
            <a:off x="502920" y="1761744"/>
            <a:ext cx="3606698" cy="2834640"/>
          </a:xfrm>
          <a:prstGeom prst="roundRect">
            <a:avLst>
              <a:gd name="adj" fmla="val 3871"/>
            </a:avLst>
          </a:prstGeom>
          <a:solidFill>
            <a:srgbClr val="E7E7E7"/>
          </a:solidFill>
          <a:ln w="15875">
            <a:solidFill>
              <a:srgbClr val="ADADAD"/>
            </a:solidFill>
            <a:prstDash val="solid"/>
          </a:ln>
        </p:spPr>
      </p:sp>
      <p:pic>
        <p:nvPicPr>
          <p:cNvPr id="14" name="Image 3" descr="/home/markk/ares/cbe-presentations/generators/presentations/assets/emoji/eyes.png">    </p:cNvPr>
          <p:cNvPicPr>
            <a:picLocks noChangeAspect="1"/>
          </p:cNvPicPr>
          <p:nvPr/>
        </p:nvPicPr>
        <p:blipFill>
          <a:blip r:embed="rId4"/>
          <a:stretch>
            <a:fillRect/>
          </a:stretch>
        </p:blipFill>
        <p:spPr>
          <a:xfrm>
            <a:off x="667512" y="1908048"/>
            <a:ext cx="457200" cy="457200"/>
          </a:xfrm>
          <a:prstGeom prst="rect">
            <a:avLst/>
          </a:prstGeom>
        </p:spPr>
      </p:pic>
      <p:sp>
        <p:nvSpPr>
          <p:cNvPr id="15" name="Text 9"/>
          <p:cNvSpPr/>
          <p:nvPr/>
        </p:nvSpPr>
        <p:spPr>
          <a:xfrm>
            <a:off x="1234440" y="1926336"/>
            <a:ext cx="2692298" cy="822960"/>
          </a:xfrm>
          <a:prstGeom prst="rect">
            <a:avLst/>
          </a:prstGeom>
          <a:noFill/>
          <a:ln/>
        </p:spPr>
        <p:txBody>
          <a:bodyPr wrap="square" lIns="0" tIns="0" rIns="0" bIns="0" rtlCol="0" anchor="ctr"/>
          <a:lstStyle/>
          <a:p>
            <a:pPr indent="0" marL="0">
              <a:buNone/>
            </a:pPr>
            <a:r>
              <a:rPr lang="en-US" sz="2700" b="1" dirty="0">
                <a:solidFill>
                  <a:srgbClr val="3C3C3C"/>
                </a:solidFill>
                <a:latin typeface="Calibri" pitchFamily="34" charset="0"/>
                <a:ea typeface="Calibri" pitchFamily="34" charset="-122"/>
                <a:cs typeface="Calibri" pitchFamily="34" charset="-120"/>
              </a:rPr>
              <a:t>What did I observe?</a:t>
            </a:r>
            <a:endParaRPr lang="en-US" sz="2700" dirty="0"/>
          </a:p>
        </p:txBody>
      </p:sp>
      <p:sp>
        <p:nvSpPr>
          <p:cNvPr id="16" name="Text 10"/>
          <p:cNvSpPr/>
          <p:nvPr/>
        </p:nvSpPr>
        <p:spPr>
          <a:xfrm>
            <a:off x="685800" y="2840736"/>
            <a:ext cx="3240938" cy="166420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Name the diagrams you studied and what you did with the cards.</a:t>
            </a:r>
            <a:endParaRPr lang="en-US" sz="2400" dirty="0"/>
          </a:p>
        </p:txBody>
      </p:sp>
      <p:sp>
        <p:nvSpPr>
          <p:cNvPr id="17" name="Shape 11"/>
          <p:cNvSpPr/>
          <p:nvPr/>
        </p:nvSpPr>
        <p:spPr>
          <a:xfrm>
            <a:off x="4292498" y="1761744"/>
            <a:ext cx="3606698" cy="2834640"/>
          </a:xfrm>
          <a:prstGeom prst="roundRect">
            <a:avLst>
              <a:gd name="adj" fmla="val 3871"/>
            </a:avLst>
          </a:prstGeom>
          <a:solidFill>
            <a:srgbClr val="E7E7E7"/>
          </a:solidFill>
          <a:ln w="15875">
            <a:solidFill>
              <a:srgbClr val="ADADAD"/>
            </a:solidFill>
            <a:prstDash val="solid"/>
          </a:ln>
        </p:spPr>
      </p:sp>
      <p:pic>
        <p:nvPicPr>
          <p:cNvPr id="18" name="Image 4" descr="/home/markk/ares/cbe-presentations/generators/presentations/assets/emoji/books.png">    </p:cNvPr>
          <p:cNvPicPr>
            <a:picLocks noChangeAspect="1"/>
          </p:cNvPicPr>
          <p:nvPr/>
        </p:nvPicPr>
        <p:blipFill>
          <a:blip r:embed="rId5"/>
          <a:stretch>
            <a:fillRect/>
          </a:stretch>
        </p:blipFill>
        <p:spPr>
          <a:xfrm>
            <a:off x="4457090" y="1908048"/>
            <a:ext cx="457200" cy="457200"/>
          </a:xfrm>
          <a:prstGeom prst="rect">
            <a:avLst/>
          </a:prstGeom>
        </p:spPr>
      </p:pic>
      <p:sp>
        <p:nvSpPr>
          <p:cNvPr id="19" name="Text 12"/>
          <p:cNvSpPr/>
          <p:nvPr/>
        </p:nvSpPr>
        <p:spPr>
          <a:xfrm>
            <a:off x="5024018" y="1926336"/>
            <a:ext cx="2692298" cy="457200"/>
          </a:xfrm>
          <a:prstGeom prst="rect">
            <a:avLst/>
          </a:prstGeom>
          <a:noFill/>
          <a:ln/>
        </p:spPr>
        <p:txBody>
          <a:bodyPr wrap="square" lIns="0" tIns="0" rIns="0" bIns="0" rtlCol="0" anchor="ctr"/>
          <a:lstStyle/>
          <a:p>
            <a:pPr indent="0" marL="0">
              <a:buNone/>
            </a:pPr>
            <a:r>
              <a:rPr lang="en-US" sz="2700" b="1" dirty="0">
                <a:solidFill>
                  <a:srgbClr val="3C3C3C"/>
                </a:solidFill>
                <a:latin typeface="Calibri" pitchFamily="34" charset="0"/>
                <a:ea typeface="Calibri" pitchFamily="34" charset="-122"/>
                <a:cs typeface="Calibri" pitchFamily="34" charset="-120"/>
              </a:rPr>
              <a:t>What did I learn?</a:t>
            </a:r>
            <a:endParaRPr lang="en-US" sz="2700" dirty="0"/>
          </a:p>
        </p:txBody>
      </p:sp>
      <p:sp>
        <p:nvSpPr>
          <p:cNvPr id="20" name="Text 13"/>
          <p:cNvSpPr/>
          <p:nvPr/>
        </p:nvSpPr>
        <p:spPr>
          <a:xfrm>
            <a:off x="4475378" y="2520696"/>
            <a:ext cx="3240938" cy="198424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Write the three ideas of cell theory and one difference between the two kinds of cell.</a:t>
            </a:r>
            <a:endParaRPr lang="en-US" sz="2400" dirty="0"/>
          </a:p>
        </p:txBody>
      </p:sp>
      <p:sp>
        <p:nvSpPr>
          <p:cNvPr id="21" name="Shape 14"/>
          <p:cNvSpPr/>
          <p:nvPr/>
        </p:nvSpPr>
        <p:spPr>
          <a:xfrm>
            <a:off x="8082077" y="1761744"/>
            <a:ext cx="3606698" cy="2834640"/>
          </a:xfrm>
          <a:prstGeom prst="roundRect">
            <a:avLst>
              <a:gd name="adj" fmla="val 3871"/>
            </a:avLst>
          </a:prstGeom>
          <a:solidFill>
            <a:srgbClr val="E7E7E7"/>
          </a:solidFill>
          <a:ln w="15875">
            <a:solidFill>
              <a:srgbClr val="ADADAD"/>
            </a:solidFill>
            <a:prstDash val="solid"/>
          </a:ln>
        </p:spPr>
      </p:sp>
      <p:pic>
        <p:nvPicPr>
          <p:cNvPr id="22" name="Image 5" descr="/home/markk/ares/cbe-presentations/generators/presentations/assets/emoji/lightbulb.png">    </p:cNvPr>
          <p:cNvPicPr>
            <a:picLocks noChangeAspect="1"/>
          </p:cNvPicPr>
          <p:nvPr/>
        </p:nvPicPr>
        <p:blipFill>
          <a:blip r:embed="rId6"/>
          <a:stretch>
            <a:fillRect/>
          </a:stretch>
        </p:blipFill>
        <p:spPr>
          <a:xfrm>
            <a:off x="8246669" y="1908048"/>
            <a:ext cx="457200" cy="457200"/>
          </a:xfrm>
          <a:prstGeom prst="rect">
            <a:avLst/>
          </a:prstGeom>
        </p:spPr>
      </p:pic>
      <p:sp>
        <p:nvSpPr>
          <p:cNvPr id="23" name="Text 15"/>
          <p:cNvSpPr/>
          <p:nvPr/>
        </p:nvSpPr>
        <p:spPr>
          <a:xfrm>
            <a:off x="8813597" y="1926336"/>
            <a:ext cx="2692298" cy="1234440"/>
          </a:xfrm>
          <a:prstGeom prst="rect">
            <a:avLst/>
          </a:prstGeom>
          <a:noFill/>
          <a:ln/>
        </p:spPr>
        <p:txBody>
          <a:bodyPr wrap="square" lIns="0" tIns="0" rIns="0" bIns="0" rtlCol="0" anchor="ctr"/>
          <a:lstStyle/>
          <a:p>
            <a:pPr indent="0" marL="0">
              <a:buNone/>
            </a:pPr>
            <a:r>
              <a:rPr lang="en-US" sz="2700" b="1" dirty="0">
                <a:solidFill>
                  <a:srgbClr val="3C3C3C"/>
                </a:solidFill>
                <a:latin typeface="Calibri" pitchFamily="34" charset="0"/>
                <a:ea typeface="Calibri" pitchFamily="34" charset="-122"/>
                <a:cs typeface="Calibri" pitchFamily="34" charset="-120"/>
              </a:rPr>
              <a:t>How does this explain the phenomenon?</a:t>
            </a:r>
            <a:endParaRPr lang="en-US" sz="2700" dirty="0"/>
          </a:p>
        </p:txBody>
      </p:sp>
      <p:sp>
        <p:nvSpPr>
          <p:cNvPr id="24" name="Text 16"/>
          <p:cNvSpPr/>
          <p:nvPr/>
        </p:nvSpPr>
        <p:spPr>
          <a:xfrm>
            <a:off x="8264957" y="3252216"/>
            <a:ext cx="3240938" cy="1252728"/>
          </a:xfrm>
          <a:prstGeom prst="rect">
            <a:avLst/>
          </a:prstGeom>
          <a:noFill/>
          <a:ln/>
        </p:spPr>
        <p:txBody>
          <a:bodyPr wrap="square" lIns="0" tIns="0" rIns="0" bIns="0" rtlCol="0" anchor="t"/>
          <a:lstStyle/>
          <a:p>
            <a:pPr indent="0" marL="0">
              <a:spcAft>
                <a:spcPts val="500"/>
              </a:spcAft>
              <a:buNone/>
            </a:pPr>
            <a:r>
              <a:rPr lang="en-US" sz="2400" dirty="0">
                <a:solidFill>
                  <a:srgbClr val="1A1A1A"/>
                </a:solidFill>
                <a:latin typeface="Calibri" pitchFamily="34" charset="0"/>
                <a:ea typeface="Calibri" pitchFamily="34" charset="-122"/>
                <a:cs typeface="Calibri" pitchFamily="34" charset="-120"/>
              </a:rPr>
              <a:t>How does Virchow's idea explain the new skin cells on Amina's finger?</a:t>
            </a:r>
            <a:endParaRPr lang="en-US" sz="2400" dirty="0"/>
          </a:p>
        </p:txBody>
      </p:sp>
      <p:sp>
        <p:nvSpPr>
          <p:cNvPr id="25" name="Text 17"/>
          <p:cNvSpPr/>
          <p:nvPr/>
        </p:nvSpPr>
        <p:spPr>
          <a:xfrm>
            <a:off x="502920" y="4779264"/>
            <a:ext cx="11185855" cy="493776"/>
          </a:xfrm>
          <a:prstGeom prst="rect">
            <a:avLst/>
          </a:prstGeom>
          <a:noFill/>
          <a:ln/>
        </p:spPr>
        <p:txBody>
          <a:bodyPr wrap="square" lIns="0" tIns="0" rIns="0" bIns="0" rtlCol="0" anchor="t"/>
          <a:lstStyle/>
          <a:p>
            <a:pPr indent="0" marL="0">
              <a:buNone/>
            </a:pPr>
            <a:r>
              <a:rPr lang="en-US" sz="3000" b="1" dirty="0">
                <a:solidFill>
                  <a:srgbClr val="3C3C3C"/>
                </a:solidFill>
                <a:latin typeface="Calibri" pitchFamily="34" charset="0"/>
                <a:ea typeface="Calibri" pitchFamily="34" charset="-122"/>
                <a:cs typeface="Calibri" pitchFamily="34" charset="-120"/>
              </a:rPr>
              <a:t>Next lesson: We compare a bacterium and a human cell more closely.</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SeaVuria and ARES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G10 Cell Structure Lesson 2: What Is a Cell? Introduction to Cell Theory</dc:title>
  <dc:subject>PptxGenJS Presentation</dc:subject>
  <dc:creator>SeaVuria and ARES Education</dc:creator>
  <cp:lastModifiedBy>SeaVuria and ARES Education</cp:lastModifiedBy>
  <cp:revision>1</cp:revision>
  <dcterms:created xsi:type="dcterms:W3CDTF">2026-10-23T05:51:36Z</dcterms:created>
  <dcterms:modified xsi:type="dcterms:W3CDTF">2026-10-23T05:51:36Z</dcterms:modified>
</cp:coreProperties>
</file>