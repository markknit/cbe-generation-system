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4" d="100"/>
          <a:sy n="84" d="100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0" Type="http://schemas.openxmlformats.org/officeDocument/2006/relationships/slide" Target="slides/slide69.xml" /><Relationship Id="rId71" Type="http://schemas.openxmlformats.org/officeDocument/2006/relationships/slide" Target="slides/slide70.xml" /><Relationship Id="rId72" Type="http://schemas.openxmlformats.org/officeDocument/2006/relationships/slide" Target="slides/slide71.xml" /><Relationship Id="rId73" Type="http://schemas.openxmlformats.org/officeDocument/2006/relationships/slide" Target="slides/slide72.xml" /><Relationship Id="rId74" Type="http://schemas.openxmlformats.org/officeDocument/2006/relationships/slide" Target="slides/slide73.xml" /><Relationship Id="rId75" Type="http://schemas.openxmlformats.org/officeDocument/2006/relationships/slide" Target="slides/slide74.xml" /><Relationship Id="rId76" Type="http://schemas.openxmlformats.org/officeDocument/2006/relationships/slide" Target="slides/slide75.xml" /><Relationship Id="rId77" Type="http://schemas.openxmlformats.org/officeDocument/2006/relationships/slide" Target="slides/slide76.xml" /><Relationship Id="rId78" Type="http://schemas.openxmlformats.org/officeDocument/2006/relationships/slide" Target="slides/slide77.xml" /><Relationship Id="rId79" Type="http://schemas.openxmlformats.org/officeDocument/2006/relationships/slide" Target="slides/slide78.xml" /><Relationship Id="rId80" Type="http://schemas.openxmlformats.org/officeDocument/2006/relationships/slide" Target="slides/slide79.xml" /><Relationship Id="rId81" Type="http://schemas.openxmlformats.org/officeDocument/2006/relationships/slide" Target="slides/slide80.xml" /><Relationship Id="rId82" Type="http://schemas.openxmlformats.org/officeDocument/2006/relationships/slide" Target="slides/slide81.xml" /><Relationship Id="rId83" Type="http://schemas.openxmlformats.org/officeDocument/2006/relationships/slide" Target="slides/slide82.xml" /><Relationship Id="rId84" Type="http://schemas.openxmlformats.org/officeDocument/2006/relationships/slide" Target="slides/slide83.xml" /><Relationship Id="rId85" Type="http://schemas.openxmlformats.org/officeDocument/2006/relationships/slide" Target="slides/slide84.xml" /><Relationship Id="rId86" Type="http://schemas.openxmlformats.org/officeDocument/2006/relationships/slide" Target="slides/slide85.xml" /><Relationship Id="rId87" Type="http://schemas.openxmlformats.org/officeDocument/2006/relationships/slide" Target="slides/slide86.xml" /><Relationship Id="rId89" Type="http://schemas.openxmlformats.org/officeDocument/2006/relationships/viewProps" Target="viewProps.xml" /><Relationship Id="rId8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1" Type="http://schemas.openxmlformats.org/officeDocument/2006/relationships/tableStyles" Target="tableStyles.xml" /><Relationship Id="rId9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marL="0" indent="0">
              <a:buNone/>
            </a:pPr>
            <a:r>
              <a:rPr/>
              <a:t>Biology</a:t>
            </a:r>
            <a:r>
              <a:rPr/>
              <a:t> </a:t>
            </a:r>
            <a:r>
              <a:rPr/>
              <a:t>Grade</a:t>
            </a:r>
            <a:r>
              <a:rPr/>
              <a:t> </a:t>
            </a:r>
            <a:r>
              <a:rPr/>
              <a:t>10:</a:t>
            </a:r>
            <a:r>
              <a:rPr/>
              <a:t> </a:t>
            </a:r>
            <a:r>
              <a:rPr/>
              <a:t>Cell</a:t>
            </a:r>
            <a:r>
              <a:rPr/>
              <a:t> </a:t>
            </a:r>
            <a:r>
              <a:rPr/>
              <a:t>Structure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Function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marL="0" indent="0">
              <a:buNone/>
            </a:pPr>
            <a:r>
              <a:rPr/>
              <a:t>Teacher</a:t>
            </a:r>
            <a:r>
              <a:rPr/>
              <a:t> </a:t>
            </a:r>
            <a:r>
              <a:rPr/>
              <a:t>Guide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CBE</a:t>
            </a:r>
            <a:r>
              <a:rPr/>
              <a:t> </a:t>
            </a:r>
            <a:r>
              <a:rPr/>
              <a:t>Lesson</a:t>
            </a:r>
            <a:r>
              <a:rPr/>
              <a:t> </a:t>
            </a:r>
            <a:r>
              <a:rPr/>
              <a:t>Sequence</a:t>
            </a:r>
            <a:br/>
            <a:br/>
            <a:r>
              <a:rPr/>
              <a:t>CBE</a:t>
            </a:r>
            <a:r>
              <a:rPr/>
              <a:t> </a:t>
            </a:r>
            <a:r>
              <a:rPr/>
              <a:t>Curriculum</a:t>
            </a:r>
            <a:r>
              <a:rPr/>
              <a:t> </a:t>
            </a:r>
            <a:r>
              <a:rPr/>
              <a:t>Framework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Biology</a:t>
            </a:r>
            <a:r>
              <a:rPr/>
              <a:t> </a:t>
            </a:r>
            <a:r>
              <a:rPr/>
              <a:t>Grade</a:t>
            </a:r>
            <a:r>
              <a:rPr/>
              <a:t> </a:t>
            </a:r>
            <a:r>
              <a:rPr/>
              <a:t>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Cell Structure &amp; Function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Teacher Guide - CBE Lesson Sequence</a:t>
            </a:r>
          </a:p>
          <a:p>
            <a:pPr lvl="0" marL="0" indent="0">
              <a:buNone/>
            </a:pPr>
            <a:r>
              <a:rPr b="1"/>
              <a:t>Phenomenon-Driven | Student-Centered | Evidence-Based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Welcome!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What This Presentation Covers:</a:t>
            </a:r>
          </a:p>
          <a:p>
            <a:pPr lvl="1">
              <a:buAutoNum type="arabicPeriod"/>
            </a:pPr>
            <a:r>
              <a:rPr b="1"/>
              <a:t>Unit Overview</a:t>
            </a:r>
            <a:r>
              <a:rPr/>
              <a:t> - The big picture</a:t>
            </a:r>
          </a:p>
          <a:p>
            <a:pPr lvl="1">
              <a:buAutoNum type="arabicPeriod"/>
            </a:pPr>
            <a:r>
              <a:rPr b="1"/>
              <a:t>Anchoring Phenomenon</a:t>
            </a:r>
            <a:r>
              <a:rPr/>
              <a:t> - What drives student learning</a:t>
            </a:r>
          </a:p>
          <a:p>
            <a:pPr lvl="1">
              <a:buAutoNum type="arabicPeriod"/>
            </a:pPr>
            <a:r>
              <a:rPr b="1"/>
              <a:t>Lesson-by-Lesson Guide</a:t>
            </a:r>
            <a:r>
              <a:rPr/>
              <a:t> - All 5 lessons explained</a:t>
            </a:r>
          </a:p>
          <a:p>
            <a:pPr lvl="1">
              <a:buAutoNum type="arabicPeriod"/>
            </a:pPr>
            <a:r>
              <a:rPr b="1"/>
              <a:t>Key Teaching Strategies</a:t>
            </a:r>
            <a:r>
              <a:rPr/>
              <a:t> - How to facilitate, not lecture</a:t>
            </a:r>
          </a:p>
          <a:p>
            <a:pPr lvl="1">
              <a:buAutoNum type="arabicPeriod"/>
            </a:pPr>
            <a:r>
              <a:rPr b="1"/>
              <a:t>Summary Table &amp; Final Explanation</a:t>
            </a:r>
            <a:r>
              <a:rPr/>
              <a:t> - Student portfolios</a:t>
            </a:r>
          </a:p>
          <a:p>
            <a:pPr lvl="1">
              <a:buAutoNum type="arabicPeriod"/>
            </a:pPr>
            <a:r>
              <a:rPr b="1"/>
              <a:t>Assessment &amp; Differentiation</a:t>
            </a:r>
            <a:r>
              <a:rPr/>
              <a:t> - Supporting all learners</a:t>
            </a:r>
          </a:p>
          <a:p>
            <a:pPr lvl="0" marL="0" indent="0">
              <a:buNone/>
            </a:pPr>
            <a:r>
              <a:rPr b="1"/>
              <a:t>Duration:</a:t>
            </a:r>
            <a:r>
              <a:rPr/>
              <a:t> ~30 minutes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Part</a:t>
            </a:r>
            <a:r>
              <a:rPr/>
              <a:t> </a:t>
            </a:r>
            <a:r>
              <a:rPr/>
              <a:t>1:</a:t>
            </a:r>
            <a:r>
              <a:rPr/>
              <a:t> </a:t>
            </a:r>
            <a:r>
              <a:rPr/>
              <a:t>Unit</a:t>
            </a:r>
            <a:r>
              <a:rPr/>
              <a:t> </a:t>
            </a:r>
            <a:r>
              <a:rPr/>
              <a:t>Overview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The Big Picture</a:t>
            </a:r>
          </a:p>
          <a:p>
            <a:pPr lvl="0" marL="0" indent="0">
              <a:buNone/>
            </a:pPr>
            <a:r>
              <a:rPr b="1"/>
              <a:t>Grade Level:</a:t>
            </a:r>
            <a:r>
              <a:rPr/>
              <a:t> 10</a:t>
            </a:r>
            <a:br/>
            <a:r>
              <a:rPr b="1"/>
              <a:t>Subject:</a:t>
            </a:r>
            <a:r>
              <a:rPr/>
              <a:t> Biology</a:t>
            </a:r>
            <a:br/>
            <a:r>
              <a:rPr b="1"/>
              <a:t>Strand:</a:t>
            </a:r>
            <a:r>
              <a:rPr/>
              <a:t> Cell Biology</a:t>
            </a:r>
            <a:br/>
            <a:r>
              <a:rPr b="1"/>
              <a:t>Sub-strand:</a:t>
            </a:r>
            <a:r>
              <a:rPr/>
              <a:t> Cell Structure and Function</a:t>
            </a:r>
          </a:p>
          <a:p>
            <a:pPr lvl="0" marL="0" indent="0">
              <a:buNone/>
            </a:pPr>
            <a:r>
              <a:rPr b="1"/>
              <a:t>Total Duration:</a:t>
            </a:r>
            <a:r>
              <a:rPr/>
              <a:t> 10 periods (5 lessons)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Learning Outcomes</a:t>
            </a:r>
          </a:p>
          <a:p>
            <a:pPr lvl="0" marL="0" indent="0">
              <a:buNone/>
            </a:pPr>
            <a:r>
              <a:rPr/>
              <a:t>By the end of this unit, students will be able to:</a:t>
            </a:r>
          </a:p>
          <a:p>
            <a:pPr lvl="0" marL="0" indent="0">
              <a:buNone/>
            </a:pPr>
            <a:r>
              <a:rPr/>
              <a:t>✅ Identify and describe cell structures (nucleus, mitochondria, chloroplasts, etc.)</a:t>
            </a:r>
            <a:br/>
            <a:r>
              <a:rPr/>
              <a:t>✅ Explain the functions of different cell organelles</a:t>
            </a:r>
            <a:br/>
            <a:r>
              <a:rPr/>
              <a:t>✅ Compare plant and animal cells</a:t>
            </a:r>
            <a:br/>
            <a:r>
              <a:rPr/>
              <a:t>✅ Relate cell structure to function</a:t>
            </a:r>
            <a:br/>
            <a:r>
              <a:rPr/>
              <a:t>✅ Appreciate cells as the basic units of life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Core Competencies Developed</a:t>
            </a:r>
          </a:p>
          <a:p>
            <a:pPr lvl="0" marL="0" indent="0">
              <a:buNone/>
            </a:pPr>
            <a:r>
              <a:rPr/>
              <a:t>🗣️ </a:t>
            </a:r>
            <a:r>
              <a:rPr b="1"/>
              <a:t>Communication &amp; Collaboration</a:t>
            </a:r>
            <a:br/>
            <a:r>
              <a:rPr/>
              <a:t>- Discussing observations, sharing models</a:t>
            </a:r>
          </a:p>
          <a:p>
            <a:pPr lvl="0" marL="0" indent="0">
              <a:buNone/>
            </a:pPr>
            <a:r>
              <a:rPr/>
              <a:t>🧠 </a:t>
            </a:r>
            <a:r>
              <a:rPr b="1"/>
              <a:t>Critical Thinking</a:t>
            </a:r>
            <a:br/>
            <a:r>
              <a:rPr/>
              <a:t>- Analyzing microscope images, making inferences</a:t>
            </a:r>
          </a:p>
          <a:p>
            <a:pPr lvl="0" marL="0" indent="0">
              <a:buNone/>
            </a:pPr>
            <a:r>
              <a:rPr/>
              <a:t>💻 </a:t>
            </a:r>
            <a:r>
              <a:rPr b="1"/>
              <a:t>Digital Literacy</a:t>
            </a:r>
            <a:br/>
            <a:r>
              <a:rPr/>
              <a:t>- Using digital microscopes, simulations</a:t>
            </a:r>
          </a:p>
          <a:p>
            <a:pPr lvl="0" marL="0" indent="0">
              <a:buNone/>
            </a:pPr>
            <a:r>
              <a:rPr/>
              <a:t>📚 </a:t>
            </a:r>
            <a:r>
              <a:rPr b="1"/>
              <a:t>Learning to Learn</a:t>
            </a:r>
            <a:br/>
            <a:r>
              <a:rPr/>
              <a:t>- Building and revising models progressively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Values Promoted</a:t>
            </a:r>
          </a:p>
          <a:p>
            <a:pPr lvl="0" marL="0" indent="0">
              <a:buNone/>
            </a:pPr>
            <a:r>
              <a:rPr/>
              <a:t>❤️ </a:t>
            </a:r>
            <a:r>
              <a:rPr b="1"/>
              <a:t>Respect</a:t>
            </a:r>
            <a:r>
              <a:rPr/>
              <a:t> - For living things, diverse opinions</a:t>
            </a:r>
            <a:br/>
            <a:r>
              <a:rPr/>
              <a:t>🤝 </a:t>
            </a:r>
            <a:r>
              <a:rPr b="1"/>
              <a:t>Responsibility</a:t>
            </a:r>
            <a:r>
              <a:rPr/>
              <a:t> - Caring for microscopes and specimens</a:t>
            </a:r>
            <a:br/>
            <a:r>
              <a:rPr/>
              <a:t>🌟 </a:t>
            </a:r>
            <a:r>
              <a:rPr b="1"/>
              <a:t>Unity</a:t>
            </a:r>
            <a:r>
              <a:rPr/>
              <a:t> - Collaborative group work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Part</a:t>
            </a:r>
            <a:r>
              <a:rPr/>
              <a:t> </a:t>
            </a:r>
            <a:r>
              <a:rPr/>
              <a:t>2: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Anchoring</a:t>
            </a:r>
            <a:r>
              <a:rPr/>
              <a:t> </a:t>
            </a:r>
            <a:r>
              <a:rPr/>
              <a:t>Phenomenon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What Drives This Unit?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The Phenomenon:</a:t>
            </a:r>
          </a:p>
          <a:p>
            <a:pPr lvl="0" marL="0" indent="0">
              <a:buNone/>
            </a:pPr>
            <a:r>
              <a:rPr b="1"/>
              <a:t>“Why do onion cells look different from cheek cells under a microscope? What are those tiny structures inside cells, and what do they do?”</a:t>
            </a:r>
          </a:p>
          <a:p>
            <a:pPr lvl="0" marL="0" indent="0">
              <a:buNone/>
            </a:pPr>
            <a:r>
              <a:rPr/>
              <a:t>🔬 Students observe actual cells and are puzzled by: - Different shapes and structures - Tiny parts inside cells - Differences between plant and animal cells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Supporting Phenomena</a:t>
            </a:r>
          </a:p>
          <a:p>
            <a:pPr lvl="0" marL="0" indent="0">
              <a:buNone/>
            </a:pPr>
            <a:r>
              <a:rPr/>
              <a:t>🌱 </a:t>
            </a:r>
            <a:r>
              <a:rPr b="1"/>
              <a:t>Plant cells have green structures</a:t>
            </a:r>
            <a:r>
              <a:rPr/>
              <a:t> - What are they? Why?</a:t>
            </a:r>
          </a:p>
          <a:p>
            <a:pPr lvl="0" marL="0" indent="0">
              <a:buNone/>
            </a:pPr>
            <a:r>
              <a:rPr/>
              <a:t>🥩 </a:t>
            </a:r>
            <a:r>
              <a:rPr b="1"/>
              <a:t>Animal cells have no cell walls</a:t>
            </a:r>
            <a:r>
              <a:rPr/>
              <a:t> - Why the difference?</a:t>
            </a:r>
          </a:p>
          <a:p>
            <a:pPr lvl="0" marL="0" indent="0">
              <a:buNone/>
            </a:pPr>
            <a:r>
              <a:rPr/>
              <a:t>⚡ </a:t>
            </a:r>
            <a:r>
              <a:rPr b="1"/>
              <a:t>Cells have “powerhouses”</a:t>
            </a:r>
            <a:r>
              <a:rPr/>
              <a:t> - What provides energy?</a:t>
            </a:r>
          </a:p>
          <a:p>
            <a:pPr lvl="0" marL="0" indent="0">
              <a:buNone/>
            </a:pPr>
            <a:r>
              <a:rPr/>
              <a:t>🧬 </a:t>
            </a:r>
            <a:r>
              <a:rPr b="1"/>
              <a:t>Nucleus controls the cell</a:t>
            </a:r>
            <a:r>
              <a:rPr/>
              <a:t> - How?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The Storyline Thread</a:t>
            </a:r>
          </a:p>
          <a:p>
            <a:pPr lvl="0" marL="0" indent="0">
              <a:buNone/>
            </a:pPr>
            <a:r>
              <a:rPr/>
              <a:t>Students progress from:</a:t>
            </a:r>
          </a:p>
          <a:p>
            <a:pPr lvl="1">
              <a:buAutoNum type="arabicPeriod"/>
            </a:pPr>
            <a:r>
              <a:rPr b="1"/>
              <a:t>Observing</a:t>
            </a:r>
            <a:r>
              <a:rPr/>
              <a:t> mysterious structures in cells</a:t>
            </a:r>
          </a:p>
          <a:p>
            <a:pPr lvl="1">
              <a:buAutoNum type="arabicPeriod"/>
            </a:pPr>
            <a:r>
              <a:rPr b="1"/>
              <a:t>Identifying</a:t>
            </a:r>
            <a:r>
              <a:rPr/>
              <a:t> different organelles</a:t>
            </a:r>
          </a:p>
          <a:p>
            <a:pPr lvl="1">
              <a:buAutoNum type="arabicPeriod"/>
            </a:pPr>
            <a:r>
              <a:rPr b="1"/>
              <a:t>Understanding</a:t>
            </a:r>
            <a:r>
              <a:rPr/>
              <a:t> what each organelle does</a:t>
            </a:r>
          </a:p>
          <a:p>
            <a:pPr lvl="1">
              <a:buAutoNum type="arabicPeriod"/>
            </a:pPr>
            <a:r>
              <a:rPr b="1"/>
              <a:t>Comparing</a:t>
            </a:r>
            <a:r>
              <a:rPr/>
              <a:t> plant vs animal cells</a:t>
            </a:r>
          </a:p>
          <a:p>
            <a:pPr lvl="1">
              <a:buAutoNum type="arabicPeriod"/>
            </a:pPr>
            <a:r>
              <a:rPr b="1"/>
              <a:t>Explaining</a:t>
            </a:r>
            <a:r>
              <a:rPr/>
              <a:t> how structure relates to function</a:t>
            </a:r>
          </a:p>
          <a:p>
            <a:pPr lvl="0" marL="0" indent="0">
              <a:buNone/>
            </a:pPr>
            <a:r>
              <a:rPr b="1"/>
              <a:t>By the end:</a:t>
            </a:r>
            <a:r>
              <a:rPr/>
              <a:t> Students can explain ALL cell structures and their functions using evidence!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Driving Questions Board (DQB)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Students Generate Questions Like:</a:t>
            </a:r>
          </a:p>
          <a:p>
            <a:pPr lvl="1"/>
            <a:r>
              <a:rPr/>
              <a:t>What are those green things in plant cells?</a:t>
            </a:r>
          </a:p>
          <a:p>
            <a:pPr lvl="1"/>
            <a:r>
              <a:rPr/>
              <a:t>Why do cells have different shapes?</a:t>
            </a:r>
          </a:p>
          <a:p>
            <a:pPr lvl="1"/>
            <a:r>
              <a:rPr/>
              <a:t>What’s that dark spot in the middle?</a:t>
            </a:r>
          </a:p>
          <a:p>
            <a:pPr lvl="1"/>
            <a:r>
              <a:rPr/>
              <a:t>Do all cells have the same parts?</a:t>
            </a:r>
          </a:p>
          <a:p>
            <a:pPr lvl="1"/>
            <a:r>
              <a:rPr/>
              <a:t>How do cells get energy?</a:t>
            </a:r>
          </a:p>
          <a:p>
            <a:pPr lvl="1"/>
            <a:r>
              <a:rPr/>
              <a:t>Why do plant cells have walls?</a:t>
            </a:r>
          </a:p>
          <a:p>
            <a:pPr lvl="0" marL="0" indent="0">
              <a:buNone/>
            </a:pPr>
            <a:r>
              <a:rPr b="1"/>
              <a:t>These questions drive the investigation!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Part</a:t>
            </a:r>
            <a:r>
              <a:rPr/>
              <a:t> </a:t>
            </a:r>
            <a:r>
              <a:rPr/>
              <a:t>3:</a:t>
            </a:r>
            <a:r>
              <a:rPr/>
              <a:t> </a:t>
            </a:r>
            <a:r>
              <a:rPr/>
              <a:t>Lesson-by-Lesson</a:t>
            </a:r>
            <a:r>
              <a:rPr/>
              <a:t> </a:t>
            </a:r>
            <a:r>
              <a:rPr/>
              <a:t>Guide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Lesson 1 (40 min)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Introduction - Observing Cells Under Microscope</a:t>
            </a:r>
          </a:p>
          <a:p>
            <a:pPr lvl="0" marL="0" indent="0">
              <a:buNone/>
            </a:pPr>
            <a:r>
              <a:rPr b="1"/>
              <a:t>Purpose:</a:t>
            </a:r>
            <a:r>
              <a:rPr/>
              <a:t> Launch unit with puzzling observations</a:t>
            </a:r>
          </a:p>
          <a:p>
            <a:pPr lvl="0" marL="0" indent="0">
              <a:buNone/>
            </a:pPr>
            <a:r>
              <a:rPr b="1"/>
              <a:t>Key Activities:</a:t>
            </a:r>
            <a:r>
              <a:rPr/>
              <a:t> - 🔬 Observe onion &amp; cheek cells under microscope - 📝 Draw what they see - ❓ Generate questions (DQB Started) - 🎨 Create initial models</a:t>
            </a:r>
          </a:p>
          <a:p>
            <a:pPr lvl="0" marL="0" indent="0">
              <a:buNone/>
            </a:pPr>
            <a:r>
              <a:rPr b="1"/>
              <a:t>Teacher Role:</a:t>
            </a:r>
            <a:r>
              <a:rPr/>
              <a:t> Facilitate observation, DON’T explain yet!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Lesson 1: What Students Do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Prior Knowledge Elicitation</a:t>
            </a:r>
          </a:p>
          <a:p>
            <a:pPr lvl="0" marL="0" indent="0">
              <a:buNone/>
            </a:pPr>
            <a:r>
              <a:rPr/>
              <a:t>“What do you know about cells?”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Microscope Observation (POE Cycle)</a:t>
            </a:r>
          </a:p>
          <a:p>
            <a:pPr lvl="1"/>
            <a:r>
              <a:rPr b="1"/>
              <a:t>PREDICT:</a:t>
            </a:r>
            <a:r>
              <a:rPr/>
              <a:t> What will we see?</a:t>
            </a:r>
          </a:p>
          <a:p>
            <a:pPr lvl="1"/>
            <a:r>
              <a:rPr b="1"/>
              <a:t>OBSERVE:</a:t>
            </a:r>
            <a:r>
              <a:rPr/>
              <a:t> Look at actual cells</a:t>
            </a:r>
          </a:p>
          <a:p>
            <a:pPr lvl="1"/>
            <a:r>
              <a:rPr b="1"/>
              <a:t>EXPLAIN:</a:t>
            </a:r>
            <a:r>
              <a:rPr/>
              <a:t> Why do they look like this?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Initial Model Creation</a:t>
            </a:r>
          </a:p>
          <a:p>
            <a:pPr lvl="0" marL="0" indent="0">
              <a:buNone/>
            </a:pPr>
            <a:r>
              <a:rPr/>
              <a:t>Students draw what they observe - this is their starting point!</a:t>
            </a:r>
          </a:p>
          <a:p>
            <a:pPr lvl="0" marL="0" indent="0">
              <a:buNone/>
            </a:pPr>
            <a:r>
              <a:rPr b="1"/>
              <a:t>Summary Table Entry:</a:t>
            </a:r>
            <a:r>
              <a:rPr/>
              <a:t> “Observed cells under microscope; saw structures; many questions”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Lesson 1: Teacher Moves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✅ DO:</a:t>
            </a:r>
          </a:p>
          <a:p>
            <a:pPr lvl="1"/>
            <a:r>
              <a:rPr/>
              <a:t>Ask probing questions: “What do you notice?”</a:t>
            </a:r>
          </a:p>
          <a:p>
            <a:pPr lvl="1"/>
            <a:r>
              <a:rPr/>
              <a:t>Allow 10+ seconds wait time</a:t>
            </a:r>
          </a:p>
          <a:p>
            <a:pPr lvl="1"/>
            <a:r>
              <a:rPr/>
              <a:t>Record ALL student ideas (even misconceptions)</a:t>
            </a:r>
          </a:p>
          <a:p>
            <a:pPr lvl="1"/>
            <a:r>
              <a:rPr/>
              <a:t>Facilitate, don’t tell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❌ DON’T:</a:t>
            </a:r>
          </a:p>
          <a:p>
            <a:pPr lvl="1"/>
            <a:r>
              <a:rPr/>
              <a:t>Lecture about organelles yet</a:t>
            </a:r>
          </a:p>
          <a:p>
            <a:pPr lvl="1"/>
            <a:r>
              <a:rPr/>
              <a:t>Tell them what they’re seeing</a:t>
            </a:r>
          </a:p>
          <a:p>
            <a:pPr lvl="1"/>
            <a:r>
              <a:rPr/>
              <a:t>Correct too early</a:t>
            </a:r>
          </a:p>
          <a:p>
            <a:pPr lvl="1"/>
            <a:r>
              <a:rPr/>
              <a:t>Rush through observations</a:t>
            </a:r>
          </a:p>
          <a:p>
            <a:pPr lvl="0" marL="0" indent="0">
              <a:buNone/>
            </a:pPr>
            <a:r>
              <a:rPr b="1"/>
              <a:t>Key:</a:t>
            </a:r>
            <a:r>
              <a:rPr/>
              <a:t> Let students be puzzled!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Lesson 2 (40 min)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Identifying Cell Structures - What Are These Parts?</a:t>
            </a:r>
          </a:p>
          <a:p>
            <a:pPr lvl="0" marL="0" indent="0">
              <a:buNone/>
            </a:pPr>
            <a:r>
              <a:rPr b="1"/>
              <a:t>Purpose:</a:t>
            </a:r>
            <a:r>
              <a:rPr/>
              <a:t> Name and identify major organelles</a:t>
            </a:r>
          </a:p>
          <a:p>
            <a:pPr lvl="0" marL="0" indent="0">
              <a:buNone/>
            </a:pPr>
            <a:r>
              <a:rPr b="1"/>
              <a:t>Key Activities:</a:t>
            </a:r>
            <a:r>
              <a:rPr/>
              <a:t> - 📚 Use diagrams/videos to identify structures - 🏷️ Label cell diagrams - 🔍 Compare their drawings to standard diagrams - 🎨 Revise models (add labels)</a:t>
            </a:r>
          </a:p>
          <a:p>
            <a:pPr lvl="0" marL="0" indent="0">
              <a:buNone/>
            </a:pPr>
            <a:r>
              <a:rPr b="1"/>
              <a:t>Teacher Role:</a:t>
            </a:r>
            <a:r>
              <a:rPr/>
              <a:t> Guide discovery, provide resources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Lesson 2: What Students Learn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Major Organelles Identified:</a:t>
            </a:r>
          </a:p>
          <a:p>
            <a:pPr lvl="0" marL="0" indent="0">
              <a:buNone/>
            </a:pPr>
            <a:r>
              <a:rPr b="1"/>
              <a:t>Both Plant &amp; Animal:</a:t>
            </a:r>
            <a:r>
              <a:rPr/>
              <a:t> - Nucleus (control center) - Cell membrane (boundary) - Cytoplasm (jelly-like substance) - Mitochondria (powerhouses)</a:t>
            </a:r>
          </a:p>
          <a:p>
            <a:pPr lvl="0" marL="0" indent="0">
              <a:buNone/>
            </a:pPr>
            <a:r>
              <a:rPr b="1"/>
              <a:t>Plant Only:</a:t>
            </a:r>
            <a:r>
              <a:rPr/>
              <a:t> - Cell wall (rigid structure) - Chloroplasts (green, photosynthesis) - Large vacuole (storage)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Lesson 2: Teacher Moves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Facilitate Identification:</a:t>
            </a:r>
          </a:p>
          <a:p>
            <a:pPr lvl="1"/>
            <a:r>
              <a:rPr/>
              <a:t>Show labeled diagrams AFTER students observe</a:t>
            </a:r>
          </a:p>
          <a:p>
            <a:pPr lvl="1"/>
            <a:r>
              <a:rPr/>
              <a:t>“Compare your drawing to this diagram - what matches?”</a:t>
            </a:r>
          </a:p>
          <a:p>
            <a:pPr lvl="1"/>
            <a:r>
              <a:rPr/>
              <a:t>“What structures do you see in your drawing?”</a:t>
            </a:r>
          </a:p>
          <a:p>
            <a:pPr lvl="1"/>
            <a:r>
              <a:rPr/>
              <a:t>Use Think-Pair-Share for labeling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Model Revision:</a:t>
            </a:r>
          </a:p>
          <a:p>
            <a:pPr lvl="1"/>
            <a:r>
              <a:rPr/>
              <a:t>Students add labels to initial models</a:t>
            </a:r>
          </a:p>
          <a:p>
            <a:pPr lvl="1"/>
            <a:r>
              <a:rPr/>
              <a:t>Note in Summary Table: “Model Revised - labels added”</a:t>
            </a:r>
          </a:p>
          <a:p>
            <a:pPr lvl="0" marL="0" indent="0">
              <a:buNone/>
            </a:pPr>
            <a:r>
              <a:rPr b="1"/>
              <a:t>Assessment:</a:t>
            </a:r>
            <a:r>
              <a:rPr/>
              <a:t> Can students identify and label organelles?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Lesson 3 (80 min)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Functions of Cell Organelles - What Do They Do?</a:t>
            </a:r>
          </a:p>
          <a:p>
            <a:pPr lvl="0" marL="0" indent="0">
              <a:buNone/>
            </a:pPr>
            <a:r>
              <a:rPr b="1"/>
              <a:t>Purpose:</a:t>
            </a:r>
            <a:r>
              <a:rPr/>
              <a:t> Understand what each organelle does</a:t>
            </a:r>
          </a:p>
          <a:p>
            <a:pPr lvl="0" marL="0" indent="0">
              <a:buNone/>
            </a:pPr>
            <a:r>
              <a:rPr b="1"/>
              <a:t>Key Activities:</a:t>
            </a:r>
            <a:r>
              <a:rPr/>
              <a:t> - 🏭 Analogy: Cell as factory/city - 🎭 Jigsaw activity: Groups research different organelles - 📊 Create function chart - 🎨 Revise models (add functions)</a:t>
            </a:r>
          </a:p>
          <a:p>
            <a:pPr lvl="0" marL="0" indent="0">
              <a:buNone/>
            </a:pPr>
            <a:r>
              <a:rPr b="1"/>
              <a:t>Teacher Role:</a:t>
            </a:r>
            <a:r>
              <a:rPr/>
              <a:t> Facilitate research and discussion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Lesson 3: The Factory Analogy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Cell = Factory</a:t>
            </a:r>
          </a:p>
          <a:p>
            <a:pPr lvl="1"/>
            <a:r>
              <a:rPr b="1"/>
              <a:t>Nucleus</a:t>
            </a:r>
            <a:r>
              <a:rPr/>
              <a:t> = Manager’s office (gives instructions)</a:t>
            </a:r>
          </a:p>
          <a:p>
            <a:pPr lvl="1"/>
            <a:r>
              <a:rPr b="1"/>
              <a:t>Mitochondria</a:t>
            </a:r>
            <a:r>
              <a:rPr/>
              <a:t> = Power plant (provides energy)</a:t>
            </a:r>
          </a:p>
          <a:p>
            <a:pPr lvl="1"/>
            <a:r>
              <a:rPr b="1"/>
              <a:t>Ribosomes</a:t>
            </a:r>
            <a:r>
              <a:rPr/>
              <a:t> = Assembly line (makes proteins)</a:t>
            </a:r>
          </a:p>
          <a:p>
            <a:pPr lvl="1"/>
            <a:r>
              <a:rPr b="1"/>
              <a:t>Cell membrane</a:t>
            </a:r>
            <a:r>
              <a:rPr/>
              <a:t> = Security gate (controls entry/exit)</a:t>
            </a:r>
          </a:p>
          <a:p>
            <a:pPr lvl="1"/>
            <a:r>
              <a:rPr b="1"/>
              <a:t>Chloroplasts</a:t>
            </a:r>
            <a:r>
              <a:rPr/>
              <a:t> = Solar panels (captures energy from sun)</a:t>
            </a:r>
          </a:p>
          <a:p>
            <a:pPr lvl="1"/>
            <a:r>
              <a:rPr b="1"/>
              <a:t>Vacuole</a:t>
            </a:r>
            <a:r>
              <a:rPr/>
              <a:t> = Storage warehouse</a:t>
            </a:r>
          </a:p>
          <a:p>
            <a:pPr lvl="0" marL="0" indent="0">
              <a:buNone/>
            </a:pPr>
            <a:r>
              <a:rPr b="1"/>
              <a:t>This helps students understand FUNCTION!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Lesson 3: Jigsaw Activity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How It Works:</a:t>
            </a:r>
          </a:p>
          <a:p>
            <a:pPr lvl="1">
              <a:buAutoNum type="arabicPeriod"/>
            </a:pPr>
            <a:r>
              <a:rPr b="1"/>
              <a:t>Home Groups</a:t>
            </a:r>
            <a:r>
              <a:rPr/>
              <a:t> (5 students)</a:t>
            </a:r>
          </a:p>
          <a:p>
            <a:pPr lvl="1">
              <a:buAutoNum type="arabicPeriod"/>
            </a:pPr>
            <a:r>
              <a:rPr b="1"/>
              <a:t>Expert Groups</a:t>
            </a:r>
            <a:r>
              <a:rPr/>
              <a:t> (each researches one organelle)</a:t>
            </a:r>
          </a:p>
          <a:p>
            <a:pPr lvl="2"/>
            <a:r>
              <a:rPr/>
              <a:t>Nucleus experts</a:t>
            </a:r>
          </a:p>
          <a:p>
            <a:pPr lvl="2"/>
            <a:r>
              <a:rPr/>
              <a:t>Mitochondria experts</a:t>
            </a:r>
          </a:p>
          <a:p>
            <a:pPr lvl="2"/>
            <a:r>
              <a:rPr/>
              <a:t>Chloroplast experts</a:t>
            </a:r>
          </a:p>
          <a:p>
            <a:pPr lvl="2"/>
            <a:r>
              <a:rPr/>
              <a:t>Cell membrane experts</a:t>
            </a:r>
          </a:p>
          <a:p>
            <a:pPr lvl="2"/>
            <a:r>
              <a:rPr/>
              <a:t>Vacuole experts</a:t>
            </a:r>
          </a:p>
          <a:p>
            <a:pPr lvl="1">
              <a:buAutoNum type="arabicPeriod"/>
            </a:pPr>
            <a:r>
              <a:rPr b="1"/>
              <a:t>Return to Home Groups</a:t>
            </a:r>
            <a:r>
              <a:rPr/>
              <a:t> (teach each other)</a:t>
            </a:r>
          </a:p>
          <a:p>
            <a:pPr lvl="1">
              <a:buAutoNum type="arabicPeriod"/>
            </a:pPr>
            <a:r>
              <a:rPr b="1"/>
              <a:t>Complete Function Chart</a:t>
            </a:r>
            <a:r>
              <a:rPr/>
              <a:t> (together)</a:t>
            </a:r>
          </a:p>
          <a:p>
            <a:pPr lvl="0" marL="0" indent="0">
              <a:buNone/>
            </a:pPr>
            <a:r>
              <a:rPr b="1"/>
              <a:t>Result:</a:t>
            </a:r>
            <a:r>
              <a:rPr/>
              <a:t> Every student learns about ALL organelles!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Lesson 3: Teacher Moves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Facilitate Jigsaw:</a:t>
            </a:r>
          </a:p>
          <a:p>
            <a:pPr lvl="1"/>
            <a:r>
              <a:rPr/>
              <a:t>Assign expert groups strategically</a:t>
            </a:r>
          </a:p>
          <a:p>
            <a:pPr lvl="1"/>
            <a:r>
              <a:rPr/>
              <a:t>Provide research resources (textbooks, videos, simulations)</a:t>
            </a:r>
          </a:p>
          <a:p>
            <a:pPr lvl="1"/>
            <a:r>
              <a:rPr/>
              <a:t>Monitor expert discussions</a:t>
            </a:r>
          </a:p>
          <a:p>
            <a:pPr lvl="1"/>
            <a:r>
              <a:rPr/>
              <a:t>Ensure everyone participates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Model Revision:</a:t>
            </a:r>
          </a:p>
          <a:p>
            <a:pPr lvl="1"/>
            <a:r>
              <a:rPr/>
              <a:t>Students add functions to their models</a:t>
            </a:r>
          </a:p>
          <a:p>
            <a:pPr lvl="1"/>
            <a:r>
              <a:rPr/>
              <a:t>Summary Table: “Model Revised - functions added”</a:t>
            </a:r>
          </a:p>
          <a:p>
            <a:pPr lvl="0" marL="0" indent="0">
              <a:buNone/>
            </a:pPr>
            <a:r>
              <a:rPr b="1"/>
              <a:t>Assessment:</a:t>
            </a:r>
            <a:r>
              <a:rPr/>
              <a:t> Can students explain what each organelle does?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Lesson 4 (40 min)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Comparing Plant and Animal Cells - What’s Different?</a:t>
            </a:r>
          </a:p>
          <a:p>
            <a:pPr lvl="0" marL="0" indent="0">
              <a:buNone/>
            </a:pPr>
            <a:r>
              <a:rPr b="1"/>
              <a:t>Purpose:</a:t>
            </a:r>
            <a:r>
              <a:rPr/>
              <a:t> Understand similarities and differences</a:t>
            </a:r>
          </a:p>
          <a:p>
            <a:pPr lvl="0" marL="0" indent="0">
              <a:buNone/>
            </a:pPr>
            <a:r>
              <a:rPr b="1"/>
              <a:t>Key Activities:</a:t>
            </a:r>
            <a:r>
              <a:rPr/>
              <a:t> - 📊 Venn diagram comparison - 🔬 Re-observe onion vs cheek cells - 💡 Explain WHY differences exist - 🎨 Final model showing both cell types</a:t>
            </a:r>
          </a:p>
          <a:p>
            <a:pPr lvl="0" marL="0" indent="0">
              <a:buNone/>
            </a:pPr>
            <a:r>
              <a:rPr b="1"/>
              <a:t>Teacher Role:</a:t>
            </a:r>
            <a:r>
              <a:rPr/>
              <a:t> Guide comparison and reasoning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Lesson 4: Venn Diagram Activity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Structure:</a:t>
            </a:r>
          </a:p>
          <a:p>
            <a:pPr lvl="0" marL="0" indent="0">
              <a:buNone/>
            </a:pPr>
            <a:r>
              <a:rPr b="1"/>
              <a:t>BOTH (Middle):</a:t>
            </a:r>
            <a:r>
              <a:rPr/>
              <a:t> - Nucleus - Cell membrane - Cytoplasm - Mitochondria - Ribosomes</a:t>
            </a:r>
          </a:p>
          <a:p>
            <a:pPr lvl="0" marL="0" indent="0">
              <a:buNone/>
            </a:pPr>
            <a:r>
              <a:rPr b="1"/>
              <a:t>PLANT ONLY (Left):</a:t>
            </a:r>
            <a:r>
              <a:rPr/>
              <a:t> - Cell wall - Chloroplasts - Large vacuole</a:t>
            </a:r>
          </a:p>
          <a:p>
            <a:pPr lvl="0" marL="0" indent="0">
              <a:buNone/>
            </a:pPr>
            <a:r>
              <a:rPr b="1"/>
              <a:t>ANIMAL ONLY (Right):</a:t>
            </a:r>
            <a:r>
              <a:rPr/>
              <a:t> - Small vacuoles - Centrioles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Lesson 4: The “WHY” Discussion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Critical Thinking Questions:</a:t>
            </a:r>
          </a:p>
          <a:p>
            <a:pPr lvl="0" marL="0" indent="0">
              <a:buNone/>
            </a:pPr>
            <a:r>
              <a:rPr b="1"/>
              <a:t>Why do plant cells have cell walls?</a:t>
            </a:r>
            <a:r>
              <a:rPr/>
              <a:t> → Support (plants can’t move, need structure)</a:t>
            </a:r>
          </a:p>
          <a:p>
            <a:pPr lvl="0" marL="0" indent="0">
              <a:buNone/>
            </a:pPr>
            <a:r>
              <a:rPr b="1"/>
              <a:t>Why do plant cells have chloroplasts?</a:t>
            </a:r>
            <a:r>
              <a:rPr/>
              <a:t> → Make their own food (photosynthesis)</a:t>
            </a:r>
          </a:p>
          <a:p>
            <a:pPr lvl="0" marL="0" indent="0">
              <a:buNone/>
            </a:pPr>
            <a:r>
              <a:rPr b="1"/>
              <a:t>Why don’t animal cells have chloroplasts?</a:t>
            </a:r>
            <a:r>
              <a:rPr/>
              <a:t> → Animals eat food, don’t make it</a:t>
            </a:r>
          </a:p>
          <a:p>
            <a:pPr lvl="0" marL="0" indent="0">
              <a:buNone/>
            </a:pPr>
            <a:r>
              <a:rPr b="1"/>
              <a:t>Why do plant cells have large vacuoles?</a:t>
            </a:r>
            <a:r>
              <a:rPr/>
              <a:t> → Store water (plants need lots of water)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Lesson 4: Teacher Moves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Facilitate Comparison:</a:t>
            </a:r>
          </a:p>
          <a:p>
            <a:pPr lvl="1"/>
            <a:r>
              <a:rPr/>
              <a:t>Use side-by-side images</a:t>
            </a:r>
          </a:p>
          <a:p>
            <a:pPr lvl="1"/>
            <a:r>
              <a:rPr/>
              <a:t>“What’s the same? What’s different?”</a:t>
            </a:r>
          </a:p>
          <a:p>
            <a:pPr lvl="1"/>
            <a:r>
              <a:rPr/>
              <a:t>“WHY do you think these differences exist?”</a:t>
            </a:r>
          </a:p>
          <a:p>
            <a:pPr lvl="1"/>
            <a:r>
              <a:rPr/>
              <a:t>Connect structure to function!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Final Model:</a:t>
            </a:r>
          </a:p>
          <a:p>
            <a:pPr lvl="1"/>
            <a:r>
              <a:rPr/>
              <a:t>Students create comprehensive model showing both cell types</a:t>
            </a:r>
          </a:p>
          <a:p>
            <a:pPr lvl="1"/>
            <a:r>
              <a:rPr/>
              <a:t>Summary Table: “Model Revised - plant vs animal”</a:t>
            </a:r>
          </a:p>
          <a:p>
            <a:pPr lvl="0" marL="0" indent="0">
              <a:buNone/>
            </a:pPr>
            <a:r>
              <a:rPr b="1"/>
              <a:t>Assessment:</a:t>
            </a:r>
            <a:r>
              <a:rPr/>
              <a:t> Can students explain differences and WHY they exist?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Lesson 5 (80 min)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Final Synthesis, Assessment &amp; Reflection</a:t>
            </a:r>
          </a:p>
          <a:p>
            <a:pPr lvl="0" marL="0" indent="0">
              <a:buNone/>
            </a:pPr>
            <a:r>
              <a:rPr b="1"/>
              <a:t>Purpose:</a:t>
            </a:r>
            <a:r>
              <a:rPr/>
              <a:t> Demonstrate complete understanding</a:t>
            </a:r>
          </a:p>
          <a:p>
            <a:pPr lvl="0" marL="0" indent="0">
              <a:buNone/>
            </a:pPr>
            <a:r>
              <a:rPr b="1"/>
              <a:t>Key Activities:</a:t>
            </a:r>
            <a:r>
              <a:rPr/>
              <a:t> - ✍️ Write complete cell explanation - ✅ Complete DQB (mark all questions answered) - 🎨 Final comprehensive model - 📝 Assessment - 🤔 Reflection</a:t>
            </a:r>
          </a:p>
          <a:p>
            <a:pPr lvl="0" marL="0" indent="0">
              <a:buNone/>
            </a:pPr>
            <a:r>
              <a:rPr b="1"/>
              <a:t>Teacher Role:</a:t>
            </a:r>
            <a:r>
              <a:rPr/>
              <a:t> Assess understanding, celebrate growth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Lesson 5: Complete Explanation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Students Write About:</a:t>
            </a:r>
          </a:p>
          <a:p>
            <a:pPr lvl="1">
              <a:buAutoNum type="arabicPeriod"/>
            </a:pPr>
            <a:r>
              <a:rPr b="1"/>
              <a:t>Cell Structure</a:t>
            </a:r>
            <a:r>
              <a:rPr/>
              <a:t> - All organelles identified and described</a:t>
            </a:r>
          </a:p>
          <a:p>
            <a:pPr lvl="1">
              <a:buAutoNum type="arabicPeriod"/>
            </a:pPr>
            <a:r>
              <a:rPr b="1"/>
              <a:t>Cell Function</a:t>
            </a:r>
            <a:r>
              <a:rPr/>
              <a:t> - What each organelle does</a:t>
            </a:r>
          </a:p>
          <a:p>
            <a:pPr lvl="1">
              <a:buAutoNum type="arabicPeriod"/>
            </a:pPr>
            <a:r>
              <a:rPr b="1"/>
              <a:t>Plant vs Animal</a:t>
            </a:r>
            <a:r>
              <a:rPr/>
              <a:t> - Similarities and differences explained</a:t>
            </a:r>
          </a:p>
          <a:p>
            <a:pPr lvl="1">
              <a:buAutoNum type="arabicPeriod"/>
            </a:pPr>
            <a:r>
              <a:rPr b="1"/>
              <a:t>Structure-Function Relationship</a:t>
            </a:r>
            <a:r>
              <a:rPr/>
              <a:t> - How structure relates to function</a:t>
            </a:r>
          </a:p>
          <a:p>
            <a:pPr lvl="1">
              <a:buAutoNum type="arabicPeriod"/>
            </a:pPr>
            <a:r>
              <a:rPr b="1"/>
              <a:t>Evidence</a:t>
            </a:r>
            <a:r>
              <a:rPr/>
              <a:t> - From all 5 lessons</a:t>
            </a:r>
          </a:p>
          <a:p>
            <a:pPr lvl="0" marL="0" indent="0">
              <a:buNone/>
            </a:pPr>
            <a:r>
              <a:rPr b="1"/>
              <a:t>This is their final demonstration of understanding!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Lesson 5: DQB Completion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Review All Questions:</a:t>
            </a:r>
          </a:p>
          <a:p>
            <a:pPr lvl="0" marL="0" indent="0">
              <a:buNone/>
            </a:pPr>
            <a:r>
              <a:rPr/>
              <a:t>✅ What are those green things? → Chloroplasts!</a:t>
            </a:r>
            <a:br/>
            <a:r>
              <a:rPr/>
              <a:t>✅ Why different shapes? → Different functions!</a:t>
            </a:r>
            <a:br/>
            <a:r>
              <a:rPr/>
              <a:t>✅ What’s the dark spot? → Nucleus!</a:t>
            </a:r>
            <a:br/>
            <a:r>
              <a:rPr/>
              <a:t>✅ Do all cells have same parts? → No! Plant vs animal differences</a:t>
            </a:r>
            <a:br/>
            <a:r>
              <a:rPr/>
              <a:t>✅ How do cells get energy? → Mitochondria!</a:t>
            </a:r>
            <a:br/>
            <a:r>
              <a:rPr/>
              <a:t>✅ Why do plant cells have walls? → Support and structure!</a:t>
            </a:r>
          </a:p>
          <a:p>
            <a:pPr lvl="0" marL="0" indent="0">
              <a:buNone/>
            </a:pPr>
            <a:r>
              <a:rPr b="1"/>
              <a:t>Celebrate:</a:t>
            </a:r>
            <a:r>
              <a:rPr/>
              <a:t> “Look at all we’ve learned!”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Lesson 5: Assessment Components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Multiple Formats:</a:t>
            </a:r>
          </a:p>
          <a:p>
            <a:pPr lvl="0" marL="0" indent="0">
              <a:buNone/>
            </a:pPr>
            <a:r>
              <a:rPr/>
              <a:t>📝 </a:t>
            </a:r>
            <a:r>
              <a:rPr b="1"/>
              <a:t>Written Explanation</a:t>
            </a:r>
            <a:r>
              <a:rPr/>
              <a:t> (30%)</a:t>
            </a:r>
            <a:br/>
            <a:r>
              <a:rPr/>
              <a:t>🎨 </a:t>
            </a:r>
            <a:r>
              <a:rPr b="1"/>
              <a:t>Final Model</a:t>
            </a:r>
            <a:r>
              <a:rPr/>
              <a:t> (25%)</a:t>
            </a:r>
            <a:br/>
            <a:r>
              <a:rPr/>
              <a:t>📋 </a:t>
            </a:r>
            <a:r>
              <a:rPr b="1"/>
              <a:t>Test/Quiz</a:t>
            </a:r>
            <a:r>
              <a:rPr/>
              <a:t> (30%)</a:t>
            </a:r>
            <a:br/>
            <a:r>
              <a:rPr/>
              <a:t>💬 </a:t>
            </a:r>
            <a:r>
              <a:rPr b="1"/>
              <a:t>Participation/Summary Table</a:t>
            </a:r>
            <a:r>
              <a:rPr/>
              <a:t> (15%)</a:t>
            </a:r>
          </a:p>
          <a:p>
            <a:pPr lvl="0" marL="0" indent="0">
              <a:buNone/>
            </a:pPr>
            <a:r>
              <a:rPr b="1"/>
              <a:t>Rubric provided for each component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Part</a:t>
            </a:r>
            <a:r>
              <a:rPr/>
              <a:t> </a:t>
            </a:r>
            <a:r>
              <a:rPr/>
              <a:t>4:</a:t>
            </a:r>
            <a:r>
              <a:rPr/>
              <a:t> </a:t>
            </a:r>
            <a:r>
              <a:rPr/>
              <a:t>Key</a:t>
            </a:r>
            <a:r>
              <a:rPr/>
              <a:t> </a:t>
            </a:r>
            <a:r>
              <a:rPr/>
              <a:t>Teaching</a:t>
            </a:r>
            <a:r>
              <a:rPr/>
              <a:t> </a:t>
            </a:r>
            <a:r>
              <a:rPr/>
              <a:t>Strategies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The CBE Teaching Approach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You are a FACILITATOR, not a lecturer!</a:t>
            </a:r>
          </a:p>
          <a:p>
            <a:pPr lvl="0" marL="0" indent="0">
              <a:buNone/>
            </a:pPr>
            <a:r>
              <a:rPr b="1"/>
              <a:t>Your role:</a:t>
            </a:r>
            <a:r>
              <a:rPr/>
              <a:t> - ❓ Ask probing questions - ⏱️ Provide wait time (10+ seconds) - 👂 Listen to student thinking - 🎯 Guide discovery - 🙅 DON’T tell answers too early!</a:t>
            </a:r>
          </a:p>
          <a:p>
            <a:pPr lvl="0" marL="0" indent="0">
              <a:buNone/>
            </a:pPr>
            <a:r>
              <a:rPr b="1"/>
              <a:t>Students figure out, you guide!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Probing Questions to Use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Throughout the Unit:</a:t>
            </a:r>
          </a:p>
          <a:p>
            <a:pPr lvl="1"/>
            <a:r>
              <a:rPr/>
              <a:t>“What do you notice?”</a:t>
            </a:r>
          </a:p>
          <a:p>
            <a:pPr lvl="1"/>
            <a:r>
              <a:rPr/>
              <a:t>“Why do you think that?”</a:t>
            </a:r>
          </a:p>
          <a:p>
            <a:pPr lvl="1"/>
            <a:r>
              <a:rPr/>
              <a:t>“What evidence supports your idea?”</a:t>
            </a:r>
          </a:p>
          <a:p>
            <a:pPr lvl="1"/>
            <a:r>
              <a:rPr/>
              <a:t>“How does this connect to what we learned before?”</a:t>
            </a:r>
          </a:p>
          <a:p>
            <a:pPr lvl="1"/>
            <a:r>
              <a:rPr/>
              <a:t>“Can you explain that to your partner?”</a:t>
            </a:r>
          </a:p>
          <a:p>
            <a:pPr lvl="1"/>
            <a:r>
              <a:rPr/>
              <a:t>“What questions do you have?”</a:t>
            </a:r>
          </a:p>
          <a:p>
            <a:pPr lvl="0" marL="0" indent="0">
              <a:buNone/>
            </a:pPr>
            <a:r>
              <a:rPr b="1"/>
              <a:t>Wait 10+ seconds after asking!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Think-Pair-Share Strategy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How to Use:</a:t>
            </a:r>
          </a:p>
          <a:p>
            <a:pPr lvl="1">
              <a:buAutoNum type="arabicPeriod"/>
            </a:pPr>
            <a:r>
              <a:rPr b="1"/>
              <a:t>THINK</a:t>
            </a:r>
            <a:r>
              <a:rPr/>
              <a:t> (30 seconds) - Individual thinking</a:t>
            </a:r>
          </a:p>
          <a:p>
            <a:pPr lvl="1">
              <a:buAutoNum type="arabicPeriod"/>
            </a:pPr>
            <a:r>
              <a:rPr b="1"/>
              <a:t>PAIR</a:t>
            </a:r>
            <a:r>
              <a:rPr/>
              <a:t> (2 minutes) - Discuss with partner</a:t>
            </a:r>
          </a:p>
          <a:p>
            <a:pPr lvl="1">
              <a:buAutoNum type="arabicPeriod"/>
            </a:pPr>
            <a:r>
              <a:rPr b="1"/>
              <a:t>SHARE</a:t>
            </a:r>
            <a:r>
              <a:rPr/>
              <a:t> (5 minutes) - Share with class</a:t>
            </a:r>
          </a:p>
          <a:p>
            <a:pPr lvl="0" marL="0" indent="0">
              <a:buNone/>
            </a:pPr>
            <a:r>
              <a:rPr b="1"/>
              <a:t>Use this in EVERY lesson!</a:t>
            </a:r>
          </a:p>
          <a:p>
            <a:pPr lvl="0" marL="0" indent="0">
              <a:buNone/>
            </a:pPr>
            <a:r>
              <a:rPr/>
              <a:t>Benefits: - Everyone participates - Builds confidence - Develops communication skills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Model Building &amp; Revision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Progressive Understanding:</a:t>
            </a:r>
          </a:p>
          <a:p>
            <a:pPr lvl="0" marL="0" indent="0">
              <a:buNone/>
            </a:pPr>
            <a:r>
              <a:rPr b="1"/>
              <a:t>Lesson 1:</a:t>
            </a:r>
            <a:r>
              <a:rPr/>
              <a:t> Initial model (just drawings)</a:t>
            </a:r>
            <a:br/>
            <a:r>
              <a:rPr b="1"/>
              <a:t>Lesson 2:</a:t>
            </a:r>
            <a:r>
              <a:rPr/>
              <a:t> Add labels (identify structures)</a:t>
            </a:r>
            <a:br/>
            <a:r>
              <a:rPr b="1"/>
              <a:t>Lesson 3:</a:t>
            </a:r>
            <a:r>
              <a:rPr/>
              <a:t> Add functions (what they do)</a:t>
            </a:r>
            <a:br/>
            <a:r>
              <a:rPr b="1"/>
              <a:t>Lesson 4:</a:t>
            </a:r>
            <a:r>
              <a:rPr/>
              <a:t> Add plant vs animal comparison</a:t>
            </a:r>
            <a:br/>
            <a:r>
              <a:rPr b="1"/>
              <a:t>Lesson 5:</a:t>
            </a:r>
            <a:r>
              <a:rPr/>
              <a:t> Final comprehensive model</a:t>
            </a:r>
          </a:p>
          <a:p>
            <a:pPr lvl="0" marL="0" indent="0">
              <a:buNone/>
            </a:pPr>
            <a:r>
              <a:rPr b="1"/>
              <a:t>Students SEE their learning grow!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POE Cycles (Predict-Observe-Explain)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How to Facilitate:</a:t>
            </a:r>
          </a:p>
          <a:p>
            <a:pPr lvl="1">
              <a:buAutoNum type="arabicPeriod"/>
            </a:pPr>
            <a:r>
              <a:rPr b="1"/>
              <a:t>PREDICT:</a:t>
            </a:r>
            <a:r>
              <a:rPr/>
              <a:t> “What do you think we’ll see?”</a:t>
            </a:r>
          </a:p>
          <a:p>
            <a:pPr lvl="2"/>
            <a:r>
              <a:rPr/>
              <a:t>Students write predictions</a:t>
            </a:r>
          </a:p>
          <a:p>
            <a:pPr lvl="2"/>
            <a:r>
              <a:rPr/>
              <a:t>Share with partner</a:t>
            </a:r>
          </a:p>
          <a:p>
            <a:pPr lvl="1">
              <a:buAutoNum type="arabicPeriod"/>
            </a:pPr>
            <a:r>
              <a:rPr b="1"/>
              <a:t>OBSERVE:</a:t>
            </a:r>
            <a:r>
              <a:rPr/>
              <a:t> Conduct experiment/observation</a:t>
            </a:r>
          </a:p>
          <a:p>
            <a:pPr lvl="2"/>
            <a:r>
              <a:rPr/>
              <a:t>Students record carefully</a:t>
            </a:r>
          </a:p>
          <a:p>
            <a:pPr lvl="2"/>
            <a:r>
              <a:rPr/>
              <a:t>Compare to predictions</a:t>
            </a:r>
          </a:p>
          <a:p>
            <a:pPr lvl="1">
              <a:buAutoNum type="arabicPeriod"/>
            </a:pPr>
            <a:r>
              <a:rPr b="1"/>
              <a:t>EXPLAIN:</a:t>
            </a:r>
            <a:r>
              <a:rPr/>
              <a:t> “Why did we see that?”</a:t>
            </a:r>
          </a:p>
          <a:p>
            <a:pPr lvl="2"/>
            <a:r>
              <a:rPr/>
              <a:t>Students attempt explanations</a:t>
            </a:r>
          </a:p>
          <a:p>
            <a:pPr lvl="2"/>
            <a:r>
              <a:rPr/>
              <a:t>Discuss as class</a:t>
            </a:r>
          </a:p>
          <a:p>
            <a:pPr lvl="0" marL="0" indent="0">
              <a:buNone/>
            </a:pPr>
            <a:r>
              <a:rPr b="1"/>
              <a:t>Powerful for building understanding!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Part</a:t>
            </a:r>
            <a:r>
              <a:rPr/>
              <a:t> </a:t>
            </a:r>
            <a:r>
              <a:rPr/>
              <a:t>5:</a:t>
            </a:r>
            <a:r>
              <a:rPr/>
              <a:t> </a:t>
            </a:r>
            <a:r>
              <a:rPr/>
              <a:t>Summary</a:t>
            </a:r>
            <a:r>
              <a:rPr/>
              <a:t> </a:t>
            </a:r>
            <a:r>
              <a:rPr/>
              <a:t>Table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Final</a:t>
            </a:r>
            <a:r>
              <a:rPr/>
              <a:t> </a:t>
            </a:r>
            <a:r>
              <a:rPr/>
              <a:t>Explanation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The Summary Table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Purpose:</a:t>
            </a:r>
          </a:p>
          <a:p>
            <a:pPr lvl="0" marL="0" indent="0">
              <a:buNone/>
            </a:pPr>
            <a:r>
              <a:rPr/>
              <a:t>Track learning journey across all 5 lessons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Students Complete After EACH Lesson: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Lesson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What</a:t>
                      </a:r>
                      <a:r>
                        <a:rPr/>
                        <a:t> </a:t>
                      </a:r>
                      <a:r>
                        <a:rPr/>
                        <a:t>did</a:t>
                      </a:r>
                      <a:r>
                        <a:rPr/>
                        <a:t> </a:t>
                      </a:r>
                      <a:r>
                        <a:rPr/>
                        <a:t>I</a:t>
                      </a:r>
                      <a:r>
                        <a:rPr/>
                        <a:t> </a:t>
                      </a:r>
                      <a:r>
                        <a:rPr/>
                        <a:t>observe?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What</a:t>
                      </a:r>
                      <a:r>
                        <a:rPr/>
                        <a:t> </a:t>
                      </a:r>
                      <a:r>
                        <a:rPr/>
                        <a:t>did</a:t>
                      </a:r>
                      <a:r>
                        <a:rPr/>
                        <a:t> </a:t>
                      </a:r>
                      <a:r>
                        <a:rPr/>
                        <a:t>I</a:t>
                      </a:r>
                      <a:r>
                        <a:rPr/>
                        <a:t> </a:t>
                      </a:r>
                      <a:r>
                        <a:rPr/>
                        <a:t>learn?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How</a:t>
                      </a:r>
                      <a:r>
                        <a:rPr/>
                        <a:t> </a:t>
                      </a:r>
                      <a:r>
                        <a:rPr/>
                        <a:t>does</a:t>
                      </a:r>
                      <a:r>
                        <a:rPr/>
                        <a:t> </a:t>
                      </a:r>
                      <a:r>
                        <a:rPr/>
                        <a:t>this</a:t>
                      </a:r>
                      <a:r>
                        <a:rPr/>
                        <a:t> </a:t>
                      </a:r>
                      <a:r>
                        <a:rPr/>
                        <a:t>explain</a:t>
                      </a:r>
                      <a:r>
                        <a:rPr/>
                        <a:t> </a:t>
                      </a:r>
                      <a:r>
                        <a:rPr/>
                        <a:t>cells?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Cells</a:t>
                      </a:r>
                      <a:r>
                        <a:rPr/>
                        <a:t> </a:t>
                      </a:r>
                      <a:r>
                        <a:rPr/>
                        <a:t>under</a:t>
                      </a:r>
                      <a:r>
                        <a:rPr/>
                        <a:t> </a:t>
                      </a:r>
                      <a:r>
                        <a:rPr/>
                        <a:t>microscope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Cells</a:t>
                      </a:r>
                      <a:r>
                        <a:rPr/>
                        <a:t> </a:t>
                      </a:r>
                      <a:r>
                        <a:rPr/>
                        <a:t>have</a:t>
                      </a:r>
                      <a:r>
                        <a:rPr/>
                        <a:t> </a:t>
                      </a:r>
                      <a:r>
                        <a:rPr/>
                        <a:t>structures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What</a:t>
                      </a:r>
                      <a:r>
                        <a:rPr/>
                        <a:t> </a:t>
                      </a:r>
                      <a:r>
                        <a:rPr/>
                        <a:t>are</a:t>
                      </a:r>
                      <a:r>
                        <a:rPr/>
                        <a:t> </a:t>
                      </a:r>
                      <a:r>
                        <a:rPr/>
                        <a:t>these</a:t>
                      </a:r>
                      <a:r>
                        <a:rPr/>
                        <a:t> </a:t>
                      </a:r>
                      <a:r>
                        <a:rPr/>
                        <a:t>structures?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Labeled</a:t>
                      </a:r>
                      <a:r>
                        <a:rPr/>
                        <a:t> </a:t>
                      </a:r>
                      <a:r>
                        <a:rPr/>
                        <a:t>diagrams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Names</a:t>
                      </a:r>
                      <a:r>
                        <a:rPr/>
                        <a:t> </a:t>
                      </a:r>
                      <a:r>
                        <a:rPr/>
                        <a:t>of</a:t>
                      </a:r>
                      <a:r>
                        <a:rPr/>
                        <a:t> </a:t>
                      </a:r>
                      <a:r>
                        <a:rPr/>
                        <a:t>organelles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Now</a:t>
                      </a:r>
                      <a:r>
                        <a:rPr/>
                        <a:t> </a:t>
                      </a:r>
                      <a:r>
                        <a:rPr/>
                        <a:t>I</a:t>
                      </a:r>
                      <a:r>
                        <a:rPr/>
                        <a:t> </a:t>
                      </a:r>
                      <a:r>
                        <a:rPr/>
                        <a:t>can</a:t>
                      </a:r>
                      <a:r>
                        <a:rPr/>
                        <a:t> </a:t>
                      </a:r>
                      <a:r>
                        <a:rPr/>
                        <a:t>identify</a:t>
                      </a:r>
                      <a:r>
                        <a:rPr/>
                        <a:t> </a:t>
                      </a:r>
                      <a:r>
                        <a:rPr/>
                        <a:t>them!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…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…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…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…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This becomes their learning portfolio!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Summary Table Instructions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For Students:</a:t>
            </a:r>
          </a:p>
          <a:p>
            <a:pPr lvl="1"/>
            <a:r>
              <a:rPr/>
              <a:t>Complete after EVERY lesson (5 minutes)</a:t>
            </a:r>
          </a:p>
          <a:p>
            <a:pPr lvl="1"/>
            <a:r>
              <a:rPr/>
              <a:t>Note when DQB is updated or models revised</a:t>
            </a:r>
          </a:p>
          <a:p>
            <a:pPr lvl="1"/>
            <a:r>
              <a:rPr/>
              <a:t>Use evidence from activities</a:t>
            </a:r>
          </a:p>
          <a:p>
            <a:pPr lvl="1"/>
            <a:r>
              <a:rPr/>
              <a:t>Track questions and answers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For Teachers:</a:t>
            </a:r>
          </a:p>
          <a:p>
            <a:pPr lvl="1"/>
            <a:r>
              <a:rPr/>
              <a:t>Provide template at start of unit</a:t>
            </a:r>
          </a:p>
          <a:p>
            <a:pPr lvl="1"/>
            <a:r>
              <a:rPr/>
              <a:t>Review periodically</a:t>
            </a:r>
          </a:p>
          <a:p>
            <a:pPr lvl="1"/>
            <a:r>
              <a:rPr/>
              <a:t>Use to identify misconceptions</a:t>
            </a:r>
          </a:p>
          <a:p>
            <a:pPr lvl="1"/>
            <a:r>
              <a:rPr/>
              <a:t>Celebrate growth!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The Final Explanation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What Students Write:</a:t>
            </a:r>
          </a:p>
          <a:p>
            <a:pPr lvl="0" marL="0" indent="0">
              <a:buNone/>
            </a:pPr>
            <a:r>
              <a:rPr b="1"/>
              <a:t>Complete explanation of cell structure and function including:</a:t>
            </a:r>
            <a:r>
              <a:rPr/>
              <a:t> - All organelles identified - Functions explained - Plant vs animal comparison - Structure-function relationships - Evidence from all 5 lessons - Real-world applications</a:t>
            </a:r>
          </a:p>
          <a:p>
            <a:pPr lvl="0" marL="0" indent="0">
              <a:buNone/>
            </a:pPr>
            <a:r>
              <a:rPr b="1"/>
              <a:t>This is the culminating assessment!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Final Explanation Rubric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Criteria:</a:t>
            </a:r>
          </a:p>
          <a:p>
            <a:pPr lvl="0" marL="0" indent="0">
              <a:buNone/>
            </a:pPr>
            <a:r>
              <a:rPr/>
              <a:t>✅ </a:t>
            </a:r>
            <a:r>
              <a:rPr b="1"/>
              <a:t>Understanding</a:t>
            </a:r>
            <a:r>
              <a:rPr/>
              <a:t> (4 pts) - Shows complete understanding</a:t>
            </a:r>
            <a:br/>
            <a:r>
              <a:rPr/>
              <a:t>✅ </a:t>
            </a:r>
            <a:r>
              <a:rPr b="1"/>
              <a:t>Evidence</a:t>
            </a:r>
            <a:r>
              <a:rPr/>
              <a:t> (4 pts) - Uses evidence from all lessons</a:t>
            </a:r>
            <a:br/>
            <a:r>
              <a:rPr/>
              <a:t>✅ </a:t>
            </a:r>
            <a:r>
              <a:rPr b="1"/>
              <a:t>Reasoning</a:t>
            </a:r>
            <a:r>
              <a:rPr/>
              <a:t> (4 pts) - Clear scientific reasoning</a:t>
            </a:r>
            <a:br/>
            <a:r>
              <a:rPr/>
              <a:t>✅ </a:t>
            </a:r>
            <a:r>
              <a:rPr b="1"/>
              <a:t>Communication</a:t>
            </a:r>
            <a:r>
              <a:rPr/>
              <a:t> (4 pts) - Well-organized, clear</a:t>
            </a:r>
            <a:br/>
            <a:r>
              <a:rPr/>
              <a:t>✅ </a:t>
            </a:r>
            <a:r>
              <a:rPr b="1"/>
              <a:t>Application</a:t>
            </a:r>
            <a:r>
              <a:rPr/>
              <a:t> (4 pts) - Connects to real life</a:t>
            </a:r>
          </a:p>
          <a:p>
            <a:pPr lvl="0" marL="0" indent="0">
              <a:buNone/>
            </a:pPr>
            <a:r>
              <a:rPr b="1"/>
              <a:t>Total: 20 points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Part</a:t>
            </a:r>
            <a:r>
              <a:rPr/>
              <a:t> </a:t>
            </a:r>
            <a:r>
              <a:rPr/>
              <a:t>6:</a:t>
            </a:r>
            <a:r>
              <a:rPr/>
              <a:t> </a:t>
            </a:r>
            <a:r>
              <a:rPr/>
              <a:t>Assessment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Differentiation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Formative Assessment Throughout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Every Lesson:</a:t>
            </a:r>
          </a:p>
          <a:p>
            <a:pPr lvl="0" marL="0" indent="0">
              <a:buNone/>
            </a:pPr>
            <a:r>
              <a:rPr/>
              <a:t>✅ </a:t>
            </a:r>
            <a:r>
              <a:rPr b="1"/>
              <a:t>Exit Tickets</a:t>
            </a:r>
            <a:r>
              <a:rPr/>
              <a:t> - Quick check of understanding</a:t>
            </a:r>
            <a:br/>
            <a:r>
              <a:rPr/>
              <a:t>✅ </a:t>
            </a:r>
            <a:r>
              <a:rPr b="1"/>
              <a:t>Think-Pair-Share Observations</a:t>
            </a:r>
            <a:r>
              <a:rPr/>
              <a:t> - Listen to discussions</a:t>
            </a:r>
            <a:br/>
            <a:r>
              <a:rPr/>
              <a:t>✅ </a:t>
            </a:r>
            <a:r>
              <a:rPr b="1"/>
              <a:t>Model Revisions</a:t>
            </a:r>
            <a:r>
              <a:rPr/>
              <a:t> - Track progressive understanding</a:t>
            </a:r>
            <a:br/>
            <a:r>
              <a:rPr/>
              <a:t>✅ </a:t>
            </a:r>
            <a:r>
              <a:rPr b="1"/>
              <a:t>Summary Table Entries</a:t>
            </a:r>
            <a:r>
              <a:rPr/>
              <a:t> - Monitor learning</a:t>
            </a:r>
            <a:br/>
            <a:r>
              <a:rPr/>
              <a:t>✅ </a:t>
            </a:r>
            <a:r>
              <a:rPr b="1"/>
              <a:t>Quick Checks</a:t>
            </a:r>
            <a:r>
              <a:rPr/>
              <a:t> - Oral questions, thumbs up/down</a:t>
            </a:r>
          </a:p>
          <a:p>
            <a:pPr lvl="0" marL="0" indent="0">
              <a:buNone/>
            </a:pPr>
            <a:r>
              <a:rPr b="1"/>
              <a:t>Use to adjust teaching!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Summative Assessment (Lesson 5)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Components:</a:t>
            </a:r>
          </a:p>
          <a:p>
            <a:pPr lvl="1">
              <a:buAutoNum type="arabicPeriod"/>
            </a:pPr>
            <a:r>
              <a:rPr b="1"/>
              <a:t>Written Explanation</a:t>
            </a:r>
            <a:r>
              <a:rPr/>
              <a:t> (comprehensive)</a:t>
            </a:r>
          </a:p>
          <a:p>
            <a:pPr lvl="1">
              <a:buAutoNum type="arabicPeriod"/>
            </a:pPr>
            <a:r>
              <a:rPr b="1"/>
              <a:t>Final Model</a:t>
            </a:r>
            <a:r>
              <a:rPr/>
              <a:t> (all organelles, functions, plant vs animal)</a:t>
            </a:r>
          </a:p>
          <a:p>
            <a:pPr lvl="1">
              <a:buAutoNum type="arabicPeriod"/>
            </a:pPr>
            <a:r>
              <a:rPr b="1"/>
              <a:t>Test/Quiz</a:t>
            </a:r>
            <a:r>
              <a:rPr/>
              <a:t> (25-30 questions)</a:t>
            </a:r>
          </a:p>
          <a:p>
            <a:pPr lvl="1">
              <a:buAutoNum type="arabicPeriod"/>
            </a:pPr>
            <a:r>
              <a:rPr b="1"/>
              <a:t>Summary Table</a:t>
            </a:r>
            <a:r>
              <a:rPr/>
              <a:t> (complete portfolio)</a:t>
            </a:r>
          </a:p>
          <a:p>
            <a:pPr lvl="0" marL="0" indent="0">
              <a:buNone/>
            </a:pPr>
            <a:r>
              <a:rPr b="1"/>
              <a:t>Assess understanding from multiple angles!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Differentiation Strategies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For English Language Learners:</a:t>
            </a:r>
          </a:p>
          <a:p>
            <a:pPr lvl="1"/>
            <a:r>
              <a:rPr/>
              <a:t>Vocabulary word wall</a:t>
            </a:r>
          </a:p>
          <a:p>
            <a:pPr lvl="1"/>
            <a:r>
              <a:rPr/>
              <a:t>Sentence stems</a:t>
            </a:r>
          </a:p>
          <a:p>
            <a:pPr lvl="1"/>
            <a:r>
              <a:rPr/>
              <a:t>Visual diagrams</a:t>
            </a:r>
          </a:p>
          <a:p>
            <a:pPr lvl="1"/>
            <a:r>
              <a:rPr/>
              <a:t>Pair with supportive peers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For Students with Disabilities:</a:t>
            </a:r>
          </a:p>
          <a:p>
            <a:pPr lvl="1"/>
            <a:r>
              <a:rPr/>
              <a:t>Tactile models</a:t>
            </a:r>
          </a:p>
          <a:p>
            <a:pPr lvl="1"/>
            <a:r>
              <a:rPr/>
              <a:t>Extended time</a:t>
            </a:r>
          </a:p>
          <a:p>
            <a:pPr lvl="1"/>
            <a:r>
              <a:rPr/>
              <a:t>Partially completed organizers</a:t>
            </a:r>
          </a:p>
          <a:p>
            <a:pPr lvl="1"/>
            <a:r>
              <a:rPr/>
              <a:t>Alternative formats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Extension for Advanced Students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Challenge Activities:</a:t>
            </a:r>
          </a:p>
          <a:p>
            <a:pPr lvl="0" marL="0" indent="0">
              <a:buNone/>
            </a:pPr>
            <a:r>
              <a:rPr/>
              <a:t>🔬 Research specialized cells (neurons, muscle cells)</a:t>
            </a:r>
            <a:br/>
            <a:r>
              <a:rPr/>
              <a:t>🧬 Explore cell division (mitosis/meiosis preview)</a:t>
            </a:r>
            <a:br/>
            <a:r>
              <a:rPr/>
              <a:t>💻 Create digital cell models</a:t>
            </a:r>
            <a:br/>
            <a:r>
              <a:rPr/>
              <a:t>📊 Compare prokaryotic vs eukaryotic cells</a:t>
            </a:r>
            <a:br/>
            <a:r>
              <a:rPr/>
              <a:t>🎨 Design 3D cell models</a:t>
            </a:r>
            <a:br/>
            <a:r>
              <a:rPr/>
              <a:t>📚 Read about cell discoveries (history of microscopy)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Part</a:t>
            </a:r>
            <a:r>
              <a:rPr/>
              <a:t> </a:t>
            </a:r>
            <a:r>
              <a:rPr/>
              <a:t>7:</a:t>
            </a:r>
            <a:r>
              <a:rPr/>
              <a:t> </a:t>
            </a:r>
            <a:r>
              <a:rPr/>
              <a:t>Resources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Materials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Essential Materials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For All Lessons:</a:t>
            </a:r>
          </a:p>
          <a:p>
            <a:pPr lvl="0" marL="0" indent="0">
              <a:buNone/>
            </a:pPr>
            <a:r>
              <a:rPr/>
              <a:t>🔬 Microscopes (or digital microscopes)</a:t>
            </a:r>
            <a:br/>
            <a:r>
              <a:rPr/>
              <a:t>🧅 Onion specimens</a:t>
            </a:r>
            <a:br/>
            <a:r>
              <a:rPr/>
              <a:t>👄 Cheek cell specimens (toothpicks, methylene blue)</a:t>
            </a:r>
            <a:br/>
            <a:r>
              <a:rPr/>
              <a:t>📊 Chart paper, markers</a:t>
            </a:r>
            <a:br/>
            <a:r>
              <a:rPr/>
              <a:t>📝 Student worksheets</a:t>
            </a:r>
            <a:br/>
            <a:r>
              <a:rPr/>
              <a:t>💻 Computer/projector for videos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Digital Resources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Recommended:</a:t>
            </a:r>
          </a:p>
          <a:p>
            <a:pPr lvl="0" marL="0" indent="0">
              <a:buNone/>
            </a:pPr>
            <a:r>
              <a:rPr/>
              <a:t>📹 </a:t>
            </a:r>
            <a:r>
              <a:rPr b="1"/>
              <a:t>YouTube Videos:</a:t>
            </a:r>
            <a:r>
              <a:rPr/>
              <a:t> - “Cell Structure and Function” - “Plant vs Animal Cells”</a:t>
            </a:r>
          </a:p>
          <a:p>
            <a:pPr lvl="0" marL="0" indent="0">
              <a:buNone/>
            </a:pPr>
            <a:r>
              <a:rPr/>
              <a:t>🖥️ </a:t>
            </a:r>
            <a:r>
              <a:rPr b="1"/>
              <a:t>Simulations:</a:t>
            </a:r>
            <a:r>
              <a:rPr/>
              <a:t> - PhET Cell Structure - Virtual Microscope simulations</a:t>
            </a:r>
          </a:p>
          <a:p>
            <a:pPr lvl="0" marL="0" indent="0">
              <a:buNone/>
            </a:pPr>
            <a:r>
              <a:rPr/>
              <a:t>📚 </a:t>
            </a:r>
            <a:r>
              <a:rPr b="1"/>
              <a:t>Readings:</a:t>
            </a:r>
            <a:r>
              <a:rPr/>
              <a:t> - Khan Academy: Cell Biology - Biology textbook chapters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Safety Considerations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Important:</a:t>
            </a:r>
          </a:p>
          <a:p>
            <a:pPr lvl="0" marL="0" indent="0">
              <a:buNone/>
            </a:pPr>
            <a:r>
              <a:rPr/>
              <a:t>⚠️ </a:t>
            </a:r>
            <a:r>
              <a:rPr b="1"/>
              <a:t>Microscope Handling:</a:t>
            </a:r>
            <a:r>
              <a:rPr/>
              <a:t> - Carry with two hands - Clean lenses carefully - Store properly</a:t>
            </a:r>
          </a:p>
          <a:p>
            <a:pPr lvl="0" marL="0" indent="0">
              <a:buNone/>
            </a:pPr>
            <a:r>
              <a:rPr/>
              <a:t>⚠️ </a:t>
            </a:r>
            <a:r>
              <a:rPr b="1"/>
              <a:t>Specimen Preparation:</a:t>
            </a:r>
            <a:r>
              <a:rPr/>
              <a:t> - Use methylene blue carefully (stains!) - Dispose of specimens properly - Wash hands after handling</a:t>
            </a:r>
          </a:p>
          <a:p>
            <a:pPr lvl="0" marL="0" indent="0">
              <a:buNone/>
            </a:pPr>
            <a:r>
              <a:rPr/>
              <a:t>⚠️ </a:t>
            </a:r>
            <a:r>
              <a:rPr b="1"/>
              <a:t>General:</a:t>
            </a:r>
            <a:r>
              <a:rPr/>
              <a:t> - Supervise all activities - Clear workspace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Part</a:t>
            </a:r>
            <a:r>
              <a:rPr/>
              <a:t> </a:t>
            </a:r>
            <a:r>
              <a:rPr/>
              <a:t>8:</a:t>
            </a:r>
            <a:r>
              <a:rPr/>
              <a:t> </a:t>
            </a:r>
            <a:r>
              <a:rPr/>
              <a:t>Tips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Success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Before You Start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Preparation Checklist:</a:t>
            </a:r>
          </a:p>
          <a:p>
            <a:pPr lvl="0" marL="0" indent="0">
              <a:buNone/>
            </a:pPr>
            <a:r>
              <a:rPr/>
              <a:t>✅ Read through all 5 lessons</a:t>
            </a:r>
            <a:br/>
            <a:r>
              <a:rPr/>
              <a:t>✅ Gather materials</a:t>
            </a:r>
            <a:br/>
            <a:r>
              <a:rPr/>
              <a:t>✅ Test microscopes</a:t>
            </a:r>
            <a:br/>
            <a:r>
              <a:rPr/>
              <a:t>✅ Prepare specimens</a:t>
            </a:r>
            <a:br/>
            <a:r>
              <a:rPr/>
              <a:t>✅ Print Summary Table templates</a:t>
            </a:r>
            <a:br/>
            <a:r>
              <a:rPr/>
              <a:t>✅ Create DQB poster</a:t>
            </a:r>
            <a:br/>
            <a:r>
              <a:rPr/>
              <a:t>✅ Review probing questions</a:t>
            </a:r>
            <a:br/>
            <a:r>
              <a:rPr/>
              <a:t>✅ Practice wait time!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During the Unit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Remember:</a:t>
            </a:r>
          </a:p>
          <a:p>
            <a:pPr lvl="0" marL="0" indent="0">
              <a:buNone/>
            </a:pPr>
            <a:r>
              <a:rPr/>
              <a:t>🎯 </a:t>
            </a:r>
            <a:r>
              <a:rPr b="1"/>
              <a:t>Let students figure it out</a:t>
            </a:r>
            <a:r>
              <a:rPr/>
              <a:t> - Don’t tell too early!</a:t>
            </a:r>
            <a:br/>
            <a:r>
              <a:rPr/>
              <a:t>⏱️ </a:t>
            </a:r>
            <a:r>
              <a:rPr b="1"/>
              <a:t>Wait time is crucial</a:t>
            </a:r>
            <a:r>
              <a:rPr/>
              <a:t> - 10+ seconds after questions</a:t>
            </a:r>
            <a:br/>
            <a:r>
              <a:rPr/>
              <a:t>👂 </a:t>
            </a:r>
            <a:r>
              <a:rPr b="1"/>
              <a:t>Listen to student thinking</a:t>
            </a:r>
            <a:r>
              <a:rPr/>
              <a:t> - Reveals understanding</a:t>
            </a:r>
            <a:br/>
            <a:r>
              <a:rPr/>
              <a:t>❓ </a:t>
            </a:r>
            <a:r>
              <a:rPr b="1"/>
              <a:t>Probe, don’t tell</a:t>
            </a:r>
            <a:r>
              <a:rPr/>
              <a:t> - “Why do you think that?”</a:t>
            </a:r>
            <a:br/>
            <a:r>
              <a:rPr/>
              <a:t>🎨 </a:t>
            </a:r>
            <a:r>
              <a:rPr b="1"/>
              <a:t>Models evolve</a:t>
            </a:r>
            <a:r>
              <a:rPr/>
              <a:t> - Track progressive understanding</a:t>
            </a:r>
            <a:br/>
            <a:r>
              <a:rPr/>
              <a:t>📝 </a:t>
            </a:r>
            <a:r>
              <a:rPr b="1"/>
              <a:t>Summary Table matters</a:t>
            </a:r>
            <a:r>
              <a:rPr/>
              <a:t> - Review regularly</a:t>
            </a:r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Common Pitfalls to Avoid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❌ DON’T:</a:t>
            </a:r>
          </a:p>
          <a:p>
            <a:pPr lvl="1"/>
            <a:r>
              <a:rPr/>
              <a:t>Lecture about organelles in Lesson 1</a:t>
            </a:r>
          </a:p>
          <a:p>
            <a:pPr lvl="1"/>
            <a:r>
              <a:rPr/>
              <a:t>Skip the observation phase</a:t>
            </a:r>
          </a:p>
          <a:p>
            <a:pPr lvl="1"/>
            <a:r>
              <a:rPr/>
              <a:t>Tell answers before students think</a:t>
            </a:r>
          </a:p>
          <a:p>
            <a:pPr lvl="1"/>
            <a:r>
              <a:rPr/>
              <a:t>Rush through activities</a:t>
            </a:r>
          </a:p>
          <a:p>
            <a:pPr lvl="1"/>
            <a:r>
              <a:rPr/>
              <a:t>Forget wait time</a:t>
            </a:r>
          </a:p>
          <a:p>
            <a:pPr lvl="1"/>
            <a:r>
              <a:rPr/>
              <a:t>Ignore student questions</a:t>
            </a:r>
          </a:p>
          <a:p>
            <a:pPr lvl="1"/>
            <a:r>
              <a:rPr/>
              <a:t>Skip model revisions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✅ DO:</a:t>
            </a:r>
          </a:p>
          <a:p>
            <a:pPr lvl="1"/>
            <a:r>
              <a:rPr/>
              <a:t>Start with observation</a:t>
            </a:r>
          </a:p>
          <a:p>
            <a:pPr lvl="1"/>
            <a:r>
              <a:rPr/>
              <a:t>Facilitate discovery</a:t>
            </a:r>
          </a:p>
          <a:p>
            <a:pPr lvl="1"/>
            <a:r>
              <a:rPr/>
              <a:t>Use probing questions</a:t>
            </a:r>
          </a:p>
          <a:p>
            <a:pPr lvl="1"/>
            <a:r>
              <a:rPr/>
              <a:t>Allow thinking time</a:t>
            </a:r>
          </a:p>
          <a:p>
            <a:pPr lvl="1"/>
            <a:r>
              <a:rPr/>
              <a:t>Track student questions (DQB)</a:t>
            </a:r>
          </a:p>
          <a:p>
            <a:pPr lvl="1"/>
            <a:r>
              <a:rPr/>
              <a:t>Celebrate model growth</a:t>
            </a:r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Managing the DQB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Tips:</a:t>
            </a:r>
          </a:p>
          <a:p>
            <a:pPr lvl="0" marL="0" indent="0">
              <a:buNone/>
            </a:pPr>
            <a:r>
              <a:rPr/>
              <a:t>📌 </a:t>
            </a:r>
            <a:r>
              <a:rPr b="1"/>
              <a:t>Post visibly</a:t>
            </a:r>
            <a:r>
              <a:rPr/>
              <a:t> - Large poster in classroom</a:t>
            </a:r>
            <a:br/>
            <a:r>
              <a:rPr/>
              <a:t>✍️ </a:t>
            </a:r>
            <a:r>
              <a:rPr b="1"/>
              <a:t>Add regularly</a:t>
            </a:r>
            <a:r>
              <a:rPr/>
              <a:t> - After observations, discussions</a:t>
            </a:r>
            <a:br/>
            <a:r>
              <a:rPr/>
              <a:t>✅ </a:t>
            </a:r>
            <a:r>
              <a:rPr b="1"/>
              <a:t>Mark answered questions</a:t>
            </a:r>
            <a:r>
              <a:rPr/>
              <a:t> - Show progress</a:t>
            </a:r>
            <a:br/>
            <a:r>
              <a:rPr/>
              <a:t>🎉 </a:t>
            </a:r>
            <a:r>
              <a:rPr b="1"/>
              <a:t>Celebrate</a:t>
            </a:r>
            <a:r>
              <a:rPr/>
              <a:t> - “Look how many we’ve answered!”</a:t>
            </a:r>
            <a:br/>
            <a:r>
              <a:rPr/>
              <a:t>❓ </a:t>
            </a:r>
            <a:r>
              <a:rPr b="1"/>
              <a:t>Keep new questions</a:t>
            </a:r>
            <a:r>
              <a:rPr/>
              <a:t> - Learning never stops!</a:t>
            </a:r>
          </a:p>
          <a:p>
            <a:pPr lvl="0" marL="0" indent="0">
              <a:buNone/>
            </a:pPr>
            <a:r>
              <a:rPr b="1"/>
              <a:t>DQB shows the learning journey!</a:t>
            </a:r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Time Management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Lesson Duration Guide:</a:t>
            </a:r>
          </a:p>
          <a:p>
            <a:pPr lvl="0" marL="0" indent="0">
              <a:buNone/>
            </a:pPr>
            <a:r>
              <a:rPr b="1"/>
              <a:t>Lesson 1:</a:t>
            </a:r>
            <a:r>
              <a:rPr/>
              <a:t> 40 min (might need 50 for first microscope use)</a:t>
            </a:r>
            <a:br/>
            <a:r>
              <a:rPr b="1"/>
              <a:t>Lesson 2:</a:t>
            </a:r>
            <a:r>
              <a:rPr/>
              <a:t> 40 min</a:t>
            </a:r>
            <a:br/>
            <a:r>
              <a:rPr b="1"/>
              <a:t>Lesson 3:</a:t>
            </a:r>
            <a:r>
              <a:rPr/>
              <a:t> 80 min (jigsaw takes time - worth it!)</a:t>
            </a:r>
            <a:br/>
            <a:r>
              <a:rPr b="1"/>
              <a:t>Lesson 4:</a:t>
            </a:r>
            <a:r>
              <a:rPr/>
              <a:t> 40 min</a:t>
            </a:r>
            <a:br/>
            <a:r>
              <a:rPr b="1"/>
              <a:t>Lesson 5:</a:t>
            </a:r>
            <a:r>
              <a:rPr/>
              <a:t> 80 min (assessment + reflection)</a:t>
            </a:r>
          </a:p>
          <a:p>
            <a:pPr lvl="0" marL="0" indent="0">
              <a:buNone/>
            </a:pPr>
            <a:r>
              <a:rPr b="1"/>
              <a:t>Total:</a:t>
            </a:r>
            <a:r>
              <a:rPr/>
              <a:t> 10 periods (adjust as needed)</a:t>
            </a:r>
          </a:p>
        </p:txBody>
      </p:sp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Part</a:t>
            </a:r>
            <a:r>
              <a:rPr/>
              <a:t> </a:t>
            </a:r>
            <a:r>
              <a:rPr/>
              <a:t>9:</a:t>
            </a:r>
            <a:r>
              <a:rPr/>
              <a:t> </a:t>
            </a:r>
            <a:r>
              <a:rPr/>
              <a:t>Expected</a:t>
            </a:r>
            <a:r>
              <a:rPr/>
              <a:t> </a:t>
            </a:r>
            <a:r>
              <a:rPr/>
              <a:t>Student</a:t>
            </a:r>
            <a:r>
              <a:rPr/>
              <a:t> </a:t>
            </a:r>
            <a:r>
              <a:rPr/>
              <a:t>Outcomes</a:t>
            </a:r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By End of Unit, Students Can:</a:t>
            </a:r>
          </a:p>
          <a:p>
            <a:pPr lvl="0" marL="0" indent="0">
              <a:buNone/>
            </a:pPr>
            <a:r>
              <a:rPr/>
              <a:t>✅ Identify all major cell organelles</a:t>
            </a:r>
            <a:br/>
            <a:r>
              <a:rPr/>
              <a:t>✅ Explain function of each organelle</a:t>
            </a:r>
            <a:br/>
            <a:r>
              <a:rPr/>
              <a:t>✅ Compare plant and animal cells</a:t>
            </a:r>
            <a:br/>
            <a:r>
              <a:rPr/>
              <a:t>✅ Explain WHY differences exist</a:t>
            </a:r>
            <a:br/>
            <a:r>
              <a:rPr/>
              <a:t>✅ Relate structure to function</a:t>
            </a:r>
            <a:br/>
            <a:r>
              <a:rPr/>
              <a:t>✅ Use microscope properly</a:t>
            </a:r>
            <a:br/>
            <a:r>
              <a:rPr/>
              <a:t>✅ Create accurate cell models</a:t>
            </a:r>
            <a:br/>
            <a:r>
              <a:rPr/>
              <a:t>✅ Write complete scientific explanations</a:t>
            </a:r>
          </a:p>
          <a:p>
            <a:pPr lvl="0" marL="0" indent="0">
              <a:buNone/>
            </a:pPr>
            <a:r>
              <a:rPr b="1"/>
              <a:t>Evidence-based understanding!</a:t>
            </a:r>
          </a:p>
        </p:txBody>
      </p:sp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Student Growth Indicators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You’ll See:</a:t>
            </a:r>
          </a:p>
          <a:p>
            <a:pPr lvl="0" marL="0" indent="0">
              <a:buNone/>
            </a:pPr>
            <a:r>
              <a:rPr/>
              <a:t>📈 </a:t>
            </a:r>
            <a:r>
              <a:rPr b="1"/>
              <a:t>Models evolve</a:t>
            </a:r>
            <a:r>
              <a:rPr/>
              <a:t> - From simple drawings to detailed diagrams</a:t>
            </a:r>
            <a:br/>
            <a:r>
              <a:rPr/>
              <a:t>💬 </a:t>
            </a:r>
            <a:r>
              <a:rPr b="1"/>
              <a:t>Questions deepen</a:t>
            </a:r>
            <a:r>
              <a:rPr/>
              <a:t> - From “What is that?” to “Why does it work that way?”</a:t>
            </a:r>
            <a:br/>
            <a:r>
              <a:rPr/>
              <a:t>🎯 </a:t>
            </a:r>
            <a:r>
              <a:rPr b="1"/>
              <a:t>Explanations improve</a:t>
            </a:r>
            <a:r>
              <a:rPr/>
              <a:t> - From guesses to evidence-based reasoning</a:t>
            </a:r>
            <a:br/>
            <a:r>
              <a:rPr/>
              <a:t>🤝 </a:t>
            </a:r>
            <a:r>
              <a:rPr b="1"/>
              <a:t>Collaboration increases</a:t>
            </a:r>
            <a:r>
              <a:rPr/>
              <a:t> - Students teach each other</a:t>
            </a:r>
            <a:br/>
            <a:r>
              <a:rPr/>
              <a:t>😊 </a:t>
            </a:r>
            <a:r>
              <a:rPr b="1"/>
              <a:t>Confidence grows</a:t>
            </a:r>
            <a:r>
              <a:rPr/>
              <a:t> - “I can explain cells!”</a:t>
            </a:r>
          </a:p>
        </p:txBody>
      </p:sp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Part</a:t>
            </a:r>
            <a:r>
              <a:rPr/>
              <a:t> </a:t>
            </a:r>
            <a:r>
              <a:rPr/>
              <a:t>10:</a:t>
            </a:r>
            <a:r>
              <a:rPr/>
              <a:t> </a:t>
            </a:r>
            <a:r>
              <a:rPr/>
              <a:t>Frequently</a:t>
            </a:r>
            <a:r>
              <a:rPr/>
              <a:t> </a:t>
            </a:r>
            <a:r>
              <a:rPr/>
              <a:t>Asked</a:t>
            </a:r>
            <a:r>
              <a:rPr/>
              <a:t> </a:t>
            </a:r>
            <a:r>
              <a:rPr/>
              <a:t>Questions</a:t>
            </a:r>
          </a:p>
        </p:txBody>
      </p:sp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FAQ: “What if students don’t see anything under the microscope?”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Solutions:</a:t>
            </a:r>
          </a:p>
          <a:p>
            <a:pPr lvl="1">
              <a:buAutoNum type="arabicPeriod"/>
            </a:pPr>
            <a:r>
              <a:rPr b="1"/>
              <a:t>Check focus</a:t>
            </a:r>
            <a:r>
              <a:rPr/>
              <a:t> - Adjust coarse/fine focus</a:t>
            </a:r>
          </a:p>
          <a:p>
            <a:pPr lvl="1">
              <a:buAutoNum type="arabicPeriod"/>
            </a:pPr>
            <a:r>
              <a:rPr b="1"/>
              <a:t>Check lighting</a:t>
            </a:r>
            <a:r>
              <a:rPr/>
              <a:t> - Adjust mirror/light source</a:t>
            </a:r>
          </a:p>
          <a:p>
            <a:pPr lvl="1">
              <a:buAutoNum type="arabicPeriod"/>
            </a:pPr>
            <a:r>
              <a:rPr b="1"/>
              <a:t>Check specimen</a:t>
            </a:r>
            <a:r>
              <a:rPr/>
              <a:t> - Is it thin enough?</a:t>
            </a:r>
          </a:p>
          <a:p>
            <a:pPr lvl="1">
              <a:buAutoNum type="arabicPeriod"/>
            </a:pPr>
            <a:r>
              <a:rPr b="1"/>
              <a:t>Use digital microscope</a:t>
            </a:r>
            <a:r>
              <a:rPr/>
              <a:t> - Projects on screen</a:t>
            </a:r>
          </a:p>
          <a:p>
            <a:pPr lvl="1">
              <a:buAutoNum type="arabicPeriod"/>
            </a:pPr>
            <a:r>
              <a:rPr b="1"/>
              <a:t>Use prepared slides</a:t>
            </a:r>
            <a:r>
              <a:rPr/>
              <a:t> - As backup</a:t>
            </a:r>
          </a:p>
          <a:p>
            <a:pPr lvl="1">
              <a:buAutoNum type="arabicPeriod"/>
            </a:pPr>
            <a:r>
              <a:rPr b="1"/>
              <a:t>Pair struggling students</a:t>
            </a:r>
            <a:r>
              <a:rPr/>
              <a:t> - With successful ones</a:t>
            </a:r>
          </a:p>
          <a:p>
            <a:pPr lvl="0" marL="0" indent="0">
              <a:buNone/>
            </a:pPr>
            <a:r>
              <a:rPr b="1"/>
              <a:t>Don’t skip observation - it’s crucial!</a:t>
            </a:r>
          </a:p>
        </p:txBody>
      </p:sp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FAQ: “What if students can’t draw well?”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Remember:</a:t>
            </a:r>
          </a:p>
          <a:p>
            <a:pPr lvl="0" marL="0" indent="0">
              <a:buNone/>
            </a:pPr>
            <a:r>
              <a:rPr/>
              <a:t>🎨 </a:t>
            </a:r>
            <a:r>
              <a:rPr b="1"/>
              <a:t>Drawing = Observation tool</a:t>
            </a:r>
            <a:r>
              <a:rPr/>
              <a:t>, not art!</a:t>
            </a:r>
            <a:br/>
            <a:r>
              <a:rPr/>
              <a:t>✅ </a:t>
            </a:r>
            <a:r>
              <a:rPr b="1"/>
              <a:t>Accuracy matters</a:t>
            </a:r>
            <a:r>
              <a:rPr/>
              <a:t> more than beauty</a:t>
            </a:r>
            <a:br/>
            <a:r>
              <a:rPr/>
              <a:t>📝 </a:t>
            </a:r>
            <a:r>
              <a:rPr b="1"/>
              <a:t>Labels help</a:t>
            </a:r>
            <a:r>
              <a:rPr/>
              <a:t> - Even simple drawings work with labels</a:t>
            </a:r>
            <a:br/>
            <a:r>
              <a:rPr/>
              <a:t>🤝 </a:t>
            </a:r>
            <a:r>
              <a:rPr b="1"/>
              <a:t>Pair support</a:t>
            </a:r>
            <a:r>
              <a:rPr/>
              <a:t> - Partners can help</a:t>
            </a:r>
            <a:br/>
            <a:r>
              <a:rPr/>
              <a:t>📸 </a:t>
            </a:r>
            <a:r>
              <a:rPr b="1"/>
              <a:t>Photos OK</a:t>
            </a:r>
            <a:r>
              <a:rPr/>
              <a:t> - Can trace from photos if needed</a:t>
            </a:r>
          </a:p>
          <a:p>
            <a:pPr lvl="0" marL="0" indent="0">
              <a:buNone/>
            </a:pPr>
            <a:r>
              <a:rPr b="1"/>
              <a:t>Focus on WHAT they see, not HOW pretty it looks!</a:t>
            </a:r>
          </a:p>
        </p:txBody>
      </p:sp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FAQ: “How do I manage 40 students with limited microscopes?”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Strategies:</a:t>
            </a:r>
          </a:p>
          <a:p>
            <a:pPr lvl="0" marL="0" indent="0">
              <a:buNone/>
            </a:pPr>
            <a:r>
              <a:rPr/>
              <a:t>🔄 </a:t>
            </a:r>
            <a:r>
              <a:rPr b="1"/>
              <a:t>Station rotation</a:t>
            </a:r>
            <a:r>
              <a:rPr/>
              <a:t> - 4-5 stations, groups rotate</a:t>
            </a:r>
            <a:br/>
            <a:r>
              <a:rPr/>
              <a:t>👥 </a:t>
            </a:r>
            <a:r>
              <a:rPr b="1"/>
              <a:t>Pairs share</a:t>
            </a:r>
            <a:r>
              <a:rPr/>
              <a:t> - 2 students per microscope</a:t>
            </a:r>
            <a:br/>
            <a:r>
              <a:rPr/>
              <a:t>⏰ </a:t>
            </a:r>
            <a:r>
              <a:rPr b="1"/>
              <a:t>Time limits</a:t>
            </a:r>
            <a:r>
              <a:rPr/>
              <a:t> - 5 min per group, then switch</a:t>
            </a:r>
            <a:br/>
            <a:r>
              <a:rPr/>
              <a:t>📱 </a:t>
            </a:r>
            <a:r>
              <a:rPr b="1"/>
              <a:t>Digital microscope</a:t>
            </a:r>
            <a:r>
              <a:rPr/>
              <a:t> - Project for whole class first</a:t>
            </a:r>
            <a:br/>
            <a:r>
              <a:rPr/>
              <a:t>📸 </a:t>
            </a:r>
            <a:r>
              <a:rPr b="1"/>
              <a:t>Take photos</a:t>
            </a:r>
            <a:r>
              <a:rPr/>
              <a:t> - Students can draw from photos later</a:t>
            </a:r>
          </a:p>
          <a:p>
            <a:pPr lvl="0" marL="0" indent="0">
              <a:buNone/>
            </a:pPr>
            <a:r>
              <a:rPr b="1"/>
              <a:t>Plan ahead for smooth transitions!</a:t>
            </a:r>
          </a:p>
        </p:txBody>
      </p:sp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FAQ: “What if I’m not comfortable with microscopes?”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Build Your Skills:</a:t>
            </a:r>
          </a:p>
          <a:p>
            <a:pPr lvl="0" marL="0" indent="0">
              <a:buNone/>
            </a:pPr>
            <a:r>
              <a:rPr/>
              <a:t>📹 </a:t>
            </a:r>
            <a:r>
              <a:rPr b="1"/>
              <a:t>Watch tutorials</a:t>
            </a:r>
            <a:r>
              <a:rPr/>
              <a:t> - YouTube has great videos</a:t>
            </a:r>
            <a:br/>
            <a:r>
              <a:rPr/>
              <a:t>🔬 </a:t>
            </a:r>
            <a:r>
              <a:rPr b="1"/>
              <a:t>Practice beforehand</a:t>
            </a:r>
            <a:r>
              <a:rPr/>
              <a:t> - Set up specimens yourself</a:t>
            </a:r>
            <a:br/>
            <a:r>
              <a:rPr/>
              <a:t>📚 </a:t>
            </a:r>
            <a:r>
              <a:rPr b="1"/>
              <a:t>Read manual</a:t>
            </a:r>
            <a:r>
              <a:rPr/>
              <a:t> - Understand your microscope</a:t>
            </a:r>
            <a:br/>
            <a:r>
              <a:rPr/>
              <a:t>👥 </a:t>
            </a:r>
            <a:r>
              <a:rPr b="1"/>
              <a:t>Ask colleagues</a:t>
            </a:r>
            <a:r>
              <a:rPr/>
              <a:t> - Science teachers can help</a:t>
            </a:r>
            <a:br/>
            <a:r>
              <a:rPr/>
              <a:t>💻 </a:t>
            </a:r>
            <a:r>
              <a:rPr b="1"/>
              <a:t>Use digital alternatives</a:t>
            </a:r>
            <a:r>
              <a:rPr/>
              <a:t> - Virtual microscopes work too!</a:t>
            </a:r>
          </a:p>
          <a:p>
            <a:pPr lvl="0" marL="0" indent="0">
              <a:buNone/>
            </a:pPr>
            <a:r>
              <a:rPr b="1"/>
              <a:t>You don’t need to be expert - learn WITH students!</a:t>
            </a:r>
          </a:p>
        </p:txBody>
      </p:sp>
    </p:spTree>
  </p:cSld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FAQ: “How much should I tell vs. let them discover?”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Balance:</a:t>
            </a:r>
          </a:p>
          <a:p>
            <a:pPr lvl="0" marL="0" indent="0">
              <a:buNone/>
            </a:pPr>
            <a:r>
              <a:rPr/>
              <a:t>🔍 </a:t>
            </a:r>
            <a:r>
              <a:rPr b="1"/>
              <a:t>Lesson 1-2:</a:t>
            </a:r>
            <a:r>
              <a:rPr/>
              <a:t> Mostly discovery (observe, identify)</a:t>
            </a:r>
            <a:br/>
            <a:r>
              <a:rPr/>
              <a:t>📚 </a:t>
            </a:r>
            <a:r>
              <a:rPr b="1"/>
              <a:t>Lesson 3:</a:t>
            </a:r>
            <a:r>
              <a:rPr/>
              <a:t> Guided discovery (provide resources, they research)</a:t>
            </a:r>
            <a:br/>
            <a:r>
              <a:rPr/>
              <a:t>🧠 </a:t>
            </a:r>
            <a:r>
              <a:rPr b="1"/>
              <a:t>Lesson 4-5:</a:t>
            </a:r>
            <a:r>
              <a:rPr/>
              <a:t> Synthesis (they put it together)</a:t>
            </a:r>
          </a:p>
          <a:p>
            <a:pPr lvl="0" marL="0" indent="0">
              <a:buNone/>
            </a:pPr>
            <a:r>
              <a:rPr b="1"/>
              <a:t>Rule of thumb:</a:t>
            </a:r>
            <a:r>
              <a:rPr/>
              <a:t> If they can figure it out, let them!</a:t>
            </a:r>
            <a:br/>
            <a:r>
              <a:rPr b="1"/>
              <a:t>Provide scaffolding when needed</a:t>
            </a:r>
          </a:p>
        </p:txBody>
      </p:sp>
    </p:spTree>
  </p:cSld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FAQ: “What about students who finish early?”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Extension Activities:</a:t>
            </a:r>
          </a:p>
          <a:p>
            <a:pPr lvl="0" marL="0" indent="0">
              <a:buNone/>
            </a:pPr>
            <a:r>
              <a:rPr/>
              <a:t>🔬 </a:t>
            </a:r>
            <a:r>
              <a:rPr b="1"/>
              <a:t>Observe other specimens</a:t>
            </a:r>
            <a:r>
              <a:rPr/>
              <a:t> - Leaf, moss, pond water</a:t>
            </a:r>
            <a:br/>
            <a:r>
              <a:rPr/>
              <a:t>📝 </a:t>
            </a:r>
            <a:r>
              <a:rPr b="1"/>
              <a:t>Add more detail to models</a:t>
            </a:r>
            <a:r>
              <a:rPr/>
              <a:t> - Color, shading, labels</a:t>
            </a:r>
            <a:br/>
            <a:r>
              <a:rPr/>
              <a:t>📚 </a:t>
            </a:r>
            <a:r>
              <a:rPr b="1"/>
              <a:t>Research specialized cells</a:t>
            </a:r>
            <a:r>
              <a:rPr/>
              <a:t> - Neurons, muscle, blood</a:t>
            </a:r>
            <a:br/>
            <a:r>
              <a:rPr/>
              <a:t>💻 </a:t>
            </a:r>
            <a:r>
              <a:rPr b="1"/>
              <a:t>Explore online simulations</a:t>
            </a:r>
            <a:r>
              <a:rPr/>
              <a:t> - Virtual cells</a:t>
            </a:r>
            <a:br/>
            <a:r>
              <a:rPr/>
              <a:t>🎨 </a:t>
            </a:r>
            <a:r>
              <a:rPr b="1"/>
              <a:t>Create 3D models</a:t>
            </a:r>
            <a:r>
              <a:rPr/>
              <a:t> - Clay, paper, digital</a:t>
            </a:r>
            <a:br/>
            <a:r>
              <a:rPr/>
              <a:t>👥 </a:t>
            </a:r>
            <a:r>
              <a:rPr b="1"/>
              <a:t>Help peers</a:t>
            </a:r>
            <a:r>
              <a:rPr/>
              <a:t> - Peer tutoring</a:t>
            </a:r>
          </a:p>
        </p:txBody>
      </p:sp>
    </p:spTree>
  </p:cSld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Part</a:t>
            </a:r>
            <a:r>
              <a:rPr/>
              <a:t> </a:t>
            </a:r>
            <a:r>
              <a:rPr/>
              <a:t>11:</a:t>
            </a:r>
            <a:r>
              <a:rPr/>
              <a:t> </a:t>
            </a:r>
            <a:r>
              <a:rPr/>
              <a:t>Wrapping</a:t>
            </a:r>
            <a:r>
              <a:rPr/>
              <a:t> </a:t>
            </a:r>
            <a:r>
              <a:rPr/>
              <a:t>Up</a:t>
            </a:r>
          </a:p>
        </p:txBody>
      </p:sp>
    </p:spTree>
  </p:cSld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Key Takeaways for Teachers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This Unit is Different Because:</a:t>
            </a:r>
          </a:p>
          <a:p>
            <a:pPr lvl="0" marL="0" indent="0">
              <a:buNone/>
            </a:pPr>
            <a:r>
              <a:rPr/>
              <a:t>🎯 </a:t>
            </a:r>
            <a:r>
              <a:rPr b="1"/>
              <a:t>Phenomenon-driven</a:t>
            </a:r>
            <a:r>
              <a:rPr/>
              <a:t> - Students are puzzled from start</a:t>
            </a:r>
            <a:br/>
            <a:r>
              <a:rPr/>
              <a:t>🔬 </a:t>
            </a:r>
            <a:r>
              <a:rPr b="1"/>
              <a:t>Evidence-based</a:t>
            </a:r>
            <a:r>
              <a:rPr/>
              <a:t> - Every claim backed by observation</a:t>
            </a:r>
            <a:br/>
            <a:r>
              <a:rPr/>
              <a:t>🎨 </a:t>
            </a:r>
            <a:r>
              <a:rPr b="1"/>
              <a:t>Models evolve</a:t>
            </a:r>
            <a:r>
              <a:rPr/>
              <a:t> - Students SEE their learning grow</a:t>
            </a:r>
            <a:br/>
            <a:r>
              <a:rPr/>
              <a:t>❓ </a:t>
            </a:r>
            <a:r>
              <a:rPr b="1"/>
              <a:t>Student questions drive</a:t>
            </a:r>
            <a:r>
              <a:rPr/>
              <a:t> - Not teacher agenda</a:t>
            </a:r>
            <a:br/>
            <a:r>
              <a:rPr/>
              <a:t>🤝 </a:t>
            </a:r>
            <a:r>
              <a:rPr b="1"/>
              <a:t>Collaborative</a:t>
            </a:r>
            <a:r>
              <a:rPr/>
              <a:t> - Think-Pair-Share throughout</a:t>
            </a:r>
            <a:br/>
            <a:r>
              <a:rPr/>
              <a:t>📝 </a:t>
            </a:r>
            <a:r>
              <a:rPr b="1"/>
              <a:t>Portfolio-based</a:t>
            </a:r>
            <a:r>
              <a:rPr/>
              <a:t> - Summary Table tracks journey</a:t>
            </a:r>
          </a:p>
          <a:p>
            <a:pPr lvl="0" marL="0" indent="0">
              <a:buNone/>
            </a:pPr>
            <a:r>
              <a:rPr b="1"/>
              <a:t>Students OWN their learning!</a:t>
            </a:r>
          </a:p>
        </p:txBody>
      </p:sp>
    </p:spTree>
  </p:cSld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Your Role as Facilitator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Remember:</a:t>
            </a:r>
          </a:p>
          <a:p>
            <a:pPr lvl="0" marL="0" indent="0">
              <a:buNone/>
            </a:pPr>
            <a:r>
              <a:rPr/>
              <a:t>👂 </a:t>
            </a:r>
            <a:r>
              <a:rPr b="1"/>
              <a:t>Listen more</a:t>
            </a:r>
            <a:r>
              <a:rPr/>
              <a:t> than you talk</a:t>
            </a:r>
            <a:br/>
            <a:r>
              <a:rPr/>
              <a:t>❓ </a:t>
            </a:r>
            <a:r>
              <a:rPr b="1"/>
              <a:t>Ask more</a:t>
            </a:r>
            <a:r>
              <a:rPr/>
              <a:t> than you tell</a:t>
            </a:r>
            <a:br/>
            <a:r>
              <a:rPr/>
              <a:t>⏱️ </a:t>
            </a:r>
            <a:r>
              <a:rPr b="1"/>
              <a:t>Wait more</a:t>
            </a:r>
            <a:r>
              <a:rPr/>
              <a:t> than you rush</a:t>
            </a:r>
            <a:br/>
            <a:r>
              <a:rPr/>
              <a:t>🎯 </a:t>
            </a:r>
            <a:r>
              <a:rPr b="1"/>
              <a:t>Guide more</a:t>
            </a:r>
            <a:r>
              <a:rPr/>
              <a:t> than you direct</a:t>
            </a:r>
            <a:br/>
            <a:r>
              <a:rPr/>
              <a:t>🎉 </a:t>
            </a:r>
            <a:r>
              <a:rPr b="1"/>
              <a:t>Celebrate more</a:t>
            </a:r>
            <a:r>
              <a:rPr/>
              <a:t> than you correct</a:t>
            </a:r>
          </a:p>
          <a:p>
            <a:pPr lvl="0" marL="0" indent="0">
              <a:buNone/>
            </a:pPr>
            <a:r>
              <a:rPr b="1"/>
              <a:t>You’re a guide on the side, not sage on the stage!</a:t>
            </a:r>
          </a:p>
        </p:txBody>
      </p:sp>
    </p:spTree>
  </p:cSld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Supporting Materials Provided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You Have:</a:t>
            </a:r>
          </a:p>
          <a:p>
            <a:pPr lvl="0" marL="0" indent="0">
              <a:buNone/>
            </a:pPr>
            <a:r>
              <a:rPr/>
              <a:t>📄 </a:t>
            </a:r>
            <a:r>
              <a:rPr b="1"/>
              <a:t>Complete lesson plans</a:t>
            </a:r>
            <a:r>
              <a:rPr/>
              <a:t> (all 5 lessons)</a:t>
            </a:r>
            <a:br/>
            <a:r>
              <a:rPr/>
              <a:t>📊 </a:t>
            </a:r>
            <a:r>
              <a:rPr b="1"/>
              <a:t>Summary Table template</a:t>
            </a:r>
            <a:r>
              <a:rPr/>
              <a:t> (for students)</a:t>
            </a:r>
            <a:br/>
            <a:r>
              <a:rPr/>
              <a:t>✍️ </a:t>
            </a:r>
            <a:r>
              <a:rPr b="1"/>
              <a:t>Final Explanation template</a:t>
            </a:r>
            <a:r>
              <a:rPr/>
              <a:t> (for students)</a:t>
            </a:r>
            <a:br/>
            <a:r>
              <a:rPr/>
              <a:t>📋 </a:t>
            </a:r>
            <a:r>
              <a:rPr b="1"/>
              <a:t>Assessment rubrics</a:t>
            </a:r>
            <a:r>
              <a:rPr/>
              <a:t> (for grading)</a:t>
            </a:r>
            <a:br/>
            <a:r>
              <a:rPr/>
              <a:t>🎨 </a:t>
            </a:r>
            <a:r>
              <a:rPr b="1"/>
              <a:t>Model examples</a:t>
            </a:r>
            <a:r>
              <a:rPr/>
              <a:t> (to show progression)</a:t>
            </a:r>
            <a:br/>
            <a:r>
              <a:rPr/>
              <a:t>❓ </a:t>
            </a:r>
            <a:r>
              <a:rPr b="1"/>
              <a:t>Probing questions</a:t>
            </a:r>
            <a:r>
              <a:rPr/>
              <a:t> (for each lesson)</a:t>
            </a:r>
          </a:p>
          <a:p>
            <a:pPr lvl="0" marL="0" indent="0">
              <a:buNone/>
            </a:pPr>
            <a:r>
              <a:rPr b="1"/>
              <a:t>Everything you need!</a:t>
            </a:r>
          </a:p>
        </p:txBody>
      </p:sp>
    </p:spTree>
  </p:cSld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Next Steps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After This Training:</a:t>
            </a:r>
          </a:p>
          <a:p>
            <a:pPr lvl="1">
              <a:buAutoNum type="arabicPeriod"/>
            </a:pPr>
            <a:r>
              <a:rPr b="1"/>
              <a:t>Review</a:t>
            </a:r>
            <a:r>
              <a:rPr/>
              <a:t> all 5 lesson plans</a:t>
            </a:r>
          </a:p>
          <a:p>
            <a:pPr lvl="1">
              <a:buAutoNum type="arabicPeriod"/>
            </a:pPr>
            <a:r>
              <a:rPr b="1"/>
              <a:t>Gather</a:t>
            </a:r>
            <a:r>
              <a:rPr/>
              <a:t> materials and resources</a:t>
            </a:r>
          </a:p>
          <a:p>
            <a:pPr lvl="1">
              <a:buAutoNum type="arabicPeriod"/>
            </a:pPr>
            <a:r>
              <a:rPr b="1"/>
              <a:t>Prepare</a:t>
            </a:r>
            <a:r>
              <a:rPr/>
              <a:t> microscopes and specimens</a:t>
            </a:r>
          </a:p>
          <a:p>
            <a:pPr lvl="1">
              <a:buAutoNum type="arabicPeriod"/>
            </a:pPr>
            <a:r>
              <a:rPr b="1"/>
              <a:t>Create</a:t>
            </a:r>
            <a:r>
              <a:rPr/>
              <a:t> DQB poster</a:t>
            </a:r>
          </a:p>
          <a:p>
            <a:pPr lvl="1">
              <a:buAutoNum type="arabicPeriod"/>
            </a:pPr>
            <a:r>
              <a:rPr b="1"/>
              <a:t>Print</a:t>
            </a:r>
            <a:r>
              <a:rPr/>
              <a:t> Summary Table templates</a:t>
            </a:r>
          </a:p>
          <a:p>
            <a:pPr lvl="1">
              <a:buAutoNum type="arabicPeriod"/>
            </a:pPr>
            <a:r>
              <a:rPr b="1"/>
              <a:t>Practice</a:t>
            </a:r>
            <a:r>
              <a:rPr/>
              <a:t> probing questions and wait time</a:t>
            </a:r>
          </a:p>
          <a:p>
            <a:pPr lvl="1">
              <a:buAutoNum type="arabicPeriod"/>
            </a:pPr>
            <a:r>
              <a:rPr b="1"/>
              <a:t>START</a:t>
            </a:r>
            <a:r>
              <a:rPr/>
              <a:t> with confidence!</a:t>
            </a:r>
          </a:p>
        </p:txBody>
      </p:sp>
    </p:spTree>
  </p:cSld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Questions &amp; Discussion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Let’s Discuss:</a:t>
            </a:r>
          </a:p>
          <a:p>
            <a:pPr lvl="0" marL="0" indent="0">
              <a:buNone/>
            </a:pPr>
            <a:r>
              <a:rPr/>
              <a:t>💬 What excites you about this approach?</a:t>
            </a:r>
            <a:br/>
            <a:r>
              <a:rPr/>
              <a:t>💬 What concerns do you have?</a:t>
            </a:r>
            <a:br/>
            <a:r>
              <a:rPr/>
              <a:t>💬 What support do you need?</a:t>
            </a:r>
            <a:br/>
            <a:r>
              <a:rPr/>
              <a:t>💬 How will you adapt for your context?</a:t>
            </a:r>
            <a:br/>
            <a:r>
              <a:rPr/>
              <a:t>💬 What questions remain?</a:t>
            </a:r>
          </a:p>
          <a:p>
            <a:pPr lvl="0" marL="0" indent="0">
              <a:buNone/>
            </a:pPr>
            <a:r>
              <a:rPr b="1"/>
              <a:t>Let’s learn together!</a:t>
            </a:r>
          </a:p>
        </p:txBody>
      </p:sp>
    </p:spTree>
  </p:cSld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Contact &amp; Support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Need Help?</a:t>
            </a:r>
          </a:p>
          <a:p>
            <a:pPr lvl="0" marL="0" indent="0">
              <a:buNone/>
            </a:pPr>
            <a:r>
              <a:rPr/>
              <a:t>📧 </a:t>
            </a:r>
            <a:r>
              <a:rPr b="1"/>
              <a:t>Email:</a:t>
            </a:r>
            <a:r>
              <a:rPr/>
              <a:t> [Your contact]</a:t>
            </a:r>
            <a:br/>
            <a:r>
              <a:rPr/>
              <a:t>👥 </a:t>
            </a:r>
            <a:r>
              <a:rPr b="1"/>
              <a:t>Teacher Community:</a:t>
            </a:r>
            <a:r>
              <a:rPr/>
              <a:t> [WhatsApp/online group]</a:t>
            </a:r>
            <a:br/>
            <a:r>
              <a:rPr/>
              <a:t>📚 </a:t>
            </a:r>
            <a:r>
              <a:rPr b="1"/>
              <a:t>Resources:</a:t>
            </a:r>
            <a:r>
              <a:rPr/>
              <a:t> [Shared folder/drive]</a:t>
            </a:r>
            <a:br/>
            <a:r>
              <a:rPr/>
              <a:t>🤝 </a:t>
            </a:r>
            <a:r>
              <a:rPr b="1"/>
              <a:t>Peer Support:</a:t>
            </a:r>
            <a:r>
              <a:rPr/>
              <a:t> [Colleague network]</a:t>
            </a:r>
          </a:p>
          <a:p>
            <a:pPr lvl="0" marL="0" indent="0">
              <a:buNone/>
            </a:pPr>
            <a:r>
              <a:rPr b="1"/>
              <a:t>You’re not alone in this!</a:t>
            </a:r>
          </a:p>
        </p:txBody>
      </p:sp>
    </p:spTree>
  </p:cSld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Thank</a:t>
            </a:r>
            <a:r>
              <a:rPr/>
              <a:t> </a:t>
            </a:r>
            <a:r>
              <a:rPr/>
              <a:t>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You’re Ready to Transform Cell Biology Teaching!</a:t>
            </a:r>
          </a:p>
          <a:p>
            <a:pPr lvl="0" marL="0" indent="0">
              <a:buNone/>
            </a:pPr>
            <a:r>
              <a:rPr b="1"/>
              <a:t>Remember:</a:t>
            </a:r>
            <a:r>
              <a:rPr/>
              <a:t> - Start with observation - Let students figure it out - Use probing questions - Celebrate growth - Have fun!</a:t>
            </a:r>
          </a:p>
          <a:p>
            <a:pPr lvl="0" marL="0" indent="0">
              <a:buNone/>
            </a:pPr>
            <a:r>
              <a:rPr b="1"/>
              <a:t>Your students will LOVE learning about cells this way!</a:t>
            </a:r>
            <a:r>
              <a:rPr/>
              <a:t> 🔬🎉</a:t>
            </a:r>
          </a:p>
        </p:txBody>
      </p:sp>
    </p:spTree>
  </p:cSld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Appendix: Quick Reference</a:t>
            </a:r>
          </a:p>
        </p:txBody>
      </p:sp>
    </p:spTree>
  </p:cSld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5-Lesson Overview (Quick Glance)</a:t>
            </a:r>
          </a:p>
        </p:txBody>
      </p:sp>
    </p:spTree>
  </p:cSld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Lesson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Key</a:t>
                      </a:r>
                      <a:r>
                        <a:rPr/>
                        <a:t> </a:t>
                      </a:r>
                      <a:r>
                        <a:rPr/>
                        <a:t>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Model</a:t>
                      </a:r>
                      <a:r>
                        <a:rPr/>
                        <a:t> </a:t>
                      </a:r>
                      <a:r>
                        <a:rPr/>
                        <a:t>Status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40</a:t>
                      </a:r>
                      <a:r>
                        <a:rPr/>
                        <a:t> </a:t>
                      </a:r>
                      <a:r>
                        <a:rPr/>
                        <a:t>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Observe</a:t>
                      </a:r>
                      <a:r>
                        <a:rPr/>
                        <a:t> </a:t>
                      </a:r>
                      <a:r>
                        <a:rPr/>
                        <a:t>cells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Microscope</a:t>
                      </a:r>
                      <a:r>
                        <a:rPr/>
                        <a:t> </a:t>
                      </a:r>
                      <a:r>
                        <a:rPr/>
                        <a:t>observation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Initial</a:t>
                      </a:r>
                      <a:r>
                        <a:rPr/>
                        <a:t> </a:t>
                      </a:r>
                      <a:r>
                        <a:rPr/>
                        <a:t>model</a:t>
                      </a:r>
                      <a:r>
                        <a:rPr/>
                        <a:t> </a:t>
                      </a:r>
                      <a:r>
                        <a:rPr/>
                        <a:t>created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40</a:t>
                      </a:r>
                      <a:r>
                        <a:rPr/>
                        <a:t> </a:t>
                      </a:r>
                      <a:r>
                        <a:rPr/>
                        <a:t>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Identify</a:t>
                      </a:r>
                      <a:r>
                        <a:rPr/>
                        <a:t> </a:t>
                      </a:r>
                      <a:r>
                        <a:rPr/>
                        <a:t>structures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Label</a:t>
                      </a:r>
                      <a:r>
                        <a:rPr/>
                        <a:t> </a:t>
                      </a:r>
                      <a:r>
                        <a:rPr/>
                        <a:t>diagrams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Model</a:t>
                      </a:r>
                      <a:r>
                        <a:rPr/>
                        <a:t> </a:t>
                      </a:r>
                      <a:r>
                        <a:rPr/>
                        <a:t>revised</a:t>
                      </a:r>
                      <a:r>
                        <a:rPr/>
                        <a:t> </a:t>
                      </a:r>
                      <a:r>
                        <a:rPr/>
                        <a:t>(labels)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80</a:t>
                      </a:r>
                      <a:r>
                        <a:rPr/>
                        <a:t> </a:t>
                      </a:r>
                      <a:r>
                        <a:rPr/>
                        <a:t>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Functions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Jigsaw</a:t>
                      </a:r>
                      <a:r>
                        <a:rPr/>
                        <a:t> </a:t>
                      </a:r>
                      <a:r>
                        <a:rPr/>
                        <a:t>research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Model</a:t>
                      </a:r>
                      <a:r>
                        <a:rPr/>
                        <a:t> </a:t>
                      </a:r>
                      <a:r>
                        <a:rPr/>
                        <a:t>revised</a:t>
                      </a:r>
                      <a:r>
                        <a:rPr/>
                        <a:t> </a:t>
                      </a:r>
                      <a:r>
                        <a:rPr/>
                        <a:t>(functions)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40</a:t>
                      </a:r>
                      <a:r>
                        <a:rPr/>
                        <a:t> </a:t>
                      </a:r>
                      <a:r>
                        <a:rPr/>
                        <a:t>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Plant</a:t>
                      </a:r>
                      <a:r>
                        <a:rPr/>
                        <a:t> </a:t>
                      </a:r>
                      <a:r>
                        <a:rPr/>
                        <a:t>vs</a:t>
                      </a:r>
                      <a:r>
                        <a:rPr/>
                        <a:t> </a:t>
                      </a:r>
                      <a:r>
                        <a:rPr/>
                        <a:t>Animal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Venn</a:t>
                      </a:r>
                      <a:r>
                        <a:rPr/>
                        <a:t> </a:t>
                      </a:r>
                      <a:r>
                        <a:rPr/>
                        <a:t>diagram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Model</a:t>
                      </a:r>
                      <a:r>
                        <a:rPr/>
                        <a:t> </a:t>
                      </a:r>
                      <a:r>
                        <a:rPr/>
                        <a:t>revised</a:t>
                      </a:r>
                      <a:r>
                        <a:rPr/>
                        <a:t> </a:t>
                      </a:r>
                      <a:r>
                        <a:rPr/>
                        <a:t>(comparison)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80</a:t>
                      </a:r>
                      <a:r>
                        <a:rPr/>
                        <a:t> </a:t>
                      </a:r>
                      <a:r>
                        <a:rPr/>
                        <a:t>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Synthesis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Write</a:t>
                      </a:r>
                      <a:r>
                        <a:rPr/>
                        <a:t> </a:t>
                      </a:r>
                      <a:r>
                        <a:rPr/>
                        <a:t>explanation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Final</a:t>
                      </a:r>
                      <a:r>
                        <a:rPr/>
                        <a:t> </a:t>
                      </a:r>
                      <a:r>
                        <a:rPr/>
                        <a:t>comprehensive</a:t>
                      </a:r>
                      <a:r>
                        <a:rPr/>
                        <a:t> </a:t>
                      </a:r>
                      <a:r>
                        <a:rPr/>
                        <a:t>model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Probing Questions Cheat Sheet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Use These Throughout:</a:t>
            </a:r>
          </a:p>
          <a:p>
            <a:pPr lvl="1"/>
            <a:r>
              <a:rPr/>
              <a:t>“What do you notice?”</a:t>
            </a:r>
          </a:p>
          <a:p>
            <a:pPr lvl="1"/>
            <a:r>
              <a:rPr/>
              <a:t>“Why do you think that?”</a:t>
            </a:r>
          </a:p>
          <a:p>
            <a:pPr lvl="1"/>
            <a:r>
              <a:rPr/>
              <a:t>“What evidence do you have?”</a:t>
            </a:r>
          </a:p>
          <a:p>
            <a:pPr lvl="1"/>
            <a:r>
              <a:rPr/>
              <a:t>“How does this connect?”</a:t>
            </a:r>
          </a:p>
          <a:p>
            <a:pPr lvl="1"/>
            <a:r>
              <a:rPr/>
              <a:t>“Can you explain to your partner?”</a:t>
            </a:r>
          </a:p>
          <a:p>
            <a:pPr lvl="1"/>
            <a:r>
              <a:rPr/>
              <a:t>“What questions do you have?”</a:t>
            </a:r>
          </a:p>
          <a:p>
            <a:pPr lvl="1"/>
            <a:r>
              <a:rPr/>
              <a:t>“How has your thinking changed?”</a:t>
            </a:r>
          </a:p>
          <a:p>
            <a:pPr lvl="0" marL="0" indent="0">
              <a:buNone/>
            </a:pPr>
            <a:r>
              <a:rPr b="1"/>
              <a:t>Wait 10+ seconds after asking!</a:t>
            </a:r>
          </a:p>
        </p:txBody>
      </p:sp>
    </p:spTree>
  </p:cSld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Summary Table Quick Guide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After Each Lesson, Students Record:</a:t>
            </a:r>
          </a:p>
          <a:p>
            <a:pPr lvl="0" marL="0" indent="0">
              <a:buNone/>
            </a:pPr>
            <a:r>
              <a:rPr b="1"/>
              <a:t>Column 1:</a:t>
            </a:r>
            <a:r>
              <a:rPr/>
              <a:t> What did I observe?</a:t>
            </a:r>
            <a:br/>
            <a:r>
              <a:rPr b="1"/>
              <a:t>Column 2:</a:t>
            </a:r>
            <a:r>
              <a:rPr/>
              <a:t> What did I learn?</a:t>
            </a:r>
            <a:br/>
            <a:r>
              <a:rPr b="1"/>
              <a:t>Column 3:</a:t>
            </a:r>
            <a:r>
              <a:rPr/>
              <a:t> How does this explain cells?</a:t>
            </a:r>
          </a:p>
          <a:p>
            <a:pPr lvl="0" marL="0" indent="0">
              <a:buNone/>
            </a:pPr>
            <a:r>
              <a:rPr b="1"/>
              <a:t>Special Notes:</a:t>
            </a:r>
            <a:r>
              <a:rPr/>
              <a:t> - Lesson 1: “DQB Started, Initial Model Created” - Lessons 2-4: “Model Revised - [what added]” - Lesson 5: “DQB Completed, Final Model Created”</a:t>
            </a:r>
          </a:p>
        </p:txBody>
      </p:sp>
    </p:spTree>
  </p:cSld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Assessment Checklist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End of Unit:</a:t>
            </a:r>
          </a:p>
          <a:p>
            <a:pPr lvl="0" marL="0" indent="0">
              <a:buNone/>
            </a:pPr>
            <a:r>
              <a:rPr/>
              <a:t>☐ Written explanation (comprehensive)</a:t>
            </a:r>
            <a:br/>
            <a:r>
              <a:rPr/>
              <a:t>☐ Final model (all organelles, functions, comparison)</a:t>
            </a:r>
            <a:br/>
            <a:r>
              <a:rPr/>
              <a:t>☐ Test/quiz (25-30 questions)</a:t>
            </a:r>
            <a:br/>
            <a:r>
              <a:rPr/>
              <a:t>☐ Summary Table (complete)</a:t>
            </a:r>
            <a:br/>
            <a:r>
              <a:rPr/>
              <a:t>☐ Participation (discussions, activities)</a:t>
            </a:r>
          </a:p>
          <a:p>
            <a:pPr lvl="0" marL="0" indent="0">
              <a:buNone/>
            </a:pPr>
            <a:r>
              <a:rPr b="1"/>
              <a:t>Multiple measures of understanding!</a:t>
            </a:r>
          </a:p>
        </p:txBody>
      </p:sp>
    </p:spTree>
  </p:cSld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Materials Checklist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Before Unit Starts:</a:t>
            </a:r>
          </a:p>
          <a:p>
            <a:pPr lvl="0" marL="0" indent="0">
              <a:buNone/>
            </a:pPr>
            <a:r>
              <a:rPr/>
              <a:t>☐ Microscopes (working, clean)</a:t>
            </a:r>
            <a:br/>
            <a:r>
              <a:rPr/>
              <a:t>☐ Onion (fresh)</a:t>
            </a:r>
            <a:br/>
            <a:r>
              <a:rPr/>
              <a:t>☐ Toothpicks (for cheek cells)</a:t>
            </a:r>
            <a:br/>
            <a:r>
              <a:rPr/>
              <a:t>☐ Methylene blue stain</a:t>
            </a:r>
            <a:br/>
            <a:r>
              <a:rPr/>
              <a:t>☐ Slides and cover slips</a:t>
            </a:r>
            <a:br/>
            <a:r>
              <a:rPr/>
              <a:t>☐ Chart paper</a:t>
            </a:r>
            <a:br/>
            <a:r>
              <a:rPr/>
              <a:t>☐ Markers</a:t>
            </a:r>
            <a:br/>
            <a:r>
              <a:rPr/>
              <a:t>☐ Summary Table templates (printed)</a:t>
            </a:r>
            <a:br/>
            <a:r>
              <a:rPr/>
              <a:t>☐ DQB poster</a:t>
            </a:r>
            <a:br/>
            <a:r>
              <a:rPr/>
              <a:t>☐ Computer/projector</a:t>
            </a:r>
            <a:br/>
            <a:r>
              <a:rPr/>
              <a:t>☐ Videos/simulations ready</a:t>
            </a:r>
          </a:p>
        </p:txBody>
      </p:sp>
    </p:spTree>
  </p:cSld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Ready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Begin!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Good luck with your Cell Biology unit!</a:t>
            </a:r>
            <a:r>
              <a:rPr/>
              <a:t> 🔬✨</a:t>
            </a:r>
          </a:p>
          <a:p>
            <a:pPr lvl="0" marL="0" indent="0">
              <a:buNone/>
            </a:pPr>
            <a:r>
              <a:rPr b="1"/>
              <a:t>Your students are going to LOVE this!</a:t>
            </a:r>
            <a:r>
              <a:rPr/>
              <a:t> 🎉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10: Cell Structure &amp; Function</dc:title>
  <dc:creator>CBE Curriculum Framework</dc:creator>
  <cp:keywords/>
  <dcterms:created xsi:type="dcterms:W3CDTF">2026-01-18T19:03:41Z</dcterms:created>
  <dcterms:modified xsi:type="dcterms:W3CDTF">2026-01-18T19:03:41Z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</vt:lpwstr>
  </property>
  <property fmtid="{D5CDD505-2E9C-101B-9397-08002B2CF9AE}" pid="3" name="subtitle">
    <vt:lpwstr>Teacher Guide - CBE Lesson Sequence</vt:lpwstr>
  </property>
</Properties>
</file>