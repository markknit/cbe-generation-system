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ares.local:8069/en/learn/#/topics/c/cbe2654d6e825c44a70bb94d0b6652fa" TargetMode="External"/><Relationship Id="rId2" Type="http://schemas.openxmlformats.org/officeDocument/2006/relationships/hyperlink" Target="http://ares.local:8069/en/learn/#/topics/c/78b3b59ef3265db395e68e6d84017795" TargetMode="External"/><Relationship Id="rId3" Type="http://schemas.openxmlformats.org/officeDocument/2006/relationships/hyperlink" Target="http://ares.local/www2/search.php?searchstring=acids+and+bases%2C+commercial+indicators%2C+litmus+paper%2C+phenolphthalein%2C+methyl+orange%2C+acid-base+classification%2C+colour+change%2C+Kenya+Grade+10+Chemistry%2C+CBE%2C+Sub-Strand+3.1%2C+indicator+experiment%2C+pH%2C+Arrhenius%2C+everyday+substances%2C+lemon+juice%2C+baking+soda%2C+soap+solution%2C+vinegar%2C+tap+water%2C+black+tea%2C+milk%2C+NGSS+practices%2C+evidence+gathering%2C+DQB%2C+model+revision&amp;sources[]=kha&amp;sources[]=kicd&amp;sources[]=khak&amp;sources[]=wiki&amp;sources[]=wikig&amp;sources[]=wikih&amp;sources[]=wikiSp&amp;sources[]=wikiq&amp;sources[]=wikic&amp;sources[]=wikip&amp;sources[]=wikia&amp;sources[]=wikim&amp;sources[]=ted&amp;sources[]=ted11&amp;sources[]=tedin&amp;sources[]=g4st&amp;sources[]=g4e&amp;sources[]=g5st&amp;sources[]=g5e&amp;sources[]=dlc&amp;sources[]=bg&amp;sources[]=te&amp;sources[]=phet&amp;sources[]=mg&amp;sources[]=gdl&amp;sources[]=ck12&amp;sources[]=tess&amp;sources[]=uk&amp;sources[]=kol&amp;sources[]=edu&amp;sources[]=sea&amp;sources[]=bound&amp;sources[]=cbc" TargetMode="External"/><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txBox="1"/>
          <p:nvPr/>
        </p:nvSpPr>
        <p:spPr>
          <a:xfrm>
            <a:off x="731520" y="164592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CHEMISTRY — GRADE 10  |  ACIDS AND BASES</a:t>
            </a:r>
            <a:endParaRPr lang="en-US" sz="1600" dirty="0"/>
          </a:p>
        </p:txBody>
      </p:sp>
      <p:sp>
        <p:nvSpPr>
          <p:cNvPr id="3" name="Text 1"/>
          <p:cNvSpPr txBox="1"/>
          <p:nvPr/>
        </p:nvSpPr>
        <p:spPr>
          <a:xfrm>
            <a:off x="731520" y="2148840"/>
            <a:ext cx="10698480" cy="91440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Reading the Colours</a:t>
            </a:r>
            <a:endParaRPr lang="en-US" sz="3800" dirty="0"/>
          </a:p>
        </p:txBody>
      </p:sp>
      <p:sp>
        <p:nvSpPr>
          <p:cNvPr id="4" name="Text 2"/>
          <p:cNvSpPr txBox="1"/>
          <p:nvPr/>
        </p:nvSpPr>
        <p:spPr>
          <a:xfrm>
            <a:off x="731520" y="3063240"/>
            <a:ext cx="10698480" cy="548640"/>
          </a:xfrm>
          <a:prstGeom prst="rect">
            <a:avLst/>
          </a:prstGeom>
          <a:noFill/>
          <a:ln/>
        </p:spPr>
        <p:txBody>
          <a:bodyPr wrap="square" lIns="0" tIns="0" rIns="0" bIns="0" rtlCol="0" anchor="ctr"/>
          <a:lstStyle/>
          <a:p>
            <a:pPr indent="0" marL="0">
              <a:buNone/>
            </a:pPr>
            <a:r>
              <a:rPr lang="en-US" sz="2200" dirty="0">
                <a:solidFill>
                  <a:srgbClr val="D9EEF1"/>
                </a:solidFill>
                <a:latin typeface="Arial" pitchFamily="34" charset="0"/>
                <a:ea typeface="Arial" pitchFamily="34" charset="-122"/>
                <a:cs typeface="Arial" pitchFamily="34" charset="-120"/>
              </a:rPr>
              <a:t>Telling acids and bases apart with commercial indicators</a:t>
            </a:r>
            <a:endParaRPr lang="en-US" sz="2200" dirty="0"/>
          </a:p>
        </p:txBody>
      </p:sp>
      <p:sp>
        <p:nvSpPr>
          <p:cNvPr id="5" name="Text 3"/>
          <p:cNvSpPr txBox="1"/>
          <p:nvPr/>
        </p:nvSpPr>
        <p:spPr>
          <a:xfrm>
            <a:off x="731520" y="3703320"/>
            <a:ext cx="10698480" cy="548640"/>
          </a:xfrm>
          <a:prstGeom prst="rect">
            <a:avLst/>
          </a:prstGeom>
          <a:noFill/>
          <a:ln/>
        </p:spPr>
        <p:txBody>
          <a:bodyPr wrap="square" lIns="0" tIns="0" rIns="0" bIns="0" rtlCol="0" anchor="ctr"/>
          <a:lstStyle/>
          <a:p>
            <a:pPr indent="0" marL="0">
              <a:buNone/>
            </a:pPr>
            <a:r>
              <a:rPr lang="en-US" sz="1500" i="1" dirty="0">
                <a:solidFill>
                  <a:srgbClr val="AFC8E8"/>
                </a:solidFill>
                <a:latin typeface="Arial" pitchFamily="34" charset="0"/>
                <a:ea typeface="Arial" pitchFamily="34" charset="-122"/>
                <a:cs typeface="Arial" pitchFamily="34" charset="-120"/>
              </a:rPr>
              <a:t>Can we use colour to reliably sort the cups from the school canteen?</a:t>
            </a:r>
            <a:endParaRPr lang="en-US" sz="1500" dirty="0"/>
          </a:p>
        </p:txBody>
      </p:sp>
      <p:sp>
        <p:nvSpPr>
          <p:cNvPr id="6" name="Text 4"/>
          <p:cNvSpPr txBox="1"/>
          <p:nvPr/>
        </p:nvSpPr>
        <p:spPr>
          <a:xfrm>
            <a:off x="731520" y="603504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3.1: Acids and Bases   |   Lesson 4   |   80 minutes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966960" y="320040"/>
            <a:ext cx="1645920" cy="320040"/>
          </a:xfrm>
          <a:prstGeom prst="roundRect">
            <a:avLst>
              <a:gd name="adj" fmla="val 17143"/>
            </a:avLst>
          </a:prstGeom>
          <a:solidFill>
            <a:srgbClr val="D9EEF1"/>
          </a:solidFill>
          <a:ln/>
        </p:spPr>
      </p:sp>
      <p:sp>
        <p:nvSpPr>
          <p:cNvPr id="3" name="Text 1"/>
          <p:cNvSpPr txBox="1"/>
          <p:nvPr/>
        </p:nvSpPr>
        <p:spPr>
          <a:xfrm>
            <a:off x="9966960" y="320040"/>
            <a:ext cx="1645920" cy="320040"/>
          </a:xfrm>
          <a:prstGeom prst="rect">
            <a:avLst/>
          </a:prstGeom>
          <a:noFill/>
          <a:ln/>
        </p:spPr>
        <p:txBody>
          <a:bodyPr wrap="square" lIns="0" tIns="0" rIns="0" bIns="0" rtlCol="0" anchor="ctr"/>
          <a:lstStyle/>
          <a:p>
            <a:pPr algn="ctr" indent="0" marL="0">
              <a:buNone/>
            </a:pPr>
            <a:r>
              <a:rPr lang="en-US" sz="1000" i="1" dirty="0">
                <a:solidFill>
                  <a:srgbClr val="1F6B75"/>
                </a:solidFill>
                <a:latin typeface="Arial" pitchFamily="34" charset="0"/>
                <a:ea typeface="Arial" pitchFamily="34" charset="-122"/>
                <a:cs typeface="Arial" pitchFamily="34" charset="-120"/>
              </a:rPr>
              <a:t>predict</a:t>
            </a:r>
            <a:endParaRPr lang="en-US" sz="1000" dirty="0"/>
          </a:p>
        </p:txBody>
      </p:sp>
      <p:sp>
        <p:nvSpPr>
          <p:cNvPr id="4" name="Text 2"/>
          <p:cNvSpPr txBox="1"/>
          <p:nvPr/>
        </p:nvSpPr>
        <p:spPr>
          <a:xfrm>
            <a:off x="548640" y="320040"/>
            <a:ext cx="9144000" cy="365760"/>
          </a:xfrm>
          <a:prstGeom prst="rect">
            <a:avLst/>
          </a:prstGeom>
          <a:noFill/>
          <a:ln/>
        </p:spPr>
        <p:txBody>
          <a:bodyPr wrap="square" lIns="0" tIns="0" rIns="0" bIns="0" rtlCol="0" anchor="ctr"/>
          <a:lstStyle/>
          <a:p>
            <a:pPr indent="0" marL="0">
              <a:buNone/>
            </a:pPr>
            <a:r>
              <a:rPr lang="en-US" sz="1300" b="1" spc="200" kern="0" dirty="0">
                <a:solidFill>
                  <a:srgbClr val="2E75B6"/>
                </a:solidFill>
                <a:latin typeface="Arial" pitchFamily="34" charset="0"/>
                <a:ea typeface="Arial" pitchFamily="34" charset="-122"/>
                <a:cs typeface="Arial" pitchFamily="34" charset="-120"/>
              </a:rPr>
              <a:t>PREDICT FIRST</a:t>
            </a:r>
            <a:endParaRPr lang="en-US" sz="1300" dirty="0"/>
          </a:p>
        </p:txBody>
      </p:sp>
      <p:sp>
        <p:nvSpPr>
          <p:cNvPr id="5" name="Text 3"/>
          <p:cNvSpPr txBox="1"/>
          <p:nvPr/>
        </p:nvSpPr>
        <p:spPr>
          <a:xfrm>
            <a:off x="548640" y="822960"/>
            <a:ext cx="11064240" cy="8229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Seven liquids from home. Acid, base, or neutral?</a:t>
            </a:r>
            <a:endParaRPr lang="en-US" sz="2600" dirty="0"/>
          </a:p>
        </p:txBody>
      </p:sp>
      <p:sp>
        <p:nvSpPr>
          <p:cNvPr id="6" name="Shape 4"/>
          <p:cNvSpPr/>
          <p:nvPr/>
        </p:nvSpPr>
        <p:spPr>
          <a:xfrm>
            <a:off x="548640" y="1828800"/>
            <a:ext cx="11064240" cy="2651760"/>
          </a:xfrm>
          <a:prstGeom prst="roundRect">
            <a:avLst>
              <a:gd name="adj" fmla="val 2759"/>
            </a:avLst>
          </a:prstGeom>
          <a:solidFill>
            <a:srgbClr val="F2F2F2"/>
          </a:solidFill>
          <a:ln/>
        </p:spPr>
      </p:sp>
      <p:sp>
        <p:nvSpPr>
          <p:cNvPr id="7" name="Text 5"/>
          <p:cNvSpPr txBox="1"/>
          <p:nvPr/>
        </p:nvSpPr>
        <p:spPr>
          <a:xfrm>
            <a:off x="914400" y="2011680"/>
            <a:ext cx="10332720" cy="228600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1A1A1A"/>
                </a:solidFill>
                <a:latin typeface="Arial" pitchFamily="34" charset="0"/>
                <a:ea typeface="Arial" pitchFamily="34" charset="-122"/>
                <a:cs typeface="Arial" pitchFamily="34" charset="-120"/>
              </a:rPr>
              <a:t>Lemon juice • Vinegar (siki) • Baking soda solution • Liquid soap solution • Tap water • Black tea (chai) • Cow’s milk</a:t>
            </a:r>
            <a:endParaRPr lang="en-US" sz="1700" dirty="0"/>
          </a:p>
          <a:p>
            <a:pPr marL="342900" indent="-342900">
              <a:spcAft>
                <a:spcPts val="1000"/>
              </a:spcAft>
              <a:buSzPct val="100000"/>
              <a:buChar char="•"/>
            </a:pPr>
            <a:r>
              <a:rPr lang="en-US" sz="1700" dirty="0">
                <a:solidFill>
                  <a:srgbClr val="1A1A1A"/>
                </a:solidFill>
                <a:latin typeface="Arial" pitchFamily="34" charset="0"/>
                <a:ea typeface="Arial" pitchFamily="34" charset="-122"/>
                <a:cs typeface="Arial" pitchFamily="34" charset="-120"/>
              </a:rPr>
              <a:t>In your prediction table, write acid, base or neutral for each liquid.</a:t>
            </a:r>
            <a:endParaRPr lang="en-US" sz="1700" dirty="0"/>
          </a:p>
          <a:p>
            <a:pPr marL="342900" indent="-342900">
              <a:spcAft>
                <a:spcPts val="1000"/>
              </a:spcAft>
              <a:buSzPct val="100000"/>
              <a:buChar char="•"/>
            </a:pPr>
            <a:r>
              <a:rPr lang="en-US" sz="1700" dirty="0">
                <a:solidFill>
                  <a:srgbClr val="1A1A1A"/>
                </a:solidFill>
                <a:latin typeface="Arial" pitchFamily="34" charset="0"/>
                <a:ea typeface="Arial" pitchFamily="34" charset="-122"/>
                <a:cs typeface="Arial" pitchFamily="34" charset="-120"/>
              </a:rPr>
              <a:t>Then predict the colour each indicator will turn. Compare with your partner.</a:t>
            </a:r>
            <a:endParaRPr lang="en-US" sz="1700" dirty="0"/>
          </a:p>
        </p:txBody>
      </p:sp>
      <p:sp>
        <p:nvSpPr>
          <p:cNvPr id="8" name="Text 6"/>
          <p:cNvSpPr txBox="1"/>
          <p:nvPr/>
        </p:nvSpPr>
        <p:spPr>
          <a:xfrm>
            <a:off x="548640" y="4709160"/>
            <a:ext cx="11064240" cy="548640"/>
          </a:xfrm>
          <a:prstGeom prst="rect">
            <a:avLst/>
          </a:prstGeom>
          <a:noFill/>
          <a:ln/>
        </p:spPr>
        <p:txBody>
          <a:bodyPr wrap="square" lIns="0" tIns="0" rIns="0" bIns="0" rtlCol="0" anchor="ctr"/>
          <a:lstStyle/>
          <a:p>
            <a:pPr indent="0" marL="0">
              <a:buNone/>
            </a:pPr>
            <a:r>
              <a:rPr lang="en-US" sz="1500" i="1" dirty="0">
                <a:solidFill>
                  <a:srgbClr val="44546A"/>
                </a:solidFill>
                <a:latin typeface="Arial" pitchFamily="34" charset="0"/>
                <a:ea typeface="Arial" pitchFamily="34" charset="-122"/>
                <a:cs typeface="Arial" pitchFamily="34" charset="-120"/>
              </a:rPr>
              <a:t>In Lesson 3, universal indicator gave us a rainbow. Will today’s indicators tell the same story?</a:t>
            </a:r>
            <a:endParaRPr lang="en-US" sz="1500" dirty="0"/>
          </a:p>
        </p:txBody>
      </p:sp>
      <p:sp>
        <p:nvSpPr>
          <p:cNvPr id="9" name="Text 7"/>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9AA5B1"/>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966960" y="320040"/>
            <a:ext cx="1645920" cy="320040"/>
          </a:xfrm>
          <a:prstGeom prst="roundRect">
            <a:avLst>
              <a:gd name="adj" fmla="val 17143"/>
            </a:avLst>
          </a:prstGeom>
          <a:solidFill>
            <a:srgbClr val="D9EEF1"/>
          </a:solidFill>
          <a:ln/>
        </p:spPr>
      </p:sp>
      <p:sp>
        <p:nvSpPr>
          <p:cNvPr id="3" name="Text 1"/>
          <p:cNvSpPr txBox="1"/>
          <p:nvPr/>
        </p:nvSpPr>
        <p:spPr>
          <a:xfrm>
            <a:off x="9966960" y="320040"/>
            <a:ext cx="1645920" cy="320040"/>
          </a:xfrm>
          <a:prstGeom prst="rect">
            <a:avLst/>
          </a:prstGeom>
          <a:noFill/>
          <a:ln/>
        </p:spPr>
        <p:txBody>
          <a:bodyPr wrap="square" lIns="0" tIns="0" rIns="0" bIns="0" rtlCol="0" anchor="ctr"/>
          <a:lstStyle/>
          <a:p>
            <a:pPr algn="ctr" indent="0" marL="0">
              <a:buNone/>
            </a:pPr>
            <a:r>
              <a:rPr lang="en-US" sz="1000" i="1" dirty="0">
                <a:solidFill>
                  <a:srgbClr val="1F6B75"/>
                </a:solidFill>
                <a:latin typeface="Arial" pitchFamily="34" charset="0"/>
                <a:ea typeface="Arial" pitchFamily="34" charset="-122"/>
                <a:cs typeface="Arial" pitchFamily="34" charset="-120"/>
              </a:rPr>
              <a:t>observe</a:t>
            </a:r>
            <a:endParaRPr lang="en-US" sz="1000" dirty="0"/>
          </a:p>
        </p:txBody>
      </p:sp>
      <p:sp>
        <p:nvSpPr>
          <p:cNvPr id="4" name="Text 2"/>
          <p:cNvSpPr txBox="1"/>
          <p:nvPr/>
        </p:nvSpPr>
        <p:spPr>
          <a:xfrm>
            <a:off x="548640" y="320040"/>
            <a:ext cx="9144000" cy="365760"/>
          </a:xfrm>
          <a:prstGeom prst="rect">
            <a:avLst/>
          </a:prstGeom>
          <a:noFill/>
          <a:ln/>
        </p:spPr>
        <p:txBody>
          <a:bodyPr wrap="square" lIns="0" tIns="0" rIns="0" bIns="0" rtlCol="0" anchor="ctr"/>
          <a:lstStyle/>
          <a:p>
            <a:pPr indent="0" marL="0">
              <a:buNone/>
            </a:pPr>
            <a:r>
              <a:rPr lang="en-US" sz="1300" b="1" spc="200" kern="0" dirty="0">
                <a:solidFill>
                  <a:srgbClr val="2E75B6"/>
                </a:solidFill>
                <a:latin typeface="Arial" pitchFamily="34" charset="0"/>
                <a:ea typeface="Arial" pitchFamily="34" charset="-122"/>
                <a:cs typeface="Arial" pitchFamily="34" charset="-120"/>
              </a:rPr>
              <a:t>TODAY’S TOOLS</a:t>
            </a:r>
            <a:endParaRPr lang="en-US" sz="1300" dirty="0"/>
          </a:p>
        </p:txBody>
      </p:sp>
      <p:sp>
        <p:nvSpPr>
          <p:cNvPr id="5" name="Text 3"/>
          <p:cNvSpPr txBox="1"/>
          <p:nvPr/>
        </p:nvSpPr>
        <p:spPr>
          <a:xfrm>
            <a:off x="548640" y="822960"/>
            <a:ext cx="11064240" cy="8229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Three commercial indicators</a:t>
            </a:r>
            <a:endParaRPr lang="en-US" sz="2600" dirty="0"/>
          </a:p>
        </p:txBody>
      </p:sp>
      <p:sp>
        <p:nvSpPr>
          <p:cNvPr id="6" name="Shape 4"/>
          <p:cNvSpPr/>
          <p:nvPr/>
        </p:nvSpPr>
        <p:spPr>
          <a:xfrm>
            <a:off x="548640" y="1828800"/>
            <a:ext cx="11064240" cy="1005840"/>
          </a:xfrm>
          <a:prstGeom prst="roundRect">
            <a:avLst>
              <a:gd name="adj" fmla="val 7273"/>
            </a:avLst>
          </a:prstGeom>
          <a:solidFill>
            <a:srgbClr val="D9EEF1"/>
          </a:solidFill>
          <a:ln/>
        </p:spPr>
      </p:sp>
      <p:sp>
        <p:nvSpPr>
          <p:cNvPr id="7" name="Text 5"/>
          <p:cNvSpPr txBox="1"/>
          <p:nvPr/>
        </p:nvSpPr>
        <p:spPr>
          <a:xfrm>
            <a:off x="914400" y="1938528"/>
            <a:ext cx="2743200" cy="786384"/>
          </a:xfrm>
          <a:prstGeom prst="rect">
            <a:avLst/>
          </a:prstGeom>
          <a:noFill/>
          <a:ln/>
        </p:spPr>
        <p:txBody>
          <a:bodyPr wrap="square" lIns="0" tIns="0" rIns="0" bIns="0" rtlCol="0" anchor="ctr"/>
          <a:lstStyle/>
          <a:p>
            <a:pPr indent="0" marL="0">
              <a:buNone/>
            </a:pPr>
            <a:r>
              <a:rPr lang="en-US" sz="1800" b="1" dirty="0">
                <a:solidFill>
                  <a:srgbClr val="1F3864"/>
                </a:solidFill>
                <a:latin typeface="Arial" pitchFamily="34" charset="0"/>
                <a:ea typeface="Arial" pitchFamily="34" charset="-122"/>
                <a:cs typeface="Arial" pitchFamily="34" charset="-120"/>
              </a:rPr>
              <a:t>Litmus paper</a:t>
            </a:r>
            <a:endParaRPr lang="en-US" sz="1800" dirty="0"/>
          </a:p>
        </p:txBody>
      </p:sp>
      <p:sp>
        <p:nvSpPr>
          <p:cNvPr id="8" name="Text 6"/>
          <p:cNvSpPr txBox="1"/>
          <p:nvPr/>
        </p:nvSpPr>
        <p:spPr>
          <a:xfrm>
            <a:off x="3840480" y="1938528"/>
            <a:ext cx="7406640" cy="786384"/>
          </a:xfrm>
          <a:prstGeom prst="rect">
            <a:avLst/>
          </a:prstGeom>
          <a:noFill/>
          <a:ln/>
        </p:spPr>
        <p:txBody>
          <a:bodyPr wrap="square" lIns="0" tIns="0" rIns="0" bIns="0" rtlCol="0" anchor="ctr"/>
          <a:lstStyle/>
          <a:p>
            <a:pPr indent="0" marL="0">
              <a:buNone/>
            </a:pPr>
            <a:r>
              <a:rPr lang="en-US" sz="1500" dirty="0">
                <a:solidFill>
                  <a:srgbClr val="1A1A1A"/>
                </a:solidFill>
                <a:latin typeface="Arial" pitchFamily="34" charset="0"/>
                <a:ea typeface="Arial" pitchFamily="34" charset="-122"/>
                <a:cs typeface="Arial" pitchFamily="34" charset="-120"/>
              </a:rPr>
              <a:t>Comes in two colours, red and blue. Dip a strip and watch whether its colour flips.</a:t>
            </a:r>
            <a:endParaRPr lang="en-US" sz="1500" dirty="0"/>
          </a:p>
        </p:txBody>
      </p:sp>
      <p:sp>
        <p:nvSpPr>
          <p:cNvPr id="9" name="Shape 7"/>
          <p:cNvSpPr/>
          <p:nvPr/>
        </p:nvSpPr>
        <p:spPr>
          <a:xfrm>
            <a:off x="548640" y="3017520"/>
            <a:ext cx="11064240" cy="1005840"/>
          </a:xfrm>
          <a:prstGeom prst="roundRect">
            <a:avLst>
              <a:gd name="adj" fmla="val 7273"/>
            </a:avLst>
          </a:prstGeom>
          <a:solidFill>
            <a:srgbClr val="F2F2F2"/>
          </a:solidFill>
          <a:ln/>
        </p:spPr>
      </p:sp>
      <p:sp>
        <p:nvSpPr>
          <p:cNvPr id="10" name="Text 8"/>
          <p:cNvSpPr txBox="1"/>
          <p:nvPr/>
        </p:nvSpPr>
        <p:spPr>
          <a:xfrm>
            <a:off x="914400" y="3127248"/>
            <a:ext cx="2743200" cy="786384"/>
          </a:xfrm>
          <a:prstGeom prst="rect">
            <a:avLst/>
          </a:prstGeom>
          <a:noFill/>
          <a:ln/>
        </p:spPr>
        <p:txBody>
          <a:bodyPr wrap="square" lIns="0" tIns="0" rIns="0" bIns="0" rtlCol="0" anchor="ctr"/>
          <a:lstStyle/>
          <a:p>
            <a:pPr indent="0" marL="0">
              <a:buNone/>
            </a:pPr>
            <a:r>
              <a:rPr lang="en-US" sz="1800" b="1" dirty="0">
                <a:solidFill>
                  <a:srgbClr val="1F3864"/>
                </a:solidFill>
                <a:latin typeface="Arial" pitchFamily="34" charset="0"/>
                <a:ea typeface="Arial" pitchFamily="34" charset="-122"/>
                <a:cs typeface="Arial" pitchFamily="34" charset="-120"/>
              </a:rPr>
              <a:t>Phenolphthalein</a:t>
            </a:r>
            <a:endParaRPr lang="en-US" sz="1800" dirty="0"/>
          </a:p>
        </p:txBody>
      </p:sp>
      <p:sp>
        <p:nvSpPr>
          <p:cNvPr id="11" name="Text 9"/>
          <p:cNvSpPr txBox="1"/>
          <p:nvPr/>
        </p:nvSpPr>
        <p:spPr>
          <a:xfrm>
            <a:off x="3840480" y="3127248"/>
            <a:ext cx="7406640" cy="786384"/>
          </a:xfrm>
          <a:prstGeom prst="rect">
            <a:avLst/>
          </a:prstGeom>
          <a:noFill/>
          <a:ln/>
        </p:spPr>
        <p:txBody>
          <a:bodyPr wrap="square" lIns="0" tIns="0" rIns="0" bIns="0" rtlCol="0" anchor="ctr"/>
          <a:lstStyle/>
          <a:p>
            <a:pPr indent="0" marL="0">
              <a:buNone/>
            </a:pPr>
            <a:r>
              <a:rPr lang="en-US" sz="1500" dirty="0">
                <a:solidFill>
                  <a:srgbClr val="1A1A1A"/>
                </a:solidFill>
                <a:latin typeface="Arial" pitchFamily="34" charset="0"/>
                <a:ea typeface="Arial" pitchFamily="34" charset="-122"/>
                <a:cs typeface="Arial" pitchFamily="34" charset="-120"/>
              </a:rPr>
              <a:t>A colourless liquid indicator. Add 2 drops to the test liquid in a spotting tile.</a:t>
            </a:r>
            <a:endParaRPr lang="en-US" sz="1500" dirty="0"/>
          </a:p>
        </p:txBody>
      </p:sp>
      <p:sp>
        <p:nvSpPr>
          <p:cNvPr id="12" name="Shape 10"/>
          <p:cNvSpPr/>
          <p:nvPr/>
        </p:nvSpPr>
        <p:spPr>
          <a:xfrm>
            <a:off x="548640" y="4206240"/>
            <a:ext cx="11064240" cy="1005840"/>
          </a:xfrm>
          <a:prstGeom prst="roundRect">
            <a:avLst>
              <a:gd name="adj" fmla="val 7273"/>
            </a:avLst>
          </a:prstGeom>
          <a:solidFill>
            <a:srgbClr val="D9EEF1"/>
          </a:solidFill>
          <a:ln/>
        </p:spPr>
      </p:sp>
      <p:sp>
        <p:nvSpPr>
          <p:cNvPr id="13" name="Text 11"/>
          <p:cNvSpPr txBox="1"/>
          <p:nvPr/>
        </p:nvSpPr>
        <p:spPr>
          <a:xfrm>
            <a:off x="914400" y="4315968"/>
            <a:ext cx="2743200" cy="786384"/>
          </a:xfrm>
          <a:prstGeom prst="rect">
            <a:avLst/>
          </a:prstGeom>
          <a:noFill/>
          <a:ln/>
        </p:spPr>
        <p:txBody>
          <a:bodyPr wrap="square" lIns="0" tIns="0" rIns="0" bIns="0" rtlCol="0" anchor="ctr"/>
          <a:lstStyle/>
          <a:p>
            <a:pPr indent="0" marL="0">
              <a:buNone/>
            </a:pPr>
            <a:r>
              <a:rPr lang="en-US" sz="1800" b="1" dirty="0">
                <a:solidFill>
                  <a:srgbClr val="1F3864"/>
                </a:solidFill>
                <a:latin typeface="Arial" pitchFamily="34" charset="0"/>
                <a:ea typeface="Arial" pitchFamily="34" charset="-122"/>
                <a:cs typeface="Arial" pitchFamily="34" charset="-120"/>
              </a:rPr>
              <a:t>Methyl orange</a:t>
            </a:r>
            <a:endParaRPr lang="en-US" sz="1800" dirty="0"/>
          </a:p>
        </p:txBody>
      </p:sp>
      <p:sp>
        <p:nvSpPr>
          <p:cNvPr id="14" name="Text 12"/>
          <p:cNvSpPr txBox="1"/>
          <p:nvPr/>
        </p:nvSpPr>
        <p:spPr>
          <a:xfrm>
            <a:off x="3840480" y="4315968"/>
            <a:ext cx="7406640" cy="786384"/>
          </a:xfrm>
          <a:prstGeom prst="rect">
            <a:avLst/>
          </a:prstGeom>
          <a:noFill/>
          <a:ln/>
        </p:spPr>
        <p:txBody>
          <a:bodyPr wrap="square" lIns="0" tIns="0" rIns="0" bIns="0" rtlCol="0" anchor="ctr"/>
          <a:lstStyle/>
          <a:p>
            <a:pPr indent="0" marL="0">
              <a:buNone/>
            </a:pPr>
            <a:r>
              <a:rPr lang="en-US" sz="1500" dirty="0">
                <a:solidFill>
                  <a:srgbClr val="1A1A1A"/>
                </a:solidFill>
                <a:latin typeface="Arial" pitchFamily="34" charset="0"/>
                <a:ea typeface="Arial" pitchFamily="34" charset="-122"/>
                <a:cs typeface="Arial" pitchFamily="34" charset="-120"/>
              </a:rPr>
              <a:t>An orange liquid indicator. Add 2 drops to the test liquid in a spotting tile.</a:t>
            </a:r>
            <a:endParaRPr lang="en-US" sz="1500" dirty="0"/>
          </a:p>
        </p:txBody>
      </p:sp>
      <p:sp>
        <p:nvSpPr>
          <p:cNvPr id="15" name="Text 13"/>
          <p:cNvSpPr txBox="1"/>
          <p:nvPr/>
        </p:nvSpPr>
        <p:spPr>
          <a:xfrm>
            <a:off x="548640" y="5440680"/>
            <a:ext cx="11064240" cy="548640"/>
          </a:xfrm>
          <a:prstGeom prst="rect">
            <a:avLst/>
          </a:prstGeom>
          <a:noFill/>
          <a:ln/>
        </p:spPr>
        <p:txBody>
          <a:bodyPr wrap="square" lIns="0" tIns="0" rIns="0" bIns="0" rtlCol="0" anchor="ctr"/>
          <a:lstStyle/>
          <a:p>
            <a:pPr indent="0" marL="0">
              <a:buNone/>
            </a:pPr>
            <a:r>
              <a:rPr lang="en-US" sz="1500" i="1" dirty="0">
                <a:solidFill>
                  <a:srgbClr val="44546A"/>
                </a:solidFill>
                <a:latin typeface="Arial" pitchFamily="34" charset="0"/>
                <a:ea typeface="Arial" pitchFamily="34" charset="-122"/>
                <a:cs typeface="Arial" pitchFamily="34" charset="-120"/>
              </a:rPr>
              <a:t>An indicator is a substance that changes colour depending on whether a solution is acidic or basic.</a:t>
            </a:r>
            <a:endParaRPr lang="en-US" sz="1500" dirty="0"/>
          </a:p>
        </p:txBody>
      </p:sp>
      <p:sp>
        <p:nvSpPr>
          <p:cNvPr id="16" name="Text 14"/>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9AA5B1"/>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966960" y="320040"/>
            <a:ext cx="1645920" cy="320040"/>
          </a:xfrm>
          <a:prstGeom prst="roundRect">
            <a:avLst>
              <a:gd name="adj" fmla="val 17143"/>
            </a:avLst>
          </a:prstGeom>
          <a:solidFill>
            <a:srgbClr val="D9EEF1"/>
          </a:solidFill>
          <a:ln/>
        </p:spPr>
      </p:sp>
      <p:sp>
        <p:nvSpPr>
          <p:cNvPr id="3" name="Text 1"/>
          <p:cNvSpPr txBox="1"/>
          <p:nvPr/>
        </p:nvSpPr>
        <p:spPr>
          <a:xfrm>
            <a:off x="9966960" y="320040"/>
            <a:ext cx="1645920" cy="320040"/>
          </a:xfrm>
          <a:prstGeom prst="rect">
            <a:avLst/>
          </a:prstGeom>
          <a:noFill/>
          <a:ln/>
        </p:spPr>
        <p:txBody>
          <a:bodyPr wrap="square" lIns="0" tIns="0" rIns="0" bIns="0" rtlCol="0" anchor="ctr"/>
          <a:lstStyle/>
          <a:p>
            <a:pPr algn="ctr" indent="0" marL="0">
              <a:buNone/>
            </a:pPr>
            <a:r>
              <a:rPr lang="en-US" sz="1000" i="1" dirty="0">
                <a:solidFill>
                  <a:srgbClr val="1F6B75"/>
                </a:solidFill>
                <a:latin typeface="Arial" pitchFamily="34" charset="0"/>
                <a:ea typeface="Arial" pitchFamily="34" charset="-122"/>
                <a:cs typeface="Arial" pitchFamily="34" charset="-120"/>
              </a:rPr>
              <a:t>observe</a:t>
            </a:r>
            <a:endParaRPr lang="en-US" sz="1000" dirty="0"/>
          </a:p>
        </p:txBody>
      </p:sp>
      <p:sp>
        <p:nvSpPr>
          <p:cNvPr id="4" name="Text 2"/>
          <p:cNvSpPr txBox="1"/>
          <p:nvPr/>
        </p:nvSpPr>
        <p:spPr>
          <a:xfrm>
            <a:off x="548640" y="320040"/>
            <a:ext cx="9144000" cy="365760"/>
          </a:xfrm>
          <a:prstGeom prst="rect">
            <a:avLst/>
          </a:prstGeom>
          <a:noFill/>
          <a:ln/>
        </p:spPr>
        <p:txBody>
          <a:bodyPr wrap="square" lIns="0" tIns="0" rIns="0" bIns="0" rtlCol="0" anchor="ctr"/>
          <a:lstStyle/>
          <a:p>
            <a:pPr indent="0" marL="0">
              <a:buNone/>
            </a:pPr>
            <a:r>
              <a:rPr lang="en-US" sz="1300" b="1" spc="200" kern="0" dirty="0">
                <a:solidFill>
                  <a:srgbClr val="2E75B6"/>
                </a:solidFill>
                <a:latin typeface="Arial" pitchFamily="34" charset="0"/>
                <a:ea typeface="Arial" pitchFamily="34" charset="-122"/>
                <a:cs typeface="Arial" pitchFamily="34" charset="-120"/>
              </a:rPr>
              <a:t>SAFETY FIRST</a:t>
            </a:r>
            <a:endParaRPr lang="en-US" sz="1300" dirty="0"/>
          </a:p>
        </p:txBody>
      </p:sp>
      <p:sp>
        <p:nvSpPr>
          <p:cNvPr id="5" name="Text 3"/>
          <p:cNvSpPr txBox="1"/>
          <p:nvPr/>
        </p:nvSpPr>
        <p:spPr>
          <a:xfrm>
            <a:off x="548640" y="822960"/>
            <a:ext cx="11064240" cy="8229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Before anyone opens a bottle</a:t>
            </a:r>
            <a:endParaRPr lang="en-US" sz="2600" dirty="0"/>
          </a:p>
        </p:txBody>
      </p:sp>
      <p:sp>
        <p:nvSpPr>
          <p:cNvPr id="6" name="Shape 4"/>
          <p:cNvSpPr/>
          <p:nvPr/>
        </p:nvSpPr>
        <p:spPr>
          <a:xfrm>
            <a:off x="548640" y="1828800"/>
            <a:ext cx="11064240" cy="3108960"/>
          </a:xfrm>
          <a:prstGeom prst="roundRect">
            <a:avLst>
              <a:gd name="adj" fmla="val 2353"/>
            </a:avLst>
          </a:prstGeom>
          <a:solidFill>
            <a:srgbClr val="FCE4D6"/>
          </a:solidFill>
          <a:ln/>
        </p:spPr>
      </p:sp>
      <p:sp>
        <p:nvSpPr>
          <p:cNvPr id="7" name="Text 5"/>
          <p:cNvSpPr txBox="1"/>
          <p:nvPr/>
        </p:nvSpPr>
        <p:spPr>
          <a:xfrm>
            <a:off x="914400" y="2011680"/>
            <a:ext cx="10332720" cy="27432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A1A1A"/>
                </a:solidFill>
                <a:latin typeface="Arial" pitchFamily="34" charset="0"/>
                <a:ea typeface="Arial" pitchFamily="34" charset="-122"/>
                <a:cs typeface="Arial" pitchFamily="34" charset="-120"/>
              </a:rPr>
              <a:t>Phenolphthalein is dissolved in ethanol, which burns. No open flames. Use dropper bottles only.</a:t>
            </a:r>
            <a:endParaRPr lang="en-US" sz="1600" dirty="0"/>
          </a:p>
          <a:p>
            <a:pPr marL="342900" indent="-342900">
              <a:spcAft>
                <a:spcPts val="1000"/>
              </a:spcAft>
              <a:buSzPct val="100000"/>
              <a:buChar char="•"/>
            </a:pPr>
            <a:r>
              <a:rPr lang="en-US" sz="1600" dirty="0">
                <a:solidFill>
                  <a:srgbClr val="1A1A1A"/>
                </a:solidFill>
                <a:latin typeface="Arial" pitchFamily="34" charset="0"/>
                <a:ea typeface="Arial" pitchFamily="34" charset="-122"/>
                <a:cs typeface="Arial" pitchFamily="34" charset="-120"/>
              </a:rPr>
              <a:t>Lemon juice and vinegar sting eyes. Keep hands away from your face; wash hands afterwards.</a:t>
            </a:r>
            <a:endParaRPr lang="en-US" sz="1600" dirty="0"/>
          </a:p>
          <a:p>
            <a:pPr marL="342900" indent="-342900">
              <a:spcAft>
                <a:spcPts val="1000"/>
              </a:spcAft>
              <a:buSzPct val="100000"/>
              <a:buChar char="•"/>
            </a:pPr>
            <a:r>
              <a:rPr lang="en-US" sz="1600" dirty="0">
                <a:solidFill>
                  <a:srgbClr val="1A1A1A"/>
                </a:solidFill>
                <a:latin typeface="Arial" pitchFamily="34" charset="0"/>
                <a:ea typeface="Arial" pitchFamily="34" charset="-122"/>
                <a:cs typeface="Arial" pitchFamily="34" charset="-120"/>
              </a:rPr>
              <a:t>Never taste any laboratory solution — even ones you know from home.</a:t>
            </a:r>
            <a:endParaRPr lang="en-US" sz="1600" dirty="0"/>
          </a:p>
          <a:p>
            <a:pPr marL="342900" indent="-342900">
              <a:spcAft>
                <a:spcPts val="1000"/>
              </a:spcAft>
              <a:buSzPct val="100000"/>
              <a:buChar char="•"/>
            </a:pPr>
            <a:r>
              <a:rPr lang="en-US" sz="1600" dirty="0">
                <a:solidFill>
                  <a:srgbClr val="1A1A1A"/>
                </a:solidFill>
                <a:latin typeface="Arial" pitchFamily="34" charset="0"/>
                <a:ea typeface="Arial" pitchFamily="34" charset="-122"/>
                <a:cs typeface="Arial" pitchFamily="34" charset="-120"/>
              </a:rPr>
              <a:t>Rinse used solutions down the sink with plenty of water.</a:t>
            </a:r>
            <a:endParaRPr lang="en-US" sz="1600" dirty="0"/>
          </a:p>
          <a:p>
            <a:pPr marL="342900" indent="-342900">
              <a:spcAft>
                <a:spcPts val="1000"/>
              </a:spcAft>
              <a:buSzPct val="100000"/>
              <a:buChar char="•"/>
            </a:pPr>
            <a:r>
              <a:rPr lang="en-US" sz="1600" dirty="0">
                <a:solidFill>
                  <a:srgbClr val="1A1A1A"/>
                </a:solidFill>
                <a:latin typeface="Arial" pitchFamily="34" charset="0"/>
                <a:ea typeface="Arial" pitchFamily="34" charset="-122"/>
                <a:cs typeface="Arial" pitchFamily="34" charset="-120"/>
              </a:rPr>
              <a:t>Report broken glassware. Your teacher sweeps it up, not you.</a:t>
            </a:r>
            <a:endParaRPr lang="en-US" sz="1600" dirty="0"/>
          </a:p>
        </p:txBody>
      </p:sp>
      <p:sp>
        <p:nvSpPr>
          <p:cNvPr id="8" name="Text 6"/>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9AA5B1"/>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966960" y="320040"/>
            <a:ext cx="1645920" cy="320040"/>
          </a:xfrm>
          <a:prstGeom prst="roundRect">
            <a:avLst>
              <a:gd name="adj" fmla="val 17143"/>
            </a:avLst>
          </a:prstGeom>
          <a:solidFill>
            <a:srgbClr val="D9EEF1"/>
          </a:solidFill>
          <a:ln/>
        </p:spPr>
      </p:sp>
      <p:sp>
        <p:nvSpPr>
          <p:cNvPr id="3" name="Text 1"/>
          <p:cNvSpPr txBox="1"/>
          <p:nvPr/>
        </p:nvSpPr>
        <p:spPr>
          <a:xfrm>
            <a:off x="9966960" y="320040"/>
            <a:ext cx="1645920" cy="320040"/>
          </a:xfrm>
          <a:prstGeom prst="rect">
            <a:avLst/>
          </a:prstGeom>
          <a:noFill/>
          <a:ln/>
        </p:spPr>
        <p:txBody>
          <a:bodyPr wrap="square" lIns="0" tIns="0" rIns="0" bIns="0" rtlCol="0" anchor="ctr"/>
          <a:lstStyle/>
          <a:p>
            <a:pPr algn="ctr" indent="0" marL="0">
              <a:buNone/>
            </a:pPr>
            <a:r>
              <a:rPr lang="en-US" sz="1000" i="1" dirty="0">
                <a:solidFill>
                  <a:srgbClr val="1F6B75"/>
                </a:solidFill>
                <a:latin typeface="Arial" pitchFamily="34" charset="0"/>
                <a:ea typeface="Arial" pitchFamily="34" charset="-122"/>
                <a:cs typeface="Arial" pitchFamily="34" charset="-120"/>
              </a:rPr>
              <a:t>observe</a:t>
            </a:r>
            <a:endParaRPr lang="en-US" sz="1000" dirty="0"/>
          </a:p>
        </p:txBody>
      </p:sp>
      <p:sp>
        <p:nvSpPr>
          <p:cNvPr id="4" name="Text 2"/>
          <p:cNvSpPr txBox="1"/>
          <p:nvPr/>
        </p:nvSpPr>
        <p:spPr>
          <a:xfrm>
            <a:off x="548640" y="320040"/>
            <a:ext cx="9144000" cy="365760"/>
          </a:xfrm>
          <a:prstGeom prst="rect">
            <a:avLst/>
          </a:prstGeom>
          <a:noFill/>
          <a:ln/>
        </p:spPr>
        <p:txBody>
          <a:bodyPr wrap="square" lIns="0" tIns="0" rIns="0" bIns="0" rtlCol="0" anchor="ctr"/>
          <a:lstStyle/>
          <a:p>
            <a:pPr indent="0" marL="0">
              <a:buNone/>
            </a:pPr>
            <a:r>
              <a:rPr lang="en-US" sz="1300" b="1" spc="200" kern="0" dirty="0">
                <a:solidFill>
                  <a:srgbClr val="2E75B6"/>
                </a:solidFill>
                <a:latin typeface="Arial" pitchFamily="34" charset="0"/>
                <a:ea typeface="Arial" pitchFamily="34" charset="-122"/>
                <a:cs typeface="Arial" pitchFamily="34" charset="-120"/>
              </a:rPr>
              <a:t>EXPERIMENT 1: PROCEDURE</a:t>
            </a:r>
            <a:endParaRPr lang="en-US" sz="1300" dirty="0"/>
          </a:p>
        </p:txBody>
      </p:sp>
      <p:sp>
        <p:nvSpPr>
          <p:cNvPr id="5" name="Text 3"/>
          <p:cNvSpPr txBox="1"/>
          <p:nvPr/>
        </p:nvSpPr>
        <p:spPr>
          <a:xfrm>
            <a:off x="548640" y="822960"/>
            <a:ext cx="11064240" cy="8229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Testers test. Recorders record. Swap halfway.</a:t>
            </a:r>
            <a:endParaRPr lang="en-US" sz="2600" dirty="0"/>
          </a:p>
        </p:txBody>
      </p:sp>
      <p:sp>
        <p:nvSpPr>
          <p:cNvPr id="6" name="Shape 4"/>
          <p:cNvSpPr/>
          <p:nvPr/>
        </p:nvSpPr>
        <p:spPr>
          <a:xfrm>
            <a:off x="548640" y="1828800"/>
            <a:ext cx="11064240" cy="868680"/>
          </a:xfrm>
          <a:prstGeom prst="roundRect">
            <a:avLst>
              <a:gd name="adj" fmla="val 8421"/>
            </a:avLst>
          </a:prstGeom>
          <a:solidFill>
            <a:srgbClr val="D9EEF1"/>
          </a:solidFill>
          <a:ln/>
        </p:spPr>
      </p:sp>
      <p:sp>
        <p:nvSpPr>
          <p:cNvPr id="7" name="Text 5"/>
          <p:cNvSpPr txBox="1"/>
          <p:nvPr/>
        </p:nvSpPr>
        <p:spPr>
          <a:xfrm>
            <a:off x="914400" y="1938528"/>
            <a:ext cx="1280160" cy="649224"/>
          </a:xfrm>
          <a:prstGeom prst="rect">
            <a:avLst/>
          </a:prstGeom>
          <a:noFill/>
          <a:ln/>
        </p:spPr>
        <p:txBody>
          <a:bodyPr wrap="square" lIns="0" tIns="0" rIns="0" bIns="0" rtlCol="0" anchor="ctr"/>
          <a:lstStyle/>
          <a:p>
            <a:pPr indent="0" marL="0">
              <a:buNone/>
            </a:pPr>
            <a:r>
              <a:rPr lang="en-US" sz="2200" b="1" dirty="0">
                <a:solidFill>
                  <a:srgbClr val="1F3864"/>
                </a:solidFill>
                <a:latin typeface="Arial" pitchFamily="34" charset="0"/>
                <a:ea typeface="Arial" pitchFamily="34" charset="-122"/>
                <a:cs typeface="Arial" pitchFamily="34" charset="-120"/>
              </a:rPr>
              <a:t>1</a:t>
            </a:r>
            <a:endParaRPr lang="en-US" sz="2200" dirty="0"/>
          </a:p>
        </p:txBody>
      </p:sp>
      <p:sp>
        <p:nvSpPr>
          <p:cNvPr id="8" name="Text 6"/>
          <p:cNvSpPr txBox="1"/>
          <p:nvPr/>
        </p:nvSpPr>
        <p:spPr>
          <a:xfrm>
            <a:off x="2377440" y="1938528"/>
            <a:ext cx="8869680" cy="649224"/>
          </a:xfrm>
          <a:prstGeom prst="rect">
            <a:avLst/>
          </a:prstGeom>
          <a:noFill/>
          <a:ln/>
        </p:spPr>
        <p:txBody>
          <a:bodyPr wrap="square" lIns="0" tIns="0" rIns="0" bIns="0" rtlCol="0" anchor="ctr"/>
          <a:lstStyle/>
          <a:p>
            <a:pPr indent="0" marL="0">
              <a:buNone/>
            </a:pPr>
            <a:r>
              <a:rPr lang="en-US" sz="1500" dirty="0">
                <a:solidFill>
                  <a:srgbClr val="1A1A1A"/>
                </a:solidFill>
                <a:latin typeface="Arial" pitchFamily="34" charset="0"/>
                <a:ea typeface="Arial" pitchFamily="34" charset="-122"/>
                <a:cs typeface="Arial" pitchFamily="34" charset="-120"/>
              </a:rPr>
              <a:t>Place a strip of red litmus and a strip of blue litmus on the white tile. Add 2–3 drops of the liquid to each.</a:t>
            </a:r>
            <a:endParaRPr lang="en-US" sz="1500" dirty="0"/>
          </a:p>
        </p:txBody>
      </p:sp>
      <p:sp>
        <p:nvSpPr>
          <p:cNvPr id="9" name="Shape 7"/>
          <p:cNvSpPr/>
          <p:nvPr/>
        </p:nvSpPr>
        <p:spPr>
          <a:xfrm>
            <a:off x="548640" y="2880360"/>
            <a:ext cx="11064240" cy="868680"/>
          </a:xfrm>
          <a:prstGeom prst="roundRect">
            <a:avLst>
              <a:gd name="adj" fmla="val 8421"/>
            </a:avLst>
          </a:prstGeom>
          <a:solidFill>
            <a:srgbClr val="F2F2F2"/>
          </a:solidFill>
          <a:ln/>
        </p:spPr>
      </p:sp>
      <p:sp>
        <p:nvSpPr>
          <p:cNvPr id="10" name="Text 8"/>
          <p:cNvSpPr txBox="1"/>
          <p:nvPr/>
        </p:nvSpPr>
        <p:spPr>
          <a:xfrm>
            <a:off x="914400" y="2990088"/>
            <a:ext cx="1280160" cy="649224"/>
          </a:xfrm>
          <a:prstGeom prst="rect">
            <a:avLst/>
          </a:prstGeom>
          <a:noFill/>
          <a:ln/>
        </p:spPr>
        <p:txBody>
          <a:bodyPr wrap="square" lIns="0" tIns="0" rIns="0" bIns="0" rtlCol="0" anchor="ctr"/>
          <a:lstStyle/>
          <a:p>
            <a:pPr indent="0" marL="0">
              <a:buNone/>
            </a:pPr>
            <a:r>
              <a:rPr lang="en-US" sz="2200" b="1" dirty="0">
                <a:solidFill>
                  <a:srgbClr val="1F3864"/>
                </a:solidFill>
                <a:latin typeface="Arial" pitchFamily="34" charset="0"/>
                <a:ea typeface="Arial" pitchFamily="34" charset="-122"/>
                <a:cs typeface="Arial" pitchFamily="34" charset="-120"/>
              </a:rPr>
              <a:t>2</a:t>
            </a:r>
            <a:endParaRPr lang="en-US" sz="2200" dirty="0"/>
          </a:p>
        </p:txBody>
      </p:sp>
      <p:sp>
        <p:nvSpPr>
          <p:cNvPr id="11" name="Text 9"/>
          <p:cNvSpPr txBox="1"/>
          <p:nvPr/>
        </p:nvSpPr>
        <p:spPr>
          <a:xfrm>
            <a:off x="2377440" y="2990088"/>
            <a:ext cx="8869680" cy="649224"/>
          </a:xfrm>
          <a:prstGeom prst="rect">
            <a:avLst/>
          </a:prstGeom>
          <a:noFill/>
          <a:ln/>
        </p:spPr>
        <p:txBody>
          <a:bodyPr wrap="square" lIns="0" tIns="0" rIns="0" bIns="0" rtlCol="0" anchor="ctr"/>
          <a:lstStyle/>
          <a:p>
            <a:pPr indent="0" marL="0">
              <a:buNone/>
            </a:pPr>
            <a:r>
              <a:rPr lang="en-US" sz="1500" dirty="0">
                <a:solidFill>
                  <a:srgbClr val="1A1A1A"/>
                </a:solidFill>
                <a:latin typeface="Arial" pitchFamily="34" charset="0"/>
                <a:ea typeface="Arial" pitchFamily="34" charset="-122"/>
                <a:cs typeface="Arial" pitchFamily="34" charset="-120"/>
              </a:rPr>
              <a:t>Record the colour immediately and again after 30 seconds.</a:t>
            </a:r>
            <a:endParaRPr lang="en-US" sz="1500" dirty="0"/>
          </a:p>
        </p:txBody>
      </p:sp>
      <p:sp>
        <p:nvSpPr>
          <p:cNvPr id="12" name="Shape 10"/>
          <p:cNvSpPr/>
          <p:nvPr/>
        </p:nvSpPr>
        <p:spPr>
          <a:xfrm>
            <a:off x="548640" y="3931920"/>
            <a:ext cx="11064240" cy="868680"/>
          </a:xfrm>
          <a:prstGeom prst="roundRect">
            <a:avLst>
              <a:gd name="adj" fmla="val 8421"/>
            </a:avLst>
          </a:prstGeom>
          <a:solidFill>
            <a:srgbClr val="D9EEF1"/>
          </a:solidFill>
          <a:ln/>
        </p:spPr>
      </p:sp>
      <p:sp>
        <p:nvSpPr>
          <p:cNvPr id="13" name="Text 11"/>
          <p:cNvSpPr txBox="1"/>
          <p:nvPr/>
        </p:nvSpPr>
        <p:spPr>
          <a:xfrm>
            <a:off x="914400" y="4041648"/>
            <a:ext cx="1280160" cy="649224"/>
          </a:xfrm>
          <a:prstGeom prst="rect">
            <a:avLst/>
          </a:prstGeom>
          <a:noFill/>
          <a:ln/>
        </p:spPr>
        <p:txBody>
          <a:bodyPr wrap="square" lIns="0" tIns="0" rIns="0" bIns="0" rtlCol="0" anchor="ctr"/>
          <a:lstStyle/>
          <a:p>
            <a:pPr indent="0" marL="0">
              <a:buNone/>
            </a:pPr>
            <a:r>
              <a:rPr lang="en-US" sz="2200" b="1" dirty="0">
                <a:solidFill>
                  <a:srgbClr val="1F3864"/>
                </a:solidFill>
                <a:latin typeface="Arial" pitchFamily="34" charset="0"/>
                <a:ea typeface="Arial" pitchFamily="34" charset="-122"/>
                <a:cs typeface="Arial" pitchFamily="34" charset="-120"/>
              </a:rPr>
              <a:t>3</a:t>
            </a:r>
            <a:endParaRPr lang="en-US" sz="2200" dirty="0"/>
          </a:p>
        </p:txBody>
      </p:sp>
      <p:sp>
        <p:nvSpPr>
          <p:cNvPr id="14" name="Text 12"/>
          <p:cNvSpPr txBox="1"/>
          <p:nvPr/>
        </p:nvSpPr>
        <p:spPr>
          <a:xfrm>
            <a:off x="2377440" y="4041648"/>
            <a:ext cx="8869680" cy="649224"/>
          </a:xfrm>
          <a:prstGeom prst="rect">
            <a:avLst/>
          </a:prstGeom>
          <a:noFill/>
          <a:ln/>
        </p:spPr>
        <p:txBody>
          <a:bodyPr wrap="square" lIns="0" tIns="0" rIns="0" bIns="0" rtlCol="0" anchor="ctr"/>
          <a:lstStyle/>
          <a:p>
            <a:pPr indent="0" marL="0">
              <a:buNone/>
            </a:pPr>
            <a:r>
              <a:rPr lang="en-US" sz="1500" dirty="0">
                <a:solidFill>
                  <a:srgbClr val="1A1A1A"/>
                </a:solidFill>
                <a:latin typeface="Arial" pitchFamily="34" charset="0"/>
                <a:ea typeface="Arial" pitchFamily="34" charset="-122"/>
                <a:cs typeface="Arial" pitchFamily="34" charset="-120"/>
              </a:rPr>
              <a:t>Put 5 drops of the liquid in a tile well. Add 2 drops of phenolphthalein. Record. Repeat with methyl orange in a new well.</a:t>
            </a:r>
            <a:endParaRPr lang="en-US" sz="1500" dirty="0"/>
          </a:p>
        </p:txBody>
      </p:sp>
      <p:sp>
        <p:nvSpPr>
          <p:cNvPr id="15" name="Shape 13"/>
          <p:cNvSpPr/>
          <p:nvPr/>
        </p:nvSpPr>
        <p:spPr>
          <a:xfrm>
            <a:off x="548640" y="4983480"/>
            <a:ext cx="11064240" cy="868680"/>
          </a:xfrm>
          <a:prstGeom prst="roundRect">
            <a:avLst>
              <a:gd name="adj" fmla="val 8421"/>
            </a:avLst>
          </a:prstGeom>
          <a:solidFill>
            <a:srgbClr val="F2F2F2"/>
          </a:solidFill>
          <a:ln/>
        </p:spPr>
      </p:sp>
      <p:sp>
        <p:nvSpPr>
          <p:cNvPr id="16" name="Text 14"/>
          <p:cNvSpPr txBox="1"/>
          <p:nvPr/>
        </p:nvSpPr>
        <p:spPr>
          <a:xfrm>
            <a:off x="914400" y="5093208"/>
            <a:ext cx="1280160" cy="649224"/>
          </a:xfrm>
          <a:prstGeom prst="rect">
            <a:avLst/>
          </a:prstGeom>
          <a:noFill/>
          <a:ln/>
        </p:spPr>
        <p:txBody>
          <a:bodyPr wrap="square" lIns="0" tIns="0" rIns="0" bIns="0" rtlCol="0" anchor="ctr"/>
          <a:lstStyle/>
          <a:p>
            <a:pPr indent="0" marL="0">
              <a:buNone/>
            </a:pPr>
            <a:r>
              <a:rPr lang="en-US" sz="2200" b="1" dirty="0">
                <a:solidFill>
                  <a:srgbClr val="1F3864"/>
                </a:solidFill>
                <a:latin typeface="Arial" pitchFamily="34" charset="0"/>
                <a:ea typeface="Arial" pitchFamily="34" charset="-122"/>
                <a:cs typeface="Arial" pitchFamily="34" charset="-120"/>
              </a:rPr>
              <a:t>4</a:t>
            </a:r>
            <a:endParaRPr lang="en-US" sz="2200" dirty="0"/>
          </a:p>
        </p:txBody>
      </p:sp>
      <p:sp>
        <p:nvSpPr>
          <p:cNvPr id="17" name="Text 15"/>
          <p:cNvSpPr txBox="1"/>
          <p:nvPr/>
        </p:nvSpPr>
        <p:spPr>
          <a:xfrm>
            <a:off x="2377440" y="5093208"/>
            <a:ext cx="8869680" cy="649224"/>
          </a:xfrm>
          <a:prstGeom prst="rect">
            <a:avLst/>
          </a:prstGeom>
          <a:noFill/>
          <a:ln/>
        </p:spPr>
        <p:txBody>
          <a:bodyPr wrap="square" lIns="0" tIns="0" rIns="0" bIns="0" rtlCol="0" anchor="ctr"/>
          <a:lstStyle/>
          <a:p>
            <a:pPr indent="0" marL="0">
              <a:buNone/>
            </a:pPr>
            <a:r>
              <a:rPr lang="en-US" sz="1500" dirty="0">
                <a:solidFill>
                  <a:srgbClr val="1A1A1A"/>
                </a:solidFill>
                <a:latin typeface="Arial" pitchFamily="34" charset="0"/>
                <a:ea typeface="Arial" pitchFamily="34" charset="-122"/>
                <a:cs typeface="Arial" pitchFamily="34" charset="-120"/>
              </a:rPr>
              <a:t>Repeat for all seven liquids. Write exact colours: “turned pale pink”, not “changed”.</a:t>
            </a:r>
            <a:endParaRPr lang="en-US" sz="1500" dirty="0"/>
          </a:p>
        </p:txBody>
      </p:sp>
      <p:sp>
        <p:nvSpPr>
          <p:cNvPr id="18" name="Text 16"/>
          <p:cNvSpPr txBox="1"/>
          <p:nvPr/>
        </p:nvSpPr>
        <p:spPr>
          <a:xfrm>
            <a:off x="548640" y="6080760"/>
            <a:ext cx="11064240" cy="548640"/>
          </a:xfrm>
          <a:prstGeom prst="rect">
            <a:avLst/>
          </a:prstGeom>
          <a:noFill/>
          <a:ln/>
        </p:spPr>
        <p:txBody>
          <a:bodyPr wrap="square" lIns="0" tIns="0" rIns="0" bIns="0" rtlCol="0" anchor="ctr"/>
          <a:lstStyle/>
          <a:p>
            <a:pPr indent="0" marL="0">
              <a:buNone/>
            </a:pPr>
            <a:r>
              <a:rPr lang="en-US" sz="1500" i="1" dirty="0">
                <a:solidFill>
                  <a:srgbClr val="44546A"/>
                </a:solidFill>
                <a:latin typeface="Arial" pitchFamily="34" charset="0"/>
                <a:ea typeface="Arial" pitchFamily="34" charset="-122"/>
                <a:cs typeface="Arial" pitchFamily="34" charset="-120"/>
              </a:rPr>
              <a:t>Be a scientist, not a poet: what exact colour do you see?</a:t>
            </a:r>
            <a:endParaRPr lang="en-US" sz="1500" dirty="0"/>
          </a:p>
        </p:txBody>
      </p:sp>
      <p:sp>
        <p:nvSpPr>
          <p:cNvPr id="19" name="Text 17"/>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9AA5B1"/>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QUICK CHECK 1</a:t>
            </a:r>
            <a:endParaRPr lang="en-US" sz="1300" dirty="0"/>
          </a:p>
        </p:txBody>
      </p:sp>
      <p:sp>
        <p:nvSpPr>
          <p:cNvPr id="3" name="Text 1"/>
          <p:cNvSpPr txBox="1"/>
          <p:nvPr/>
        </p:nvSpPr>
        <p:spPr>
          <a:xfrm>
            <a:off x="548640" y="868680"/>
            <a:ext cx="11064240" cy="123444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Which of these is the most useful observation to record?</a:t>
            </a:r>
            <a:endParaRPr lang="en-US" sz="2300" dirty="0"/>
          </a:p>
        </p:txBody>
      </p:sp>
      <p:sp>
        <p:nvSpPr>
          <p:cNvPr id="4" name="Shape 2"/>
          <p:cNvSpPr/>
          <p:nvPr/>
        </p:nvSpPr>
        <p:spPr>
          <a:xfrm>
            <a:off x="731520" y="2286000"/>
            <a:ext cx="10698480" cy="731520"/>
          </a:xfrm>
          <a:prstGeom prst="roundRect">
            <a:avLst>
              <a:gd name="adj" fmla="val 10000"/>
            </a:avLst>
          </a:prstGeom>
          <a:solidFill>
            <a:srgbClr val="7C5CAA"/>
          </a:solidFill>
          <a:ln/>
        </p:spPr>
      </p:sp>
      <p:sp>
        <p:nvSpPr>
          <p:cNvPr id="5" name="Text 3"/>
          <p:cNvSpPr txBox="1"/>
          <p:nvPr/>
        </p:nvSpPr>
        <p:spPr>
          <a:xfrm>
            <a:off x="914400" y="2286000"/>
            <a:ext cx="548640" cy="73152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6" name="Text 4"/>
          <p:cNvSpPr txBox="1"/>
          <p:nvPr/>
        </p:nvSpPr>
        <p:spPr>
          <a:xfrm>
            <a:off x="1554480" y="2286000"/>
            <a:ext cx="9692640" cy="73152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changed.”</a:t>
            </a:r>
            <a:endParaRPr lang="en-US" sz="1700" dirty="0"/>
          </a:p>
        </p:txBody>
      </p:sp>
      <p:sp>
        <p:nvSpPr>
          <p:cNvPr id="7" name="Shape 5"/>
          <p:cNvSpPr/>
          <p:nvPr/>
        </p:nvSpPr>
        <p:spPr>
          <a:xfrm>
            <a:off x="731520" y="3200400"/>
            <a:ext cx="10698480" cy="731520"/>
          </a:xfrm>
          <a:prstGeom prst="roundRect">
            <a:avLst>
              <a:gd name="adj" fmla="val 10000"/>
            </a:avLst>
          </a:prstGeom>
          <a:solidFill>
            <a:srgbClr val="7C5CAA"/>
          </a:solidFill>
          <a:ln/>
        </p:spPr>
      </p:sp>
      <p:sp>
        <p:nvSpPr>
          <p:cNvPr id="8" name="Text 6"/>
          <p:cNvSpPr txBox="1"/>
          <p:nvPr/>
        </p:nvSpPr>
        <p:spPr>
          <a:xfrm>
            <a:off x="914400" y="3200400"/>
            <a:ext cx="548640" cy="73152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9" name="Text 7"/>
          <p:cNvSpPr txBox="1"/>
          <p:nvPr/>
        </p:nvSpPr>
        <p:spPr>
          <a:xfrm>
            <a:off x="1554480" y="3200400"/>
            <a:ext cx="9692640" cy="73152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looked interesting.”</a:t>
            </a:r>
            <a:endParaRPr lang="en-US" sz="1700" dirty="0"/>
          </a:p>
        </p:txBody>
      </p:sp>
      <p:sp>
        <p:nvSpPr>
          <p:cNvPr id="10" name="Shape 8"/>
          <p:cNvSpPr/>
          <p:nvPr/>
        </p:nvSpPr>
        <p:spPr>
          <a:xfrm>
            <a:off x="731520" y="4114800"/>
            <a:ext cx="10698480" cy="731520"/>
          </a:xfrm>
          <a:prstGeom prst="roundRect">
            <a:avLst>
              <a:gd name="adj" fmla="val 10000"/>
            </a:avLst>
          </a:prstGeom>
          <a:solidFill>
            <a:srgbClr val="7C5CAA"/>
          </a:solidFill>
          <a:ln/>
        </p:spPr>
      </p:sp>
      <p:sp>
        <p:nvSpPr>
          <p:cNvPr id="11" name="Text 9"/>
          <p:cNvSpPr txBox="1"/>
          <p:nvPr/>
        </p:nvSpPr>
        <p:spPr>
          <a:xfrm>
            <a:off x="914400" y="4114800"/>
            <a:ext cx="548640" cy="73152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2" name="Text 10"/>
          <p:cNvSpPr txBox="1"/>
          <p:nvPr/>
        </p:nvSpPr>
        <p:spPr>
          <a:xfrm>
            <a:off x="1554480" y="4114800"/>
            <a:ext cx="9692640" cy="73152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“Blue litmus turned bright red within 5 seconds.”</a:t>
            </a:r>
            <a:endParaRPr lang="en-US" sz="1700" dirty="0"/>
          </a:p>
        </p:txBody>
      </p:sp>
      <p:sp>
        <p:nvSpPr>
          <p:cNvPr id="13" name="Shape 11"/>
          <p:cNvSpPr/>
          <p:nvPr/>
        </p:nvSpPr>
        <p:spPr>
          <a:xfrm>
            <a:off x="731520" y="5029200"/>
            <a:ext cx="10698480" cy="731520"/>
          </a:xfrm>
          <a:prstGeom prst="roundRect">
            <a:avLst>
              <a:gd name="adj" fmla="val 10000"/>
            </a:avLst>
          </a:prstGeom>
          <a:solidFill>
            <a:srgbClr val="7C5CAA"/>
          </a:solidFill>
          <a:ln/>
        </p:spPr>
      </p:sp>
      <p:sp>
        <p:nvSpPr>
          <p:cNvPr id="14" name="Text 12"/>
          <p:cNvSpPr txBox="1"/>
          <p:nvPr/>
        </p:nvSpPr>
        <p:spPr>
          <a:xfrm>
            <a:off x="914400" y="5029200"/>
            <a:ext cx="548640" cy="73152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5" name="Text 13"/>
          <p:cNvSpPr txBox="1"/>
          <p:nvPr/>
        </p:nvSpPr>
        <p:spPr>
          <a:xfrm>
            <a:off x="1554480" y="5029200"/>
            <a:ext cx="9692640" cy="73152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was probably an acid.”</a:t>
            </a:r>
            <a:endParaRPr lang="en-US" sz="1700" dirty="0"/>
          </a:p>
        </p:txBody>
      </p:sp>
      <p:sp>
        <p:nvSpPr>
          <p:cNvPr id="16" name="Text 14"/>
          <p:cNvSpPr txBox="1"/>
          <p:nvPr/>
        </p:nvSpPr>
        <p:spPr>
          <a:xfrm>
            <a:off x="548640" y="6035040"/>
            <a:ext cx="11064240" cy="365760"/>
          </a:xfrm>
          <a:prstGeom prst="rect">
            <a:avLst/>
          </a:prstGeom>
          <a:noFill/>
          <a:ln/>
        </p:spPr>
        <p:txBody>
          <a:bodyPr wrap="square" lIns="0" tIns="0" rIns="0" bIns="0" rtlCol="0" anchor="ctr"/>
          <a:lstStyle/>
          <a:p>
            <a:pPr indent="0" marL="0">
              <a:buNone/>
            </a:pPr>
            <a:r>
              <a:rPr lang="en-US" sz="1200" i="1" dirty="0">
                <a:solidFill>
                  <a:srgbClr val="C9B8E0"/>
                </a:solidFill>
                <a:latin typeface="Arial" pitchFamily="34" charset="0"/>
                <a:ea typeface="Arial" pitchFamily="34" charset="-122"/>
                <a:cs typeface="Arial" pitchFamily="34" charset="-120"/>
              </a:rPr>
              <a:t>Answer key is teacher-side only, in a separate file.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966960" y="320040"/>
            <a:ext cx="1645920" cy="320040"/>
          </a:xfrm>
          <a:prstGeom prst="roundRect">
            <a:avLst>
              <a:gd name="adj" fmla="val 17143"/>
            </a:avLst>
          </a:prstGeom>
          <a:solidFill>
            <a:srgbClr val="D9EEF1"/>
          </a:solidFill>
          <a:ln/>
        </p:spPr>
      </p:sp>
      <p:sp>
        <p:nvSpPr>
          <p:cNvPr id="3" name="Text 1"/>
          <p:cNvSpPr txBox="1"/>
          <p:nvPr/>
        </p:nvSpPr>
        <p:spPr>
          <a:xfrm>
            <a:off x="9966960" y="320040"/>
            <a:ext cx="1645920" cy="320040"/>
          </a:xfrm>
          <a:prstGeom prst="rect">
            <a:avLst/>
          </a:prstGeom>
          <a:noFill/>
          <a:ln/>
        </p:spPr>
        <p:txBody>
          <a:bodyPr wrap="square" lIns="0" tIns="0" rIns="0" bIns="0" rtlCol="0" anchor="ctr"/>
          <a:lstStyle/>
          <a:p>
            <a:pPr algn="ctr" indent="0" marL="0">
              <a:buNone/>
            </a:pPr>
            <a:r>
              <a:rPr lang="en-US" sz="1000" i="1" dirty="0">
                <a:solidFill>
                  <a:srgbClr val="1F6B75"/>
                </a:solidFill>
                <a:latin typeface="Arial" pitchFamily="34" charset="0"/>
                <a:ea typeface="Arial" pitchFamily="34" charset="-122"/>
                <a:cs typeface="Arial" pitchFamily="34" charset="-120"/>
              </a:rPr>
              <a:t>explain</a:t>
            </a:r>
            <a:endParaRPr lang="en-US" sz="1000" dirty="0"/>
          </a:p>
        </p:txBody>
      </p:sp>
      <p:sp>
        <p:nvSpPr>
          <p:cNvPr id="4" name="Text 2"/>
          <p:cNvSpPr txBox="1"/>
          <p:nvPr/>
        </p:nvSpPr>
        <p:spPr>
          <a:xfrm>
            <a:off x="548640" y="320040"/>
            <a:ext cx="9144000" cy="365760"/>
          </a:xfrm>
          <a:prstGeom prst="rect">
            <a:avLst/>
          </a:prstGeom>
          <a:noFill/>
          <a:ln/>
        </p:spPr>
        <p:txBody>
          <a:bodyPr wrap="square" lIns="0" tIns="0" rIns="0" bIns="0" rtlCol="0" anchor="ctr"/>
          <a:lstStyle/>
          <a:p>
            <a:pPr indent="0" marL="0">
              <a:buNone/>
            </a:pPr>
            <a:r>
              <a:rPr lang="en-US" sz="1300" b="1" spc="200" kern="0" dirty="0">
                <a:solidFill>
                  <a:srgbClr val="2E75B6"/>
                </a:solidFill>
                <a:latin typeface="Arial" pitchFamily="34" charset="0"/>
                <a:ea typeface="Arial" pitchFamily="34" charset="-122"/>
                <a:cs typeface="Arial" pitchFamily="34" charset="-120"/>
              </a:rPr>
              <a:t>THE PATTERN</a:t>
            </a:r>
            <a:endParaRPr lang="en-US" sz="1300" dirty="0"/>
          </a:p>
        </p:txBody>
      </p:sp>
      <p:sp>
        <p:nvSpPr>
          <p:cNvPr id="5" name="Text 3"/>
          <p:cNvSpPr txBox="1"/>
          <p:nvPr/>
        </p:nvSpPr>
        <p:spPr>
          <a:xfrm>
            <a:off x="548640" y="822960"/>
            <a:ext cx="11064240" cy="8229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What each indicator tells us</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2834640"/>
                <a:gridCol w="2743200"/>
                <a:gridCol w="2743200"/>
                <a:gridCol w="2743200"/>
              </a:tblGrid>
              <a:tr h="566928">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Indicator</a:t>
                      </a:r>
                      <a:endParaRPr lang="en-US" sz="15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1F3864"/>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In an ACID</a:t>
                      </a:r>
                      <a:endParaRPr lang="en-US" sz="15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1F3864"/>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In a BASE</a:t>
                      </a:r>
                      <a:endParaRPr lang="en-US" sz="15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1F3864"/>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In a NEUTRAL solution</a:t>
                      </a:r>
                      <a:endParaRPr lang="en-US" sz="15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1F3864"/>
                    </a:solidFill>
                  </a:tcPr>
                </a:tc>
              </a:tr>
              <a:tr h="566928">
                <a:tc>
                  <a:txBody>
                    <a:bodyPr/>
                    <a:lstStyle/>
                    <a:p>
                      <a:pPr algn="l" indent="0" marL="0">
                        <a:buNone/>
                      </a:pPr>
                      <a:r>
                        <a:rPr lang="en-US" sz="1500" b="1" dirty="0">
                          <a:solidFill>
                            <a:srgbClr val="1A1A1A"/>
                          </a:solidFill>
                          <a:latin typeface="Arial" pitchFamily="34" charset="0"/>
                          <a:ea typeface="Arial" pitchFamily="34" charset="-122"/>
                          <a:cs typeface="Arial" pitchFamily="34" charset="-120"/>
                        </a:rPr>
                        <a:t>Blue litmus</a:t>
                      </a:r>
                      <a:endParaRPr lang="en-US" sz="15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2F2F2"/>
                    </a:solidFill>
                  </a:tcPr>
                </a:tc>
                <a:tc>
                  <a:txBody>
                    <a:bodyPr/>
                    <a:lstStyle/>
                    <a:p>
                      <a:pPr algn="ctr" indent="0" marL="0">
                        <a:buNone/>
                      </a:pPr>
                      <a:r>
                        <a:rPr lang="en-US" sz="1500" dirty="0">
                          <a:solidFill>
                            <a:srgbClr val="1A1A1A"/>
                          </a:solidFill>
                          <a:latin typeface="Arial" pitchFamily="34" charset="0"/>
                          <a:ea typeface="Arial" pitchFamily="34" charset="-122"/>
                          <a:cs typeface="Arial" pitchFamily="34" charset="-120"/>
                        </a:rPr>
                        <a:t>turns red</a:t>
                      </a:r>
                      <a:endParaRPr lang="en-US" sz="15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2F2F2"/>
                    </a:solidFill>
                  </a:tcPr>
                </a:tc>
                <a:tc>
                  <a:txBody>
                    <a:bodyPr/>
                    <a:lstStyle/>
                    <a:p>
                      <a:pPr algn="ctr" indent="0" marL="0">
                        <a:buNone/>
                      </a:pPr>
                      <a:r>
                        <a:rPr lang="en-US" sz="1500" dirty="0">
                          <a:solidFill>
                            <a:srgbClr val="1A1A1A"/>
                          </a:solidFill>
                          <a:latin typeface="Arial" pitchFamily="34" charset="0"/>
                          <a:ea typeface="Arial" pitchFamily="34" charset="-122"/>
                          <a:cs typeface="Arial" pitchFamily="34" charset="-120"/>
                        </a:rPr>
                        <a:t>stays blue</a:t>
                      </a:r>
                      <a:endParaRPr lang="en-US" sz="15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2F2F2"/>
                    </a:solidFill>
                  </a:tcPr>
                </a:tc>
                <a:tc>
                  <a:txBody>
                    <a:bodyPr/>
                    <a:lstStyle/>
                    <a:p>
                      <a:pPr algn="ctr" indent="0" marL="0">
                        <a:buNone/>
                      </a:pPr>
                      <a:r>
                        <a:rPr lang="en-US" sz="1500" dirty="0">
                          <a:solidFill>
                            <a:srgbClr val="1A1A1A"/>
                          </a:solidFill>
                          <a:latin typeface="Arial" pitchFamily="34" charset="0"/>
                          <a:ea typeface="Arial" pitchFamily="34" charset="-122"/>
                          <a:cs typeface="Arial" pitchFamily="34" charset="-120"/>
                        </a:rPr>
                        <a:t>stays blue</a:t>
                      </a:r>
                      <a:endParaRPr lang="en-US" sz="15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2F2F2"/>
                    </a:solidFill>
                  </a:tcPr>
                </a:tc>
              </a:tr>
              <a:tr h="566928">
                <a:tc>
                  <a:txBody>
                    <a:bodyPr/>
                    <a:lstStyle/>
                    <a:p>
                      <a:pPr algn="l" indent="0" marL="0">
                        <a:buNone/>
                      </a:pPr>
                      <a:r>
                        <a:rPr lang="en-US" sz="1500" b="1" dirty="0">
                          <a:solidFill>
                            <a:srgbClr val="1A1A1A"/>
                          </a:solidFill>
                          <a:latin typeface="Arial" pitchFamily="34" charset="0"/>
                          <a:ea typeface="Arial" pitchFamily="34" charset="-122"/>
                          <a:cs typeface="Arial" pitchFamily="34" charset="-120"/>
                        </a:rPr>
                        <a:t>Red litmus</a:t>
                      </a:r>
                      <a:endParaRPr lang="en-US" sz="15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Arial" pitchFamily="34" charset="0"/>
                          <a:ea typeface="Arial" pitchFamily="34" charset="-122"/>
                          <a:cs typeface="Arial" pitchFamily="34" charset="-120"/>
                        </a:rPr>
                        <a:t>stays red</a:t>
                      </a:r>
                      <a:endParaRPr lang="en-US" sz="15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Arial" pitchFamily="34" charset="0"/>
                          <a:ea typeface="Arial" pitchFamily="34" charset="-122"/>
                          <a:cs typeface="Arial" pitchFamily="34" charset="-120"/>
                        </a:rPr>
                        <a:t>turns blue</a:t>
                      </a:r>
                      <a:endParaRPr lang="en-US" sz="15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Arial" pitchFamily="34" charset="0"/>
                          <a:ea typeface="Arial" pitchFamily="34" charset="-122"/>
                          <a:cs typeface="Arial" pitchFamily="34" charset="-120"/>
                        </a:rPr>
                        <a:t>stays red</a:t>
                      </a:r>
                      <a:endParaRPr lang="en-US" sz="15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r>
              <a:tr h="566928">
                <a:tc>
                  <a:txBody>
                    <a:bodyPr/>
                    <a:lstStyle/>
                    <a:p>
                      <a:pPr algn="l" indent="0" marL="0">
                        <a:buNone/>
                      </a:pPr>
                      <a:r>
                        <a:rPr lang="en-US" sz="1500" b="1" dirty="0">
                          <a:solidFill>
                            <a:srgbClr val="1A1A1A"/>
                          </a:solidFill>
                          <a:latin typeface="Arial" pitchFamily="34" charset="0"/>
                          <a:ea typeface="Arial" pitchFamily="34" charset="-122"/>
                          <a:cs typeface="Arial" pitchFamily="34" charset="-120"/>
                        </a:rPr>
                        <a:t>Phenolphthalein</a:t>
                      </a:r>
                      <a:endParaRPr lang="en-US" sz="15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2F2F2"/>
                    </a:solidFill>
                  </a:tcPr>
                </a:tc>
                <a:tc>
                  <a:txBody>
                    <a:bodyPr/>
                    <a:lstStyle/>
                    <a:p>
                      <a:pPr algn="ctr" indent="0" marL="0">
                        <a:buNone/>
                      </a:pPr>
                      <a:r>
                        <a:rPr lang="en-US" sz="1500" dirty="0">
                          <a:solidFill>
                            <a:srgbClr val="1A1A1A"/>
                          </a:solidFill>
                          <a:latin typeface="Arial" pitchFamily="34" charset="0"/>
                          <a:ea typeface="Arial" pitchFamily="34" charset="-122"/>
                          <a:cs typeface="Arial" pitchFamily="34" charset="-120"/>
                        </a:rPr>
                        <a:t>colourless</a:t>
                      </a:r>
                      <a:endParaRPr lang="en-US" sz="15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2F2F2"/>
                    </a:solidFill>
                  </a:tcPr>
                </a:tc>
                <a:tc>
                  <a:txBody>
                    <a:bodyPr/>
                    <a:lstStyle/>
                    <a:p>
                      <a:pPr algn="ctr" indent="0" marL="0">
                        <a:buNone/>
                      </a:pPr>
                      <a:r>
                        <a:rPr lang="en-US" sz="1500" dirty="0">
                          <a:solidFill>
                            <a:srgbClr val="1A1A1A"/>
                          </a:solidFill>
                          <a:latin typeface="Arial" pitchFamily="34" charset="0"/>
                          <a:ea typeface="Arial" pitchFamily="34" charset="-122"/>
                          <a:cs typeface="Arial" pitchFamily="34" charset="-120"/>
                        </a:rPr>
                        <a:t>pink</a:t>
                      </a:r>
                      <a:endParaRPr lang="en-US" sz="15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2F2F2"/>
                    </a:solidFill>
                  </a:tcPr>
                </a:tc>
                <a:tc>
                  <a:txBody>
                    <a:bodyPr/>
                    <a:lstStyle/>
                    <a:p>
                      <a:pPr algn="ctr" indent="0" marL="0">
                        <a:buNone/>
                      </a:pPr>
                      <a:r>
                        <a:rPr lang="en-US" sz="1500" dirty="0">
                          <a:solidFill>
                            <a:srgbClr val="1A1A1A"/>
                          </a:solidFill>
                          <a:latin typeface="Arial" pitchFamily="34" charset="0"/>
                          <a:ea typeface="Arial" pitchFamily="34" charset="-122"/>
                          <a:cs typeface="Arial" pitchFamily="34" charset="-120"/>
                        </a:rPr>
                        <a:t>colourless</a:t>
                      </a:r>
                      <a:endParaRPr lang="en-US" sz="15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2F2F2"/>
                    </a:solidFill>
                  </a:tcPr>
                </a:tc>
              </a:tr>
              <a:tr h="566928">
                <a:tc>
                  <a:txBody>
                    <a:bodyPr/>
                    <a:lstStyle/>
                    <a:p>
                      <a:pPr algn="l" indent="0" marL="0">
                        <a:buNone/>
                      </a:pPr>
                      <a:r>
                        <a:rPr lang="en-US" sz="1500" b="1" dirty="0">
                          <a:solidFill>
                            <a:srgbClr val="1A1A1A"/>
                          </a:solidFill>
                          <a:latin typeface="Arial" pitchFamily="34" charset="0"/>
                          <a:ea typeface="Arial" pitchFamily="34" charset="-122"/>
                          <a:cs typeface="Arial" pitchFamily="34" charset="-120"/>
                        </a:rPr>
                        <a:t>Methyl orange</a:t>
                      </a:r>
                      <a:endParaRPr lang="en-US" sz="15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Arial" pitchFamily="34" charset="0"/>
                          <a:ea typeface="Arial" pitchFamily="34" charset="-122"/>
                          <a:cs typeface="Arial" pitchFamily="34" charset="-120"/>
                        </a:rPr>
                        <a:t>red</a:t>
                      </a:r>
                      <a:endParaRPr lang="en-US" sz="15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Arial" pitchFamily="34" charset="0"/>
                          <a:ea typeface="Arial" pitchFamily="34" charset="-122"/>
                          <a:cs typeface="Arial" pitchFamily="34" charset="-120"/>
                        </a:rPr>
                        <a:t>yellow</a:t>
                      </a:r>
                      <a:endParaRPr lang="en-US" sz="15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Arial" pitchFamily="34" charset="0"/>
                          <a:ea typeface="Arial" pitchFamily="34" charset="-122"/>
                          <a:cs typeface="Arial" pitchFamily="34" charset="-120"/>
                        </a:rPr>
                        <a:t>yellow</a:t>
                      </a:r>
                      <a:endParaRPr lang="en-US" sz="15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4937760"/>
            <a:ext cx="11064240" cy="548640"/>
          </a:xfrm>
          <a:prstGeom prst="rect">
            <a:avLst/>
          </a:prstGeom>
          <a:noFill/>
          <a:ln/>
        </p:spPr>
        <p:txBody>
          <a:bodyPr wrap="square" lIns="0" tIns="0" rIns="0" bIns="0" rtlCol="0" anchor="ctr"/>
          <a:lstStyle/>
          <a:p>
            <a:pPr indent="0" marL="0">
              <a:buNone/>
            </a:pPr>
            <a:r>
              <a:rPr lang="en-US" sz="1500" i="1" dirty="0">
                <a:solidFill>
                  <a:srgbClr val="44546A"/>
                </a:solidFill>
                <a:latin typeface="Arial" pitchFamily="34" charset="0"/>
                <a:ea typeface="Arial" pitchFamily="34" charset="-122"/>
                <a:cs typeface="Arial" pitchFamily="34" charset="-120"/>
              </a:rPr>
              <a:t>Write a Pattern Statement for each indicator: “An acid turns ___ from ___ to ___; a base turns it from ___ to ___.”</a:t>
            </a:r>
            <a:endParaRPr lang="en-US" sz="1500" dirty="0"/>
          </a:p>
        </p:txBody>
      </p:sp>
      <p:sp>
        <p:nvSpPr>
          <p:cNvPr id="8" name="Text 5"/>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9AA5B1"/>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QUICK CHECK 2</a:t>
            </a:r>
            <a:endParaRPr lang="en-US" sz="1300" dirty="0"/>
          </a:p>
        </p:txBody>
      </p:sp>
      <p:sp>
        <p:nvSpPr>
          <p:cNvPr id="3" name="Text 1"/>
          <p:cNvSpPr txBox="1"/>
          <p:nvPr/>
        </p:nvSpPr>
        <p:spPr>
          <a:xfrm>
            <a:off x="548640" y="868680"/>
            <a:ext cx="11064240" cy="123444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A few drops of a liquid turn blue litmus paper red. What does this tell you?</a:t>
            </a:r>
            <a:endParaRPr lang="en-US" sz="2300" dirty="0"/>
          </a:p>
        </p:txBody>
      </p:sp>
      <p:sp>
        <p:nvSpPr>
          <p:cNvPr id="4" name="Shape 2"/>
          <p:cNvSpPr/>
          <p:nvPr/>
        </p:nvSpPr>
        <p:spPr>
          <a:xfrm>
            <a:off x="731520" y="2286000"/>
            <a:ext cx="10698480" cy="731520"/>
          </a:xfrm>
          <a:prstGeom prst="roundRect">
            <a:avLst>
              <a:gd name="adj" fmla="val 10000"/>
            </a:avLst>
          </a:prstGeom>
          <a:solidFill>
            <a:srgbClr val="7C5CAA"/>
          </a:solidFill>
          <a:ln/>
        </p:spPr>
      </p:sp>
      <p:sp>
        <p:nvSpPr>
          <p:cNvPr id="5" name="Text 3"/>
          <p:cNvSpPr txBox="1"/>
          <p:nvPr/>
        </p:nvSpPr>
        <p:spPr>
          <a:xfrm>
            <a:off x="914400" y="2286000"/>
            <a:ext cx="548640" cy="73152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6" name="Text 4"/>
          <p:cNvSpPr txBox="1"/>
          <p:nvPr/>
        </p:nvSpPr>
        <p:spPr>
          <a:xfrm>
            <a:off x="1554480" y="2286000"/>
            <a:ext cx="9692640" cy="73152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liquid is a base</a:t>
            </a:r>
            <a:endParaRPr lang="en-US" sz="1700" dirty="0"/>
          </a:p>
        </p:txBody>
      </p:sp>
      <p:sp>
        <p:nvSpPr>
          <p:cNvPr id="7" name="Shape 5"/>
          <p:cNvSpPr/>
          <p:nvPr/>
        </p:nvSpPr>
        <p:spPr>
          <a:xfrm>
            <a:off x="731520" y="3200400"/>
            <a:ext cx="10698480" cy="731520"/>
          </a:xfrm>
          <a:prstGeom prst="roundRect">
            <a:avLst>
              <a:gd name="adj" fmla="val 10000"/>
            </a:avLst>
          </a:prstGeom>
          <a:solidFill>
            <a:srgbClr val="7C5CAA"/>
          </a:solidFill>
          <a:ln/>
        </p:spPr>
      </p:sp>
      <p:sp>
        <p:nvSpPr>
          <p:cNvPr id="8" name="Text 6"/>
          <p:cNvSpPr txBox="1"/>
          <p:nvPr/>
        </p:nvSpPr>
        <p:spPr>
          <a:xfrm>
            <a:off x="914400" y="3200400"/>
            <a:ext cx="548640" cy="73152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9" name="Text 7"/>
          <p:cNvSpPr txBox="1"/>
          <p:nvPr/>
        </p:nvSpPr>
        <p:spPr>
          <a:xfrm>
            <a:off x="1554480" y="3200400"/>
            <a:ext cx="9692640" cy="73152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liquid is an acid</a:t>
            </a:r>
            <a:endParaRPr lang="en-US" sz="1700" dirty="0"/>
          </a:p>
        </p:txBody>
      </p:sp>
      <p:sp>
        <p:nvSpPr>
          <p:cNvPr id="10" name="Shape 8"/>
          <p:cNvSpPr/>
          <p:nvPr/>
        </p:nvSpPr>
        <p:spPr>
          <a:xfrm>
            <a:off x="731520" y="4114800"/>
            <a:ext cx="10698480" cy="731520"/>
          </a:xfrm>
          <a:prstGeom prst="roundRect">
            <a:avLst>
              <a:gd name="adj" fmla="val 10000"/>
            </a:avLst>
          </a:prstGeom>
          <a:solidFill>
            <a:srgbClr val="7C5CAA"/>
          </a:solidFill>
          <a:ln/>
        </p:spPr>
      </p:sp>
      <p:sp>
        <p:nvSpPr>
          <p:cNvPr id="11" name="Text 9"/>
          <p:cNvSpPr txBox="1"/>
          <p:nvPr/>
        </p:nvSpPr>
        <p:spPr>
          <a:xfrm>
            <a:off x="914400" y="4114800"/>
            <a:ext cx="548640" cy="73152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2" name="Text 10"/>
          <p:cNvSpPr txBox="1"/>
          <p:nvPr/>
        </p:nvSpPr>
        <p:spPr>
          <a:xfrm>
            <a:off x="1554480" y="4114800"/>
            <a:ext cx="9692640" cy="73152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liquid is neutral</a:t>
            </a:r>
            <a:endParaRPr lang="en-US" sz="1700" dirty="0"/>
          </a:p>
        </p:txBody>
      </p:sp>
      <p:sp>
        <p:nvSpPr>
          <p:cNvPr id="13" name="Shape 11"/>
          <p:cNvSpPr/>
          <p:nvPr/>
        </p:nvSpPr>
        <p:spPr>
          <a:xfrm>
            <a:off x="731520" y="5029200"/>
            <a:ext cx="10698480" cy="731520"/>
          </a:xfrm>
          <a:prstGeom prst="roundRect">
            <a:avLst>
              <a:gd name="adj" fmla="val 10000"/>
            </a:avLst>
          </a:prstGeom>
          <a:solidFill>
            <a:srgbClr val="7C5CAA"/>
          </a:solidFill>
          <a:ln/>
        </p:spPr>
      </p:sp>
      <p:sp>
        <p:nvSpPr>
          <p:cNvPr id="14" name="Text 12"/>
          <p:cNvSpPr txBox="1"/>
          <p:nvPr/>
        </p:nvSpPr>
        <p:spPr>
          <a:xfrm>
            <a:off x="914400" y="5029200"/>
            <a:ext cx="548640" cy="73152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5" name="Text 13"/>
          <p:cNvSpPr txBox="1"/>
          <p:nvPr/>
        </p:nvSpPr>
        <p:spPr>
          <a:xfrm>
            <a:off x="1554480" y="5029200"/>
            <a:ext cx="9692640" cy="73152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litmus paper is faulty</a:t>
            </a:r>
            <a:endParaRPr lang="en-US" sz="1700" dirty="0"/>
          </a:p>
        </p:txBody>
      </p:sp>
      <p:sp>
        <p:nvSpPr>
          <p:cNvPr id="16" name="Text 14"/>
          <p:cNvSpPr txBox="1"/>
          <p:nvPr/>
        </p:nvSpPr>
        <p:spPr>
          <a:xfrm>
            <a:off x="548640" y="6035040"/>
            <a:ext cx="11064240" cy="365760"/>
          </a:xfrm>
          <a:prstGeom prst="rect">
            <a:avLst/>
          </a:prstGeom>
          <a:noFill/>
          <a:ln/>
        </p:spPr>
        <p:txBody>
          <a:bodyPr wrap="square" lIns="0" tIns="0" rIns="0" bIns="0" rtlCol="0" anchor="ctr"/>
          <a:lstStyle/>
          <a:p>
            <a:pPr indent="0" marL="0">
              <a:buNone/>
            </a:pPr>
            <a:r>
              <a:rPr lang="en-US" sz="1200" i="1" dirty="0">
                <a:solidFill>
                  <a:srgbClr val="C9B8E0"/>
                </a:solidFill>
                <a:latin typeface="Arial" pitchFamily="34" charset="0"/>
                <a:ea typeface="Arial" pitchFamily="34" charset="-122"/>
                <a:cs typeface="Arial" pitchFamily="34" charset="-120"/>
              </a:rPr>
              <a:t>Answer key is teacher-side only, in a separate file.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6A4C93"/>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QUICK CHECK 3</a:t>
            </a:r>
            <a:endParaRPr lang="en-US" sz="1300" dirty="0"/>
          </a:p>
        </p:txBody>
      </p:sp>
      <p:sp>
        <p:nvSpPr>
          <p:cNvPr id="3" name="Text 1"/>
          <p:cNvSpPr txBox="1"/>
          <p:nvPr/>
        </p:nvSpPr>
        <p:spPr>
          <a:xfrm>
            <a:off x="548640" y="868680"/>
            <a:ext cx="11064240" cy="123444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In which kind of solution does phenolphthalein turn pink?</a:t>
            </a:r>
            <a:endParaRPr lang="en-US" sz="2300" dirty="0"/>
          </a:p>
        </p:txBody>
      </p:sp>
      <p:sp>
        <p:nvSpPr>
          <p:cNvPr id="4" name="Shape 2"/>
          <p:cNvSpPr/>
          <p:nvPr/>
        </p:nvSpPr>
        <p:spPr>
          <a:xfrm>
            <a:off x="731520" y="2286000"/>
            <a:ext cx="10698480" cy="731520"/>
          </a:xfrm>
          <a:prstGeom prst="roundRect">
            <a:avLst>
              <a:gd name="adj" fmla="val 10000"/>
            </a:avLst>
          </a:prstGeom>
          <a:solidFill>
            <a:srgbClr val="7C5CAA"/>
          </a:solidFill>
          <a:ln/>
        </p:spPr>
      </p:sp>
      <p:sp>
        <p:nvSpPr>
          <p:cNvPr id="5" name="Text 3"/>
          <p:cNvSpPr txBox="1"/>
          <p:nvPr/>
        </p:nvSpPr>
        <p:spPr>
          <a:xfrm>
            <a:off x="914400" y="2286000"/>
            <a:ext cx="548640" cy="73152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6" name="Text 4"/>
          <p:cNvSpPr txBox="1"/>
          <p:nvPr/>
        </p:nvSpPr>
        <p:spPr>
          <a:xfrm>
            <a:off x="1554480" y="2286000"/>
            <a:ext cx="9692640" cy="73152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An acid</a:t>
            </a:r>
            <a:endParaRPr lang="en-US" sz="1700" dirty="0"/>
          </a:p>
        </p:txBody>
      </p:sp>
      <p:sp>
        <p:nvSpPr>
          <p:cNvPr id="7" name="Shape 5"/>
          <p:cNvSpPr/>
          <p:nvPr/>
        </p:nvSpPr>
        <p:spPr>
          <a:xfrm>
            <a:off x="731520" y="3200400"/>
            <a:ext cx="10698480" cy="731520"/>
          </a:xfrm>
          <a:prstGeom prst="roundRect">
            <a:avLst>
              <a:gd name="adj" fmla="val 10000"/>
            </a:avLst>
          </a:prstGeom>
          <a:solidFill>
            <a:srgbClr val="7C5CAA"/>
          </a:solidFill>
          <a:ln/>
        </p:spPr>
      </p:sp>
      <p:sp>
        <p:nvSpPr>
          <p:cNvPr id="8" name="Text 6"/>
          <p:cNvSpPr txBox="1"/>
          <p:nvPr/>
        </p:nvSpPr>
        <p:spPr>
          <a:xfrm>
            <a:off x="914400" y="3200400"/>
            <a:ext cx="548640" cy="73152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9" name="Text 7"/>
          <p:cNvSpPr txBox="1"/>
          <p:nvPr/>
        </p:nvSpPr>
        <p:spPr>
          <a:xfrm>
            <a:off x="1554480" y="3200400"/>
            <a:ext cx="9692640" cy="73152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 base</a:t>
            </a:r>
            <a:endParaRPr lang="en-US" sz="1700" dirty="0"/>
          </a:p>
        </p:txBody>
      </p:sp>
      <p:sp>
        <p:nvSpPr>
          <p:cNvPr id="10" name="Shape 8"/>
          <p:cNvSpPr/>
          <p:nvPr/>
        </p:nvSpPr>
        <p:spPr>
          <a:xfrm>
            <a:off x="731520" y="4114800"/>
            <a:ext cx="10698480" cy="731520"/>
          </a:xfrm>
          <a:prstGeom prst="roundRect">
            <a:avLst>
              <a:gd name="adj" fmla="val 10000"/>
            </a:avLst>
          </a:prstGeom>
          <a:solidFill>
            <a:srgbClr val="7C5CAA"/>
          </a:solidFill>
          <a:ln/>
        </p:spPr>
      </p:sp>
      <p:sp>
        <p:nvSpPr>
          <p:cNvPr id="11" name="Text 9"/>
          <p:cNvSpPr txBox="1"/>
          <p:nvPr/>
        </p:nvSpPr>
        <p:spPr>
          <a:xfrm>
            <a:off x="914400" y="4114800"/>
            <a:ext cx="548640" cy="73152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2" name="Text 10"/>
          <p:cNvSpPr txBox="1"/>
          <p:nvPr/>
        </p:nvSpPr>
        <p:spPr>
          <a:xfrm>
            <a:off x="1554480" y="4114800"/>
            <a:ext cx="9692640" cy="73152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 neutral solution</a:t>
            </a:r>
            <a:endParaRPr lang="en-US" sz="1700" dirty="0"/>
          </a:p>
        </p:txBody>
      </p:sp>
      <p:sp>
        <p:nvSpPr>
          <p:cNvPr id="13" name="Shape 11"/>
          <p:cNvSpPr/>
          <p:nvPr/>
        </p:nvSpPr>
        <p:spPr>
          <a:xfrm>
            <a:off x="731520" y="5029200"/>
            <a:ext cx="10698480" cy="731520"/>
          </a:xfrm>
          <a:prstGeom prst="roundRect">
            <a:avLst>
              <a:gd name="adj" fmla="val 10000"/>
            </a:avLst>
          </a:prstGeom>
          <a:solidFill>
            <a:srgbClr val="7C5CAA"/>
          </a:solidFill>
          <a:ln/>
        </p:spPr>
      </p:sp>
      <p:sp>
        <p:nvSpPr>
          <p:cNvPr id="14" name="Text 12"/>
          <p:cNvSpPr txBox="1"/>
          <p:nvPr/>
        </p:nvSpPr>
        <p:spPr>
          <a:xfrm>
            <a:off x="914400" y="5029200"/>
            <a:ext cx="548640" cy="73152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5" name="Text 13"/>
          <p:cNvSpPr txBox="1"/>
          <p:nvPr/>
        </p:nvSpPr>
        <p:spPr>
          <a:xfrm>
            <a:off x="1554480" y="5029200"/>
            <a:ext cx="9692640" cy="73152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Any solution containing water</a:t>
            </a:r>
            <a:endParaRPr lang="en-US" sz="1700" dirty="0"/>
          </a:p>
        </p:txBody>
      </p:sp>
      <p:sp>
        <p:nvSpPr>
          <p:cNvPr id="16" name="Text 14"/>
          <p:cNvSpPr txBox="1"/>
          <p:nvPr/>
        </p:nvSpPr>
        <p:spPr>
          <a:xfrm>
            <a:off x="548640" y="6035040"/>
            <a:ext cx="11064240" cy="365760"/>
          </a:xfrm>
          <a:prstGeom prst="rect">
            <a:avLst/>
          </a:prstGeom>
          <a:noFill/>
          <a:ln/>
        </p:spPr>
        <p:txBody>
          <a:bodyPr wrap="square" lIns="0" tIns="0" rIns="0" bIns="0" rtlCol="0" anchor="ctr"/>
          <a:lstStyle/>
          <a:p>
            <a:pPr indent="0" marL="0">
              <a:buNone/>
            </a:pPr>
            <a:r>
              <a:rPr lang="en-US" sz="1200" i="1" dirty="0">
                <a:solidFill>
                  <a:srgbClr val="C9B8E0"/>
                </a:solidFill>
                <a:latin typeface="Arial" pitchFamily="34" charset="0"/>
                <a:ea typeface="Arial" pitchFamily="34" charset="-122"/>
                <a:cs typeface="Arial" pitchFamily="34" charset="-120"/>
              </a:rPr>
              <a:t>Answer key is teacher-side only, in a separate file.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966960" y="320040"/>
            <a:ext cx="1645920" cy="320040"/>
          </a:xfrm>
          <a:prstGeom prst="roundRect">
            <a:avLst>
              <a:gd name="adj" fmla="val 17143"/>
            </a:avLst>
          </a:prstGeom>
          <a:solidFill>
            <a:srgbClr val="D9EEF1"/>
          </a:solidFill>
          <a:ln/>
        </p:spPr>
      </p:sp>
      <p:sp>
        <p:nvSpPr>
          <p:cNvPr id="3" name="Text 1"/>
          <p:cNvSpPr txBox="1"/>
          <p:nvPr/>
        </p:nvSpPr>
        <p:spPr>
          <a:xfrm>
            <a:off x="9966960" y="320040"/>
            <a:ext cx="1645920" cy="320040"/>
          </a:xfrm>
          <a:prstGeom prst="rect">
            <a:avLst/>
          </a:prstGeom>
          <a:noFill/>
          <a:ln/>
        </p:spPr>
        <p:txBody>
          <a:bodyPr wrap="square" lIns="0" tIns="0" rIns="0" bIns="0" rtlCol="0" anchor="ctr"/>
          <a:lstStyle/>
          <a:p>
            <a:pPr algn="ctr" indent="0" marL="0">
              <a:buNone/>
            </a:pPr>
            <a:r>
              <a:rPr lang="en-US" sz="1000" i="1" dirty="0">
                <a:solidFill>
                  <a:srgbClr val="1F6B75"/>
                </a:solidFill>
                <a:latin typeface="Arial" pitchFamily="34" charset="0"/>
                <a:ea typeface="Arial" pitchFamily="34" charset="-122"/>
                <a:cs typeface="Arial" pitchFamily="34" charset="-120"/>
              </a:rPr>
              <a:t>explain</a:t>
            </a:r>
            <a:endParaRPr lang="en-US" sz="1000" dirty="0"/>
          </a:p>
        </p:txBody>
      </p:sp>
      <p:sp>
        <p:nvSpPr>
          <p:cNvPr id="4" name="Text 2"/>
          <p:cNvSpPr txBox="1"/>
          <p:nvPr/>
        </p:nvSpPr>
        <p:spPr>
          <a:xfrm>
            <a:off x="548640" y="320040"/>
            <a:ext cx="9144000" cy="365760"/>
          </a:xfrm>
          <a:prstGeom prst="rect">
            <a:avLst/>
          </a:prstGeom>
          <a:noFill/>
          <a:ln/>
        </p:spPr>
        <p:txBody>
          <a:bodyPr wrap="square" lIns="0" tIns="0" rIns="0" bIns="0" rtlCol="0" anchor="ctr"/>
          <a:lstStyle/>
          <a:p>
            <a:pPr indent="0" marL="0">
              <a:buNone/>
            </a:pPr>
            <a:r>
              <a:rPr lang="en-US" sz="1300" b="1" spc="200" kern="0" dirty="0">
                <a:solidFill>
                  <a:srgbClr val="2E75B6"/>
                </a:solidFill>
                <a:latin typeface="Arial" pitchFamily="34" charset="0"/>
                <a:ea typeface="Arial" pitchFamily="34" charset="-122"/>
                <a:cs typeface="Arial" pitchFamily="34" charset="-120"/>
              </a:rPr>
              <a:t>WHY USE MORE THAN ONE?</a:t>
            </a:r>
            <a:endParaRPr lang="en-US" sz="1300" dirty="0"/>
          </a:p>
        </p:txBody>
      </p:sp>
      <p:sp>
        <p:nvSpPr>
          <p:cNvPr id="5" name="Text 3"/>
          <p:cNvSpPr txBox="1"/>
          <p:nvPr/>
        </p:nvSpPr>
        <p:spPr>
          <a:xfrm>
            <a:off x="548640" y="822960"/>
            <a:ext cx="11064240" cy="8229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One indicator can’t always tell you the whole story.</a:t>
            </a:r>
            <a:endParaRPr lang="en-US" sz="2600" dirty="0"/>
          </a:p>
        </p:txBody>
      </p:sp>
      <p:sp>
        <p:nvSpPr>
          <p:cNvPr id="6" name="Shape 4"/>
          <p:cNvSpPr/>
          <p:nvPr/>
        </p:nvSpPr>
        <p:spPr>
          <a:xfrm>
            <a:off x="548640" y="1828800"/>
            <a:ext cx="5349240" cy="2377440"/>
          </a:xfrm>
          <a:prstGeom prst="roundRect">
            <a:avLst>
              <a:gd name="adj" fmla="val 3077"/>
            </a:avLst>
          </a:prstGeom>
          <a:solidFill>
            <a:srgbClr val="D9EEF1"/>
          </a:solidFill>
          <a:ln/>
        </p:spPr>
      </p:sp>
      <p:sp>
        <p:nvSpPr>
          <p:cNvPr id="7" name="Text 5"/>
          <p:cNvSpPr txBox="1"/>
          <p:nvPr/>
        </p:nvSpPr>
        <p:spPr>
          <a:xfrm>
            <a:off x="868680" y="2011680"/>
            <a:ext cx="4754880" cy="457200"/>
          </a:xfrm>
          <a:prstGeom prst="rect">
            <a:avLst/>
          </a:prstGeom>
          <a:noFill/>
          <a:ln/>
        </p:spPr>
        <p:txBody>
          <a:bodyPr wrap="square" lIns="0" tIns="0" rIns="0" bIns="0" rtlCol="0" anchor="ctr"/>
          <a:lstStyle/>
          <a:p>
            <a:pPr indent="0" marL="0">
              <a:buNone/>
            </a:pPr>
            <a:r>
              <a:rPr lang="en-US" sz="1900" b="1" dirty="0">
                <a:solidFill>
                  <a:srgbClr val="1F3864"/>
                </a:solidFill>
                <a:latin typeface="Arial" pitchFamily="34" charset="0"/>
                <a:ea typeface="Arial" pitchFamily="34" charset="-122"/>
                <a:cs typeface="Arial" pitchFamily="34" charset="-120"/>
              </a:rPr>
              <a:t>Methyl orange</a:t>
            </a:r>
            <a:endParaRPr lang="en-US" sz="1900" dirty="0"/>
          </a:p>
        </p:txBody>
      </p:sp>
      <p:sp>
        <p:nvSpPr>
          <p:cNvPr id="8" name="Text 6"/>
          <p:cNvSpPr txBox="1"/>
          <p:nvPr/>
        </p:nvSpPr>
        <p:spPr>
          <a:xfrm>
            <a:off x="868680" y="2560320"/>
            <a:ext cx="4754880" cy="1463040"/>
          </a:xfrm>
          <a:prstGeom prst="rect">
            <a:avLst/>
          </a:prstGeom>
          <a:noFill/>
          <a:ln/>
        </p:spPr>
        <p:txBody>
          <a:bodyPr wrap="square" lIns="0" tIns="0" rIns="0" bIns="0" rtlCol="0" anchor="t"/>
          <a:lstStyle/>
          <a:p>
            <a:pPr indent="0" marL="0">
              <a:buNone/>
            </a:pPr>
            <a:r>
              <a:rPr lang="en-US" sz="1500" dirty="0">
                <a:solidFill>
                  <a:srgbClr val="1A1A1A"/>
                </a:solidFill>
                <a:latin typeface="Arial" pitchFamily="34" charset="0"/>
                <a:ea typeface="Arial" pitchFamily="34" charset="-122"/>
                <a:cs typeface="Arial" pitchFamily="34" charset="-120"/>
              </a:rPr>
              <a:t>Yellow in a base … but also yellow in a neutral solution. On its own, it can’t tell water from soap.</a:t>
            </a:r>
            <a:endParaRPr lang="en-US" sz="1500" dirty="0"/>
          </a:p>
        </p:txBody>
      </p:sp>
      <p:sp>
        <p:nvSpPr>
          <p:cNvPr id="9" name="Shape 7"/>
          <p:cNvSpPr/>
          <p:nvPr/>
        </p:nvSpPr>
        <p:spPr>
          <a:xfrm>
            <a:off x="6172200" y="1828800"/>
            <a:ext cx="5349240" cy="2377440"/>
          </a:xfrm>
          <a:prstGeom prst="roundRect">
            <a:avLst>
              <a:gd name="adj" fmla="val 3077"/>
            </a:avLst>
          </a:prstGeom>
          <a:solidFill>
            <a:srgbClr val="FCE4D6"/>
          </a:solidFill>
          <a:ln/>
        </p:spPr>
      </p:sp>
      <p:sp>
        <p:nvSpPr>
          <p:cNvPr id="10" name="Text 8"/>
          <p:cNvSpPr txBox="1"/>
          <p:nvPr/>
        </p:nvSpPr>
        <p:spPr>
          <a:xfrm>
            <a:off x="6492240" y="2011680"/>
            <a:ext cx="4754880" cy="457200"/>
          </a:xfrm>
          <a:prstGeom prst="rect">
            <a:avLst/>
          </a:prstGeom>
          <a:noFill/>
          <a:ln/>
        </p:spPr>
        <p:txBody>
          <a:bodyPr wrap="square" lIns="0" tIns="0" rIns="0" bIns="0" rtlCol="0" anchor="ctr"/>
          <a:lstStyle/>
          <a:p>
            <a:pPr indent="0" marL="0">
              <a:buNone/>
            </a:pPr>
            <a:r>
              <a:rPr lang="en-US" sz="1900" b="1" dirty="0">
                <a:solidFill>
                  <a:srgbClr val="1F3864"/>
                </a:solidFill>
                <a:latin typeface="Arial" pitchFamily="34" charset="0"/>
                <a:ea typeface="Arial" pitchFamily="34" charset="-122"/>
                <a:cs typeface="Arial" pitchFamily="34" charset="-120"/>
              </a:rPr>
              <a:t>Phenolphthalein</a:t>
            </a:r>
            <a:endParaRPr lang="en-US" sz="1900" dirty="0"/>
          </a:p>
        </p:txBody>
      </p:sp>
      <p:sp>
        <p:nvSpPr>
          <p:cNvPr id="11" name="Text 9"/>
          <p:cNvSpPr txBox="1"/>
          <p:nvPr/>
        </p:nvSpPr>
        <p:spPr>
          <a:xfrm>
            <a:off x="6492240" y="2560320"/>
            <a:ext cx="4754880" cy="1463040"/>
          </a:xfrm>
          <a:prstGeom prst="rect">
            <a:avLst/>
          </a:prstGeom>
          <a:noFill/>
          <a:ln/>
        </p:spPr>
        <p:txBody>
          <a:bodyPr wrap="square" lIns="0" tIns="0" rIns="0" bIns="0" rtlCol="0" anchor="t"/>
          <a:lstStyle/>
          <a:p>
            <a:pPr indent="0" marL="0">
              <a:buNone/>
            </a:pPr>
            <a:r>
              <a:rPr lang="en-US" sz="1500" dirty="0">
                <a:solidFill>
                  <a:srgbClr val="1A1A1A"/>
                </a:solidFill>
                <a:latin typeface="Arial" pitchFamily="34" charset="0"/>
                <a:ea typeface="Arial" pitchFamily="34" charset="-122"/>
                <a:cs typeface="Arial" pitchFamily="34" charset="-120"/>
              </a:rPr>
              <a:t>Colourless in an acid … but also colourless in a neutral solution. On its own, it can’t tell lemon juice from water.</a:t>
            </a:r>
            <a:endParaRPr lang="en-US" sz="1500" dirty="0"/>
          </a:p>
        </p:txBody>
      </p:sp>
      <p:sp>
        <p:nvSpPr>
          <p:cNvPr id="12" name="Text 10"/>
          <p:cNvSpPr txBox="1"/>
          <p:nvPr/>
        </p:nvSpPr>
        <p:spPr>
          <a:xfrm>
            <a:off x="548640" y="4434840"/>
            <a:ext cx="11064240" cy="548640"/>
          </a:xfrm>
          <a:prstGeom prst="rect">
            <a:avLst/>
          </a:prstGeom>
          <a:noFill/>
          <a:ln/>
        </p:spPr>
        <p:txBody>
          <a:bodyPr wrap="square" lIns="0" tIns="0" rIns="0" bIns="0" rtlCol="0" anchor="ctr"/>
          <a:lstStyle/>
          <a:p>
            <a:pPr indent="0" marL="0">
              <a:buNone/>
            </a:pPr>
            <a:r>
              <a:rPr lang="en-US" sz="1500" i="1" dirty="0">
                <a:solidFill>
                  <a:srgbClr val="44546A"/>
                </a:solidFill>
                <a:latin typeface="Arial" pitchFamily="34" charset="0"/>
                <a:ea typeface="Arial" pitchFamily="34" charset="-122"/>
                <a:cs typeface="Arial" pitchFamily="34" charset="-120"/>
              </a:rPr>
              <a:t>That is why we classify using evidence from ALL the indicators together.</a:t>
            </a:r>
            <a:endParaRPr lang="en-US" sz="1500" dirty="0"/>
          </a:p>
        </p:txBody>
      </p:sp>
      <p:sp>
        <p:nvSpPr>
          <p:cNvPr id="13" name="Text 11"/>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9AA5B1"/>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6A4C93"/>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QUICK CHECK 4</a:t>
            </a:r>
            <a:endParaRPr lang="en-US" sz="1300" dirty="0"/>
          </a:p>
        </p:txBody>
      </p:sp>
      <p:sp>
        <p:nvSpPr>
          <p:cNvPr id="3" name="Text 1"/>
          <p:cNvSpPr txBox="1"/>
          <p:nvPr/>
        </p:nvSpPr>
        <p:spPr>
          <a:xfrm>
            <a:off x="548640" y="868680"/>
            <a:ext cx="11064240" cy="123444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A liquid turns methyl orange yellow. Can you be sure it is a base?</a:t>
            </a:r>
            <a:endParaRPr lang="en-US" sz="2300" dirty="0"/>
          </a:p>
        </p:txBody>
      </p:sp>
      <p:sp>
        <p:nvSpPr>
          <p:cNvPr id="4" name="Shape 2"/>
          <p:cNvSpPr/>
          <p:nvPr/>
        </p:nvSpPr>
        <p:spPr>
          <a:xfrm>
            <a:off x="731520" y="2286000"/>
            <a:ext cx="10698480" cy="731520"/>
          </a:xfrm>
          <a:prstGeom prst="roundRect">
            <a:avLst>
              <a:gd name="adj" fmla="val 10000"/>
            </a:avLst>
          </a:prstGeom>
          <a:solidFill>
            <a:srgbClr val="7C5CAA"/>
          </a:solidFill>
          <a:ln/>
        </p:spPr>
      </p:sp>
      <p:sp>
        <p:nvSpPr>
          <p:cNvPr id="5" name="Text 3"/>
          <p:cNvSpPr txBox="1"/>
          <p:nvPr/>
        </p:nvSpPr>
        <p:spPr>
          <a:xfrm>
            <a:off x="914400" y="2286000"/>
            <a:ext cx="548640" cy="73152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6" name="Text 4"/>
          <p:cNvSpPr txBox="1"/>
          <p:nvPr/>
        </p:nvSpPr>
        <p:spPr>
          <a:xfrm>
            <a:off x="1554480" y="2286000"/>
            <a:ext cx="9692640" cy="73152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Yes, yellow always means a base</a:t>
            </a:r>
            <a:endParaRPr lang="en-US" sz="1700" dirty="0"/>
          </a:p>
        </p:txBody>
      </p:sp>
      <p:sp>
        <p:nvSpPr>
          <p:cNvPr id="7" name="Shape 5"/>
          <p:cNvSpPr/>
          <p:nvPr/>
        </p:nvSpPr>
        <p:spPr>
          <a:xfrm>
            <a:off x="731520" y="3200400"/>
            <a:ext cx="10698480" cy="731520"/>
          </a:xfrm>
          <a:prstGeom prst="roundRect">
            <a:avLst>
              <a:gd name="adj" fmla="val 10000"/>
            </a:avLst>
          </a:prstGeom>
          <a:solidFill>
            <a:srgbClr val="7C5CAA"/>
          </a:solidFill>
          <a:ln/>
        </p:spPr>
      </p:sp>
      <p:sp>
        <p:nvSpPr>
          <p:cNvPr id="8" name="Text 6"/>
          <p:cNvSpPr txBox="1"/>
          <p:nvPr/>
        </p:nvSpPr>
        <p:spPr>
          <a:xfrm>
            <a:off x="914400" y="3200400"/>
            <a:ext cx="548640" cy="73152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9" name="Text 7"/>
          <p:cNvSpPr txBox="1"/>
          <p:nvPr/>
        </p:nvSpPr>
        <p:spPr>
          <a:xfrm>
            <a:off x="1554480" y="3200400"/>
            <a:ext cx="9692640" cy="73152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No, a neutral solution also turns methyl orange yellow, so test with another indicator</a:t>
            </a:r>
            <a:endParaRPr lang="en-US" sz="1700" dirty="0"/>
          </a:p>
        </p:txBody>
      </p:sp>
      <p:sp>
        <p:nvSpPr>
          <p:cNvPr id="10" name="Shape 8"/>
          <p:cNvSpPr/>
          <p:nvPr/>
        </p:nvSpPr>
        <p:spPr>
          <a:xfrm>
            <a:off x="731520" y="4114800"/>
            <a:ext cx="10698480" cy="731520"/>
          </a:xfrm>
          <a:prstGeom prst="roundRect">
            <a:avLst>
              <a:gd name="adj" fmla="val 10000"/>
            </a:avLst>
          </a:prstGeom>
          <a:solidFill>
            <a:srgbClr val="7C5CAA"/>
          </a:solidFill>
          <a:ln/>
        </p:spPr>
      </p:sp>
      <p:sp>
        <p:nvSpPr>
          <p:cNvPr id="11" name="Text 9"/>
          <p:cNvSpPr txBox="1"/>
          <p:nvPr/>
        </p:nvSpPr>
        <p:spPr>
          <a:xfrm>
            <a:off x="914400" y="4114800"/>
            <a:ext cx="548640" cy="73152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2" name="Text 10"/>
          <p:cNvSpPr txBox="1"/>
          <p:nvPr/>
        </p:nvSpPr>
        <p:spPr>
          <a:xfrm>
            <a:off x="1554480" y="4114800"/>
            <a:ext cx="9692640" cy="73152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Yes, but only if the liquid is clear</a:t>
            </a:r>
            <a:endParaRPr lang="en-US" sz="1700" dirty="0"/>
          </a:p>
        </p:txBody>
      </p:sp>
      <p:sp>
        <p:nvSpPr>
          <p:cNvPr id="13" name="Shape 11"/>
          <p:cNvSpPr/>
          <p:nvPr/>
        </p:nvSpPr>
        <p:spPr>
          <a:xfrm>
            <a:off x="731520" y="5029200"/>
            <a:ext cx="10698480" cy="731520"/>
          </a:xfrm>
          <a:prstGeom prst="roundRect">
            <a:avLst>
              <a:gd name="adj" fmla="val 10000"/>
            </a:avLst>
          </a:prstGeom>
          <a:solidFill>
            <a:srgbClr val="7C5CAA"/>
          </a:solidFill>
          <a:ln/>
        </p:spPr>
      </p:sp>
      <p:sp>
        <p:nvSpPr>
          <p:cNvPr id="14" name="Text 12"/>
          <p:cNvSpPr txBox="1"/>
          <p:nvPr/>
        </p:nvSpPr>
        <p:spPr>
          <a:xfrm>
            <a:off x="914400" y="5029200"/>
            <a:ext cx="548640" cy="73152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5" name="Text 13"/>
          <p:cNvSpPr txBox="1"/>
          <p:nvPr/>
        </p:nvSpPr>
        <p:spPr>
          <a:xfrm>
            <a:off x="1554480" y="5029200"/>
            <a:ext cx="9692640" cy="73152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No, yellow means the liquid is an acid</a:t>
            </a:r>
            <a:endParaRPr lang="en-US" sz="1700" dirty="0"/>
          </a:p>
        </p:txBody>
      </p:sp>
      <p:sp>
        <p:nvSpPr>
          <p:cNvPr id="16" name="Text 14"/>
          <p:cNvSpPr txBox="1"/>
          <p:nvPr/>
        </p:nvSpPr>
        <p:spPr>
          <a:xfrm>
            <a:off x="548640" y="6035040"/>
            <a:ext cx="11064240" cy="365760"/>
          </a:xfrm>
          <a:prstGeom prst="rect">
            <a:avLst/>
          </a:prstGeom>
          <a:noFill/>
          <a:ln/>
        </p:spPr>
        <p:txBody>
          <a:bodyPr wrap="square" lIns="0" tIns="0" rIns="0" bIns="0" rtlCol="0" anchor="ctr"/>
          <a:lstStyle/>
          <a:p>
            <a:pPr indent="0" marL="0">
              <a:buNone/>
            </a:pPr>
            <a:r>
              <a:rPr lang="en-US" sz="1200" i="1" dirty="0">
                <a:solidFill>
                  <a:srgbClr val="C9B8E0"/>
                </a:solidFill>
                <a:latin typeface="Arial" pitchFamily="34" charset="0"/>
                <a:ea typeface="Arial" pitchFamily="34" charset="-122"/>
                <a:cs typeface="Arial" pitchFamily="34" charset="-120"/>
              </a:rPr>
              <a:t>Answer key is teacher-side only, in a separate file.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966960" y="320040"/>
            <a:ext cx="1645920" cy="320040"/>
          </a:xfrm>
          <a:prstGeom prst="roundRect">
            <a:avLst>
              <a:gd name="adj" fmla="val 17143"/>
            </a:avLst>
          </a:prstGeom>
          <a:solidFill>
            <a:srgbClr val="D9EEF1"/>
          </a:solidFill>
          <a:ln/>
        </p:spPr>
      </p:sp>
      <p:sp>
        <p:nvSpPr>
          <p:cNvPr id="3" name="Text 1"/>
          <p:cNvSpPr txBox="1"/>
          <p:nvPr/>
        </p:nvSpPr>
        <p:spPr>
          <a:xfrm>
            <a:off x="9966960" y="320040"/>
            <a:ext cx="1645920" cy="320040"/>
          </a:xfrm>
          <a:prstGeom prst="rect">
            <a:avLst/>
          </a:prstGeom>
          <a:noFill/>
          <a:ln/>
        </p:spPr>
        <p:txBody>
          <a:bodyPr wrap="square" lIns="0" tIns="0" rIns="0" bIns="0" rtlCol="0" anchor="ctr"/>
          <a:lstStyle/>
          <a:p>
            <a:pPr algn="ctr" indent="0" marL="0">
              <a:buNone/>
            </a:pPr>
            <a:r>
              <a:rPr lang="en-US" sz="1000" i="1" dirty="0">
                <a:solidFill>
                  <a:srgbClr val="1F6B75"/>
                </a:solidFill>
                <a:latin typeface="Arial" pitchFamily="34" charset="0"/>
                <a:ea typeface="Arial" pitchFamily="34" charset="-122"/>
                <a:cs typeface="Arial" pitchFamily="34" charset="-120"/>
              </a:rPr>
              <a:t>explain</a:t>
            </a:r>
            <a:endParaRPr lang="en-US" sz="1000" dirty="0"/>
          </a:p>
        </p:txBody>
      </p:sp>
      <p:sp>
        <p:nvSpPr>
          <p:cNvPr id="4" name="Text 2"/>
          <p:cNvSpPr txBox="1"/>
          <p:nvPr/>
        </p:nvSpPr>
        <p:spPr>
          <a:xfrm>
            <a:off x="548640" y="320040"/>
            <a:ext cx="9144000" cy="365760"/>
          </a:xfrm>
          <a:prstGeom prst="rect">
            <a:avLst/>
          </a:prstGeom>
          <a:noFill/>
          <a:ln/>
        </p:spPr>
        <p:txBody>
          <a:bodyPr wrap="square" lIns="0" tIns="0" rIns="0" bIns="0" rtlCol="0" anchor="ctr"/>
          <a:lstStyle/>
          <a:p>
            <a:pPr indent="0" marL="0">
              <a:buNone/>
            </a:pPr>
            <a:r>
              <a:rPr lang="en-US" sz="1300" b="1" spc="200" kern="0" dirty="0">
                <a:solidFill>
                  <a:srgbClr val="2E75B6"/>
                </a:solidFill>
                <a:latin typeface="Arial" pitchFamily="34" charset="0"/>
                <a:ea typeface="Arial" pitchFamily="34" charset="-122"/>
                <a:cs typeface="Arial" pitchFamily="34" charset="-120"/>
              </a:rPr>
              <a:t>CLASS CONSENSUS</a:t>
            </a:r>
            <a:endParaRPr lang="en-US" sz="1300" dirty="0"/>
          </a:p>
        </p:txBody>
      </p:sp>
      <p:sp>
        <p:nvSpPr>
          <p:cNvPr id="5" name="Text 3"/>
          <p:cNvSpPr txBox="1"/>
          <p:nvPr/>
        </p:nvSpPr>
        <p:spPr>
          <a:xfrm>
            <a:off x="548640" y="822960"/>
            <a:ext cx="11064240" cy="8229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Sorting the liquids from home</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2468880"/>
                <a:gridCol w="2377440"/>
                <a:gridCol w="2103120"/>
                <a:gridCol w="2011680"/>
                <a:gridCol w="2103120"/>
              </a:tblGrid>
              <a:tr h="402336">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Liquid</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1F3864"/>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Litmus</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1F3864"/>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Phenolphthalein</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1F3864"/>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Methyl orange</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1F3864"/>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Class</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1F3864"/>
                    </a:solidFill>
                  </a:tcPr>
                </a:tc>
              </a:tr>
              <a:tr h="402336">
                <a:tc>
                  <a:txBody>
                    <a:bodyPr/>
                    <a:lstStyle/>
                    <a:p>
                      <a:pPr algn="l" indent="0" marL="0">
                        <a:buNone/>
                      </a:pPr>
                      <a:r>
                        <a:rPr lang="en-US" sz="1300" b="1" dirty="0">
                          <a:solidFill>
                            <a:srgbClr val="1A1A1A"/>
                          </a:solidFill>
                          <a:latin typeface="Arial" pitchFamily="34" charset="0"/>
                          <a:ea typeface="Arial" pitchFamily="34" charset="-122"/>
                          <a:cs typeface="Arial" pitchFamily="34" charset="-120"/>
                        </a:rPr>
                        <a:t>Lemon juice</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1A1A1A"/>
                          </a:solidFill>
                          <a:latin typeface="Arial" pitchFamily="34" charset="0"/>
                          <a:ea typeface="Arial" pitchFamily="34" charset="-122"/>
                          <a:cs typeface="Arial" pitchFamily="34" charset="-120"/>
                        </a:rPr>
                        <a:t>blue → red</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1A1A1A"/>
                          </a:solidFill>
                          <a:latin typeface="Arial" pitchFamily="34" charset="0"/>
                          <a:ea typeface="Arial" pitchFamily="34" charset="-122"/>
                          <a:cs typeface="Arial" pitchFamily="34" charset="-120"/>
                        </a:rPr>
                        <a:t>colourless</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1A1A1A"/>
                          </a:solidFill>
                          <a:latin typeface="Arial" pitchFamily="34" charset="0"/>
                          <a:ea typeface="Arial" pitchFamily="34" charset="-122"/>
                          <a:cs typeface="Arial" pitchFamily="34" charset="-120"/>
                        </a:rPr>
                        <a:t>red</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1A1A1A"/>
                          </a:solidFill>
                          <a:latin typeface="Arial" pitchFamily="34" charset="0"/>
                          <a:ea typeface="Arial" pitchFamily="34" charset="-122"/>
                          <a:cs typeface="Arial" pitchFamily="34" charset="-120"/>
                        </a:rPr>
                        <a:t>Acid</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2F2F2"/>
                    </a:solidFill>
                  </a:tcPr>
                </a:tc>
              </a:tr>
              <a:tr h="402336">
                <a:tc>
                  <a:txBody>
                    <a:bodyPr/>
                    <a:lstStyle/>
                    <a:p>
                      <a:pPr algn="l" indent="0" marL="0">
                        <a:buNone/>
                      </a:pPr>
                      <a:r>
                        <a:rPr lang="en-US" sz="1300" b="1" dirty="0">
                          <a:solidFill>
                            <a:srgbClr val="1A1A1A"/>
                          </a:solidFill>
                          <a:latin typeface="Arial" pitchFamily="34" charset="0"/>
                          <a:ea typeface="Arial" pitchFamily="34" charset="-122"/>
                          <a:cs typeface="Arial" pitchFamily="34" charset="-120"/>
                        </a:rPr>
                        <a:t>Vinegar (siki)</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Arial" pitchFamily="34" charset="0"/>
                          <a:ea typeface="Arial" pitchFamily="34" charset="-122"/>
                          <a:cs typeface="Arial" pitchFamily="34" charset="-120"/>
                        </a:rPr>
                        <a:t>blue → red</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Arial" pitchFamily="34" charset="0"/>
                          <a:ea typeface="Arial" pitchFamily="34" charset="-122"/>
                          <a:cs typeface="Arial" pitchFamily="34" charset="-120"/>
                        </a:rPr>
                        <a:t>colourless</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Arial" pitchFamily="34" charset="0"/>
                          <a:ea typeface="Arial" pitchFamily="34" charset="-122"/>
                          <a:cs typeface="Arial" pitchFamily="34" charset="-120"/>
                        </a:rPr>
                        <a:t>red</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Arial" pitchFamily="34" charset="0"/>
                          <a:ea typeface="Arial" pitchFamily="34" charset="-122"/>
                          <a:cs typeface="Arial" pitchFamily="34" charset="-120"/>
                        </a:rPr>
                        <a:t>Acid</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r>
              <a:tr h="402336">
                <a:tc>
                  <a:txBody>
                    <a:bodyPr/>
                    <a:lstStyle/>
                    <a:p>
                      <a:pPr algn="l" indent="0" marL="0">
                        <a:buNone/>
                      </a:pPr>
                      <a:r>
                        <a:rPr lang="en-US" sz="1300" b="1" dirty="0">
                          <a:solidFill>
                            <a:srgbClr val="1A1A1A"/>
                          </a:solidFill>
                          <a:latin typeface="Arial" pitchFamily="34" charset="0"/>
                          <a:ea typeface="Arial" pitchFamily="34" charset="-122"/>
                          <a:cs typeface="Arial" pitchFamily="34" charset="-120"/>
                        </a:rPr>
                        <a:t>Liquid soap</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1A1A1A"/>
                          </a:solidFill>
                          <a:latin typeface="Arial" pitchFamily="34" charset="0"/>
                          <a:ea typeface="Arial" pitchFamily="34" charset="-122"/>
                          <a:cs typeface="Arial" pitchFamily="34" charset="-120"/>
                        </a:rPr>
                        <a:t>red → blue</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1A1A1A"/>
                          </a:solidFill>
                          <a:latin typeface="Arial" pitchFamily="34" charset="0"/>
                          <a:ea typeface="Arial" pitchFamily="34" charset="-122"/>
                          <a:cs typeface="Arial" pitchFamily="34" charset="-120"/>
                        </a:rPr>
                        <a:t>pink</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1A1A1A"/>
                          </a:solidFill>
                          <a:latin typeface="Arial" pitchFamily="34" charset="0"/>
                          <a:ea typeface="Arial" pitchFamily="34" charset="-122"/>
                          <a:cs typeface="Arial" pitchFamily="34" charset="-120"/>
                        </a:rPr>
                        <a:t>yellow</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1A1A1A"/>
                          </a:solidFill>
                          <a:latin typeface="Arial" pitchFamily="34" charset="0"/>
                          <a:ea typeface="Arial" pitchFamily="34" charset="-122"/>
                          <a:cs typeface="Arial" pitchFamily="34" charset="-120"/>
                        </a:rPr>
                        <a:t>Base</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2F2F2"/>
                    </a:solidFill>
                  </a:tcPr>
                </a:tc>
              </a:tr>
              <a:tr h="402336">
                <a:tc>
                  <a:txBody>
                    <a:bodyPr/>
                    <a:lstStyle/>
                    <a:p>
                      <a:pPr algn="l" indent="0" marL="0">
                        <a:buNone/>
                      </a:pPr>
                      <a:r>
                        <a:rPr lang="en-US" sz="1300" b="1" dirty="0">
                          <a:solidFill>
                            <a:srgbClr val="1A1A1A"/>
                          </a:solidFill>
                          <a:latin typeface="Arial" pitchFamily="34" charset="0"/>
                          <a:ea typeface="Arial" pitchFamily="34" charset="-122"/>
                          <a:cs typeface="Arial" pitchFamily="34" charset="-120"/>
                        </a:rPr>
                        <a:t>Baking soda solution</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Arial" pitchFamily="34" charset="0"/>
                          <a:ea typeface="Arial" pitchFamily="34" charset="-122"/>
                          <a:cs typeface="Arial" pitchFamily="34" charset="-120"/>
                        </a:rPr>
                        <a:t>red → blue</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Arial" pitchFamily="34" charset="0"/>
                          <a:ea typeface="Arial" pitchFamily="34" charset="-122"/>
                          <a:cs typeface="Arial" pitchFamily="34" charset="-120"/>
                        </a:rPr>
                        <a:t>faint pink</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Arial" pitchFamily="34" charset="0"/>
                          <a:ea typeface="Arial" pitchFamily="34" charset="-122"/>
                          <a:cs typeface="Arial" pitchFamily="34" charset="-120"/>
                        </a:rPr>
                        <a:t>yellow</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Arial" pitchFamily="34" charset="0"/>
                          <a:ea typeface="Arial" pitchFamily="34" charset="-122"/>
                          <a:cs typeface="Arial" pitchFamily="34" charset="-120"/>
                        </a:rPr>
                        <a:t>Base (weak)</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r>
              <a:tr h="402336">
                <a:tc>
                  <a:txBody>
                    <a:bodyPr/>
                    <a:lstStyle/>
                    <a:p>
                      <a:pPr algn="l" indent="0" marL="0">
                        <a:buNone/>
                      </a:pPr>
                      <a:r>
                        <a:rPr lang="en-US" sz="1300" b="1" dirty="0">
                          <a:solidFill>
                            <a:srgbClr val="1A1A1A"/>
                          </a:solidFill>
                          <a:latin typeface="Arial" pitchFamily="34" charset="0"/>
                          <a:ea typeface="Arial" pitchFamily="34" charset="-122"/>
                          <a:cs typeface="Arial" pitchFamily="34" charset="-120"/>
                        </a:rPr>
                        <a:t>Tap water</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1A1A1A"/>
                          </a:solidFill>
                          <a:latin typeface="Arial" pitchFamily="34" charset="0"/>
                          <a:ea typeface="Arial" pitchFamily="34" charset="-122"/>
                          <a:cs typeface="Arial" pitchFamily="34" charset="-120"/>
                        </a:rPr>
                        <a:t>no change</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1A1A1A"/>
                          </a:solidFill>
                          <a:latin typeface="Arial" pitchFamily="34" charset="0"/>
                          <a:ea typeface="Arial" pitchFamily="34" charset="-122"/>
                          <a:cs typeface="Arial" pitchFamily="34" charset="-120"/>
                        </a:rPr>
                        <a:t>colourless</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1A1A1A"/>
                          </a:solidFill>
                          <a:latin typeface="Arial" pitchFamily="34" charset="0"/>
                          <a:ea typeface="Arial" pitchFamily="34" charset="-122"/>
                          <a:cs typeface="Arial" pitchFamily="34" charset="-120"/>
                        </a:rPr>
                        <a:t>yellow</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1A1A1A"/>
                          </a:solidFill>
                          <a:latin typeface="Arial" pitchFamily="34" charset="0"/>
                          <a:ea typeface="Arial" pitchFamily="34" charset="-122"/>
                          <a:cs typeface="Arial" pitchFamily="34" charset="-120"/>
                        </a:rPr>
                        <a:t>Neutral</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2F2F2"/>
                    </a:solidFill>
                  </a:tcPr>
                </a:tc>
              </a:tr>
              <a:tr h="402336">
                <a:tc>
                  <a:txBody>
                    <a:bodyPr/>
                    <a:lstStyle/>
                    <a:p>
                      <a:pPr algn="l" indent="0" marL="0">
                        <a:buNone/>
                      </a:pPr>
                      <a:r>
                        <a:rPr lang="en-US" sz="1300" b="1" dirty="0">
                          <a:solidFill>
                            <a:srgbClr val="1A1A1A"/>
                          </a:solidFill>
                          <a:latin typeface="Arial" pitchFamily="34" charset="0"/>
                          <a:ea typeface="Arial" pitchFamily="34" charset="-122"/>
                          <a:cs typeface="Arial" pitchFamily="34" charset="-120"/>
                        </a:rPr>
                        <a:t>Black tea (chai)</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Arial" pitchFamily="34" charset="0"/>
                          <a:ea typeface="Arial" pitchFamily="34" charset="-122"/>
                          <a:cs typeface="Arial" pitchFamily="34" charset="-120"/>
                        </a:rPr>
                        <a:t>little or no change</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Arial" pitchFamily="34" charset="0"/>
                          <a:ea typeface="Arial" pitchFamily="34" charset="-122"/>
                          <a:cs typeface="Arial" pitchFamily="34" charset="-120"/>
                        </a:rPr>
                        <a:t>colourless</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Arial" pitchFamily="34" charset="0"/>
                          <a:ea typeface="Arial" pitchFamily="34" charset="-122"/>
                          <a:cs typeface="Arial" pitchFamily="34" charset="-120"/>
                        </a:rPr>
                        <a:t>yellow</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Arial" pitchFamily="34" charset="0"/>
                          <a:ea typeface="Arial" pitchFamily="34" charset="-122"/>
                          <a:cs typeface="Arial" pitchFamily="34" charset="-120"/>
                        </a:rPr>
                        <a:t>Weakly acidic</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r>
              <a:tr h="402336">
                <a:tc>
                  <a:txBody>
                    <a:bodyPr/>
                    <a:lstStyle/>
                    <a:p>
                      <a:pPr algn="l" indent="0" marL="0">
                        <a:buNone/>
                      </a:pPr>
                      <a:r>
                        <a:rPr lang="en-US" sz="1300" b="1" dirty="0">
                          <a:solidFill>
                            <a:srgbClr val="1A1A1A"/>
                          </a:solidFill>
                          <a:latin typeface="Arial" pitchFamily="34" charset="0"/>
                          <a:ea typeface="Arial" pitchFamily="34" charset="-122"/>
                          <a:cs typeface="Arial" pitchFamily="34" charset="-120"/>
                        </a:rPr>
                        <a:t>Cow’s milk</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1A1A1A"/>
                          </a:solidFill>
                          <a:latin typeface="Arial" pitchFamily="34" charset="0"/>
                          <a:ea typeface="Arial" pitchFamily="34" charset="-122"/>
                          <a:cs typeface="Arial" pitchFamily="34" charset="-120"/>
                        </a:rPr>
                        <a:t>little or no change</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1A1A1A"/>
                          </a:solidFill>
                          <a:latin typeface="Arial" pitchFamily="34" charset="0"/>
                          <a:ea typeface="Arial" pitchFamily="34" charset="-122"/>
                          <a:cs typeface="Arial" pitchFamily="34" charset="-120"/>
                        </a:rPr>
                        <a:t>colourless</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1A1A1A"/>
                          </a:solidFill>
                          <a:latin typeface="Arial" pitchFamily="34" charset="0"/>
                          <a:ea typeface="Arial" pitchFamily="34" charset="-122"/>
                          <a:cs typeface="Arial" pitchFamily="34" charset="-120"/>
                        </a:rPr>
                        <a:t>yellow</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1A1A1A"/>
                          </a:solidFill>
                          <a:latin typeface="Arial" pitchFamily="34" charset="0"/>
                          <a:ea typeface="Arial" pitchFamily="34" charset="-122"/>
                          <a:cs typeface="Arial" pitchFamily="34" charset="-120"/>
                        </a:rPr>
                        <a:t>About neutral</a:t>
                      </a:r>
                      <a:endParaRPr lang="en-US" sz="1300" dirty="0">
                        <a:latin typeface="Arial" charset="0"/>
                        <a:ea typeface="Arial" charset="0"/>
                        <a:cs typeface="Arial"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2F2F2"/>
                    </a:solidFill>
                  </a:tcPr>
                </a:tc>
              </a:tr>
            </a:tbl>
          </a:graphicData>
        </a:graphic>
      </p:graphicFrame>
      <p:sp>
        <p:nvSpPr>
          <p:cNvPr id="7" name="Text 4"/>
          <p:cNvSpPr txBox="1"/>
          <p:nvPr/>
        </p:nvSpPr>
        <p:spPr>
          <a:xfrm>
            <a:off x="548640" y="5257800"/>
            <a:ext cx="11064240" cy="548640"/>
          </a:xfrm>
          <a:prstGeom prst="rect">
            <a:avLst/>
          </a:prstGeom>
          <a:noFill/>
          <a:ln/>
        </p:spPr>
        <p:txBody>
          <a:bodyPr wrap="square" lIns="0" tIns="0" rIns="0" bIns="0" rtlCol="0" anchor="ctr"/>
          <a:lstStyle/>
          <a:p>
            <a:pPr indent="0" marL="0">
              <a:buNone/>
            </a:pPr>
            <a:r>
              <a:rPr lang="en-US" sz="1500" i="1" dirty="0">
                <a:solidFill>
                  <a:srgbClr val="44546A"/>
                </a:solidFill>
                <a:latin typeface="Arial" pitchFamily="34" charset="0"/>
                <a:ea typeface="Arial" pitchFamily="34" charset="-122"/>
                <a:cs typeface="Arial" pitchFamily="34" charset="-120"/>
              </a:rPr>
              <a:t>Expected results. Compare with your group’s data and discuss any differences — especially milk and tea.</a:t>
            </a:r>
            <a:endParaRPr lang="en-US" sz="1500" dirty="0"/>
          </a:p>
        </p:txBody>
      </p:sp>
      <p:sp>
        <p:nvSpPr>
          <p:cNvPr id="8" name="Text 5"/>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9AA5B1"/>
                </a:solidFill>
                <a:latin typeface="Arial" pitchFamily="34" charset="0"/>
                <a:ea typeface="Arial" pitchFamily="34" charset="-122"/>
                <a:cs typeface="Arial"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6A4C93"/>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QUICK CHECK 5</a:t>
            </a:r>
            <a:endParaRPr lang="en-US" sz="1300" dirty="0"/>
          </a:p>
        </p:txBody>
      </p:sp>
      <p:sp>
        <p:nvSpPr>
          <p:cNvPr id="3" name="Text 1"/>
          <p:cNvSpPr txBox="1"/>
          <p:nvPr/>
        </p:nvSpPr>
        <p:spPr>
          <a:xfrm>
            <a:off x="548640" y="868680"/>
            <a:ext cx="11064240" cy="123444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Which liquid from today would you expect to turn methyl orange red?</a:t>
            </a:r>
            <a:endParaRPr lang="en-US" sz="2300" dirty="0"/>
          </a:p>
        </p:txBody>
      </p:sp>
      <p:sp>
        <p:nvSpPr>
          <p:cNvPr id="4" name="Shape 2"/>
          <p:cNvSpPr/>
          <p:nvPr/>
        </p:nvSpPr>
        <p:spPr>
          <a:xfrm>
            <a:off x="731520" y="2286000"/>
            <a:ext cx="10698480" cy="731520"/>
          </a:xfrm>
          <a:prstGeom prst="roundRect">
            <a:avLst>
              <a:gd name="adj" fmla="val 10000"/>
            </a:avLst>
          </a:prstGeom>
          <a:solidFill>
            <a:srgbClr val="7C5CAA"/>
          </a:solidFill>
          <a:ln/>
        </p:spPr>
      </p:sp>
      <p:sp>
        <p:nvSpPr>
          <p:cNvPr id="5" name="Text 3"/>
          <p:cNvSpPr txBox="1"/>
          <p:nvPr/>
        </p:nvSpPr>
        <p:spPr>
          <a:xfrm>
            <a:off x="914400" y="2286000"/>
            <a:ext cx="548640" cy="73152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6" name="Text 4"/>
          <p:cNvSpPr txBox="1"/>
          <p:nvPr/>
        </p:nvSpPr>
        <p:spPr>
          <a:xfrm>
            <a:off x="1554480" y="2286000"/>
            <a:ext cx="9692640" cy="73152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Liquid soap solution</a:t>
            </a:r>
            <a:endParaRPr lang="en-US" sz="1700" dirty="0"/>
          </a:p>
        </p:txBody>
      </p:sp>
      <p:sp>
        <p:nvSpPr>
          <p:cNvPr id="7" name="Shape 5"/>
          <p:cNvSpPr/>
          <p:nvPr/>
        </p:nvSpPr>
        <p:spPr>
          <a:xfrm>
            <a:off x="731520" y="3200400"/>
            <a:ext cx="10698480" cy="731520"/>
          </a:xfrm>
          <a:prstGeom prst="roundRect">
            <a:avLst>
              <a:gd name="adj" fmla="val 10000"/>
            </a:avLst>
          </a:prstGeom>
          <a:solidFill>
            <a:srgbClr val="7C5CAA"/>
          </a:solidFill>
          <a:ln/>
        </p:spPr>
      </p:sp>
      <p:sp>
        <p:nvSpPr>
          <p:cNvPr id="8" name="Text 6"/>
          <p:cNvSpPr txBox="1"/>
          <p:nvPr/>
        </p:nvSpPr>
        <p:spPr>
          <a:xfrm>
            <a:off x="914400" y="3200400"/>
            <a:ext cx="548640" cy="73152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9" name="Text 7"/>
          <p:cNvSpPr txBox="1"/>
          <p:nvPr/>
        </p:nvSpPr>
        <p:spPr>
          <a:xfrm>
            <a:off x="1554480" y="3200400"/>
            <a:ext cx="9692640" cy="73152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Tap water</a:t>
            </a:r>
            <a:endParaRPr lang="en-US" sz="1700" dirty="0"/>
          </a:p>
        </p:txBody>
      </p:sp>
      <p:sp>
        <p:nvSpPr>
          <p:cNvPr id="10" name="Shape 8"/>
          <p:cNvSpPr/>
          <p:nvPr/>
        </p:nvSpPr>
        <p:spPr>
          <a:xfrm>
            <a:off x="731520" y="4114800"/>
            <a:ext cx="10698480" cy="731520"/>
          </a:xfrm>
          <a:prstGeom prst="roundRect">
            <a:avLst>
              <a:gd name="adj" fmla="val 10000"/>
            </a:avLst>
          </a:prstGeom>
          <a:solidFill>
            <a:srgbClr val="7C5CAA"/>
          </a:solidFill>
          <a:ln/>
        </p:spPr>
      </p:sp>
      <p:sp>
        <p:nvSpPr>
          <p:cNvPr id="11" name="Text 9"/>
          <p:cNvSpPr txBox="1"/>
          <p:nvPr/>
        </p:nvSpPr>
        <p:spPr>
          <a:xfrm>
            <a:off x="914400" y="4114800"/>
            <a:ext cx="548640" cy="73152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2" name="Text 10"/>
          <p:cNvSpPr txBox="1"/>
          <p:nvPr/>
        </p:nvSpPr>
        <p:spPr>
          <a:xfrm>
            <a:off x="1554480" y="4114800"/>
            <a:ext cx="9692640" cy="73152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Baking soda solution</a:t>
            </a:r>
            <a:endParaRPr lang="en-US" sz="1700" dirty="0"/>
          </a:p>
        </p:txBody>
      </p:sp>
      <p:sp>
        <p:nvSpPr>
          <p:cNvPr id="13" name="Shape 11"/>
          <p:cNvSpPr/>
          <p:nvPr/>
        </p:nvSpPr>
        <p:spPr>
          <a:xfrm>
            <a:off x="731520" y="5029200"/>
            <a:ext cx="10698480" cy="731520"/>
          </a:xfrm>
          <a:prstGeom prst="roundRect">
            <a:avLst>
              <a:gd name="adj" fmla="val 10000"/>
            </a:avLst>
          </a:prstGeom>
          <a:solidFill>
            <a:srgbClr val="7C5CAA"/>
          </a:solidFill>
          <a:ln/>
        </p:spPr>
      </p:sp>
      <p:sp>
        <p:nvSpPr>
          <p:cNvPr id="14" name="Text 12"/>
          <p:cNvSpPr txBox="1"/>
          <p:nvPr/>
        </p:nvSpPr>
        <p:spPr>
          <a:xfrm>
            <a:off x="914400" y="5029200"/>
            <a:ext cx="548640" cy="73152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5" name="Text 13"/>
          <p:cNvSpPr txBox="1"/>
          <p:nvPr/>
        </p:nvSpPr>
        <p:spPr>
          <a:xfrm>
            <a:off x="1554480" y="5029200"/>
            <a:ext cx="9692640" cy="73152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Vinegar</a:t>
            </a:r>
            <a:endParaRPr lang="en-US" sz="1700" dirty="0"/>
          </a:p>
        </p:txBody>
      </p:sp>
      <p:sp>
        <p:nvSpPr>
          <p:cNvPr id="16" name="Text 14"/>
          <p:cNvSpPr txBox="1"/>
          <p:nvPr/>
        </p:nvSpPr>
        <p:spPr>
          <a:xfrm>
            <a:off x="548640" y="6035040"/>
            <a:ext cx="11064240" cy="365760"/>
          </a:xfrm>
          <a:prstGeom prst="rect">
            <a:avLst/>
          </a:prstGeom>
          <a:noFill/>
          <a:ln/>
        </p:spPr>
        <p:txBody>
          <a:bodyPr wrap="square" lIns="0" tIns="0" rIns="0" bIns="0" rtlCol="0" anchor="ctr"/>
          <a:lstStyle/>
          <a:p>
            <a:pPr indent="0" marL="0">
              <a:buNone/>
            </a:pPr>
            <a:r>
              <a:rPr lang="en-US" sz="1200" i="1" dirty="0">
                <a:solidFill>
                  <a:srgbClr val="C9B8E0"/>
                </a:solidFill>
                <a:latin typeface="Arial" pitchFamily="34" charset="0"/>
                <a:ea typeface="Arial" pitchFamily="34" charset="-122"/>
                <a:cs typeface="Arial" pitchFamily="34" charset="-120"/>
              </a:rPr>
              <a:t>Answer key is teacher-side only, in a separate file.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966960" y="320040"/>
            <a:ext cx="1645920" cy="320040"/>
          </a:xfrm>
          <a:prstGeom prst="roundRect">
            <a:avLst>
              <a:gd name="adj" fmla="val 17143"/>
            </a:avLst>
          </a:prstGeom>
          <a:solidFill>
            <a:srgbClr val="D9EEF1"/>
          </a:solidFill>
          <a:ln/>
        </p:spPr>
      </p:sp>
      <p:sp>
        <p:nvSpPr>
          <p:cNvPr id="3" name="Text 1"/>
          <p:cNvSpPr txBox="1"/>
          <p:nvPr/>
        </p:nvSpPr>
        <p:spPr>
          <a:xfrm>
            <a:off x="9966960" y="320040"/>
            <a:ext cx="1645920" cy="320040"/>
          </a:xfrm>
          <a:prstGeom prst="rect">
            <a:avLst/>
          </a:prstGeom>
          <a:noFill/>
          <a:ln/>
        </p:spPr>
        <p:txBody>
          <a:bodyPr wrap="square" lIns="0" tIns="0" rIns="0" bIns="0" rtlCol="0" anchor="ctr"/>
          <a:lstStyle/>
          <a:p>
            <a:pPr algn="ctr" indent="0" marL="0">
              <a:buNone/>
            </a:pPr>
            <a:r>
              <a:rPr lang="en-US" sz="1000" i="1" dirty="0">
                <a:solidFill>
                  <a:srgbClr val="1F6B75"/>
                </a:solidFill>
                <a:latin typeface="Arial" pitchFamily="34" charset="0"/>
                <a:ea typeface="Arial" pitchFamily="34" charset="-122"/>
                <a:cs typeface="Arial" pitchFamily="34" charset="-120"/>
              </a:rPr>
              <a:t>model + dqb</a:t>
            </a:r>
            <a:endParaRPr lang="en-US" sz="1000" dirty="0"/>
          </a:p>
        </p:txBody>
      </p:sp>
      <p:sp>
        <p:nvSpPr>
          <p:cNvPr id="4" name="Text 2"/>
          <p:cNvSpPr txBox="1"/>
          <p:nvPr/>
        </p:nvSpPr>
        <p:spPr>
          <a:xfrm>
            <a:off x="548640" y="320040"/>
            <a:ext cx="9144000" cy="365760"/>
          </a:xfrm>
          <a:prstGeom prst="rect">
            <a:avLst/>
          </a:prstGeom>
          <a:noFill/>
          <a:ln/>
        </p:spPr>
        <p:txBody>
          <a:bodyPr wrap="square" lIns="0" tIns="0" rIns="0" bIns="0" rtlCol="0" anchor="ctr"/>
          <a:lstStyle/>
          <a:p>
            <a:pPr indent="0" marL="0">
              <a:buNone/>
            </a:pPr>
            <a:r>
              <a:rPr lang="en-US" sz="1300" b="1" spc="200" kern="0" dirty="0">
                <a:solidFill>
                  <a:srgbClr val="2E75B6"/>
                </a:solidFill>
                <a:latin typeface="Arial" pitchFamily="34" charset="0"/>
                <a:ea typeface="Arial" pitchFamily="34" charset="-122"/>
                <a:cs typeface="Arial" pitchFamily="34" charset="-120"/>
              </a:rPr>
              <a:t>BEFORE WE FINISH</a:t>
            </a:r>
            <a:endParaRPr lang="en-US" sz="1300" dirty="0"/>
          </a:p>
        </p:txBody>
      </p:sp>
      <p:sp>
        <p:nvSpPr>
          <p:cNvPr id="5" name="Text 3"/>
          <p:cNvSpPr txBox="1"/>
          <p:nvPr/>
        </p:nvSpPr>
        <p:spPr>
          <a:xfrm>
            <a:off x="548640" y="822960"/>
            <a:ext cx="11064240" cy="8229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Update your model. Add one new question.</a:t>
            </a:r>
            <a:endParaRPr lang="en-US" sz="2600" dirty="0"/>
          </a:p>
        </p:txBody>
      </p:sp>
      <p:sp>
        <p:nvSpPr>
          <p:cNvPr id="6" name="Shape 4"/>
          <p:cNvSpPr/>
          <p:nvPr/>
        </p:nvSpPr>
        <p:spPr>
          <a:xfrm>
            <a:off x="548640" y="1828800"/>
            <a:ext cx="5349240" cy="3108960"/>
          </a:xfrm>
          <a:prstGeom prst="roundRect">
            <a:avLst>
              <a:gd name="adj" fmla="val 2353"/>
            </a:avLst>
          </a:prstGeom>
          <a:solidFill>
            <a:srgbClr val="D9EEF1"/>
          </a:solidFill>
          <a:ln/>
        </p:spPr>
      </p:sp>
      <p:sp>
        <p:nvSpPr>
          <p:cNvPr id="7" name="Text 5"/>
          <p:cNvSpPr txBox="1"/>
          <p:nvPr/>
        </p:nvSpPr>
        <p:spPr>
          <a:xfrm>
            <a:off x="777240" y="1965960"/>
            <a:ext cx="4937760" cy="365760"/>
          </a:xfrm>
          <a:prstGeom prst="rect">
            <a:avLst/>
          </a:prstGeom>
          <a:noFill/>
          <a:ln/>
        </p:spPr>
        <p:txBody>
          <a:bodyPr wrap="square" lIns="0" tIns="0" rIns="0" bIns="0" rtlCol="0" anchor="ctr"/>
          <a:lstStyle/>
          <a:p>
            <a:pPr indent="0" marL="0">
              <a:buNone/>
            </a:pPr>
            <a:r>
              <a:rPr lang="en-US" sz="1300" b="1" dirty="0">
                <a:solidFill>
                  <a:srgbClr val="1F6B75"/>
                </a:solidFill>
                <a:latin typeface="Arial" pitchFamily="34" charset="0"/>
                <a:ea typeface="Arial" pitchFamily="34" charset="-122"/>
                <a:cs typeface="Arial" pitchFamily="34" charset="-120"/>
              </a:rPr>
              <a:t>UPDATE YOUR MODEL</a:t>
            </a:r>
            <a:endParaRPr lang="en-US" sz="1300" dirty="0"/>
          </a:p>
        </p:txBody>
      </p:sp>
      <p:sp>
        <p:nvSpPr>
          <p:cNvPr id="8" name="Text 6"/>
          <p:cNvSpPr txBox="1"/>
          <p:nvPr/>
        </p:nvSpPr>
        <p:spPr>
          <a:xfrm>
            <a:off x="777240" y="2377440"/>
            <a:ext cx="4937760" cy="2468880"/>
          </a:xfrm>
          <a:prstGeom prst="rect">
            <a:avLst/>
          </a:prstGeom>
          <a:noFill/>
          <a:ln/>
        </p:spPr>
        <p:txBody>
          <a:bodyPr wrap="square" lIns="0" tIns="0" rIns="0" bIns="0" rtlCol="0" anchor="t"/>
          <a:lstStyle/>
          <a:p>
            <a:pPr indent="0" marL="0">
              <a:buNone/>
            </a:pPr>
            <a:r>
              <a:rPr lang="en-US" sz="1500" dirty="0">
                <a:solidFill>
                  <a:srgbClr val="1A1A1A"/>
                </a:solidFill>
                <a:latin typeface="Arial" pitchFamily="34" charset="0"/>
                <a:ea typeface="Arial" pitchFamily="34" charset="-122"/>
                <a:cs typeface="Arial" pitchFamily="34" charset="-120"/>
              </a:rPr>
              <a:t>Take out your model of the eight canteen cups. Label each cup ACID, BASE or NEUTRAL using today’s evidence. Show that “something in the liquid” is causing the colour change. Finish: “My model still cannot explain ___.”</a:t>
            </a:r>
            <a:endParaRPr lang="en-US" sz="1500" dirty="0"/>
          </a:p>
        </p:txBody>
      </p:sp>
      <p:sp>
        <p:nvSpPr>
          <p:cNvPr id="9" name="Shape 7"/>
          <p:cNvSpPr/>
          <p:nvPr/>
        </p:nvSpPr>
        <p:spPr>
          <a:xfrm>
            <a:off x="6080760" y="1828800"/>
            <a:ext cx="5532120" cy="3108960"/>
          </a:xfrm>
          <a:prstGeom prst="roundRect">
            <a:avLst>
              <a:gd name="adj" fmla="val 2353"/>
            </a:avLst>
          </a:prstGeom>
          <a:solidFill>
            <a:srgbClr val="FFF6D9"/>
          </a:solidFill>
          <a:ln w="12700">
            <a:solidFill>
              <a:srgbClr val="E8D68A"/>
            </a:solidFill>
            <a:prstDash val="solid"/>
          </a:ln>
        </p:spPr>
      </p:sp>
      <p:sp>
        <p:nvSpPr>
          <p:cNvPr id="10" name="Text 8"/>
          <p:cNvSpPr txBox="1"/>
          <p:nvPr/>
        </p:nvSpPr>
        <p:spPr>
          <a:xfrm>
            <a:off x="6309360" y="1965960"/>
            <a:ext cx="5120640" cy="365760"/>
          </a:xfrm>
          <a:prstGeom prst="rect">
            <a:avLst/>
          </a:prstGeom>
          <a:noFill/>
          <a:ln/>
        </p:spPr>
        <p:txBody>
          <a:bodyPr wrap="square" lIns="0" tIns="0" rIns="0" bIns="0" rtlCol="0" anchor="ctr"/>
          <a:lstStyle/>
          <a:p>
            <a:pPr indent="0" marL="0">
              <a:buNone/>
            </a:pPr>
            <a:r>
              <a:rPr lang="en-US" sz="1300" b="1" dirty="0">
                <a:solidFill>
                  <a:srgbClr val="8A6D00"/>
                </a:solidFill>
                <a:latin typeface="Arial" pitchFamily="34" charset="0"/>
                <a:ea typeface="Arial" pitchFamily="34" charset="-122"/>
                <a:cs typeface="Arial" pitchFamily="34" charset="-120"/>
              </a:rPr>
              <a:t>DRIVING QUESTION BOARD</a:t>
            </a:r>
            <a:endParaRPr lang="en-US" sz="1300" dirty="0"/>
          </a:p>
        </p:txBody>
      </p:sp>
      <p:sp>
        <p:nvSpPr>
          <p:cNvPr id="11" name="Text 9"/>
          <p:cNvSpPr txBox="1"/>
          <p:nvPr/>
        </p:nvSpPr>
        <p:spPr>
          <a:xfrm>
            <a:off x="6309360" y="2377440"/>
            <a:ext cx="5120640" cy="2468880"/>
          </a:xfrm>
          <a:prstGeom prst="rect">
            <a:avLst/>
          </a:prstGeom>
          <a:noFill/>
          <a:ln/>
        </p:spPr>
        <p:txBody>
          <a:bodyPr wrap="square" lIns="0" tIns="0" rIns="0" bIns="0" rtlCol="0" anchor="t"/>
          <a:lstStyle/>
          <a:p>
            <a:pPr indent="0" marL="0">
              <a:buNone/>
            </a:pPr>
            <a:r>
              <a:rPr lang="en-US" sz="1500" dirty="0">
                <a:solidFill>
                  <a:srgbClr val="5A4A00"/>
                </a:solidFill>
                <a:latin typeface="Arial" pitchFamily="34" charset="0"/>
                <a:ea typeface="Arial" pitchFamily="34" charset="-122"/>
                <a:cs typeface="Arial" pitchFamily="34" charset="-120"/>
              </a:rPr>
              <a:t>Move any earlier question that today’s experiment answered into the SOLVED zone, with the evidence on the back.</a:t>
            </a:r>
            <a:endParaRPr lang="en-US" sz="1500" dirty="0"/>
          </a:p>
          <a:p>
            <a:pPr indent="0" marL="0">
              <a:buNone/>
            </a:pPr>
            <a:r>
              <a:rPr lang="en-US" sz="1500" dirty="0">
                <a:solidFill>
                  <a:srgbClr val="5A4A00"/>
                </a:solidFill>
                <a:latin typeface="Arial" pitchFamily="34" charset="0"/>
                <a:ea typeface="Arial" pitchFamily="34" charset="-122"/>
                <a:cs typeface="Arial" pitchFamily="34" charset="-120"/>
              </a:rPr>
              <a:t>Add one new question, e.g. How do we measure HOW acidic something is? What do acids actually DO when they react?</a:t>
            </a:r>
            <a:endParaRPr lang="en-US" sz="1500" dirty="0"/>
          </a:p>
        </p:txBody>
      </p:sp>
      <p:sp>
        <p:nvSpPr>
          <p:cNvPr id="12" name="Text 10"/>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9AA5B1"/>
                </a:solidFill>
                <a:latin typeface="Arial" pitchFamily="34" charset="0"/>
                <a:ea typeface="Arial" pitchFamily="34" charset="-122"/>
                <a:cs typeface="Arial"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65760"/>
          </a:xfrm>
          <a:prstGeom prst="rect">
            <a:avLst/>
          </a:prstGeom>
          <a:noFill/>
          <a:ln/>
        </p:spPr>
        <p:txBody>
          <a:bodyPr wrap="square" lIns="0" tIns="0" rIns="0" bIns="0" rtlCol="0" anchor="ctr"/>
          <a:lstStyle/>
          <a:p>
            <a:pPr indent="0" marL="0">
              <a:buNone/>
            </a:pPr>
            <a:r>
              <a:rPr lang="en-US" sz="1300" b="1" spc="200" kern="0" dirty="0">
                <a:solidFill>
                  <a:srgbClr val="2E75B6"/>
                </a:solidFill>
                <a:latin typeface="Arial" pitchFamily="34" charset="0"/>
                <a:ea typeface="Arial" pitchFamily="34" charset="-122"/>
                <a:cs typeface="Arial" pitchFamily="34" charset="-120"/>
              </a:rPr>
              <a:t>RESOURCES FOR TODAY</a:t>
            </a:r>
            <a:endParaRPr lang="en-US" sz="1300" dirty="0"/>
          </a:p>
        </p:txBody>
      </p:sp>
      <p:sp>
        <p:nvSpPr>
          <p:cNvPr id="3" name="Text 1"/>
          <p:cNvSpPr txBox="1"/>
          <p:nvPr/>
        </p:nvSpPr>
        <p:spPr>
          <a:xfrm>
            <a:off x="548640" y="822960"/>
            <a:ext cx="11064240" cy="82296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From the ARES offline library</a:t>
            </a:r>
            <a:endParaRPr lang="en-US" sz="2400" dirty="0"/>
          </a:p>
        </p:txBody>
      </p:sp>
      <p:sp>
        <p:nvSpPr>
          <p:cNvPr id="4" name="Shape 2"/>
          <p:cNvSpPr/>
          <p:nvPr/>
        </p:nvSpPr>
        <p:spPr>
          <a:xfrm>
            <a:off x="548640" y="1783080"/>
            <a:ext cx="11064240" cy="1143000"/>
          </a:xfrm>
          <a:prstGeom prst="roundRect">
            <a:avLst>
              <a:gd name="adj" fmla="val 6400"/>
            </a:avLst>
          </a:prstGeom>
          <a:solidFill>
            <a:srgbClr val="FFF3E0"/>
          </a:solidFill>
          <a:ln/>
        </p:spPr>
      </p:sp>
      <p:sp>
        <p:nvSpPr>
          <p:cNvPr id="5" name="Text 3"/>
          <p:cNvSpPr txBox="1"/>
          <p:nvPr/>
        </p:nvSpPr>
        <p:spPr>
          <a:xfrm>
            <a:off x="822960" y="1920240"/>
            <a:ext cx="640080" cy="868680"/>
          </a:xfrm>
          <a:prstGeom prst="rect">
            <a:avLst/>
          </a:prstGeom>
          <a:noFill/>
          <a:ln/>
        </p:spPr>
        <p:txBody>
          <a:bodyPr wrap="square" lIns="0" tIns="0" rIns="0" bIns="0" rtlCol="0" anchor="ctr"/>
          <a:lstStyle/>
          <a:p>
            <a:pPr indent="0" marL="0">
              <a:buNone/>
            </a:pPr>
            <a:r>
              <a:rPr lang="en-US" sz="2400" dirty="0">
                <a:solidFill>
                  <a:srgbClr val="C77700"/>
                </a:solidFill>
                <a:latin typeface="Arial" pitchFamily="34" charset="0"/>
                <a:ea typeface="Arial" pitchFamily="34" charset="-122"/>
                <a:cs typeface="Arial" pitchFamily="34" charset="-120"/>
              </a:rPr>
              <a:t>▶</a:t>
            </a:r>
            <a:endParaRPr lang="en-US" sz="2400" dirty="0"/>
          </a:p>
        </p:txBody>
      </p:sp>
      <p:sp>
        <p:nvSpPr>
          <p:cNvPr id="6" name="Text 4"/>
          <p:cNvSpPr txBox="1"/>
          <p:nvPr/>
        </p:nvSpPr>
        <p:spPr>
          <a:xfrm>
            <a:off x="1554480" y="1892808"/>
            <a:ext cx="9875520" cy="914400"/>
          </a:xfrm>
          <a:prstGeom prst="rect">
            <a:avLst/>
          </a:prstGeom>
          <a:noFill/>
          <a:ln/>
        </p:spPr>
        <p:txBody>
          <a:bodyPr wrap="square" lIns="0" tIns="0" rIns="0" bIns="0" rtlCol="0" anchor="ctr"/>
          <a:lstStyle/>
          <a:p>
            <a:pPr indent="0" marL="0">
              <a:buNone/>
            </a:pPr>
            <a:r>
              <a:rPr lang="en-US" sz="1300" b="1" dirty="0">
                <a:solidFill>
                  <a:srgbClr val="1F3864"/>
                </a:solidFill>
                <a:latin typeface="Arial" pitchFamily="34" charset="0"/>
                <a:ea typeface="Arial" pitchFamily="34" charset="-122"/>
                <a:cs typeface="Arial" pitchFamily="34" charset="-120"/>
              </a:rPr>
              <a:t>VIDEO  </a:t>
            </a:r>
            <a:pPr indent="0" marL="0">
              <a:buNone/>
            </a:pPr>
            <a:r>
              <a:rPr lang="en-US" sz="1600" u="sng" dirty="0">
                <a:solidFill>
                  <a:srgbClr val="1F6B75"/>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Video: pH Scale</a:t>
            </a:r>
            <a:endParaRPr lang="en-US" sz="1300" dirty="0"/>
          </a:p>
          <a:p>
            <a:pPr indent="0" marL="0">
              <a:buNone/>
            </a:pPr>
            <a:r>
              <a:rPr lang="en-US" sz="1200" i="1" dirty="0">
                <a:solidFill>
                  <a:srgbClr val="8A5300"/>
                </a:solidFill>
                <a:latin typeface="Arial" pitchFamily="34" charset="0"/>
                <a:ea typeface="Arial" pitchFamily="34" charset="-122"/>
                <a:cs typeface="Arial" pitchFamily="34" charset="-120"/>
              </a:rPr>
              <a:t>PhET • Partial match: introduces pH, which this unit covers in Lesson 8. Use as extension.</a:t>
            </a:r>
            <a:endParaRPr lang="en-US" sz="1300" dirty="0"/>
          </a:p>
        </p:txBody>
      </p:sp>
      <p:sp>
        <p:nvSpPr>
          <p:cNvPr id="7" name="Shape 5"/>
          <p:cNvSpPr/>
          <p:nvPr/>
        </p:nvSpPr>
        <p:spPr>
          <a:xfrm>
            <a:off x="548640" y="3108960"/>
            <a:ext cx="11064240" cy="1143000"/>
          </a:xfrm>
          <a:prstGeom prst="roundRect">
            <a:avLst>
              <a:gd name="adj" fmla="val 6400"/>
            </a:avLst>
          </a:prstGeom>
          <a:solidFill>
            <a:srgbClr val="F2F2F2"/>
          </a:solidFill>
          <a:ln/>
        </p:spPr>
      </p:sp>
      <p:sp>
        <p:nvSpPr>
          <p:cNvPr id="8" name="Text 6"/>
          <p:cNvSpPr txBox="1"/>
          <p:nvPr/>
        </p:nvSpPr>
        <p:spPr>
          <a:xfrm>
            <a:off x="822960" y="3246120"/>
            <a:ext cx="640080" cy="868680"/>
          </a:xfrm>
          <a:prstGeom prst="rect">
            <a:avLst/>
          </a:prstGeom>
          <a:noFill/>
          <a:ln/>
        </p:spPr>
        <p:txBody>
          <a:bodyPr wrap="square" lIns="0" tIns="0" rIns="0" bIns="0" rtlCol="0" anchor="ctr"/>
          <a:lstStyle/>
          <a:p>
            <a:pPr indent="0" marL="0">
              <a:buNone/>
            </a:pPr>
            <a:r>
              <a:rPr lang="en-US" sz="2400" dirty="0">
                <a:solidFill>
                  <a:srgbClr val="2E75B6"/>
                </a:solidFill>
                <a:latin typeface="Arial" pitchFamily="34" charset="0"/>
                <a:ea typeface="Arial" pitchFamily="34" charset="-122"/>
                <a:cs typeface="Arial" pitchFamily="34" charset="-120"/>
              </a:rPr>
              <a:t>≡</a:t>
            </a:r>
            <a:endParaRPr lang="en-US" sz="2400" dirty="0"/>
          </a:p>
        </p:txBody>
      </p:sp>
      <p:sp>
        <p:nvSpPr>
          <p:cNvPr id="9" name="Text 7"/>
          <p:cNvSpPr txBox="1"/>
          <p:nvPr/>
        </p:nvSpPr>
        <p:spPr>
          <a:xfrm>
            <a:off x="1554480" y="3218688"/>
            <a:ext cx="9875520" cy="914400"/>
          </a:xfrm>
          <a:prstGeom prst="rect">
            <a:avLst/>
          </a:prstGeom>
          <a:noFill/>
          <a:ln/>
        </p:spPr>
        <p:txBody>
          <a:bodyPr wrap="square" lIns="0" tIns="0" rIns="0" bIns="0" rtlCol="0" anchor="ctr"/>
          <a:lstStyle/>
          <a:p>
            <a:pPr indent="0" marL="0">
              <a:buNone/>
            </a:pPr>
            <a:r>
              <a:rPr lang="en-US" sz="1300" b="1" dirty="0">
                <a:solidFill>
                  <a:srgbClr val="1F3864"/>
                </a:solidFill>
                <a:latin typeface="Arial" pitchFamily="34" charset="0"/>
                <a:ea typeface="Arial" pitchFamily="34" charset="-122"/>
                <a:cs typeface="Arial" pitchFamily="34" charset="-120"/>
              </a:rPr>
              <a:t>READING  </a:t>
            </a:r>
            <a:pPr indent="0" marL="0">
              <a:buNone/>
            </a:pPr>
            <a:r>
              <a:rPr lang="en-US" sz="1600" u="sng" dirty="0">
                <a:solidFill>
                  <a:srgbClr val="1F6B75"/>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Properties of Acids (Flexbook)</a:t>
            </a:r>
            <a:endParaRPr lang="en-US" sz="1300" dirty="0"/>
          </a:p>
          <a:p>
            <a:pPr indent="0" marL="0">
              <a:buNone/>
            </a:pPr>
            <a:r>
              <a:rPr lang="en-US" sz="1200" i="1" dirty="0">
                <a:solidFill>
                  <a:srgbClr val="6B7280"/>
                </a:solidFill>
                <a:latin typeface="Arial" pitchFamily="34" charset="0"/>
                <a:ea typeface="Arial" pitchFamily="34" charset="-122"/>
                <a:cs typeface="Arial" pitchFamily="34" charset="-120"/>
              </a:rPr>
              <a:t>CK-12 • Good match for properties of acids</a:t>
            </a:r>
            <a:endParaRPr lang="en-US" sz="1300" dirty="0"/>
          </a:p>
        </p:txBody>
      </p:sp>
      <p:sp>
        <p:nvSpPr>
          <p:cNvPr id="10" name="Shape 8"/>
          <p:cNvSpPr/>
          <p:nvPr/>
        </p:nvSpPr>
        <p:spPr>
          <a:xfrm>
            <a:off x="548640" y="4434840"/>
            <a:ext cx="11064240" cy="1143000"/>
          </a:xfrm>
          <a:prstGeom prst="roundRect">
            <a:avLst>
              <a:gd name="adj" fmla="val 6400"/>
            </a:avLst>
          </a:prstGeom>
          <a:solidFill>
            <a:srgbClr val="F2F2F2"/>
          </a:solidFill>
          <a:ln/>
        </p:spPr>
      </p:sp>
      <p:sp>
        <p:nvSpPr>
          <p:cNvPr id="11" name="Text 9"/>
          <p:cNvSpPr txBox="1"/>
          <p:nvPr/>
        </p:nvSpPr>
        <p:spPr>
          <a:xfrm>
            <a:off x="822960" y="4572000"/>
            <a:ext cx="640080" cy="868680"/>
          </a:xfrm>
          <a:prstGeom prst="rect">
            <a:avLst/>
          </a:prstGeom>
          <a:noFill/>
          <a:ln/>
        </p:spPr>
        <p:txBody>
          <a:bodyPr wrap="square" lIns="0" tIns="0" rIns="0" bIns="0" rtlCol="0" anchor="ctr"/>
          <a:lstStyle/>
          <a:p>
            <a:pPr indent="0" marL="0">
              <a:buNone/>
            </a:pPr>
            <a:r>
              <a:rPr lang="en-US" sz="2400" dirty="0">
                <a:solidFill>
                  <a:srgbClr val="2E75B6"/>
                </a:solidFill>
                <a:latin typeface="Arial" pitchFamily="34" charset="0"/>
                <a:ea typeface="Arial" pitchFamily="34" charset="-122"/>
                <a:cs typeface="Arial" pitchFamily="34" charset="-120"/>
              </a:rPr>
              <a:t>🔍</a:t>
            </a:r>
            <a:endParaRPr lang="en-US" sz="2400" dirty="0"/>
          </a:p>
        </p:txBody>
      </p:sp>
      <p:sp>
        <p:nvSpPr>
          <p:cNvPr id="12" name="Text 10"/>
          <p:cNvSpPr txBox="1"/>
          <p:nvPr/>
        </p:nvSpPr>
        <p:spPr>
          <a:xfrm>
            <a:off x="1554480" y="4544568"/>
            <a:ext cx="9875520" cy="914400"/>
          </a:xfrm>
          <a:prstGeom prst="rect">
            <a:avLst/>
          </a:prstGeom>
          <a:noFill/>
          <a:ln/>
        </p:spPr>
        <p:txBody>
          <a:bodyPr wrap="square" lIns="0" tIns="0" rIns="0" bIns="0" rtlCol="0" anchor="ctr"/>
          <a:lstStyle/>
          <a:p>
            <a:pPr indent="0" marL="0">
              <a:buNone/>
            </a:pPr>
            <a:r>
              <a:rPr lang="en-US" sz="1300" b="1" dirty="0">
                <a:solidFill>
                  <a:srgbClr val="1F3864"/>
                </a:solidFill>
                <a:latin typeface="Arial" pitchFamily="34" charset="0"/>
                <a:ea typeface="Arial" pitchFamily="34" charset="-122"/>
                <a:cs typeface="Arial" pitchFamily="34" charset="-120"/>
              </a:rPr>
              <a:t>SEARCH  </a:t>
            </a:r>
            <a:pPr indent="0" marL="0">
              <a:buNone/>
            </a:pPr>
            <a:r>
              <a:rPr lang="en-US" sz="1600" u="sng" dirty="0">
                <a:solidFill>
                  <a:srgbClr val="1F6B75"/>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Search ARES: acids, bases, indicators</a:t>
            </a:r>
            <a:endParaRPr lang="en-US" sz="1300" dirty="0"/>
          </a:p>
          <a:p>
            <a:pPr indent="0" marL="0">
              <a:buNone/>
            </a:pPr>
            <a:r>
              <a:rPr lang="en-US" sz="1200" i="1" dirty="0">
                <a:solidFill>
                  <a:srgbClr val="6B7280"/>
                </a:solidFill>
                <a:latin typeface="Arial" pitchFamily="34" charset="0"/>
                <a:ea typeface="Arial" pitchFamily="34" charset="-122"/>
                <a:cs typeface="Arial" pitchFamily="34" charset="-120"/>
              </a:rPr>
              <a:t>Opens an ARES search for related videos and notes</a:t>
            </a:r>
            <a:endParaRPr lang="en-US" sz="1300" dirty="0"/>
          </a:p>
        </p:txBody>
      </p:sp>
      <p:sp>
        <p:nvSpPr>
          <p:cNvPr id="13" name="Text 11"/>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200" i="1" dirty="0">
                <a:solidFill>
                  <a:srgbClr val="6B7280"/>
                </a:solidFill>
                <a:latin typeface="Arial" pitchFamily="34" charset="0"/>
                <a:ea typeface="Arial" pitchFamily="34" charset="-122"/>
                <a:cs typeface="Arial" pitchFamily="34" charset="-120"/>
              </a:rPr>
              <a:t>Links open only on the school network (ares.local). Click to open during the lesson.</a:t>
            </a:r>
            <a:endParaRPr lang="en-US" sz="1200" dirty="0"/>
          </a:p>
        </p:txBody>
      </p:sp>
      <p:sp>
        <p:nvSpPr>
          <p:cNvPr id="14" name="Text 12"/>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9AA5B1"/>
                </a:solidFill>
                <a:latin typeface="Arial" pitchFamily="34" charset="0"/>
                <a:ea typeface="Arial" pitchFamily="34" charset="-122"/>
                <a:cs typeface="Arial"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F3864"/>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65760"/>
          </a:xfrm>
          <a:prstGeom prst="rect">
            <a:avLst/>
          </a:prstGeom>
          <a:noFill/>
          <a:ln/>
        </p:spPr>
        <p:txBody>
          <a:bodyPr wrap="square" lIns="0" tIns="0" rIns="0" bIns="0" rtlCol="0" anchor="ctr"/>
          <a:lstStyle/>
          <a:p>
            <a:pPr indent="0" marL="0">
              <a:buNone/>
            </a:pPr>
            <a:r>
              <a:rPr lang="en-US" sz="1300" b="1" spc="200" kern="0" dirty="0">
                <a:solidFill>
                  <a:srgbClr val="AFC8E8"/>
                </a:solidFill>
                <a:latin typeface="Arial" pitchFamily="34" charset="0"/>
                <a:ea typeface="Arial" pitchFamily="34" charset="-122"/>
                <a:cs typeface="Arial" pitchFamily="34" charset="-120"/>
              </a:rPr>
              <a:t>TODAY'S QUICK CHECKS</a:t>
            </a:r>
            <a:endParaRPr lang="en-US" sz="1300" dirty="0"/>
          </a:p>
        </p:txBody>
      </p:sp>
      <p:sp>
        <p:nvSpPr>
          <p:cNvPr id="3" name="Text 1"/>
          <p:cNvSpPr txBox="1"/>
          <p:nvPr/>
        </p:nvSpPr>
        <p:spPr>
          <a:xfrm>
            <a:off x="731520" y="914400"/>
            <a:ext cx="10698480" cy="64008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5 questions asked during class today</a:t>
            </a:r>
            <a:endParaRPr lang="en-US" sz="2600" dirty="0"/>
          </a:p>
        </p:txBody>
      </p:sp>
      <p:sp>
        <p:nvSpPr>
          <p:cNvPr id="4" name="Text 2"/>
          <p:cNvSpPr txBox="1"/>
          <p:nvPr/>
        </p:nvSpPr>
        <p:spPr>
          <a:xfrm>
            <a:off x="731520" y="1737360"/>
            <a:ext cx="10698480" cy="3291840"/>
          </a:xfrm>
          <a:prstGeom prst="rect">
            <a:avLst/>
          </a:prstGeom>
          <a:noFill/>
          <a:ln/>
        </p:spPr>
        <p:txBody>
          <a:bodyPr wrap="square" lIns="0" tIns="0" rIns="0" bIns="0" rtlCol="0" anchor="t"/>
          <a:lstStyle/>
          <a:p>
            <a:pPr indent="0" marL="0">
              <a:spcAft>
                <a:spcPts val="800"/>
              </a:spcAft>
              <a:buNone/>
            </a:pPr>
            <a:r>
              <a:rPr lang="en-US" sz="1600" dirty="0">
                <a:solidFill>
                  <a:srgbClr val="DCE6F2"/>
                </a:solidFill>
                <a:latin typeface="Arial" pitchFamily="34" charset="0"/>
                <a:ea typeface="Arial" pitchFamily="34" charset="-122"/>
                <a:cs typeface="Arial" pitchFamily="34" charset="-120"/>
              </a:rPr>
              <a:t>1. Which is the most useful observation to record?</a:t>
            </a:r>
            <a:endParaRPr lang="en-US" sz="1600" dirty="0"/>
          </a:p>
          <a:p>
            <a:pPr indent="0" marL="0">
              <a:spcAft>
                <a:spcPts val="800"/>
              </a:spcAft>
              <a:buNone/>
            </a:pPr>
            <a:r>
              <a:rPr lang="en-US" sz="1600" dirty="0">
                <a:solidFill>
                  <a:srgbClr val="DCE6F2"/>
                </a:solidFill>
                <a:latin typeface="Arial" pitchFamily="34" charset="0"/>
                <a:ea typeface="Arial" pitchFamily="34" charset="-122"/>
                <a:cs typeface="Arial" pitchFamily="34" charset="-120"/>
              </a:rPr>
              <a:t>2. Blue litmus turns red. What does this tell you?</a:t>
            </a:r>
            <a:endParaRPr lang="en-US" sz="1600" dirty="0"/>
          </a:p>
          <a:p>
            <a:pPr indent="0" marL="0">
              <a:spcAft>
                <a:spcPts val="800"/>
              </a:spcAft>
              <a:buNone/>
            </a:pPr>
            <a:r>
              <a:rPr lang="en-US" sz="1600" dirty="0">
                <a:solidFill>
                  <a:srgbClr val="DCE6F2"/>
                </a:solidFill>
                <a:latin typeface="Arial" pitchFamily="34" charset="0"/>
                <a:ea typeface="Arial" pitchFamily="34" charset="-122"/>
                <a:cs typeface="Arial" pitchFamily="34" charset="-120"/>
              </a:rPr>
              <a:t>3. In which kind of solution does phenolphthalein turn pink?</a:t>
            </a:r>
            <a:endParaRPr lang="en-US" sz="1600" dirty="0"/>
          </a:p>
          <a:p>
            <a:pPr indent="0" marL="0">
              <a:spcAft>
                <a:spcPts val="800"/>
              </a:spcAft>
              <a:buNone/>
            </a:pPr>
            <a:r>
              <a:rPr lang="en-US" sz="1600" dirty="0">
                <a:solidFill>
                  <a:srgbClr val="DCE6F2"/>
                </a:solidFill>
                <a:latin typeface="Arial" pitchFamily="34" charset="0"/>
                <a:ea typeface="Arial" pitchFamily="34" charset="-122"/>
                <a:cs typeface="Arial" pitchFamily="34" charset="-120"/>
              </a:rPr>
              <a:t>4. Methyl orange turns yellow. Can you be sure it is a base?</a:t>
            </a:r>
            <a:endParaRPr lang="en-US" sz="1600" dirty="0"/>
          </a:p>
          <a:p>
            <a:pPr indent="0" marL="0">
              <a:spcAft>
                <a:spcPts val="800"/>
              </a:spcAft>
              <a:buNone/>
            </a:pPr>
            <a:r>
              <a:rPr lang="en-US" sz="1600" dirty="0">
                <a:solidFill>
                  <a:srgbClr val="DCE6F2"/>
                </a:solidFill>
                <a:latin typeface="Arial" pitchFamily="34" charset="0"/>
                <a:ea typeface="Arial" pitchFamily="34" charset="-122"/>
                <a:cs typeface="Arial" pitchFamily="34" charset="-120"/>
              </a:rPr>
              <a:t>5. Which liquid would turn methyl orange red?</a:t>
            </a:r>
            <a:endParaRPr lang="en-US" sz="1600" dirty="0"/>
          </a:p>
        </p:txBody>
      </p:sp>
      <p:sp>
        <p:nvSpPr>
          <p:cNvPr id="5" name="Text 3"/>
          <p:cNvSpPr txBox="1"/>
          <p:nvPr/>
        </p:nvSpPr>
        <p:spPr>
          <a:xfrm>
            <a:off x="731520" y="5394960"/>
            <a:ext cx="10698480" cy="548640"/>
          </a:xfrm>
          <a:prstGeom prst="rect">
            <a:avLst/>
          </a:prstGeom>
          <a:noFill/>
          <a:ln/>
        </p:spPr>
        <p:txBody>
          <a:bodyPr wrap="square" lIns="0" tIns="0" rIns="0" bIns="0" rtlCol="0" anchor="ctr"/>
          <a:lstStyle/>
          <a:p>
            <a:pPr indent="0" marL="0">
              <a:buNone/>
            </a:pPr>
            <a:r>
              <a:rPr lang="en-US" sz="1500" i="1"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 title(subjectLine, lessonTitle, subtitle, hook, footer) {
    const s = base(C.darkBlue);
    s.addText(subjectLine, { x: 0.8, y: 1.8, w: 11.7, h: 0.5, fontFace: FONT, fontSize: 16, color: "AFC8E8", bold: true, charSpacing: 2, isTextBox: true, margin: 0 });
    s.addText(lessonTitle, { x: 0.8, y: 2.35, w: 11.7, h: 1.0, fontFace: FONT, fontSize: 38, color: C.white, bold: true, isTextBox: true, margin: 0 });
    s.addText(subtitle, { x: 0.8, y: 3.35, w: 11.7, h: 0.6, fontFace: FONT, fontSize: 22, color: C.lightTeal, isTextBox: true, margin: 0 });
    s.addText(hook, { x: 0.8, y: 4.05, w: 11.7, h: 0.6, fontFace: FONT, fontSize: 15, italic: true, color: "AFC8E8", isTextBox: true, margin: 0 });
    s.addText(footer, { x: 0.8, y: 6.6, w: 11.7, h: 0.4, fontFace: FONT, fontSize: 13, color: "AFC8E8", isTextBox: true, margin: 0 });
    return s;
  }</dc:title>
  <dc:subject>PptxGenJS Presentation</dc:subject>
  <dc:creator>PptxGenJS</dc:creator>
  <cp:lastModifiedBy>PptxGenJS</cp:lastModifiedBy>
  <cp:revision>1</cp:revision>
  <dcterms:created xsi:type="dcterms:W3CDTF">2026-09-29T18:26:31Z</dcterms:created>
  <dcterms:modified xsi:type="dcterms:W3CDTF">2026-09-29T18:26:31Z</dcterms:modified>
</cp:coreProperties>
</file>