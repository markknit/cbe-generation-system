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://ares.local:8069/en/learn/#/topics/c/0d2d358902b95bbfb499d3eebb3ac613" TargetMode="External"/><Relationship Id="rId2" Type="http://schemas.openxmlformats.org/officeDocument/2006/relationships/hyperlink" Target="http://ares.local:8069/en/learn/#/topics/c/faa436e65a2a5764ac095bd01834b27c" TargetMode="External"/><Relationship Id="rId3" Type="http://schemas.openxmlformats.org/officeDocument/2006/relationships/hyperlink" Target="http://ares.local/www2/search.php?searchstring=trigonometry%2C+tangent+ratio%2C+sine+cosine+tangent+identity%2C+tan+theta+equals+sin+over+cos%2C+SOH+CAH+TOA%2C+right-angled+triangle%2C+opposite+adjacent+hypotenuse%2C+mathematical+tables%2C+trigonometric+tables%2C+mango+tree+height%2C+shadow+length%2C+sun+angle%2C+indirect+measurement%2C+algebraic+derivation%2C+numerical+verification%2C+30+40+60+70+degrees%2C+special+angles%2C+similar+triangles%2C+Kisumu%2C+anchoring+phenomenon%2C+driving+question+board%2C+cumulative+model%2C+Kenya+Grade+10%2C+CBE+mathematics%2C+Sub-Strand+3.1&amp;sources[]=kha&amp;sources[]=kicd&amp;sources[]=khak&amp;sources[]=wiki&amp;sources[]=wikig&amp;sources[]=wikih&amp;sources[]=wikiSp&amp;sources[]=wikiq&amp;sources[]=wikic&amp;sources[]=wikip&amp;sources[]=wikia&amp;sources[]=wikim&amp;sources[]=ted&amp;sources[]=ted11&amp;sources[]=tedin&amp;sources[]=g4st&amp;sources[]=g4e&amp;sources[]=g5st&amp;sources[]=g5e&amp;sources[]=dlc&amp;sources[]=bg&amp;sources[]=te&amp;sources[]=phet&amp;sources[]=mg&amp;sources[]=gdl&amp;sources[]=ck12&amp;sources[]=tess&amp;sources[]=uk&amp;sources[]=kol&amp;sources[]=edu&amp;sources[]=sea&amp;sources[]=bound&amp;sources[]=cbc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 — GRADE 10  |  TRIGONOMETRY 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Tangent Ratio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the mango-tree problem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calculate the height of the Kisumu mango tree for the first time.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3.1: Trigonometry I   |   Lesson 4   |   80 minutes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tall is the mango tree?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 flipH="1">
            <a:off x="822960" y="2011680"/>
            <a:ext cx="4206240" cy="3017520"/>
          </a:xfrm>
          <a:prstGeom prst="rtTriangle">
            <a:avLst/>
          </a:prstGeom>
          <a:solidFill>
            <a:srgbClr val="EAF3FB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4754880"/>
            <a:ext cx="274320" cy="274320"/>
          </a:xfrm>
          <a:prstGeom prst="rect">
            <a:avLst/>
          </a:prstGeom>
          <a:ln w="15875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5720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3108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height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5120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 9.0 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ray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0" y="182880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52360" y="2011680"/>
            <a:ext cx="3977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in Kisumu measures: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Sun angle: 53°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Tree’s shadow: 9.0 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From last lesson: sin 53° ≈ 0.799, cos 53° ≈ 0.602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Predict: which ratio will help most? Estimate the height.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prediction silently (2 minutes), then share with your partner.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ALREADY KNOW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 and cosine compare sides with the hypotenuse.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 flipH="1">
            <a:off x="822960" y="2011680"/>
            <a:ext cx="4389120" cy="2743200"/>
          </a:xfrm>
          <a:prstGeom prst="rtTriangle">
            <a:avLst/>
          </a:prstGeom>
          <a:solidFill>
            <a:srgbClr val="EAF3FB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4480560"/>
            <a:ext cx="274320" cy="274320"/>
          </a:xfrm>
          <a:prstGeom prst="rect">
            <a:avLst/>
          </a:prstGeom>
          <a:ln w="15875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(O)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846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(A)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Hypotenuse (H)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0" y="1828800"/>
            <a:ext cx="4389120" cy="3291840"/>
          </a:xfrm>
          <a:prstGeom prst="roundRect">
            <a:avLst>
              <a:gd name="adj" fmla="val 2222"/>
            </a:avLst>
          </a:prstGeom>
          <a:solidFill>
            <a:srgbClr val="D9EE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0" y="20574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θ = O / H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θ = A / H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Opposite: the side facing the angle. Adjacent: the side next to the angle (not the hypotenuse).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the hypotenuse is the sun ray. We can’t measure it with a tape measure. We need a ratio that skips it.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sine by cosine and watch H disappear.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3017520"/>
          </a:xfrm>
          <a:prstGeom prst="roundRect">
            <a:avLst>
              <a:gd name="adj" fmla="val 2424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sin θ ÷ cos θ  =  (O/H) ÷ (A/H)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=  (O/H) × (H/A)       (dividing by a fraction = multiplying by its reciprocal)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=  O / A       (the H’s cancel)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So  tan θ = sin θ / cos θ  =  Opposite / Adjacent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each step and draw arrows showing where H cancels. Memory aid: TOA — Tan = Opposite / Adjacent.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right-angled triangle, which ratio equals tan θ?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/ Hypotenuse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/ Hypotenuse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/ Adjacent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Hypotenuse / Opposite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 WITH TABLES (PAIRS)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sin θ ÷ cos θ really equal tan θ?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  <a:gridCol w="2194560"/>
                <a:gridCol w="219456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 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θ ÷ cos θ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 θ (tables)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Match?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0.8660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0.5774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0.5774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0.6428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0.7660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0.8391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0.8391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70°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complete the rows for 60° and 70° using your mathematical tables. Small differences in the last digit come from rounding.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60° = 0.8660 and cos 60° = 0.5000. Use tan θ = sin θ / cos θ to find tan 60°.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0.5774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1.7320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0.4330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1.3660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THINK, THEN DISCUSS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mango tree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side is 9.0 m?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at the shadow tip and look at the 53° angle. Is the shadow the side facing the angle, or the side next to it?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FCE4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looking for?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60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height h faces the 53° angle. Which ratio uses both the side we know and the side we want — without the hypotenuse?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26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 of silent thinking, then discuss in groups of four.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to the 53° angle, the 9.0 m shadow is the triangle’s …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side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side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Hypotenuse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depends on how tall the tree is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IT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mango tree is about 12 metres tall.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1: tangent ratio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53° = h / 9.0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9.0 × tan 53°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9.0 × 1.3270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≈ 11.94 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D9F0D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0116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2: similar triangles (earlier lessons)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1.6 m tall, 1.2 m shadow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height ÷ shadow = 1.6 ÷ 1.2 ≈ 1.333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9.0 × 1.333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≈ 12.0 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methods agree (to rounding). tan θ is the height-to-shadow ratio for that sun angle — it is the same for every object at the same time of day.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53° = h / 9.0. Which step correctly finds h?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9.0 ÷ tan 53°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9.0 × tan 53°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tan 53° ÷ 9.0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9.0 + tan 53°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IT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tan so useful for measuring heights in Kenya?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EAD1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uses the opposite and adjacent sides — a height you want and a ground distance you can pace or tape.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hypotenuse needed: you never have to measure along a sun ray or up a slope.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Surveyors, builders and farmers use this with one angle and one ground measurement.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a flagpole casts a 10 m shadow when the sun angle is 40° (tan 40° = 0.8391). How tall is it?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flagpole casts a 10 m shadow when the sun angle is 40°. tan 40° = 0.8391. How tall is the flagpole?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 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8.39 m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10.84 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11.92 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is teacher-side only, in a separate file.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320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D9EEF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6696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dqb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FINISH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your model. Add one new question.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49240" cy="3108960"/>
          </a:xfrm>
          <a:prstGeom prst="roundRect">
            <a:avLst>
              <a:gd name="adj" fmla="val 2353"/>
            </a:avLst>
          </a:prstGeom>
          <a:solidFill>
            <a:srgbClr val="D9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YOUR MODEL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trigonometry model triangle: label θ = 53°, adjacent = 9.0 m (shadow), opposite = h (tree). Write tan 53° = h / 9.0 inside it. Add a “ratio web” linking sin θ, cos θ and tan θ with the identity tan θ = sin θ / cos 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532120" cy="3108960"/>
          </a:xfrm>
          <a:prstGeom prst="roundRect">
            <a:avLst>
              <a:gd name="adj" fmla="val 2353"/>
            </a:avLst>
          </a:prstGeom>
          <a:solidFill>
            <a:srgbClr val="FFF6D9"/>
          </a:solidFill>
          <a:ln w="12700">
            <a:solidFill>
              <a:srgbClr val="E8D6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QUESTION BOARD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774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columns on the board: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TODAY: “We can now find the tree’s height because …”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WONDERING: e.g. what if we know the height but not the angle?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CONNECTIONS: how does tan link to Lessons 1–3?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FOR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ARES offline library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9280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 </a:t>
            </a:r>
            <a:pPr indent="0" marL="0">
              <a:buNone/>
            </a:pPr>
            <a:r>
              <a:rPr lang="en-US" sz="1600" u="sng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Trigonometry Word Problems Principles - Basic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CK-12 • Good match: right-triangle word problems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461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1868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 </a:t>
            </a:r>
            <a:pPr indent="0" marL="0">
              <a:buNone/>
            </a:pPr>
            <a:r>
              <a:rPr lang="en-US" sz="1600" u="sng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Trigonometry Word Problems (Flexbook)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CK-12 • Good match: worked examples using tan, sin and cos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5720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544568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 </a:t>
            </a:r>
            <a:pPr indent="0" marL="0">
              <a:buNone/>
            </a:pPr>
            <a:r>
              <a:rPr lang="en-US" sz="1600" u="sng" dirty="0">
                <a:solidFill>
                  <a:srgbClr val="1F6B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ARES: trigonometry, tangent ratio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an ARES search for related videos and notes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open only on the school network (ares.local). Click to open during the lesson.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QUICK CHECKS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 asked during class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10698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Which ratio equals tan θ?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sin 60° = 0.8660, cos 60° = 0.5000. Find tan 60°.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Relative to the 53° angle, the 9.0 m shadow is the …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tan 53° = h / 9.0. Which step finds h?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Flagpole: 10 m shadow, sun angle 40° (tan 40° = 0.8391). Height?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title(subjectLine, lessonTitle, subtitle, hook, footer) {
    const s = base(C.darkBlue);
    s.addText(subjectLine, { x: 0.8, y: 1.8, w: 11.7, h: 0.5, fontFace: FONT, fontSize: 16, color: "AFC8E8", bold: true, charSpacing: 2, isTextBox: true, margin: 0 });
    s.addText(lessonTitle, { x: 0.8, y: 2.35, w: 11.7, h: 1.0, fontFace: FONT, fontSize: 38, color: C.white, bold: true, isTextBox: true, margin: 0 });
    s.addText(subtitle, { x: 0.8, y: 3.35, w: 11.7, h: 0.6, fontFace: FONT, fontSize: 22, color: C.lightTeal, isTextBox: true, margin: 0 });
    s.addText(hook, { x: 0.8, y: 4.05, w: 11.7, h: 0.6, fontFace: FONT, fontSize: 15, italic: true, color: "AFC8E8", isTextBox: true, margin: 0 });
    s.addText(footer, { x: 0.8, y: 6.6, w: 11.7, h: 0.4, fontFace: FONT, fontSize: 13, color: "AFC8E8", isTextBox: true, margin: 0 });
    return s;
  }</dc:title>
  <dc:subject>PptxGenJS Presentation</dc:subject>
  <dc:creator>PptxGenJS</dc:creator>
  <cp:lastModifiedBy>PptxGenJS</cp:lastModifiedBy>
  <cp:revision>1</cp:revision>
  <dcterms:created xsi:type="dcterms:W3CDTF">2026-09-29T18:29:12Z</dcterms:created>
  <dcterms:modified xsi:type="dcterms:W3CDTF">2026-09-29T18:29:12Z</dcterms:modified>
</cp:coreProperties>
</file>